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61" r:id="rId5"/>
    <p:sldId id="296" r:id="rId6"/>
    <p:sldId id="294" r:id="rId7"/>
    <p:sldId id="288" r:id="rId8"/>
    <p:sldId id="292" r:id="rId9"/>
    <p:sldId id="289" r:id="rId10"/>
    <p:sldId id="297" r:id="rId11"/>
    <p:sldId id="293" r:id="rId12"/>
    <p:sldId id="295" r:id="rId13"/>
    <p:sldId id="291" r:id="rId14"/>
    <p:sldId id="286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99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B7274-1067-B279-0751-B9A0D87081A9}" v="2" dt="2026-08-03T06:14:19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0218B-124D-4A76-B344-1F3DAEC5F124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6E9E4-2193-4241-8B3F-FE5066868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57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3075" cy="3838575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EB0F4D-A90A-4FA7-98EC-EBE1CC717674}" type="slidenum">
              <a:rPr kumimoji="1" lang="ja-JP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ＭＳ Ｐゴシック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ＭＳ Ｐゴシック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82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EB0F4D-A90A-4FA7-98EC-EBE1CC717674}" type="slidenum">
              <a:rPr kumimoji="1" lang="ja-JP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ＭＳ Ｐゴシック" pitchFamily="50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ＭＳ Ｐゴシック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914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7376" y="1566810"/>
            <a:ext cx="10389334" cy="2033644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A3994021-8396-4567-B779-C53974172756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5233568-4E8E-4861-A63D-40C4C93A94B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9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0736" y="6201068"/>
            <a:ext cx="2350528" cy="37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294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5491" y="20622"/>
            <a:ext cx="10657184" cy="733657"/>
          </a:xfrm>
          <a:noFill/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25491" y="919261"/>
            <a:ext cx="11151029" cy="3421840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正方形/長方形 6"/>
          <p:cNvSpPr/>
          <p:nvPr userDrawn="1"/>
        </p:nvSpPr>
        <p:spPr>
          <a:xfrm flipH="1" flipV="1">
            <a:off x="0" y="668408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FF0000"/>
              </a:gs>
              <a:gs pos="86000">
                <a:srgbClr val="FF0000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9" b="22490"/>
          <a:stretch/>
        </p:blipFill>
        <p:spPr bwMode="auto">
          <a:xfrm>
            <a:off x="10908100" y="133678"/>
            <a:ext cx="1283900" cy="44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スライド番号プレースホルダー 1"/>
          <p:cNvSpPr>
            <a:spLocks noGrp="1"/>
          </p:cNvSpPr>
          <p:nvPr>
            <p:ph type="sldNum" sz="quarter" idx="12"/>
          </p:nvPr>
        </p:nvSpPr>
        <p:spPr bwMode="auto">
          <a:xfrm>
            <a:off x="10533409" y="6468467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4267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ＭＳ Ｐゴシック" charset="-128"/>
              </a:defRPr>
            </a:lvl1pPr>
            <a:lvl2pPr>
              <a:defRPr kumimoji="1" sz="3733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2pPr>
            <a:lvl3pPr>
              <a:defRPr kumimoji="1" sz="3200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3pPr>
            <a:lvl4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4pPr>
            <a:lvl5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5pPr>
            <a:lvl6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6pPr>
            <a:lvl7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7pPr>
            <a:lvl8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8pPr>
            <a:lvl9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‹#›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BED8AD-E255-4F9F-8126-0AA68CC45291}"/>
              </a:ext>
            </a:extLst>
          </p:cNvPr>
          <p:cNvSpPr/>
          <p:nvPr userDrawn="1"/>
        </p:nvSpPr>
        <p:spPr>
          <a:xfrm>
            <a:off x="0" y="6781800"/>
            <a:ext cx="12192000" cy="1035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algn="ctr"/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920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19877" y="-13393"/>
            <a:ext cx="10972800" cy="56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6842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atgroup.sharepoint.com/:x:/s/TEC_U-SLIM879/IQDeq96QU3pOTJ6FmXC2K7bTAZXz3CJa19GjoIc9bGfXUbE?e=5xUf7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atgroup.sharepoint.com/:x:/s/TEC_U-SLIM879/IQDeq96QU3pOTJ6FmXC2K7bTAZXz3CJa19GjoIc9bGfXUbE?e=5xUf7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4"/>
          <p:cNvSpPr txBox="1">
            <a:spLocks/>
          </p:cNvSpPr>
          <p:nvPr/>
        </p:nvSpPr>
        <p:spPr>
          <a:xfrm>
            <a:off x="4434960" y="5578324"/>
            <a:ext cx="3322080" cy="34605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ja-JP" altLang="en-US" sz="1300">
                <a:solidFill>
                  <a:prstClr val="black">
                    <a:lumMod val="75000"/>
                    <a:lumOff val="25000"/>
                  </a:prstClr>
                </a:solidFill>
                <a:latin typeface="Meiryo UI"/>
                <a:ea typeface="Meiryo UI"/>
                <a:cs typeface="Arial Unicode MS"/>
              </a:rPr>
              <a:t>2026年　　4月　　21日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DE2E3471-F39D-45EC-B657-3E131D5C8D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/>
              <a:t>U-SLIM</a:t>
            </a:r>
            <a:br>
              <a:rPr lang="ja-JP" altLang="en-US" dirty="0"/>
            </a:br>
            <a:r>
              <a:rPr lang="ja-JP" altLang="en-US"/>
              <a:t>死活監視対応手順</a:t>
            </a:r>
            <a:endParaRPr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90BC-4A7A-CEFD-025C-933EE332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体制@</a:t>
            </a:r>
            <a:r>
              <a:rPr lang="en-US" dirty="0"/>
              <a:t>2026</a:t>
            </a:r>
            <a:r>
              <a:rPr lang="ja-JP" altLang="en-US" dirty="0"/>
              <a:t>年</a:t>
            </a:r>
            <a:r>
              <a:rPr lang="en-US" altLang="ja-JP" dirty="0"/>
              <a:t>GW</a:t>
            </a:r>
            <a:r>
              <a:rPr lang="ja-JP" altLang="en-US" dirty="0"/>
              <a:t>連休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B07294-6787-9DE9-1C46-225150EE1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058848"/>
              </p:ext>
            </p:extLst>
          </p:nvPr>
        </p:nvGraphicFramePr>
        <p:xfrm>
          <a:off x="409189" y="1056678"/>
          <a:ext cx="11373622" cy="3232921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114690">
                  <a:extLst>
                    <a:ext uri="{9D8B030D-6E8A-4147-A177-3AD203B41FA5}">
                      <a16:colId xmlns:a16="http://schemas.microsoft.com/office/drawing/2014/main" val="2487369571"/>
                    </a:ext>
                  </a:extLst>
                </a:gridCol>
                <a:gridCol w="1114690">
                  <a:extLst>
                    <a:ext uri="{9D8B030D-6E8A-4147-A177-3AD203B41FA5}">
                      <a16:colId xmlns:a16="http://schemas.microsoft.com/office/drawing/2014/main" val="3810762990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1910858901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1966391005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1516984932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1340268056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943461756"/>
                    </a:ext>
                  </a:extLst>
                </a:gridCol>
                <a:gridCol w="1171370">
                  <a:extLst>
                    <a:ext uri="{9D8B030D-6E8A-4147-A177-3AD203B41FA5}">
                      <a16:colId xmlns:a16="http://schemas.microsoft.com/office/drawing/2014/main" val="180662534"/>
                    </a:ext>
                  </a:extLst>
                </a:gridCol>
                <a:gridCol w="1058011">
                  <a:extLst>
                    <a:ext uri="{9D8B030D-6E8A-4147-A177-3AD203B41FA5}">
                      <a16:colId xmlns:a16="http://schemas.microsoft.com/office/drawing/2014/main" val="1220539185"/>
                    </a:ext>
                  </a:extLst>
                </a:gridCol>
                <a:gridCol w="1058011">
                  <a:extLst>
                    <a:ext uri="{9D8B030D-6E8A-4147-A177-3AD203B41FA5}">
                      <a16:colId xmlns:a16="http://schemas.microsoft.com/office/drawing/2014/main" val="2638514107"/>
                    </a:ext>
                  </a:extLst>
                </a:gridCol>
              </a:tblGrid>
              <a:tr h="3899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1400" dirty="0"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ja-JP" altLang="en-US" sz="1400" dirty="0"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altLang="ja-JP" sz="1400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ja-JP" altLang="en-US" sz="14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endParaRPr 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1400" dirty="0">
                          <a:latin typeface="+mn-ea"/>
                          <a:ea typeface="+mn-ea"/>
                        </a:rPr>
                        <a:t>2026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altLang="ja-JP" sz="14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月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462451"/>
                  </a:ext>
                </a:extLst>
              </a:tr>
              <a:tr h="406146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28</a:t>
                      </a:r>
                      <a:r>
                        <a:rPr lang="ja-JP" altLang="en-US" sz="1400" dirty="0">
                          <a:effectLst/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29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ja-JP" altLang="en-US" sz="1400" dirty="0">
                          <a:latin typeface="+mn-ea"/>
                          <a:ea typeface="+mn-ea"/>
                        </a:rPr>
                        <a:t>日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311380"/>
                  </a:ext>
                </a:extLst>
              </a:tr>
              <a:tr h="76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dirty="0">
                          <a:effectLst/>
                          <a:latin typeface="+mn-ea"/>
                          <a:ea typeface="+mn-ea"/>
                        </a:rPr>
                        <a:t>監視担当者</a:t>
                      </a:r>
                      <a:endParaRPr lang="en-US" sz="1200" dirty="0" err="1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三ツ井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三ツ井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乙間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乙間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乙間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杉浦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杉浦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杉浦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筒井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79986"/>
                  </a:ext>
                </a:extLst>
              </a:tr>
              <a:tr h="76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1200" dirty="0">
                          <a:effectLst/>
                          <a:latin typeface="+mn-ea"/>
                          <a:ea typeface="+mn-ea"/>
                        </a:rPr>
                        <a:t>PM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dirty="0">
                          <a:effectLst/>
                          <a:latin typeface="+mn-ea"/>
                          <a:ea typeface="+mn-ea"/>
                        </a:rPr>
                        <a:t>システム開発部 部付 三ツ井 涼太</a:t>
                      </a:r>
                      <a:endParaRPr 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81165"/>
                  </a:ext>
                </a:extLst>
              </a:tr>
              <a:tr h="909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1200" dirty="0">
                          <a:effectLst/>
                          <a:latin typeface="+mn-ea"/>
                          <a:ea typeface="+mn-ea"/>
                        </a:rPr>
                        <a:t>PO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TSL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推進室 磯村 歩未 様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ja-JP" sz="1400">
                          <a:effectLst/>
                          <a:latin typeface="+mn-ea"/>
                          <a:ea typeface="+mn-ea"/>
                        </a:rPr>
                        <a:t>BR</a:t>
                      </a:r>
                      <a:r>
                        <a:rPr lang="ja-JP" altLang="en-US" sz="1400">
                          <a:effectLst/>
                          <a:latin typeface="+mn-ea"/>
                          <a:ea typeface="+mn-ea"/>
                        </a:rPr>
                        <a:t>中古車事業推進室 池田 弘樹 様</a:t>
                      </a:r>
                      <a:endParaRPr lang="en-US" sz="14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1613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057E5-6C57-B995-EE08-476BFBA9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2</a:t>
            </a:fld>
            <a:endParaRPr lang="en-US" altLang="ja-JP" sz="2133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1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2EC9-7BA8-77E5-80C1-5D1ECCC3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5E99-4861-2514-4981-6795ECDE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日次監視</a:t>
            </a:r>
            <a:endParaRPr kumimoji="1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A5250-3A44-B43E-C78E-AB46F73A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3</a:t>
            </a:fld>
            <a:endParaRPr lang="en-US" altLang="ja-JP" sz="2133">
              <a:latin typeface="Arial Black" pitchFamily="34" charset="0"/>
            </a:endParaRPr>
          </a:p>
        </p:txBody>
      </p: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E8A0B405-6805-F3E6-305A-623F85B9E2AF}"/>
              </a:ext>
            </a:extLst>
          </p:cNvPr>
          <p:cNvCxnSpPr>
            <a:cxnSpLocks/>
            <a:stCxn id="7" idx="2"/>
            <a:endCxn id="6" idx="1"/>
          </p:cNvCxnSpPr>
          <p:nvPr/>
        </p:nvCxnSpPr>
        <p:spPr>
          <a:xfrm rot="16200000" flipH="1">
            <a:off x="1751950" y="2040631"/>
            <a:ext cx="1303513" cy="2092295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CCB40A4-0396-84D6-44E0-F7E2BEBF4C54}"/>
              </a:ext>
            </a:extLst>
          </p:cNvPr>
          <p:cNvSpPr/>
          <p:nvPr/>
        </p:nvSpPr>
        <p:spPr>
          <a:xfrm>
            <a:off x="824157" y="1269993"/>
            <a:ext cx="1066800" cy="342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Meiryo UI"/>
                <a:ea typeface="Meiryo UI"/>
              </a:rPr>
              <a:t>開始</a:t>
            </a:r>
          </a:p>
        </p:txBody>
      </p:sp>
      <p:sp>
        <p:nvSpPr>
          <p:cNvPr id="7" name="ひし形 6">
            <a:extLst>
              <a:ext uri="{FF2B5EF4-FFF2-40B4-BE49-F238E27FC236}">
                <a16:creationId xmlns:a16="http://schemas.microsoft.com/office/drawing/2014/main" id="{7DA98985-FEAD-1234-0668-024A433FE7BB}"/>
              </a:ext>
            </a:extLst>
          </p:cNvPr>
          <p:cNvSpPr/>
          <p:nvPr/>
        </p:nvSpPr>
        <p:spPr>
          <a:xfrm>
            <a:off x="507002" y="1836224"/>
            <a:ext cx="1701114" cy="598799"/>
          </a:xfrm>
          <a:prstGeom prst="diamond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アラート確認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624CDFF-3C9F-A647-82E4-39BAFF5096C2}"/>
              </a:ext>
            </a:extLst>
          </p:cNvPr>
          <p:cNvSpPr/>
          <p:nvPr/>
        </p:nvSpPr>
        <p:spPr>
          <a:xfrm>
            <a:off x="5054203" y="1915472"/>
            <a:ext cx="1446104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アプリの動作確認</a:t>
            </a:r>
            <a:r>
              <a:rPr kumimoji="1" lang="en-US" altLang="ja-JP" sz="1050" baseline="30000" dirty="0">
                <a:solidFill>
                  <a:schemeClr val="tx1"/>
                </a:solidFill>
                <a:latin typeface="Meiryo UI"/>
                <a:ea typeface="Meiryo UI"/>
              </a:rPr>
              <a:t>*1</a:t>
            </a:r>
            <a:endParaRPr kumimoji="1" lang="ja-JP" altLang="en-US" sz="1050" baseline="30000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4227EEC-850A-0A02-95CB-C21200B0963D}"/>
              </a:ext>
            </a:extLst>
          </p:cNvPr>
          <p:cNvSpPr/>
          <p:nvPr/>
        </p:nvSpPr>
        <p:spPr>
          <a:xfrm>
            <a:off x="8162075" y="4956089"/>
            <a:ext cx="1737397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WebApp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アラート共有に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結果を報告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sp>
        <p:nvSpPr>
          <p:cNvPr id="11" name="ひし形 10">
            <a:extLst>
              <a:ext uri="{FF2B5EF4-FFF2-40B4-BE49-F238E27FC236}">
                <a16:creationId xmlns:a16="http://schemas.microsoft.com/office/drawing/2014/main" id="{317A45C3-4D52-9E06-83D1-7E5401337DED}"/>
              </a:ext>
            </a:extLst>
          </p:cNvPr>
          <p:cNvSpPr/>
          <p:nvPr/>
        </p:nvSpPr>
        <p:spPr>
          <a:xfrm>
            <a:off x="4984213" y="2596781"/>
            <a:ext cx="1586084" cy="635000"/>
          </a:xfrm>
          <a:prstGeom prst="diamond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Meiryo UI"/>
                <a:ea typeface="Meiryo UI"/>
              </a:rPr>
              <a:t>問題あり？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D03E1D-7721-441D-9A56-E6032E4AC643}"/>
              </a:ext>
            </a:extLst>
          </p:cNvPr>
          <p:cNvSpPr/>
          <p:nvPr/>
        </p:nvSpPr>
        <p:spPr>
          <a:xfrm>
            <a:off x="8252595" y="2694130"/>
            <a:ext cx="1556356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監視担当→</a:t>
            </a:r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PM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→</a:t>
            </a:r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PO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へ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エスカレーション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34BE7C0-2606-027E-FB5B-8CA5713FA501}"/>
              </a:ext>
            </a:extLst>
          </p:cNvPr>
          <p:cNvSpPr/>
          <p:nvPr/>
        </p:nvSpPr>
        <p:spPr>
          <a:xfrm>
            <a:off x="10231670" y="2694130"/>
            <a:ext cx="1453328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障害レベルに応じて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障害対応へ移行</a:t>
            </a:r>
            <a:r>
              <a:rPr kumimoji="1" lang="en-US" altLang="ja-JP" sz="1050" baseline="30000" dirty="0">
                <a:solidFill>
                  <a:schemeClr val="tx1"/>
                </a:solidFill>
                <a:latin typeface="Meiryo UI"/>
                <a:ea typeface="Meiryo UI"/>
              </a:rPr>
              <a:t>*2</a:t>
            </a:r>
          </a:p>
        </p:txBody>
      </p:sp>
      <p:sp>
        <p:nvSpPr>
          <p:cNvPr id="14" name="ひし形 13">
            <a:extLst>
              <a:ext uri="{FF2B5EF4-FFF2-40B4-BE49-F238E27FC236}">
                <a16:creationId xmlns:a16="http://schemas.microsoft.com/office/drawing/2014/main" id="{7EF8F8DC-1AD2-5084-4700-B4EBD99C8EDB}"/>
              </a:ext>
            </a:extLst>
          </p:cNvPr>
          <p:cNvSpPr/>
          <p:nvPr/>
        </p:nvSpPr>
        <p:spPr>
          <a:xfrm>
            <a:off x="3221450" y="4858740"/>
            <a:ext cx="2048932" cy="635000"/>
          </a:xfrm>
          <a:prstGeom prst="diamond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  <a:latin typeface="Meiryo UI"/>
                <a:ea typeface="Meiryo UI"/>
              </a:rPr>
              <a:t>24</a:t>
            </a:r>
            <a:r>
              <a:rPr kumimoji="1" lang="ja-JP" altLang="en-US" sz="1050">
                <a:solidFill>
                  <a:schemeClr val="tx1"/>
                </a:solidFill>
                <a:latin typeface="Meiryo UI"/>
                <a:ea typeface="Meiryo UI"/>
              </a:rPr>
              <a:t>時間以内に復旧？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C857FC3-3CDA-27AD-C028-DC89DC05F5B3}"/>
              </a:ext>
            </a:extLst>
          </p:cNvPr>
          <p:cNvSpPr/>
          <p:nvPr/>
        </p:nvSpPr>
        <p:spPr>
          <a:xfrm>
            <a:off x="6500307" y="4956089"/>
            <a:ext cx="1341656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24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時間後に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お知らせを掲載</a:t>
            </a:r>
            <a:r>
              <a:rPr kumimoji="1" lang="en-US" altLang="ja-JP" sz="1050" baseline="30000" dirty="0">
                <a:solidFill>
                  <a:schemeClr val="tx1"/>
                </a:solidFill>
                <a:latin typeface="Meiryo UI"/>
                <a:ea typeface="Meiryo UI"/>
              </a:rPr>
              <a:t>*4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B3A2503-E1CF-968E-0EFD-C8BF39E859C3}"/>
              </a:ext>
            </a:extLst>
          </p:cNvPr>
          <p:cNvSpPr/>
          <p:nvPr/>
        </p:nvSpPr>
        <p:spPr>
          <a:xfrm>
            <a:off x="8497373" y="5868396"/>
            <a:ext cx="1066800" cy="342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  <a:latin typeface="Meiryo UI"/>
                <a:ea typeface="Meiryo UI"/>
              </a:rPr>
              <a:t>終了</a:t>
            </a: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AF643FB-3746-DA3C-1CD9-5F086E7766A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208116" y="2135623"/>
            <a:ext cx="2846087" cy="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E4C0BB8-8B79-7CF5-F2C4-59833E957DA7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9030773" y="5396391"/>
            <a:ext cx="1" cy="47200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EFBC996-7B39-E440-3967-75DC4784FC0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777255" y="2355774"/>
            <a:ext cx="0" cy="24100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C1949C2-73B3-83BB-8DC4-DE691FFFA6EE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570297" y="2914281"/>
            <a:ext cx="1682298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BDEC4B6C-DC82-3CC9-CBC6-9178F30F9A2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9808951" y="2914281"/>
            <a:ext cx="422719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6367BA20-B16C-7681-D546-5383AD63E647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6098591" y="3641064"/>
            <a:ext cx="546106" cy="4251457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0880B31-DA11-1E4E-067E-C94AA429E981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270382" y="5176240"/>
            <a:ext cx="122992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B86734E9-F37D-E9D7-643D-9A8A1C65A510}"/>
              </a:ext>
            </a:extLst>
          </p:cNvPr>
          <p:cNvCxnSpPr>
            <a:cxnSpLocks/>
            <a:stCxn id="7" idx="2"/>
            <a:endCxn id="16" idx="1"/>
          </p:cNvCxnSpPr>
          <p:nvPr/>
        </p:nvCxnSpPr>
        <p:spPr>
          <a:xfrm rot="16200000" flipH="1">
            <a:off x="3125055" y="667527"/>
            <a:ext cx="3604823" cy="7139814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A3E25CA-DF94-4062-5BDA-CD77532E6D49}"/>
              </a:ext>
            </a:extLst>
          </p:cNvPr>
          <p:cNvSpPr txBox="1"/>
          <p:nvPr/>
        </p:nvSpPr>
        <p:spPr>
          <a:xfrm>
            <a:off x="2680068" y="1935568"/>
            <a:ext cx="1686679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Meiryo UI"/>
                <a:ea typeface="Meiryo UI"/>
              </a:rPr>
              <a:t>13_WebApp</a:t>
            </a:r>
            <a:r>
              <a:rPr kumimoji="1" lang="ja-JP" altLang="en-US" sz="1000" dirty="0">
                <a:latin typeface="Meiryo UI"/>
                <a:ea typeface="Meiryo UI"/>
              </a:rPr>
              <a:t>アラート共有に</a:t>
            </a:r>
            <a:endParaRPr kumimoji="1" lang="en-US" altLang="ja-JP" sz="1000" dirty="0">
              <a:latin typeface="Meiryo UI"/>
              <a:ea typeface="Meiryo UI"/>
            </a:endParaRPr>
          </a:p>
          <a:p>
            <a:pPr algn="ctr"/>
            <a:r>
              <a:rPr lang="ja-JP" altLang="en-US" sz="1000" dirty="0">
                <a:latin typeface="Meiryo UI"/>
                <a:ea typeface="Meiryo UI"/>
              </a:rPr>
              <a:t>アラートあり</a:t>
            </a:r>
            <a:endParaRPr kumimoji="1" lang="ja-JP" altLang="en-US" sz="1000" dirty="0">
              <a:latin typeface="Meiryo UI"/>
              <a:ea typeface="Meiryo UI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DF51DB5-35BF-3644-BA57-EBB0FBBA82F6}"/>
              </a:ext>
            </a:extLst>
          </p:cNvPr>
          <p:cNvSpPr txBox="1"/>
          <p:nvPr/>
        </p:nvSpPr>
        <p:spPr>
          <a:xfrm>
            <a:off x="1605598" y="3537059"/>
            <a:ext cx="1418978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Meiryo UI"/>
                <a:ea typeface="Meiryo UI"/>
              </a:rPr>
              <a:t>10_</a:t>
            </a:r>
            <a:r>
              <a:rPr kumimoji="1" lang="ja-JP" altLang="en-US" sz="1000" dirty="0">
                <a:latin typeface="Meiryo UI"/>
                <a:ea typeface="Meiryo UI"/>
              </a:rPr>
              <a:t>アラート監視共有に</a:t>
            </a:r>
            <a:endParaRPr kumimoji="1" lang="en-US" altLang="ja-JP" sz="1000" dirty="0">
              <a:latin typeface="Meiryo UI"/>
              <a:ea typeface="Meiryo UI"/>
            </a:endParaRPr>
          </a:p>
          <a:p>
            <a:pPr algn="ctr"/>
            <a:r>
              <a:rPr lang="en-US" altLang="ja-JP" sz="1000" dirty="0">
                <a:latin typeface="Meiryo UI"/>
                <a:ea typeface="Meiryo UI"/>
              </a:rPr>
              <a:t>OGG</a:t>
            </a:r>
            <a:r>
              <a:rPr lang="ja-JP" altLang="en-US" sz="1000" dirty="0">
                <a:latin typeface="Meiryo UI"/>
                <a:ea typeface="Meiryo UI"/>
              </a:rPr>
              <a:t>アラートあり</a:t>
            </a:r>
            <a:endParaRPr kumimoji="1" lang="ja-JP" altLang="en-US" sz="1000" dirty="0">
              <a:latin typeface="Meiryo UI"/>
              <a:ea typeface="Meiryo UI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8AF4C68-A306-EAEB-5AEB-FD0241CBCAA3}"/>
              </a:ext>
            </a:extLst>
          </p:cNvPr>
          <p:cNvSpPr/>
          <p:nvPr/>
        </p:nvSpPr>
        <p:spPr>
          <a:xfrm>
            <a:off x="3602827" y="4217796"/>
            <a:ext cx="1278798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OGG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復旧対応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（基盤チーム）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75CEE924-5B22-D8E4-EB12-6D3CC5623A21}"/>
              </a:ext>
            </a:extLst>
          </p:cNvPr>
          <p:cNvCxnSpPr>
            <a:cxnSpLocks/>
            <a:stCxn id="64" idx="2"/>
            <a:endCxn id="14" idx="0"/>
          </p:cNvCxnSpPr>
          <p:nvPr/>
        </p:nvCxnSpPr>
        <p:spPr>
          <a:xfrm>
            <a:off x="4242226" y="4658098"/>
            <a:ext cx="3690" cy="200642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C681AE14-A850-C211-D77B-F4AC8832821C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rot="16200000" flipH="1">
            <a:off x="6541860" y="2467175"/>
            <a:ext cx="1724308" cy="3253519"/>
          </a:xfrm>
          <a:prstGeom prst="bentConnector3">
            <a:avLst>
              <a:gd name="adj1" fmla="val 3053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243DCCF5-6E9B-8E70-1014-128BD7D640E9}"/>
              </a:ext>
            </a:extLst>
          </p:cNvPr>
          <p:cNvSpPr txBox="1"/>
          <p:nvPr/>
        </p:nvSpPr>
        <p:spPr>
          <a:xfrm>
            <a:off x="959051" y="5049282"/>
            <a:ext cx="797013" cy="253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>
                <a:latin typeface="Meiryo UI"/>
                <a:ea typeface="Meiryo UI"/>
              </a:rPr>
              <a:t>アラートなし</a:t>
            </a:r>
            <a:endParaRPr kumimoji="1" lang="ja-JP" altLang="en-US" sz="1050" dirty="0">
              <a:latin typeface="Meiryo UI"/>
              <a:ea typeface="Meiryo UI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8FB846D-7348-E685-E2F9-ACE1FE2566F0}"/>
              </a:ext>
            </a:extLst>
          </p:cNvPr>
          <p:cNvSpPr txBox="1"/>
          <p:nvPr/>
        </p:nvSpPr>
        <p:spPr>
          <a:xfrm>
            <a:off x="6950331" y="2787323"/>
            <a:ext cx="410690" cy="253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>
                <a:latin typeface="Meiryo UI"/>
                <a:ea typeface="Meiryo UI"/>
              </a:rPr>
              <a:t>はい</a:t>
            </a:r>
            <a:endParaRPr kumimoji="1" lang="ja-JP" altLang="en-US" sz="1050" dirty="0">
              <a:latin typeface="Meiryo UI"/>
              <a:ea typeface="Meiryo UI"/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1E6E8499-DECE-87BA-39CE-F5314E365239}"/>
              </a:ext>
            </a:extLst>
          </p:cNvPr>
          <p:cNvSpPr txBox="1"/>
          <p:nvPr/>
        </p:nvSpPr>
        <p:spPr>
          <a:xfrm>
            <a:off x="6895827" y="3610156"/>
            <a:ext cx="511679" cy="253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>
                <a:latin typeface="Meiryo UI"/>
                <a:ea typeface="Meiryo UI"/>
              </a:rPr>
              <a:t>いいえ</a:t>
            </a:r>
            <a:endParaRPr kumimoji="1" lang="ja-JP" altLang="en-US" sz="1050" dirty="0">
              <a:latin typeface="Meiryo UI"/>
              <a:ea typeface="Meiryo UI"/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9489B117-D2A4-F693-1276-611D30E3F2BF}"/>
              </a:ext>
            </a:extLst>
          </p:cNvPr>
          <p:cNvSpPr txBox="1"/>
          <p:nvPr/>
        </p:nvSpPr>
        <p:spPr>
          <a:xfrm>
            <a:off x="5521415" y="5049282"/>
            <a:ext cx="511679" cy="253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>
                <a:latin typeface="Meiryo UI"/>
                <a:ea typeface="Meiryo UI"/>
              </a:rPr>
              <a:t>いいえ</a:t>
            </a:r>
            <a:endParaRPr kumimoji="1" lang="ja-JP" altLang="en-US" sz="1050" dirty="0">
              <a:latin typeface="Meiryo UI"/>
              <a:ea typeface="Meiryo UI"/>
            </a:endParaRP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E452F715-6766-5D73-10EE-1465CA3FA8DE}"/>
              </a:ext>
            </a:extLst>
          </p:cNvPr>
          <p:cNvSpPr txBox="1"/>
          <p:nvPr/>
        </p:nvSpPr>
        <p:spPr>
          <a:xfrm>
            <a:off x="4036881" y="5637397"/>
            <a:ext cx="410690" cy="253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>
                <a:latin typeface="Meiryo UI"/>
                <a:ea typeface="Meiryo UI"/>
              </a:rPr>
              <a:t>はい</a:t>
            </a:r>
            <a:endParaRPr kumimoji="1" lang="ja-JP" altLang="en-US" sz="1050" dirty="0">
              <a:latin typeface="Meiryo UI"/>
              <a:ea typeface="Meiryo UI"/>
            </a:endParaRPr>
          </a:p>
        </p:txBody>
      </p:sp>
      <p:cxnSp>
        <p:nvCxnSpPr>
          <p:cNvPr id="179" name="直線矢印コネクタ 178">
            <a:extLst>
              <a:ext uri="{FF2B5EF4-FFF2-40B4-BE49-F238E27FC236}">
                <a16:creationId xmlns:a16="http://schemas.microsoft.com/office/drawing/2014/main" id="{111C1D24-1B8F-495D-FED3-C99C9749200F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1357557" y="1612893"/>
            <a:ext cx="2" cy="22333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コネクタ: カギ線 70">
            <a:extLst>
              <a:ext uri="{FF2B5EF4-FFF2-40B4-BE49-F238E27FC236}">
                <a16:creationId xmlns:a16="http://schemas.microsoft.com/office/drawing/2014/main" id="{505FF4B2-039F-6F45-B21E-6A952F7585B3}"/>
              </a:ext>
            </a:extLst>
          </p:cNvPr>
          <p:cNvCxnSpPr>
            <a:cxnSpLocks/>
            <a:stCxn id="15" idx="2"/>
            <a:endCxn id="16" idx="1"/>
          </p:cNvCxnSpPr>
          <p:nvPr/>
        </p:nvCxnSpPr>
        <p:spPr>
          <a:xfrm rot="16200000" flipH="1">
            <a:off x="7512527" y="5054999"/>
            <a:ext cx="643455" cy="1326238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Rectangle 1">
            <a:extLst>
              <a:ext uri="{FF2B5EF4-FFF2-40B4-BE49-F238E27FC236}">
                <a16:creationId xmlns:a16="http://schemas.microsoft.com/office/drawing/2014/main" id="{8B2195CA-8BC5-4282-F9CD-5F5D3298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7572" y="5718118"/>
            <a:ext cx="19620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※1</a:t>
            </a:r>
            <a:r>
              <a:rPr kumimoji="0" lang="ja-JP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：動作確認観点を参照</a:t>
            </a:r>
            <a:endParaRPr kumimoji="0" lang="en-US" altLang="ja-JP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※</a:t>
            </a:r>
            <a:r>
              <a:rPr kumimoji="0" lang="en-US" altLang="ja-JP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ja-JP" alt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：障害対応内容を参照</a:t>
            </a:r>
            <a:endParaRPr kumimoji="0" lang="en-US" altLang="ja-JP" sz="1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※3</a:t>
            </a:r>
            <a:r>
              <a:rPr kumimoji="0" lang="ja-JP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：レポートサンプルを参照</a:t>
            </a:r>
            <a:endParaRPr kumimoji="0" lang="en-US" altLang="ja-JP" sz="1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※4</a:t>
            </a:r>
            <a:r>
              <a:rPr kumimoji="0" lang="ja-JP" altLang="en-US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：お知らせ掲載サンプルを参照</a:t>
            </a:r>
            <a:endParaRPr kumimoji="0" lang="ja-JP" altLang="ja-JP" sz="1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正方形/長方形 11">
            <a:extLst>
              <a:ext uri="{FF2B5EF4-FFF2-40B4-BE49-F238E27FC236}">
                <a16:creationId xmlns:a16="http://schemas.microsoft.com/office/drawing/2014/main" id="{0B5148CF-1A09-0DC7-CE43-7DBD458B6F80}"/>
              </a:ext>
            </a:extLst>
          </p:cNvPr>
          <p:cNvSpPr/>
          <p:nvPr/>
        </p:nvSpPr>
        <p:spPr>
          <a:xfrm>
            <a:off x="3449854" y="3518385"/>
            <a:ext cx="1556356" cy="44030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監視担当→</a:t>
            </a:r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PM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→</a:t>
            </a:r>
            <a:r>
              <a:rPr kumimoji="1" lang="en-US" altLang="ja-JP" sz="1050" dirty="0">
                <a:solidFill>
                  <a:schemeClr val="tx1"/>
                </a:solidFill>
                <a:latin typeface="Meiryo UI"/>
                <a:ea typeface="Meiryo UI"/>
              </a:rPr>
              <a:t>PO</a:t>
            </a:r>
            <a:r>
              <a:rPr kumimoji="1"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へ</a:t>
            </a:r>
            <a:endParaRPr kumimoji="1" lang="en-US" altLang="ja-JP" sz="1050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  <a:latin typeface="Meiryo UI"/>
                <a:ea typeface="Meiryo UI"/>
              </a:rPr>
              <a:t>レポート</a:t>
            </a:r>
            <a:r>
              <a:rPr lang="en-US" altLang="ja-JP" sz="1050" baseline="30000" dirty="0">
                <a:solidFill>
                  <a:schemeClr val="tx1"/>
                </a:solidFill>
                <a:latin typeface="Meiryo UI"/>
                <a:ea typeface="Meiryo UI"/>
              </a:rPr>
              <a:t>*3</a:t>
            </a:r>
            <a:endParaRPr kumimoji="1" lang="en-US" altLang="ja-JP" sz="1050" baseline="30000" dirty="0">
              <a:solidFill>
                <a:schemeClr val="tx1"/>
              </a:solidFill>
              <a:latin typeface="Meiryo UI"/>
              <a:ea typeface="Meiryo UI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7D3E048-4DB8-A785-22E7-9025936A4E59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>
            <a:off x="3024576" y="3737114"/>
            <a:ext cx="578251" cy="700833"/>
          </a:xfrm>
          <a:prstGeom prst="bentConnector3">
            <a:avLst>
              <a:gd name="adj1" fmla="val 38394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43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CE34-B008-32EC-C407-9A619CF5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動作確認観点</a:t>
            </a:r>
            <a:endParaRPr kumimoji="1"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88E75-79C4-2DEF-49E0-99788B9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4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B114372-34BC-BBAB-2C42-679499361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01404"/>
              </p:ext>
            </p:extLst>
          </p:nvPr>
        </p:nvGraphicFramePr>
        <p:xfrm>
          <a:off x="517803" y="1125550"/>
          <a:ext cx="10597610" cy="4767279"/>
        </p:xfrm>
        <a:graphic>
          <a:graphicData uri="http://schemas.openxmlformats.org/drawingml/2006/table">
            <a:tbl>
              <a:tblPr/>
              <a:tblGrid>
                <a:gridCol w="3501839">
                  <a:extLst>
                    <a:ext uri="{9D8B030D-6E8A-4147-A177-3AD203B41FA5}">
                      <a16:colId xmlns:a16="http://schemas.microsoft.com/office/drawing/2014/main" val="3776318940"/>
                    </a:ext>
                  </a:extLst>
                </a:gridCol>
                <a:gridCol w="7095771">
                  <a:extLst>
                    <a:ext uri="{9D8B030D-6E8A-4147-A177-3AD203B41FA5}">
                      <a16:colId xmlns:a16="http://schemas.microsoft.com/office/drawing/2014/main" val="1503745609"/>
                    </a:ext>
                  </a:extLst>
                </a:gridCol>
              </a:tblGrid>
              <a:tr h="39578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画面種別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確認内容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01138"/>
                  </a:ext>
                </a:extLst>
              </a:tr>
              <a:tr h="95171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Meiryo UI"/>
                          <a:ea typeface="Meiryo UI"/>
                          <a:cs typeface="Calibri"/>
                        </a:rPr>
                        <a:t>全画面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base" latinLnBrk="0" hangingPunct="1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dirty="0">
                          <a:latin typeface="Meiryo UI"/>
                          <a:ea typeface="+mn-ea"/>
                        </a:rPr>
                        <a:t>画面が正常に表示できるか</a:t>
                      </a:r>
                      <a:endParaRPr kumimoji="1" lang="en-US" altLang="ja-JP" sz="1800" dirty="0">
                        <a:latin typeface="Meiryo UI"/>
                        <a:ea typeface="+mn-ea"/>
                      </a:endParaRPr>
                    </a:p>
                    <a:p>
                      <a:pPr marL="0" marR="0" lvl="0" indent="0" algn="l" defTabSz="1219170" rtl="0" eaLnBrk="1" fontAlgn="base" latinLnBrk="0" hangingPunct="1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Meiryo UI"/>
                          <a:ea typeface="+mn-ea"/>
                        </a:rPr>
                        <a:t>利用できない機能がないか</a:t>
                      </a:r>
                      <a:endParaRPr lang="en-US" altLang="ja-JP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38760"/>
                  </a:ext>
                </a:extLst>
              </a:tr>
              <a:tr h="95171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Meiryo UI"/>
                          <a:ea typeface="Meiryo UI"/>
                          <a:cs typeface="Calibri"/>
                        </a:rPr>
                        <a:t>ログイン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base" latinLnBrk="0" hangingPunct="1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ログインが正常に行えるか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28708"/>
                  </a:ext>
                </a:extLst>
              </a:tr>
              <a:tr h="24680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車両検索</a:t>
                      </a:r>
                      <a:r>
                        <a:rPr lang="en-US" altLang="ja-JP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検索まで</a:t>
                      </a:r>
                      <a:r>
                        <a:rPr lang="en-US" altLang="ja-JP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提案予定状況管理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実績管理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マスタ設定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ユーザー管理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異常管理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マスタ設定</a:t>
                      </a:r>
                    </a:p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販売店</a:t>
                      </a:r>
                      <a:r>
                        <a:rPr lang="en-US" altLang="ja-JP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L/T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dirty="0">
                          <a:latin typeface="Meiryo UI"/>
                          <a:ea typeface="+mn-ea"/>
                        </a:rPr>
                        <a:t>表示できない帳票、データがないか</a:t>
                      </a:r>
                      <a:endParaRPr kumimoji="1" lang="en-US" altLang="ja-JP" sz="1800" dirty="0">
                        <a:latin typeface="Meiryo UI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800" dirty="0">
                          <a:latin typeface="Meiryo UI"/>
                          <a:ea typeface="+mn-ea"/>
                        </a:rPr>
                        <a:t>動作が著しく重くなっていないか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96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29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B5630-20F3-D9B8-03BC-770E9C9A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障害対応内容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4AB8D9-8389-346F-1C50-4884314C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5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F2DF213-6297-BD24-7231-1410B4769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744240"/>
              </p:ext>
            </p:extLst>
          </p:nvPr>
        </p:nvGraphicFramePr>
        <p:xfrm>
          <a:off x="576527" y="1335275"/>
          <a:ext cx="10523989" cy="4381823"/>
        </p:xfrm>
        <a:graphic>
          <a:graphicData uri="http://schemas.openxmlformats.org/drawingml/2006/table">
            <a:tbl>
              <a:tblPr/>
              <a:tblGrid>
                <a:gridCol w="1122960">
                  <a:extLst>
                    <a:ext uri="{9D8B030D-6E8A-4147-A177-3AD203B41FA5}">
                      <a16:colId xmlns:a16="http://schemas.microsoft.com/office/drawing/2014/main" val="3776318940"/>
                    </a:ext>
                  </a:extLst>
                </a:gridCol>
                <a:gridCol w="791665">
                  <a:extLst>
                    <a:ext uri="{9D8B030D-6E8A-4147-A177-3AD203B41FA5}">
                      <a16:colId xmlns:a16="http://schemas.microsoft.com/office/drawing/2014/main" val="252210534"/>
                    </a:ext>
                  </a:extLst>
                </a:gridCol>
                <a:gridCol w="813179">
                  <a:extLst>
                    <a:ext uri="{9D8B030D-6E8A-4147-A177-3AD203B41FA5}">
                      <a16:colId xmlns:a16="http://schemas.microsoft.com/office/drawing/2014/main" val="1160541596"/>
                    </a:ext>
                  </a:extLst>
                </a:gridCol>
                <a:gridCol w="3526559">
                  <a:extLst>
                    <a:ext uri="{9D8B030D-6E8A-4147-A177-3AD203B41FA5}">
                      <a16:colId xmlns:a16="http://schemas.microsoft.com/office/drawing/2014/main" val="3083250723"/>
                    </a:ext>
                  </a:extLst>
                </a:gridCol>
                <a:gridCol w="4269626">
                  <a:extLst>
                    <a:ext uri="{9D8B030D-6E8A-4147-A177-3AD203B41FA5}">
                      <a16:colId xmlns:a16="http://schemas.microsoft.com/office/drawing/2014/main" val="1503745609"/>
                    </a:ext>
                  </a:extLst>
                </a:gridCol>
              </a:tblGrid>
              <a:tr h="338303">
                <a:tc gridSpan="4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altLang="ja-JP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ja-JP" altLang="en-US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サービスレベル</a:t>
                      </a:r>
                      <a:r>
                        <a:rPr lang="en-US" altLang="ja-JP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en-US" altLang="ja-JP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【</a:t>
                      </a:r>
                      <a:r>
                        <a:rPr lang="ja-JP" altLang="en-US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対応内容</a:t>
                      </a:r>
                      <a:r>
                        <a:rPr lang="en-US" altLang="ja-JP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】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01138"/>
                  </a:ext>
                </a:extLst>
              </a:tr>
              <a:tr h="361060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停止状況​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レベル​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サービス状況​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36210"/>
                  </a:ext>
                </a:extLst>
              </a:tr>
              <a:tr h="317159"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200" b="1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完全停止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  <a:endParaRPr lang="ja-JP" altLang="en-US" sz="1200" b="0" i="0">
                        <a:solidFill>
                          <a:srgbClr val="000000"/>
                        </a:solidFill>
                        <a:effectLst/>
                        <a:latin typeface="Meiryo UI"/>
                        <a:ea typeface="Meiryo UI"/>
                        <a:cs typeface="Calibri"/>
                      </a:endParaRP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高​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症状​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altLang="ja-JP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U-SLIM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が利用できない​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即時対応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base" latinLnBrk="0" hangingPunct="1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時間おきの状況のレポート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解消策を立案し、検証環境での解消策を検証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対応内容について</a:t>
                      </a:r>
                      <a:r>
                        <a:rPr lang="en-US" altLang="ja-JP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の承認を得て緊急リリースを行う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None/>
                      </a:pPr>
                      <a:endParaRPr lang="ja-JP" altLang="en-US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28708"/>
                  </a:ext>
                </a:extLst>
              </a:tr>
              <a:tr h="106652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例​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altLang="ja-JP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例</a:t>
                      </a:r>
                      <a:r>
                        <a:rPr lang="en-US" altLang="ja-JP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)U-SLIM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にログインできない​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49848"/>
                  </a:ext>
                </a:extLst>
              </a:tr>
              <a:tr h="317159"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部分停止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症状​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一部機能のみ利用不可​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即時対応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base" latinLnBrk="0" hangingPunct="1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時間おきの状況のレポート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解消策を立案し、検証環境での解消策を検証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対応内容について</a:t>
                      </a:r>
                      <a:r>
                        <a:rPr lang="en-US" altLang="ja-JP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の承認を得てリリースを行う</a:t>
                      </a:r>
                      <a:endParaRPr lang="en-US" altLang="ja-JP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None/>
                      </a:pPr>
                      <a:endParaRPr lang="ja-JP" altLang="en-US" sz="12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96600"/>
                  </a:ext>
                </a:extLst>
              </a:tr>
              <a:tr h="106652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例​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提案予定入力・編集できない​</a:t>
                      </a:r>
                    </a:p>
                    <a:p>
                      <a:pPr algn="l" fontAlgn="base">
                        <a:lnSpc>
                          <a:spcPts val="18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共有在庫のリンク先が開かない​</a:t>
                      </a:r>
                    </a:p>
                    <a:p>
                      <a:pPr algn="l" fontAlgn="base">
                        <a:lnSpc>
                          <a:spcPts val="18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提案予定状況管理画面が開けない​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07219"/>
                  </a:ext>
                </a:extLst>
              </a:tr>
              <a:tr h="367840"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2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機能低下</a:t>
                      </a: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​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低​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症状​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遅延や不安定な状態だが利用可能​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経過観察</a:t>
                      </a:r>
                      <a:endParaRPr lang="en-US" b="0"/>
                    </a:p>
                    <a:p>
                      <a:pPr lvl="0" algn="l">
                        <a:lnSpc>
                          <a:spcPts val="202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発生から24時間経過後も解消されない場合、</a:t>
                      </a:r>
                      <a:r>
                        <a:rPr lang="ja-JP" altLang="en-US" sz="12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フラグ無しでお知らせ​を掲載</a:t>
                      </a:r>
                    </a:p>
                  </a:txBody>
                  <a:tcPr marL="85578" marR="85578" marT="42789" marB="42789">
                    <a:lnL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046769"/>
                  </a:ext>
                </a:extLst>
              </a:tr>
              <a:tr h="54725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例​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ja-JP" altLang="en-US" sz="12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外部システムからデータ連携遅延​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845819"/>
                  </a:ext>
                </a:extLst>
              </a:tr>
            </a:tbl>
          </a:graphicData>
        </a:graphic>
      </p:graphicFrame>
      <p:sp>
        <p:nvSpPr>
          <p:cNvPr id="7" name="テキスト ボックス 3">
            <a:extLst>
              <a:ext uri="{FF2B5EF4-FFF2-40B4-BE49-F238E27FC236}">
                <a16:creationId xmlns:a16="http://schemas.microsoft.com/office/drawing/2014/main" id="{D717DF3D-03DC-0999-9119-116E6FD67541}"/>
              </a:ext>
            </a:extLst>
          </p:cNvPr>
          <p:cNvSpPr txBox="1"/>
          <p:nvPr/>
        </p:nvSpPr>
        <p:spPr>
          <a:xfrm>
            <a:off x="2518725" y="5663609"/>
            <a:ext cx="8701848" cy="519304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no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※24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時間とは、販売店様への影響が</a:t>
            </a:r>
            <a:r>
              <a:rPr lang="ja-JP" altLang="en-US" sz="1100" b="1">
                <a:solidFill>
                  <a:prstClr val="black"/>
                </a:solidFill>
                <a:latin typeface="+mn-ea"/>
              </a:rPr>
              <a:t>あ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ってから</a:t>
            </a: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24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時間とする（</a:t>
            </a: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※U-SLIM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提供時間外の障害は、</a:t>
            </a: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U-SLIM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が開始する</a:t>
            </a: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9:00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から</a:t>
            </a:r>
            <a:r>
              <a: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24</a:t>
            </a:r>
            <a:r>
              <a: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時間とする）</a:t>
            </a:r>
          </a:p>
        </p:txBody>
      </p:sp>
      <p:sp>
        <p:nvSpPr>
          <p:cNvPr id="8" name="角丸四角形 73">
            <a:extLst>
              <a:ext uri="{FF2B5EF4-FFF2-40B4-BE49-F238E27FC236}">
                <a16:creationId xmlns:a16="http://schemas.microsoft.com/office/drawing/2014/main" id="{18F50FEB-3AE6-4D4D-1D3C-49B1FD20683D}"/>
              </a:ext>
            </a:extLst>
          </p:cNvPr>
          <p:cNvSpPr/>
          <p:nvPr/>
        </p:nvSpPr>
        <p:spPr>
          <a:xfrm>
            <a:off x="425491" y="897954"/>
            <a:ext cx="5894397" cy="427616"/>
          </a:xfrm>
          <a:prstGeom prst="roundRect">
            <a:avLst>
              <a:gd name="adj" fmla="val 2613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526" tIns="81265" rIns="162526" bIns="81265" rtlCol="0" anchor="ctr"/>
          <a:lstStyle>
            <a:defPPr>
              <a:defRPr lang="ja-JP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609585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121917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82875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243833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3047924" algn="l" defTabSz="1219170" rtl="0" eaLnBrk="1" latinLnBrk="0" hangingPunct="1"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3657509" algn="l" defTabSz="1219170" rtl="0" eaLnBrk="1" latinLnBrk="0" hangingPunct="1"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4267093" algn="l" defTabSz="1219170" rtl="0" eaLnBrk="1" latinLnBrk="0" hangingPunct="1"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4876678" algn="l" defTabSz="1219170" rtl="0" eaLnBrk="1" latinLnBrk="0" hangingPunct="1">
              <a:defRPr kumimoji="1" sz="1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l" defTabSz="1218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■</a:t>
            </a:r>
            <a:r>
              <a:rPr lang="ja-JP" altLang="en-US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障害</a:t>
            </a:r>
            <a:r>
              <a:rPr kumimoji="1" lang="ja-JP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レベルと対応内容</a:t>
            </a:r>
          </a:p>
        </p:txBody>
      </p:sp>
    </p:spTree>
    <p:extLst>
      <p:ext uri="{BB962C8B-B14F-4D97-AF65-F5344CB8AC3E}">
        <p14:creationId xmlns:p14="http://schemas.microsoft.com/office/powerpoint/2010/main" val="272416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70FC-CCCC-0625-8AF5-1C39B3EC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レポートテキストサンプル </a:t>
            </a:r>
            <a:r>
              <a:rPr lang="en-US" altLang="ja-JP" dirty="0"/>
              <a:t>- OGG</a:t>
            </a:r>
            <a:r>
              <a:rPr lang="ja-JP" altLang="en-US" dirty="0"/>
              <a:t>障害</a:t>
            </a:r>
            <a:endParaRPr kumimoji="1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6B817-703F-10AD-72B8-002257AD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6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FA9FD4-E11D-3CA4-5103-EF63926BBF3B}"/>
              </a:ext>
            </a:extLst>
          </p:cNvPr>
          <p:cNvSpPr/>
          <p:nvPr/>
        </p:nvSpPr>
        <p:spPr>
          <a:xfrm>
            <a:off x="542937" y="1073833"/>
            <a:ext cx="11029676" cy="44335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>
                <a:solidFill>
                  <a:srgbClr val="000000"/>
                </a:solidFill>
                <a:latin typeface="Meiryo UI"/>
              </a:rPr>
              <a:t>OracleGoldenGateでの障害が発生し、</a:t>
            </a:r>
            <a:endParaRPr lang="en-US" altLang="ja-JP">
              <a:solidFill>
                <a:srgbClr val="000000"/>
              </a:solidFill>
              <a:cs typeface="Arial"/>
            </a:endParaRPr>
          </a:p>
          <a:p>
            <a:r>
              <a:rPr lang="ja-JP">
                <a:solidFill>
                  <a:srgbClr val="000000"/>
                </a:solidFill>
                <a:latin typeface="Meiryo UI"/>
              </a:rPr>
              <a:t>ai21レプリカからU-SLIMへのデータ連携が</a:t>
            </a:r>
            <a:r>
              <a:rPr lang="en-US" altLang="ja-JP">
                <a:solidFill>
                  <a:srgbClr val="000000"/>
                </a:solidFill>
                <a:latin typeface="Meiryo UI"/>
              </a:rPr>
              <a:t>xx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日</a:t>
            </a:r>
            <a:r>
              <a:rPr lang="en-US" altLang="ja-JP">
                <a:solidFill>
                  <a:srgbClr val="000000"/>
                </a:solidFill>
                <a:latin typeface="Meiryo UI"/>
              </a:rPr>
              <a:t>xx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時</a:t>
            </a:r>
            <a:r>
              <a:rPr lang="ja-JP">
                <a:solidFill>
                  <a:srgbClr val="000000"/>
                </a:solidFill>
                <a:latin typeface="Meiryo UI"/>
              </a:rPr>
              <a:t>ごろより止まって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いる状況です。</a:t>
            </a:r>
            <a:endParaRPr lang="ja-JP">
              <a:solidFill>
                <a:srgbClr val="000000"/>
              </a:solidFill>
              <a:latin typeface="Meiryo UI"/>
            </a:endParaRPr>
          </a:p>
          <a:p>
            <a:endParaRPr lang="ja-JP" altLang="en-US" dirty="0">
              <a:solidFill>
                <a:srgbClr val="000000"/>
              </a:solidFill>
              <a:latin typeface="Meiryo UI"/>
            </a:endParaRPr>
          </a:p>
          <a:p>
            <a:r>
              <a:rPr lang="ja-JP" altLang="en-US">
                <a:solidFill>
                  <a:srgbClr val="000000"/>
                </a:solidFill>
                <a:latin typeface="Meiryo UI"/>
              </a:rPr>
              <a:t>基盤チームにて継続的な監視および復旧の対応と、</a:t>
            </a:r>
            <a:r>
              <a:rPr lang="ja-JP">
                <a:solidFill>
                  <a:srgbClr val="000000"/>
                </a:solidFill>
                <a:latin typeface="Meiryo UI"/>
              </a:rPr>
              <a:t>Oracleサポートへ原因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の</a:t>
            </a:r>
            <a:r>
              <a:rPr lang="ja-JP">
                <a:solidFill>
                  <a:srgbClr val="000000"/>
                </a:solidFill>
                <a:latin typeface="Meiryo UI"/>
              </a:rPr>
              <a:t>問い合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わ</a:t>
            </a:r>
            <a:r>
              <a:rPr lang="ja-JP">
                <a:solidFill>
                  <a:srgbClr val="000000"/>
                </a:solidFill>
                <a:latin typeface="Meiryo UI"/>
              </a:rPr>
              <a:t>せ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を行っております。</a:t>
            </a:r>
            <a:endParaRPr lang="ja-JP" altLang="en-US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ja-JP" altLang="en-US">
                <a:solidFill>
                  <a:srgbClr val="000000"/>
                </a:solidFill>
                <a:latin typeface="Meiryo UI"/>
              </a:rPr>
              <a:t>状況に変化が有りましたらまたご報告させてください。</a:t>
            </a:r>
            <a:endParaRPr lang="ja-JP" altLang="en-US">
              <a:solidFill>
                <a:srgbClr val="000000"/>
              </a:solidFill>
              <a:latin typeface="Meiryo UI"/>
              <a:cs typeface="Arial"/>
            </a:endParaRPr>
          </a:p>
          <a:p>
            <a:endParaRPr lang="ja-JP" altLang="en-US" dirty="0">
              <a:solidFill>
                <a:srgbClr val="000000"/>
              </a:solidFill>
              <a:latin typeface="Meiryo UI"/>
            </a:endParaRPr>
          </a:p>
          <a:p>
            <a:r>
              <a:rPr lang="ja-JP">
                <a:solidFill>
                  <a:srgbClr val="000000"/>
                </a:solidFill>
                <a:latin typeface="Meiryo UI"/>
              </a:rPr>
              <a:t>また、発生から24時間を超える場合、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お知らせを</a:t>
            </a:r>
            <a:r>
              <a:rPr lang="ja-JP">
                <a:solidFill>
                  <a:srgbClr val="000000"/>
                </a:solidFill>
                <a:latin typeface="Meiryo UI"/>
              </a:rPr>
              <a:t>投稿させて</a:t>
            </a:r>
            <a:r>
              <a:rPr lang="ja-JP" altLang="en-US">
                <a:solidFill>
                  <a:srgbClr val="000000"/>
                </a:solidFill>
                <a:latin typeface="Meiryo UI"/>
              </a:rPr>
              <a:t>いただきます。</a:t>
            </a:r>
            <a:endParaRPr lang="ja-JP">
              <a:solidFill>
                <a:srgbClr val="000000"/>
              </a:solidFill>
              <a:latin typeface="Meiryo U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98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F94A-56CD-542C-3798-37B6BEFE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5C5D-4D64-AD64-F61F-07D9F6F0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障害時お知らせ掲載テキストサンプル </a:t>
            </a:r>
            <a:r>
              <a:rPr lang="en-US" altLang="ja-JP" dirty="0"/>
              <a:t>- OGG</a:t>
            </a:r>
            <a:r>
              <a:rPr lang="ja-JP" altLang="en-US" dirty="0"/>
              <a:t>障害</a:t>
            </a:r>
            <a:endParaRPr kumimoji="1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34D3-3C5D-7602-9872-F0052748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7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20AD50-181F-544C-E997-E1F5525EDB49}"/>
              </a:ext>
            </a:extLst>
          </p:cNvPr>
          <p:cNvSpPr/>
          <p:nvPr/>
        </p:nvSpPr>
        <p:spPr>
          <a:xfrm>
            <a:off x="542937" y="1073833"/>
            <a:ext cx="11029676" cy="44335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ja-JP" altLang="en-US" b="1" dirty="0">
                <a:solidFill>
                  <a:schemeClr val="tx1"/>
                </a:solidFill>
              </a:rPr>
              <a:t>障害情報</a:t>
            </a:r>
            <a:br>
              <a:rPr lang="ja-JP" altLang="en-US" dirty="0">
                <a:solidFill>
                  <a:schemeClr val="tx1"/>
                </a:solidFill>
              </a:rPr>
            </a:b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＜事象＞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ai21</a:t>
            </a:r>
            <a:r>
              <a:rPr lang="ja-JP" altLang="en-US" dirty="0">
                <a:solidFill>
                  <a:schemeClr val="tx1"/>
                </a:solidFill>
              </a:rPr>
              <a:t>から</a:t>
            </a:r>
            <a:r>
              <a:rPr lang="en-US" altLang="ja-JP" dirty="0">
                <a:solidFill>
                  <a:schemeClr val="tx1"/>
                </a:solidFill>
              </a:rPr>
              <a:t>U-SLIM</a:t>
            </a:r>
            <a:r>
              <a:rPr lang="ja-JP" altLang="en-US" dirty="0">
                <a:solidFill>
                  <a:schemeClr val="tx1"/>
                </a:solidFill>
              </a:rPr>
              <a:t>へのデータ輸送経路にてシステム障害が発生した影響で、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データ連携が一時的に停止しております。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それに伴い、</a:t>
            </a:r>
            <a:r>
              <a:rPr lang="en-US" altLang="ja-JP" dirty="0">
                <a:solidFill>
                  <a:schemeClr val="tx1"/>
                </a:solidFill>
              </a:rPr>
              <a:t>ai21</a:t>
            </a:r>
            <a:r>
              <a:rPr lang="ja-JP" altLang="en-US" dirty="0">
                <a:solidFill>
                  <a:schemeClr val="tx1"/>
                </a:solidFill>
              </a:rPr>
              <a:t>に登録された最新情報が</a:t>
            </a:r>
            <a:r>
              <a:rPr lang="en-US" altLang="ja-JP" dirty="0">
                <a:solidFill>
                  <a:schemeClr val="tx1"/>
                </a:solidFill>
              </a:rPr>
              <a:t>U-SLIM</a:t>
            </a:r>
            <a:r>
              <a:rPr lang="ja-JP" altLang="en-US" dirty="0">
                <a:solidFill>
                  <a:schemeClr val="tx1"/>
                </a:solidFill>
              </a:rPr>
              <a:t>上に反映されない状態となっております。</a:t>
            </a:r>
          </a:p>
          <a:p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＜影響販売店＞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全販売店</a:t>
            </a:r>
            <a:br>
              <a:rPr lang="ja-JP" altLang="en-US" dirty="0">
                <a:solidFill>
                  <a:schemeClr val="tx1"/>
                </a:solidFill>
              </a:rPr>
            </a:b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＜発生日時＞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2026</a:t>
            </a:r>
            <a:r>
              <a:rPr lang="ja-JP" altLang="en-US" dirty="0">
                <a:solidFill>
                  <a:schemeClr val="tx1"/>
                </a:solidFill>
              </a:rPr>
              <a:t>年</a:t>
            </a:r>
            <a:r>
              <a:rPr lang="en-US" altLang="ja-JP" dirty="0">
                <a:solidFill>
                  <a:schemeClr val="tx1"/>
                </a:solidFill>
              </a:rPr>
              <a:t>5</a:t>
            </a:r>
            <a:r>
              <a:rPr lang="ja-JP" altLang="en-US" dirty="0">
                <a:solidFill>
                  <a:schemeClr val="tx1"/>
                </a:solidFill>
              </a:rPr>
              <a:t>月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日　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時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分頃</a:t>
            </a:r>
          </a:p>
          <a:p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>
                <a:solidFill>
                  <a:schemeClr val="tx1"/>
                </a:solidFill>
              </a:rPr>
              <a:t>＜復旧予定日時＞</a:t>
            </a:r>
            <a:endParaRPr lang="ja-JP" altLang="en-US">
              <a:solidFill>
                <a:schemeClr val="tx1"/>
              </a:solidFill>
              <a:cs typeface="Arial"/>
            </a:endParaRPr>
          </a:p>
          <a:p>
            <a:r>
              <a:rPr lang="ja-JP" altLang="en-US">
                <a:solidFill>
                  <a:schemeClr val="tx1"/>
                </a:solidFill>
              </a:rPr>
              <a:t>　未定 or </a:t>
            </a:r>
            <a:r>
              <a:rPr lang="en-US" altLang="ja-JP" dirty="0">
                <a:solidFill>
                  <a:schemeClr val="tx1"/>
                </a:solidFill>
              </a:rPr>
              <a:t>2026</a:t>
            </a:r>
            <a:r>
              <a:rPr lang="ja-JP" altLang="en-US" dirty="0">
                <a:solidFill>
                  <a:schemeClr val="tx1"/>
                </a:solidFill>
              </a:rPr>
              <a:t>年</a:t>
            </a:r>
            <a:r>
              <a:rPr lang="en-US" altLang="ja-JP" dirty="0">
                <a:solidFill>
                  <a:schemeClr val="tx1"/>
                </a:solidFill>
              </a:rPr>
              <a:t>5</a:t>
            </a:r>
            <a:r>
              <a:rPr lang="ja-JP" altLang="en-US" dirty="0">
                <a:solidFill>
                  <a:schemeClr val="tx1"/>
                </a:solidFill>
              </a:rPr>
              <a:t>月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日　</a:t>
            </a:r>
            <a:r>
              <a:rPr lang="en-US" altLang="ja-JP" dirty="0">
                <a:solidFill>
                  <a:schemeClr val="tx1"/>
                </a:solidFill>
              </a:rPr>
              <a:t>x</a:t>
            </a:r>
            <a:r>
              <a:rPr lang="ja-JP" altLang="en-US" dirty="0">
                <a:solidFill>
                  <a:schemeClr val="tx1"/>
                </a:solidFill>
              </a:rPr>
              <a:t>時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分頃</a:t>
            </a:r>
            <a:endParaRPr lang="ja-JP" altLang="en-US" dirty="0">
              <a:solidFill>
                <a:schemeClr val="tx1"/>
              </a:solidFill>
              <a:cs typeface="Arial"/>
            </a:endParaRPr>
          </a:p>
          <a:p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F47D815-FB00-6E9D-3E20-F6C448C1B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807" y="5599502"/>
            <a:ext cx="69318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latin typeface="Arial" panose="020B0604020202020204" pitchFamily="34" charset="0"/>
              </a:rPr>
              <a:t>※</a:t>
            </a:r>
            <a:r>
              <a:rPr kumimoji="0" lang="ja-JP" altLang="en-US" dirty="0">
                <a:latin typeface="Arial" panose="020B0604020202020204" pitchFamily="34" charset="0"/>
              </a:rPr>
              <a:t>掲載手順は次の資料を参照：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お知らせ掲載手順書_ver1.00.xlsx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97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454F-2F2A-C067-1424-F072D2E9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F2E8820-2363-BD87-0BC2-4705390FB994}"/>
              </a:ext>
            </a:extLst>
          </p:cNvPr>
          <p:cNvSpPr/>
          <p:nvPr/>
        </p:nvSpPr>
        <p:spPr>
          <a:xfrm>
            <a:off x="542937" y="1073833"/>
            <a:ext cx="11029676" cy="39511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>
                <a:solidFill>
                  <a:schemeClr val="tx1"/>
                </a:solidFill>
              </a:rPr>
              <a:t>障害情報</a:t>
            </a:r>
            <a:endParaRPr lang="en-US" altLang="ja-JP" b="1" dirty="0">
              <a:solidFill>
                <a:schemeClr val="tx1"/>
              </a:solidFill>
            </a:endParaRPr>
          </a:p>
          <a:p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＜事象＞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車両検索機能の抽出条件において、一部の項目で正常に検索できない不具合が発生しております。</a:t>
            </a:r>
          </a:p>
          <a:p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＜影響販売店＞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全販売店</a:t>
            </a:r>
          </a:p>
          <a:p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＜発生日時＞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2026</a:t>
            </a:r>
            <a:r>
              <a:rPr lang="ja-JP" altLang="en-US" dirty="0">
                <a:solidFill>
                  <a:schemeClr val="tx1"/>
                </a:solidFill>
              </a:rPr>
              <a:t>年</a:t>
            </a:r>
            <a:r>
              <a:rPr lang="en-US" altLang="ja-JP" dirty="0">
                <a:solidFill>
                  <a:schemeClr val="tx1"/>
                </a:solidFill>
              </a:rPr>
              <a:t>5</a:t>
            </a:r>
            <a:r>
              <a:rPr lang="ja-JP" altLang="en-US" dirty="0">
                <a:solidFill>
                  <a:schemeClr val="tx1"/>
                </a:solidFill>
              </a:rPr>
              <a:t>月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日　</a:t>
            </a:r>
            <a:r>
              <a:rPr lang="en-US" altLang="ja-JP" dirty="0">
                <a:solidFill>
                  <a:schemeClr val="tx1"/>
                </a:solidFill>
              </a:rPr>
              <a:t>x</a:t>
            </a:r>
            <a:r>
              <a:rPr lang="ja-JP" altLang="en-US" dirty="0">
                <a:solidFill>
                  <a:schemeClr val="tx1"/>
                </a:solidFill>
              </a:rPr>
              <a:t>時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分頃</a:t>
            </a:r>
          </a:p>
          <a:p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＜復旧予定日時＞</a:t>
            </a:r>
            <a:endParaRPr lang="ja-JP" altLang="en-US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2026</a:t>
            </a:r>
            <a:r>
              <a:rPr lang="ja-JP" altLang="en-US" dirty="0">
                <a:solidFill>
                  <a:schemeClr val="tx1"/>
                </a:solidFill>
              </a:rPr>
              <a:t>年</a:t>
            </a:r>
            <a:r>
              <a:rPr lang="en-US" altLang="ja-JP" dirty="0">
                <a:solidFill>
                  <a:schemeClr val="tx1"/>
                </a:solidFill>
              </a:rPr>
              <a:t>5</a:t>
            </a:r>
            <a:r>
              <a:rPr lang="ja-JP" altLang="en-US" dirty="0">
                <a:solidFill>
                  <a:schemeClr val="tx1"/>
                </a:solidFill>
              </a:rPr>
              <a:t>月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日　</a:t>
            </a:r>
            <a:r>
              <a:rPr lang="en-US" altLang="ja-JP" dirty="0">
                <a:solidFill>
                  <a:schemeClr val="tx1"/>
                </a:solidFill>
              </a:rPr>
              <a:t>x</a:t>
            </a:r>
            <a:r>
              <a:rPr lang="ja-JP" altLang="en-US" dirty="0">
                <a:solidFill>
                  <a:schemeClr val="tx1"/>
                </a:solidFill>
              </a:rPr>
              <a:t>時</a:t>
            </a:r>
            <a:r>
              <a:rPr lang="en-US" altLang="ja-JP" dirty="0">
                <a:solidFill>
                  <a:schemeClr val="tx1"/>
                </a:solidFill>
              </a:rPr>
              <a:t>xx</a:t>
            </a:r>
            <a:r>
              <a:rPr lang="ja-JP" altLang="en-US" dirty="0">
                <a:solidFill>
                  <a:schemeClr val="tx1"/>
                </a:solidFill>
              </a:rPr>
              <a:t>分頃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5C211-892A-E5E6-6314-4DDFAF88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障害時お知らせ掲載テキストサンプル </a:t>
            </a:r>
            <a:r>
              <a:rPr lang="en-US" altLang="ja-JP" dirty="0"/>
              <a:t>-</a:t>
            </a:r>
            <a:r>
              <a:rPr lang="ja-JP" altLang="en-US" dirty="0"/>
              <a:t>アプリ動作不具合</a:t>
            </a:r>
            <a:endParaRPr kumimoji="1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99768-920D-935B-35E5-19E6377F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8</a:t>
            </a:fld>
            <a:endParaRPr lang="en-US" altLang="ja-JP" sz="2133">
              <a:latin typeface="Arial Black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61CEC6-218D-4194-A1C3-F4DECFEE9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807" y="5159894"/>
            <a:ext cx="69318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latin typeface="Arial" panose="020B0604020202020204" pitchFamily="34" charset="0"/>
              </a:rPr>
              <a:t>※</a:t>
            </a:r>
            <a:r>
              <a:rPr kumimoji="0" lang="ja-JP" altLang="en-US" dirty="0">
                <a:latin typeface="Arial" panose="020B0604020202020204" pitchFamily="34" charset="0"/>
              </a:rPr>
              <a:t>掲載手順は次の資料を参照：</a:t>
            </a: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お知らせ掲載手順書_ver1.00.xlsx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40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FD916-4E11-B804-A02D-9DB99694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緊急連絡先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50736D-D721-2408-174D-1BA8B9E3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9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B14398E-271B-DD42-F410-3F5F68E90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42994"/>
              </p:ext>
            </p:extLst>
          </p:nvPr>
        </p:nvGraphicFramePr>
        <p:xfrm>
          <a:off x="458228" y="1125551"/>
          <a:ext cx="9205889" cy="2382432"/>
        </p:xfrm>
        <a:graphic>
          <a:graphicData uri="http://schemas.openxmlformats.org/drawingml/2006/table">
            <a:tbl>
              <a:tblPr/>
              <a:tblGrid>
                <a:gridCol w="1498588">
                  <a:extLst>
                    <a:ext uri="{9D8B030D-6E8A-4147-A177-3AD203B41FA5}">
                      <a16:colId xmlns:a16="http://schemas.microsoft.com/office/drawing/2014/main" val="1503745609"/>
                    </a:ext>
                  </a:extLst>
                </a:gridCol>
                <a:gridCol w="2949350">
                  <a:extLst>
                    <a:ext uri="{9D8B030D-6E8A-4147-A177-3AD203B41FA5}">
                      <a16:colId xmlns:a16="http://schemas.microsoft.com/office/drawing/2014/main" val="1955487085"/>
                    </a:ext>
                  </a:extLst>
                </a:gridCol>
                <a:gridCol w="4757951">
                  <a:extLst>
                    <a:ext uri="{9D8B030D-6E8A-4147-A177-3AD203B41FA5}">
                      <a16:colId xmlns:a16="http://schemas.microsoft.com/office/drawing/2014/main" val="5960012"/>
                    </a:ext>
                  </a:extLst>
                </a:gridCol>
              </a:tblGrid>
              <a:tr h="397072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役割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氏名</a:t>
                      </a:r>
                    </a:p>
                  </a:txBody>
                  <a:tcPr marL="85578" marR="85578" marT="42789" marB="42789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連絡先</a:t>
                      </a:r>
                    </a:p>
                  </a:txBody>
                  <a:tcPr marL="85578" marR="85578" marT="42789" marB="42789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01138"/>
                  </a:ext>
                </a:extLst>
              </a:tr>
              <a:tr h="397072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TMC</a:t>
                      </a:r>
                      <a:endParaRPr lang="en-US" altLang="ja-JP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池田 弘樹 様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080-6986-4986</a:t>
                      </a:r>
                      <a:endParaRPr lang="en-US" altLang="ja-JP"/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38760"/>
                  </a:ext>
                </a:extLst>
              </a:tr>
              <a:tr h="397072"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TMC</a:t>
                      </a:r>
                      <a:endParaRPr lang="en-US" altLang="ja-JP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8" marB="42788">
                    <a:lnL w="285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1708">
                      <a:solidFill>
                        <a:srgbClr val="808080"/>
                      </a:solidFill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ja-JP" altLang="en-US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磯村 歩未 様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8" marB="42788">
                    <a:lnL w="11708">
                      <a:solidFill>
                        <a:srgbClr val="808080"/>
                      </a:solidFill>
                    </a:lnL>
                    <a:lnR w="11708">
                      <a:solidFill>
                        <a:srgbClr val="808080"/>
                      </a:solidFill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025"/>
                        </a:lnSpc>
                        <a:buNone/>
                      </a:pP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080</a:t>
                      </a:r>
                      <a:r>
                        <a:rPr lang="en-US" alt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5814</a:t>
                      </a:r>
                      <a:r>
                        <a:rPr lang="en-US" alt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ja-JP" sz="18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4782</a:t>
                      </a:r>
                      <a:endParaRPr lang="en-US" altLang="ja-JP"/>
                    </a:p>
                  </a:txBody>
                  <a:tcPr marL="85578" marR="85578" marT="42788" marB="42788">
                    <a:lnL w="11708">
                      <a:solidFill>
                        <a:srgbClr val="808080"/>
                      </a:solidFill>
                    </a:lnL>
                    <a:lnR w="285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443591"/>
                  </a:ext>
                </a:extLst>
              </a:tr>
              <a:tr h="397072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TEC</a:t>
                      </a:r>
                      <a:endParaRPr lang="ja-JP" altLang="en-US" sz="18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川上 朋也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070-7539-2521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944522"/>
                  </a:ext>
                </a:extLst>
              </a:tr>
              <a:tr h="397072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TEC</a:t>
                      </a:r>
                      <a:endParaRPr lang="ja-JP" altLang="en-US" sz="1800" b="0" i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新庄 宏義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03-5439-7882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925888"/>
                  </a:ext>
                </a:extLst>
              </a:tr>
              <a:tr h="397072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TEC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三ツ井 涼太</a:t>
                      </a: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en-US" altLang="ja-JP" sz="1800" b="0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090-4071-0264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6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87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B38E7-37E5-327D-A52D-9A02F8AB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類似性障害の確認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6E0C0-E58D-9129-2E77-E2782D21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AEFF336-1E2B-43B1-AB2F-00EB3EDF84C9}" type="slidenum">
              <a:rPr lang="en-US" altLang="ja-JP" sz="2133" smtClean="0">
                <a:latin typeface="Arial Black" pitchFamily="34" charset="0"/>
              </a:rPr>
              <a:pPr algn="r"/>
              <a:t>10</a:t>
            </a:fld>
            <a:endParaRPr lang="en-US" altLang="ja-JP" sz="2133">
              <a:latin typeface="Arial Black" pitchFamily="34" charset="0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7F2B35F-B73D-11AE-9E04-A09F0B1E5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62544"/>
              </p:ext>
            </p:extLst>
          </p:nvPr>
        </p:nvGraphicFramePr>
        <p:xfrm>
          <a:off x="458228" y="1125550"/>
          <a:ext cx="10866908" cy="2626868"/>
        </p:xfrm>
        <a:graphic>
          <a:graphicData uri="http://schemas.openxmlformats.org/drawingml/2006/table">
            <a:tbl>
              <a:tblPr/>
              <a:tblGrid>
                <a:gridCol w="1664187">
                  <a:extLst>
                    <a:ext uri="{9D8B030D-6E8A-4147-A177-3AD203B41FA5}">
                      <a16:colId xmlns:a16="http://schemas.microsoft.com/office/drawing/2014/main" val="1503745609"/>
                    </a:ext>
                  </a:extLst>
                </a:gridCol>
                <a:gridCol w="4647501">
                  <a:extLst>
                    <a:ext uri="{9D8B030D-6E8A-4147-A177-3AD203B41FA5}">
                      <a16:colId xmlns:a16="http://schemas.microsoft.com/office/drawing/2014/main" val="1955487085"/>
                    </a:ext>
                  </a:extLst>
                </a:gridCol>
                <a:gridCol w="4555220">
                  <a:extLst>
                    <a:ext uri="{9D8B030D-6E8A-4147-A177-3AD203B41FA5}">
                      <a16:colId xmlns:a16="http://schemas.microsoft.com/office/drawing/2014/main" val="5960012"/>
                    </a:ext>
                  </a:extLst>
                </a:gridCol>
              </a:tblGrid>
              <a:tr h="39578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発生日時</a:t>
                      </a: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内容</a:t>
                      </a:r>
                    </a:p>
                  </a:txBody>
                  <a:tcPr marL="85578" marR="85578" marT="42789" marB="42789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r>
                        <a:rPr lang="ja-JP" altLang="en-US" sz="1800" b="1" i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対策</a:t>
                      </a:r>
                    </a:p>
                  </a:txBody>
                  <a:tcPr marL="85578" marR="85578" marT="42789" marB="42789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501138"/>
                  </a:ext>
                </a:extLst>
              </a:tr>
              <a:tr h="710139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353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38760"/>
                  </a:ext>
                </a:extLst>
              </a:tr>
              <a:tr h="76047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925888"/>
                  </a:ext>
                </a:extLst>
              </a:tr>
              <a:tr h="760473"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025"/>
                        </a:lnSpc>
                        <a:buFontTx/>
                        <a:buNone/>
                      </a:pPr>
                      <a:endParaRPr lang="ja-JP" altLang="en-US" sz="18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578" marR="85578" marT="42789" marB="42789">
                    <a:lnL w="11709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6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72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1"/>
          <p:cNvSpPr txBox="1">
            <a:spLocks/>
          </p:cNvSpPr>
          <p:nvPr/>
        </p:nvSpPr>
        <p:spPr bwMode="auto">
          <a:xfrm>
            <a:off x="10533409" y="6424248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0" latinLnBrk="0" hangingPunct="0">
              <a:defRPr kumimoji="1" sz="20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pPr algn="r" defTabSz="1219170"/>
            <a:fld id="{5AEFF336-1E2B-43B1-AB2F-00EB3EDF84C9}" type="slidenum">
              <a:rPr lang="en-US" altLang="ja-JP" sz="2133">
                <a:solidFill>
                  <a:schemeClr val="tx1">
                    <a:lumMod val="50000"/>
                    <a:lumOff val="50000"/>
                  </a:schemeClr>
                </a:solidFill>
                <a:latin typeface="Arial Black" pitchFamily="34" charset="0"/>
              </a:rPr>
              <a:pPr algn="r" defTabSz="1219170"/>
              <a:t>11</a:t>
            </a:fld>
            <a:endParaRPr lang="en-US" altLang="ja-JP" sz="2133">
              <a:solidFill>
                <a:schemeClr val="tx1">
                  <a:lumMod val="50000"/>
                  <a:lumOff val="50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096AC71-A4CE-432A-A169-9796142BF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640" y="2859543"/>
            <a:ext cx="4222745" cy="113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9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トヨテック標準テンプレ">
      <a:dk1>
        <a:sysClr val="windowText" lastClr="000000"/>
      </a:dk1>
      <a:lt1>
        <a:sysClr val="window" lastClr="FFFFFF"/>
      </a:lt1>
      <a:dk2>
        <a:srgbClr val="FF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C00000"/>
      </a:folHlink>
    </a:clrScheme>
    <a:fontScheme name="トヨテック標準テンプレ">
      <a:majorFont>
        <a:latin typeface="Meiryo UI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3F1E4B07BBC341A8F6905F09A2526F" ma:contentTypeVersion="17" ma:contentTypeDescription="新しいドキュメントを作成します。" ma:contentTypeScope="" ma:versionID="1437aaece15ac943c27d84c7bd287707">
  <xsd:schema xmlns:xsd="http://www.w3.org/2001/XMLSchema" xmlns:xs="http://www.w3.org/2001/XMLSchema" xmlns:p="http://schemas.microsoft.com/office/2006/metadata/properties" xmlns:ns2="879ce5c7-7ac0-470a-8fb0-80b8dfe33f1c" xmlns:ns3="00dc9add-bb5d-4974-938e-6de906df2254" targetNamespace="http://schemas.microsoft.com/office/2006/metadata/properties" ma:root="true" ma:fieldsID="a41d73b5ccc80413fe00e27c354e6c45" ns2:_="" ns3:_="">
    <xsd:import namespace="879ce5c7-7ac0-470a-8fb0-80b8dfe33f1c"/>
    <xsd:import namespace="00dc9add-bb5d-4974-938e-6de906df22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ONTENTS" minOccurs="0"/>
                <xsd:element ref="ns2:_x8cc7__x6599__x8aac__x660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ce5c7-7ac0-470a-8fb0-80b8dfe33f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def91d17-8bee-472f-b8e3-30905430c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NTENTS" ma:index="22" nillable="true" ma:displayName="CONTENTS" ma:format="Dropdown" ma:internalName="CONTENTS">
      <xsd:simpleType>
        <xsd:restriction base="dms:Text">
          <xsd:maxLength value="255"/>
        </xsd:restriction>
      </xsd:simpleType>
    </xsd:element>
    <xsd:element name="_x8cc7__x6599__x8aac__x660e_" ma:index="23" nillable="true" ma:displayName="資料説明" ma:format="Dropdown" ma:internalName="_x8cc7__x6599__x8aac__x660e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c9add-bb5d-4974-938e-6de906df22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5f91764-4324-4dd1-9de8-4bb0ffe7790b}" ma:internalName="TaxCatchAll" ma:showField="CatchAllData" ma:web="00dc9add-bb5d-4974-938e-6de906df22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dc9add-bb5d-4974-938e-6de906df2254" xsi:nil="true"/>
    <lcf76f155ced4ddcb4097134ff3c332f xmlns="879ce5c7-7ac0-470a-8fb0-80b8dfe33f1c">
      <Terms xmlns="http://schemas.microsoft.com/office/infopath/2007/PartnerControls"/>
    </lcf76f155ced4ddcb4097134ff3c332f>
    <CONTENTS xmlns="879ce5c7-7ac0-470a-8fb0-80b8dfe33f1c" xsi:nil="true"/>
    <_x8cc7__x6599__x8aac__x660e_ xmlns="879ce5c7-7ac0-470a-8fb0-80b8dfe33f1c" xsi:nil="true"/>
  </documentManagement>
</p:properties>
</file>

<file path=customXml/itemProps1.xml><?xml version="1.0" encoding="utf-8"?>
<ds:datastoreItem xmlns:ds="http://schemas.openxmlformats.org/officeDocument/2006/customXml" ds:itemID="{DC0625C9-E933-4ADB-B463-C1364C7A0E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ce5c7-7ac0-470a-8fb0-80b8dfe33f1c"/>
    <ds:schemaRef ds:uri="00dc9add-bb5d-4974-938e-6de906df2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C7B1FE-A507-40CC-B61C-87DFE75307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537E21-3738-4E64-89CE-DE8804F28B96}">
  <ds:schemaRefs>
    <ds:schemaRef ds:uri="http://purl.org/dc/elements/1.1/"/>
    <ds:schemaRef ds:uri="879ce5c7-7ac0-470a-8fb0-80b8dfe33f1c"/>
    <ds:schemaRef ds:uri="http://schemas.microsoft.com/office/2006/metadata/properties"/>
    <ds:schemaRef ds:uri="http://schemas.openxmlformats.org/package/2006/metadata/core-properties"/>
    <ds:schemaRef ds:uri="00dc9add-bb5d-4974-938e-6de906df2254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7a81c19-a273-44e1-9693-b110b3b63ca9}" enabled="0" method="" siteId="{a7a81c19-a273-44e1-9693-b110b3b63c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4783</TotalTime>
  <Words>841</Words>
  <Application>Microsoft Office PowerPoint</Application>
  <PresentationFormat>Widescreen</PresentationFormat>
  <Paragraphs>186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​​テーマ</vt:lpstr>
      <vt:lpstr>U-SLIM 死活監視対応手順</vt:lpstr>
      <vt:lpstr>体制@2026年GW連休</vt:lpstr>
      <vt:lpstr>日次監視</vt:lpstr>
      <vt:lpstr>動作確認観点</vt:lpstr>
      <vt:lpstr>障害対応内容</vt:lpstr>
      <vt:lpstr>レポートテキストサンプル - OGG障害</vt:lpstr>
      <vt:lpstr>障害時お知らせ掲載テキストサンプル - OGG障害</vt:lpstr>
      <vt:lpstr>障害時お知らせ掲載テキストサンプル -アプリ動作不具合</vt:lpstr>
      <vt:lpstr>緊急連絡先</vt:lpstr>
      <vt:lpstr>類似性障害の確認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画面表示用テンプレート</dc:title>
  <cp:lastModifiedBy>筒井　利桜</cp:lastModifiedBy>
  <cp:revision>165</cp:revision>
  <dcterms:created xsi:type="dcterms:W3CDTF">2019-07-30T06:41:28Z</dcterms:created>
  <dcterms:modified xsi:type="dcterms:W3CDTF">2026-08-04T00:50:58Z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0x010100D23F1E4B07BBC341A8F6905F09A2526F</vt:lpwstr>
  </property>
  <property fmtid="{D5CDD505-2E9C-101B-9397-08002B2CF9AE}" pid="3" name="MediaServiceImageTags">
    <vt:lpwstr/>
  </property>
</Properties>
</file>