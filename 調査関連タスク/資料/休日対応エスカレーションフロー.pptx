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99" r:id="rId5"/>
    <p:sldId id="296" r:id="rId6"/>
    <p:sldId id="303" r:id="rId7"/>
    <p:sldId id="298" r:id="rId8"/>
    <p:sldId id="308" r:id="rId9"/>
    <p:sldId id="309" r:id="rId10"/>
    <p:sldId id="310" r:id="rId11"/>
    <p:sldId id="311" r:id="rId12"/>
    <p:sldId id="304" r:id="rId13"/>
    <p:sldId id="305" r:id="rId14"/>
    <p:sldId id="306" r:id="rId15"/>
    <p:sldId id="307" r:id="rId16"/>
    <p:sldId id="300" r:id="rId17"/>
    <p:sldId id="301" r:id="rId18"/>
    <p:sldId id="302" r:id="rId19"/>
    <p:sldId id="297" r:id="rId20"/>
    <p:sldId id="278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最新" id="{A5E1E714-E297-48F2-9B24-D85B6D1FDDC1}">
          <p14:sldIdLst>
            <p14:sldId id="299"/>
            <p14:sldId id="296"/>
            <p14:sldId id="303"/>
            <p14:sldId id="298"/>
          </p14:sldIdLst>
        </p14:section>
        <p14:section name="2026年GW" id="{9C315DE2-00A7-45E1-BF53-A4BAAA9C776B}">
          <p14:sldIdLst>
            <p14:sldId id="308"/>
            <p14:sldId id="309"/>
            <p14:sldId id="310"/>
            <p14:sldId id="311"/>
          </p14:sldIdLst>
        </p14:section>
        <p14:section name="2025年末" id="{29FD1E4D-E03E-4AC5-B3F2-E3C17A90276E}">
          <p14:sldIdLst>
            <p14:sldId id="304"/>
            <p14:sldId id="305"/>
            <p14:sldId id="306"/>
            <p14:sldId id="307"/>
          </p14:sldIdLst>
        </p14:section>
        <p14:section name="2025年8月" id="{62B49B94-981E-4656-9BB7-C65C76B77360}">
          <p14:sldIdLst>
            <p14:sldId id="300"/>
            <p14:sldId id="301"/>
            <p14:sldId id="302"/>
          </p14:sldIdLst>
        </p14:section>
        <p14:section name="BackUp" id="{3769A0E7-379F-424B-9203-12AE233584DA}">
          <p14:sldIdLst>
            <p14:sldId id="29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E6C21-E641-4F92-BE9A-4F7F0E44D650}" v="64" dt="2026-07-31T07:37:47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E0218B-124D-4A76-B344-1F3DAEC5F124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6E9E4-2193-4241-8B3F-FE5066868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57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6E9E4-2193-4241-8B3F-FE50668689C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8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7376" y="1566810"/>
            <a:ext cx="10389334" cy="2033644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A3994021-8396-4567-B779-C53974172756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F5233568-4E8E-4861-A63D-40C4C93A94B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9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20736" y="6201068"/>
            <a:ext cx="2350528" cy="37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29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5491" y="20622"/>
            <a:ext cx="10657184" cy="733657"/>
          </a:xfrm>
          <a:noFill/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25491" y="919261"/>
            <a:ext cx="11151029" cy="3421840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正方形/長方形 6"/>
          <p:cNvSpPr/>
          <p:nvPr userDrawn="1"/>
        </p:nvSpPr>
        <p:spPr>
          <a:xfrm flipH="1" flipV="1">
            <a:off x="0" y="668408"/>
            <a:ext cx="12192000" cy="45719"/>
          </a:xfrm>
          <a:prstGeom prst="rect">
            <a:avLst/>
          </a:prstGeom>
          <a:gradFill flip="none" rotWithShape="1">
            <a:gsLst>
              <a:gs pos="100000">
                <a:srgbClr val="FF0000"/>
              </a:gs>
              <a:gs pos="86000">
                <a:srgbClr val="FF0000"/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9" b="22490"/>
          <a:stretch/>
        </p:blipFill>
        <p:spPr bwMode="auto">
          <a:xfrm>
            <a:off x="10908100" y="133678"/>
            <a:ext cx="1283900" cy="44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スライド番号プレースホルダー 1"/>
          <p:cNvSpPr>
            <a:spLocks noGrp="1"/>
          </p:cNvSpPr>
          <p:nvPr>
            <p:ph type="sldNum" sz="quarter" idx="12"/>
          </p:nvPr>
        </p:nvSpPr>
        <p:spPr bwMode="auto">
          <a:xfrm>
            <a:off x="10533409" y="6468467"/>
            <a:ext cx="165926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4267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ea typeface="ＭＳ Ｐゴシック" charset="-128"/>
              </a:defRPr>
            </a:lvl1pPr>
            <a:lvl2pPr>
              <a:defRPr kumimoji="1" sz="3733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2pPr>
            <a:lvl3pPr>
              <a:defRPr kumimoji="1" sz="3200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3pPr>
            <a:lvl4pPr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4pPr>
            <a:lvl5pPr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5pPr>
            <a:lvl6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6pPr>
            <a:lvl7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7pPr>
            <a:lvl8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8pPr>
            <a:lvl9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‹#›</a:t>
            </a:fld>
            <a:endParaRPr lang="en-US" altLang="ja-JP" sz="2133">
              <a:latin typeface="Arial Black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DBED8AD-E255-4F9F-8126-0AA68CC45291}"/>
              </a:ext>
            </a:extLst>
          </p:cNvPr>
          <p:cNvSpPr/>
          <p:nvPr userDrawn="1"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19208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75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370650"/>
            <a:ext cx="10972800" cy="562073"/>
          </a:xfrm>
        </p:spPr>
        <p:txBody>
          <a:bodyPr>
            <a:normAutofit/>
          </a:bodyPr>
          <a:lstStyle>
            <a:lvl1pPr>
              <a:defRPr sz="2667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5D51C29-A750-4218-8F45-F16B1D013243}" type="datetimeFigureOut">
              <a:rPr lang="ja-JP" altLang="en-US" smtClean="0"/>
              <a:pPr/>
              <a:t>2026/8/3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981D43F-535D-4AED-839E-787EB38EC59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079778" y="6697663"/>
            <a:ext cx="4032447" cy="235678"/>
          </a:xfrm>
          <a:prstGeom prst="rect">
            <a:avLst/>
          </a:prstGeom>
          <a:noFill/>
          <a:ln>
            <a:noFill/>
          </a:ln>
        </p:spPr>
        <p:txBody>
          <a:bodyPr wrap="square" lIns="91220" tIns="45611" rIns="91220" bIns="45611">
            <a:spAutoFit/>
          </a:bodyPr>
          <a:lstStyle>
            <a:lvl1pPr defTabSz="684213"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defTabSz="684213"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defTabSz="684213"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defTabSz="684213"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defTabSz="684213"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ctr" defTabSz="684213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algn="ctr" defTabSz="684213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algn="ctr" defTabSz="684213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algn="ctr" defTabSz="684213" fontAlgn="base"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3333FF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>
              <a:defRPr/>
            </a:pPr>
            <a:r>
              <a:rPr lang="en-US" altLang="ja-JP" sz="933">
                <a:solidFill>
                  <a:srgbClr val="808080"/>
                </a:solidFill>
                <a:latin typeface="Arial" pitchFamily="34" charset="0"/>
                <a:ea typeface="HGｺﾞｼｯｸE" pitchFamily="49" charset="-128"/>
              </a:rPr>
              <a:t>Copyright © </a:t>
            </a:r>
            <a:r>
              <a:rPr lang="en-US" altLang="ja-JP" sz="933">
                <a:solidFill>
                  <a:srgbClr val="808080"/>
                </a:solidFill>
                <a:latin typeface="Arial" pitchFamily="34" charset="0"/>
                <a:ea typeface="HGP創英角ｺﾞｼｯｸUB" pitchFamily="50" charset="-128"/>
              </a:rPr>
              <a:t>TOYOTA Connected </a:t>
            </a:r>
            <a:r>
              <a:rPr lang="ja-JP" altLang="en-US" sz="933">
                <a:solidFill>
                  <a:srgbClr val="808080"/>
                </a:solidFill>
                <a:latin typeface="Arial" pitchFamily="34" charset="0"/>
                <a:ea typeface="HGP創英角ｺﾞｼｯｸUB" pitchFamily="50" charset="-128"/>
              </a:rPr>
              <a:t> </a:t>
            </a:r>
            <a:r>
              <a:rPr lang="en-US" altLang="ja-JP" sz="933">
                <a:solidFill>
                  <a:srgbClr val="808080"/>
                </a:solidFill>
                <a:latin typeface="Arial" pitchFamily="34" charset="0"/>
                <a:ea typeface="HGP創英角ｺﾞｼｯｸUB" pitchFamily="50" charset="-128"/>
              </a:rPr>
              <a:t>Corporation. All Rights Reserved.</a:t>
            </a:r>
            <a:endParaRPr lang="ja-JP" altLang="ja-JP" sz="933">
              <a:solidFill>
                <a:srgbClr val="808080"/>
              </a:solidFill>
              <a:latin typeface="Arial" pitchFamily="34" charset="0"/>
              <a:ea typeface="HGP創英角ｺﾞｼｯｸUB" pitchFamily="50" charset="-128"/>
            </a:endParaRPr>
          </a:p>
        </p:txBody>
      </p:sp>
      <p:sp>
        <p:nvSpPr>
          <p:cNvPr id="7" name="Line 33"/>
          <p:cNvSpPr>
            <a:spLocks noChangeShapeType="1"/>
          </p:cNvSpPr>
          <p:nvPr userDrawn="1"/>
        </p:nvSpPr>
        <p:spPr bwMode="auto">
          <a:xfrm>
            <a:off x="0" y="6718300"/>
            <a:ext cx="121920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ja-JP" altLang="en-US" sz="1600">
              <a:solidFill>
                <a:srgbClr val="3333FF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269" y="34519"/>
            <a:ext cx="2095556" cy="251467"/>
          </a:xfrm>
          <a:prstGeom prst="rect">
            <a:avLst/>
          </a:prstGeom>
        </p:spPr>
      </p:pic>
      <p:sp>
        <p:nvSpPr>
          <p:cNvPr id="12" name="Line 25"/>
          <p:cNvSpPr>
            <a:spLocks noChangeShapeType="1"/>
          </p:cNvSpPr>
          <p:nvPr userDrawn="1"/>
        </p:nvSpPr>
        <p:spPr bwMode="auto">
          <a:xfrm>
            <a:off x="1087969" y="358775"/>
            <a:ext cx="10680700" cy="0"/>
          </a:xfrm>
          <a:prstGeom prst="line">
            <a:avLst/>
          </a:prstGeom>
          <a:noFill/>
          <a:ln w="38100">
            <a:solidFill>
              <a:srgbClr val="DDDDDD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endParaRPr lang="ja-JP" altLang="en-US" sz="1600">
              <a:solidFill>
                <a:srgbClr val="3333FF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" name="Line 24"/>
          <p:cNvSpPr>
            <a:spLocks noChangeShapeType="1"/>
          </p:cNvSpPr>
          <p:nvPr userDrawn="1"/>
        </p:nvSpPr>
        <p:spPr bwMode="auto">
          <a:xfrm flipH="1">
            <a:off x="423333" y="358775"/>
            <a:ext cx="2702984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endParaRPr lang="ja-JP" altLang="en-US" sz="1600">
              <a:solidFill>
                <a:srgbClr val="3333FF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709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219877" y="-13393"/>
            <a:ext cx="10972800" cy="562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6842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kumimoji="1"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1059631f.tatgroup.onmicrosoft.com@jp.teams.ms" TargetMode="External"/><Relationship Id="rId3" Type="http://schemas.openxmlformats.org/officeDocument/2006/relationships/image" Target="../media/image4.png"/><Relationship Id="rId7" Type="http://schemas.openxmlformats.org/officeDocument/2006/relationships/hyperlink" Target="mailto:f88b021c.tatgroup.onmicrosoft.com@jp.teams.ms" TargetMode="External"/><Relationship Id="rId2" Type="http://schemas.openxmlformats.org/officeDocument/2006/relationships/hyperlink" Target="mailto:toyotecdap-alert@toyotec-jp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31c0289.tatgroup.onmicrosoft.com@jp.teams.ms" TargetMode="External"/><Relationship Id="rId11" Type="http://schemas.openxmlformats.org/officeDocument/2006/relationships/hyperlink" Target="mailto:283f4dc8.tatgroup.onmicrosoft.com@jp.teams.ms" TargetMode="External"/><Relationship Id="rId5" Type="http://schemas.openxmlformats.org/officeDocument/2006/relationships/hyperlink" Target="mailto:424d87e6.tatgroup.onmicrosoft.com@jp.teams.ms" TargetMode="External"/><Relationship Id="rId10" Type="http://schemas.openxmlformats.org/officeDocument/2006/relationships/hyperlink" Target="mailto:2a3528b1.tatgroup.onmicrosoft.com@jp.teams.ms" TargetMode="External"/><Relationship Id="rId4" Type="http://schemas.openxmlformats.org/officeDocument/2006/relationships/image" Target="../media/image5.png"/><Relationship Id="rId9" Type="http://schemas.openxmlformats.org/officeDocument/2006/relationships/hyperlink" Target="mailto:da87eef2.tatgroup.onmicrosoft.com@jp.teams.ms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283f4dc8.tatgroup.onmicrosoft.com@jp.teams.ms" TargetMode="External"/><Relationship Id="rId3" Type="http://schemas.openxmlformats.org/officeDocument/2006/relationships/image" Target="../media/image4.png"/><Relationship Id="rId7" Type="http://schemas.openxmlformats.org/officeDocument/2006/relationships/hyperlink" Target="mailto:2a3528b1.tatgroup.onmicrosoft.com@jp.teams.m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f88b021c.tatgroup.onmicrosoft.com@jp.teams.ms" TargetMode="External"/><Relationship Id="rId5" Type="http://schemas.openxmlformats.org/officeDocument/2006/relationships/hyperlink" Target="mailto:c31c0289.tatgroup.onmicrosoft.com@jp.teams.ms" TargetMode="External"/><Relationship Id="rId4" Type="http://schemas.openxmlformats.org/officeDocument/2006/relationships/hyperlink" Target="mailto:424d87e6.tatgroup.onmicrosoft.com@jp.teams.ms" TargetMode="External"/><Relationship Id="rId9" Type="http://schemas.openxmlformats.org/officeDocument/2006/relationships/hyperlink" Target="mailto:1059631f.tatgroup.onmicrosoft.com@jp.teams.m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mailto:1059631f.tatgroup.onmicrosoft.com@jp.teams.ms" TargetMode="External"/><Relationship Id="rId3" Type="http://schemas.openxmlformats.org/officeDocument/2006/relationships/image" Target="../media/image4.png"/><Relationship Id="rId7" Type="http://schemas.openxmlformats.org/officeDocument/2006/relationships/hyperlink" Target="mailto:f88b021c.tatgroup.onmicrosoft.com@jp.teams.ms" TargetMode="External"/><Relationship Id="rId2" Type="http://schemas.openxmlformats.org/officeDocument/2006/relationships/hyperlink" Target="mailto:toyotecdap-alert@toyotec-jp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31c0289.tatgroup.onmicrosoft.com@jp.teams.ms" TargetMode="External"/><Relationship Id="rId11" Type="http://schemas.openxmlformats.org/officeDocument/2006/relationships/hyperlink" Target="mailto:283f4dc8.tatgroup.onmicrosoft.com@jp.teams.ms" TargetMode="External"/><Relationship Id="rId5" Type="http://schemas.openxmlformats.org/officeDocument/2006/relationships/hyperlink" Target="mailto:424d87e6.tatgroup.onmicrosoft.com@jp.teams.ms" TargetMode="External"/><Relationship Id="rId10" Type="http://schemas.openxmlformats.org/officeDocument/2006/relationships/hyperlink" Target="mailto:2a3528b1.tatgroup.onmicrosoft.com@jp.teams.ms" TargetMode="External"/><Relationship Id="rId4" Type="http://schemas.openxmlformats.org/officeDocument/2006/relationships/image" Target="../media/image5.png"/><Relationship Id="rId9" Type="http://schemas.openxmlformats.org/officeDocument/2006/relationships/hyperlink" Target="mailto:da87eef2.tatgroup.onmicrosoft.com@jp.teams.ms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mailto:283f4dc8.tatgroup.onmicrosoft.com@jp.teams.ms" TargetMode="External"/><Relationship Id="rId3" Type="http://schemas.openxmlformats.org/officeDocument/2006/relationships/image" Target="../media/image4.png"/><Relationship Id="rId7" Type="http://schemas.openxmlformats.org/officeDocument/2006/relationships/hyperlink" Target="mailto:2a3528b1.tatgroup.onmicrosoft.com@jp.teams.m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f88b021c.tatgroup.onmicrosoft.com@jp.teams.ms" TargetMode="External"/><Relationship Id="rId5" Type="http://schemas.openxmlformats.org/officeDocument/2006/relationships/hyperlink" Target="mailto:c31c0289.tatgroup.onmicrosoft.com@jp.teams.ms" TargetMode="External"/><Relationship Id="rId4" Type="http://schemas.openxmlformats.org/officeDocument/2006/relationships/hyperlink" Target="mailto:424d87e6.tatgroup.onmicrosoft.com@jp.teams.ms" TargetMode="External"/><Relationship Id="rId9" Type="http://schemas.openxmlformats.org/officeDocument/2006/relationships/hyperlink" Target="mailto:1059631f.tatgroup.onmicrosoft.com@jp.teams.m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mailto:1059631f.tatgroup.onmicrosoft.com@jp.teams.ms" TargetMode="External"/><Relationship Id="rId3" Type="http://schemas.openxmlformats.org/officeDocument/2006/relationships/image" Target="../media/image4.png"/><Relationship Id="rId7" Type="http://schemas.openxmlformats.org/officeDocument/2006/relationships/hyperlink" Target="mailto:f88b021c.tatgroup.onmicrosoft.com@jp.teams.ms" TargetMode="External"/><Relationship Id="rId2" Type="http://schemas.openxmlformats.org/officeDocument/2006/relationships/hyperlink" Target="mailto:toyotecdap-alert@toyotec-jp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31c0289.tatgroup.onmicrosoft.com@jp.teams.ms" TargetMode="External"/><Relationship Id="rId11" Type="http://schemas.openxmlformats.org/officeDocument/2006/relationships/hyperlink" Target="mailto:283f4dc8.tatgroup.onmicrosoft.com@jp.teams.ms" TargetMode="External"/><Relationship Id="rId5" Type="http://schemas.openxmlformats.org/officeDocument/2006/relationships/hyperlink" Target="mailto:424d87e6.tatgroup.onmicrosoft.com@jp.teams.ms" TargetMode="External"/><Relationship Id="rId10" Type="http://schemas.openxmlformats.org/officeDocument/2006/relationships/hyperlink" Target="mailto:2a3528b1.tatgroup.onmicrosoft.com@jp.teams.ms" TargetMode="External"/><Relationship Id="rId4" Type="http://schemas.openxmlformats.org/officeDocument/2006/relationships/image" Target="../media/image5.png"/><Relationship Id="rId9" Type="http://schemas.openxmlformats.org/officeDocument/2006/relationships/hyperlink" Target="mailto:da87eef2.tatgroup.onmicrosoft.com@jp.teams.ms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ilto:283f4dc8.tatgroup.onmicrosoft.com@jp.teams.ms" TargetMode="External"/><Relationship Id="rId3" Type="http://schemas.openxmlformats.org/officeDocument/2006/relationships/image" Target="../media/image4.png"/><Relationship Id="rId7" Type="http://schemas.openxmlformats.org/officeDocument/2006/relationships/hyperlink" Target="mailto:2a3528b1.tatgroup.onmicrosoft.com@jp.teams.m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f88b021c.tatgroup.onmicrosoft.com@jp.teams.ms" TargetMode="External"/><Relationship Id="rId5" Type="http://schemas.openxmlformats.org/officeDocument/2006/relationships/hyperlink" Target="mailto:c31c0289.tatgroup.onmicrosoft.com@jp.teams.ms" TargetMode="External"/><Relationship Id="rId4" Type="http://schemas.openxmlformats.org/officeDocument/2006/relationships/hyperlink" Target="mailto:424d87e6.tatgroup.onmicrosoft.com@jp.teams.ms" TargetMode="External"/><Relationship Id="rId9" Type="http://schemas.openxmlformats.org/officeDocument/2006/relationships/hyperlink" Target="mailto:1059631f.tatgroup.onmicrosoft.com@jp.teams.m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mailto:c31c0289.tatgroup.onmicrosoft.com@jp.teams.ms" TargetMode="External"/><Relationship Id="rId3" Type="http://schemas.openxmlformats.org/officeDocument/2006/relationships/image" Target="../media/image4.png"/><Relationship Id="rId7" Type="http://schemas.openxmlformats.org/officeDocument/2006/relationships/hyperlink" Target="mailto:424d87e6.tatgroup.onmicrosoft.com@jp.teams.ms" TargetMode="External"/><Relationship Id="rId2" Type="http://schemas.openxmlformats.org/officeDocument/2006/relationships/hyperlink" Target="mailto:toyotecdap-alert@toyotec-jp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mailto:chunfeng_tang_za@toyotec-jp.com" TargetMode="External"/><Relationship Id="rId10" Type="http://schemas.openxmlformats.org/officeDocument/2006/relationships/hyperlink" Target="mailto:1059631f.tatgroup.onmicrosoft.com@jp.teams.ms" TargetMode="External"/><Relationship Id="rId4" Type="http://schemas.openxmlformats.org/officeDocument/2006/relationships/hyperlink" Target="mailto:&#29579;wang_zhong_za@toyotec-jp.com" TargetMode="External"/><Relationship Id="rId9" Type="http://schemas.openxmlformats.org/officeDocument/2006/relationships/hyperlink" Target="mailto:f88b021c.tatgroup.onmicrosoft.com@jp.teams.ms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mailto:c31c0289.tatgroup.onmicrosoft.com@jp.teams.ms" TargetMode="External"/><Relationship Id="rId3" Type="http://schemas.openxmlformats.org/officeDocument/2006/relationships/hyperlink" Target="mailto:&#29579;wang_zhong_za@toyotec-jp.com" TargetMode="External"/><Relationship Id="rId7" Type="http://schemas.openxmlformats.org/officeDocument/2006/relationships/hyperlink" Target="mailto:424d87e6.tatgroup.onmicrosoft.com@jp.teams.m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mailto:chunfeng_tang_za@toyotec-jp.com" TargetMode="External"/><Relationship Id="rId10" Type="http://schemas.openxmlformats.org/officeDocument/2006/relationships/hyperlink" Target="mailto:1059631f.tatgroup.onmicrosoft.com@jp.teams.ms" TargetMode="External"/><Relationship Id="rId4" Type="http://schemas.openxmlformats.org/officeDocument/2006/relationships/hyperlink" Target="mailto:kimito_hirai_za@toyotec-jp.com" TargetMode="External"/><Relationship Id="rId9" Type="http://schemas.openxmlformats.org/officeDocument/2006/relationships/hyperlink" Target="mailto:f88b021c.tatgroup.onmicrosoft.com@jp.teams.m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mailto:1059631f.tatgroup.onmicrosoft.com@jp.teams.m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f88b021c.tatgroup.onmicrosoft.com@jp.teams.ms" TargetMode="External"/><Relationship Id="rId5" Type="http://schemas.openxmlformats.org/officeDocument/2006/relationships/hyperlink" Target="mailto:c31c0289.tatgroup.onmicrosoft.com@jp.teams.ms" TargetMode="External"/><Relationship Id="rId4" Type="http://schemas.openxmlformats.org/officeDocument/2006/relationships/hyperlink" Target="mailto:424d87e6.tatgroup.onmicrosoft.com@jp.teams.ms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tc-cc.backlog.com/projects/U_SLI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5CADE-122D-3152-82AE-A50AA7A7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79A6BF6D-6F90-1397-1B9B-C5918838ED8F}"/>
              </a:ext>
            </a:extLst>
          </p:cNvPr>
          <p:cNvGrpSpPr/>
          <p:nvPr/>
        </p:nvGrpSpPr>
        <p:grpSpPr>
          <a:xfrm>
            <a:off x="2438249" y="2349713"/>
            <a:ext cx="3316321" cy="4150626"/>
            <a:chOff x="4566979" y="2427606"/>
            <a:chExt cx="2978001" cy="4150626"/>
          </a:xfrm>
        </p:grpSpPr>
        <p:sp>
          <p:nvSpPr>
            <p:cNvPr id="1108" name="正方形/長方形 1107">
              <a:extLst>
                <a:ext uri="{FF2B5EF4-FFF2-40B4-BE49-F238E27FC236}">
                  <a16:creationId xmlns:a16="http://schemas.microsoft.com/office/drawing/2014/main" id="{F304FA9A-6178-60B9-6029-5734976BC4D6}"/>
                </a:ext>
              </a:extLst>
            </p:cNvPr>
            <p:cNvSpPr/>
            <p:nvPr/>
          </p:nvSpPr>
          <p:spPr>
            <a:xfrm>
              <a:off x="4566979" y="2427606"/>
              <a:ext cx="2978001" cy="41506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sz="1600" b="1" u="sng">
                  <a:solidFill>
                    <a:schemeClr val="accent1">
                      <a:lumMod val="75000"/>
                    </a:schemeClr>
                  </a:solidFill>
                </a:rPr>
                <a:t>アラート監視窓口</a:t>
              </a:r>
            </a:p>
          </p:txBody>
        </p:sp>
        <p:sp>
          <p:nvSpPr>
            <p:cNvPr id="1187" name="テキスト ボックス 1186">
              <a:extLst>
                <a:ext uri="{FF2B5EF4-FFF2-40B4-BE49-F238E27FC236}">
                  <a16:creationId xmlns:a16="http://schemas.microsoft.com/office/drawing/2014/main" id="{BC5C4A9D-4C2E-6455-6B74-17B03BB1EEB6}"/>
                </a:ext>
              </a:extLst>
            </p:cNvPr>
            <p:cNvSpPr txBox="1"/>
            <p:nvPr/>
          </p:nvSpPr>
          <p:spPr>
            <a:xfrm>
              <a:off x="4625208" y="4398286"/>
              <a:ext cx="554276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WebApp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94" name="テキスト ボックス 1193">
              <a:extLst>
                <a:ext uri="{FF2B5EF4-FFF2-40B4-BE49-F238E27FC236}">
                  <a16:creationId xmlns:a16="http://schemas.microsoft.com/office/drawing/2014/main" id="{A40C1F42-7BF1-2EA8-6615-11DCE6636888}"/>
                </a:ext>
              </a:extLst>
            </p:cNvPr>
            <p:cNvSpPr txBox="1"/>
            <p:nvPr/>
          </p:nvSpPr>
          <p:spPr>
            <a:xfrm>
              <a:off x="4631555" y="3441042"/>
              <a:ext cx="514489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CDP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95" name="テキスト ボックス 1194">
              <a:extLst>
                <a:ext uri="{FF2B5EF4-FFF2-40B4-BE49-F238E27FC236}">
                  <a16:creationId xmlns:a16="http://schemas.microsoft.com/office/drawing/2014/main" id="{C73A55EB-2D45-C6DB-7B4C-0F342B292C51}"/>
                </a:ext>
              </a:extLst>
            </p:cNvPr>
            <p:cNvSpPr txBox="1"/>
            <p:nvPr/>
          </p:nvSpPr>
          <p:spPr>
            <a:xfrm>
              <a:off x="4629313" y="4563879"/>
              <a:ext cx="665247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Azure NW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9F472C2B-CEFC-C2A9-838C-6A05B872BB23}"/>
                </a:ext>
              </a:extLst>
            </p:cNvPr>
            <p:cNvSpPr txBox="1"/>
            <p:nvPr/>
          </p:nvSpPr>
          <p:spPr>
            <a:xfrm>
              <a:off x="4622386" y="3932912"/>
              <a:ext cx="514489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OCI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19CA1E6-8672-A6C3-D166-D0E06AF344A6}"/>
                </a:ext>
              </a:extLst>
            </p:cNvPr>
            <p:cNvSpPr/>
            <p:nvPr/>
          </p:nvSpPr>
          <p:spPr>
            <a:xfrm>
              <a:off x="4650918" y="2747758"/>
              <a:ext cx="2724901" cy="584432"/>
            </a:xfrm>
            <a:prstGeom prst="roundRect">
              <a:avLst>
                <a:gd name="adj" fmla="val 5858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劉　虹帆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(hongfan_liu_za@toyotec-jp.com)</a:t>
              </a:r>
            </a:p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胡　欣欣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(xinxin_hu_za@toyotec-jp.com)</a:t>
              </a:r>
              <a:endParaRPr kumimoji="1" lang="en-US" altLang="ja-JP" sz="80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F396C39-30E1-FFDB-F808-CD6B46E589E3}"/>
                </a:ext>
              </a:extLst>
            </p:cNvPr>
            <p:cNvSpPr txBox="1"/>
            <p:nvPr/>
          </p:nvSpPr>
          <p:spPr>
            <a:xfrm>
              <a:off x="4615022" y="4905019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Azure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 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メンテナンス</a:t>
              </a: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D536C61-5759-061C-AA8A-3750259CC6D6}"/>
                </a:ext>
              </a:extLst>
            </p:cNvPr>
            <p:cNvSpPr txBox="1"/>
            <p:nvPr/>
          </p:nvSpPr>
          <p:spPr>
            <a:xfrm>
              <a:off x="4615023" y="5459755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NEO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連携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30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分遅延</a:t>
              </a: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F70411D4-C908-6BB9-4DCB-BB3E9334650D}"/>
                </a:ext>
              </a:extLst>
            </p:cNvPr>
            <p:cNvSpPr txBox="1"/>
            <p:nvPr/>
          </p:nvSpPr>
          <p:spPr>
            <a:xfrm>
              <a:off x="4615022" y="5956942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ai21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連携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30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分遅延</a:t>
              </a:r>
            </a:p>
          </p:txBody>
        </p:sp>
      </p:grpSp>
      <p:sp>
        <p:nvSpPr>
          <p:cNvPr id="1094" name="正方形/長方形 1093">
            <a:extLst>
              <a:ext uri="{FF2B5EF4-FFF2-40B4-BE49-F238E27FC236}">
                <a16:creationId xmlns:a16="http://schemas.microsoft.com/office/drawing/2014/main" id="{DA227E96-860B-6C3C-227B-77DEF66B59DB}"/>
              </a:ext>
            </a:extLst>
          </p:cNvPr>
          <p:cNvSpPr/>
          <p:nvPr/>
        </p:nvSpPr>
        <p:spPr>
          <a:xfrm>
            <a:off x="7459132" y="2957701"/>
            <a:ext cx="1070412" cy="1053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100" b="1" u="sng">
                <a:solidFill>
                  <a:schemeClr val="accent1">
                    <a:lumMod val="75000"/>
                  </a:schemeClr>
                </a:solidFill>
              </a:rPr>
              <a:t>システム管理者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656B80C-D3C7-3900-27CF-A70F670E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障害監視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71029C6-5E72-16D2-51E3-879F1D803A3A}"/>
              </a:ext>
            </a:extLst>
          </p:cNvPr>
          <p:cNvSpPr/>
          <p:nvPr/>
        </p:nvSpPr>
        <p:spPr bwMode="gray">
          <a:xfrm>
            <a:off x="188859" y="1181899"/>
            <a:ext cx="2249389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アラート監視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1A4C39-1838-7A8C-C603-4E430D12DA1C}"/>
              </a:ext>
            </a:extLst>
          </p:cNvPr>
          <p:cNvSpPr/>
          <p:nvPr/>
        </p:nvSpPr>
        <p:spPr bwMode="gray">
          <a:xfrm>
            <a:off x="8124550" y="1186937"/>
            <a:ext cx="3940929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B41FF2-25A0-9B1A-6C43-65816A08924F}"/>
              </a:ext>
            </a:extLst>
          </p:cNvPr>
          <p:cNvSpPr/>
          <p:nvPr/>
        </p:nvSpPr>
        <p:spPr bwMode="gray">
          <a:xfrm>
            <a:off x="75890" y="3050937"/>
            <a:ext cx="1509842" cy="79059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アラート確認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</a:t>
            </a: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  <a:hlinkClick r:id="rId2"/>
              </a:rPr>
              <a:t>toyotecdap-alert@toyotec-jp.com</a:t>
            </a:r>
            <a:endParaRPr lang="en-US" altLang="ja-JP" sz="9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35DF3797-B4C0-99A6-505F-2E61D362F707}"/>
              </a:ext>
            </a:extLst>
          </p:cNvPr>
          <p:cNvSpPr/>
          <p:nvPr/>
        </p:nvSpPr>
        <p:spPr>
          <a:xfrm>
            <a:off x="2553713" y="1581242"/>
            <a:ext cx="5453472" cy="5134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（体制維持：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</a:t>
            </a:r>
            <a:r>
              <a:rPr lang="en-US" altLang="ja-JP" sz="1400">
                <a:solidFill>
                  <a:srgbClr val="FF0000"/>
                </a:solidFill>
                <a:latin typeface="+mj-lt"/>
              </a:rPr>
              <a:t>20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r>
              <a:rPr kumimoji="1" lang="en-US" altLang="ja-JP" sz="1050">
                <a:solidFill>
                  <a:schemeClr val="tx1"/>
                </a:solidFill>
                <a:latin typeface="+mj-lt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土日祝随時アラートチェック</a:t>
            </a:r>
            <a:r>
              <a:rPr kumimoji="1" lang="ja-JP" altLang="en-US" sz="1050">
                <a:solidFill>
                  <a:srgbClr val="FF0000"/>
                </a:solidFill>
                <a:latin typeface="+mj-lt"/>
              </a:rPr>
              <a:t>（長期連休は要検討</a:t>
            </a:r>
            <a:r>
              <a:rPr lang="ja-JP" altLang="en-US" sz="1050">
                <a:solidFill>
                  <a:srgbClr val="FF0000"/>
                </a:solidFill>
                <a:latin typeface="+mj-lt"/>
              </a:rPr>
              <a:t>）</a:t>
            </a:r>
            <a:endParaRPr kumimoji="1" lang="en-US" altLang="ja-JP" sz="105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D98530B4-7797-D92D-7A69-F6AFC3014BEA}"/>
              </a:ext>
            </a:extLst>
          </p:cNvPr>
          <p:cNvSpPr/>
          <p:nvPr/>
        </p:nvSpPr>
        <p:spPr bwMode="gray">
          <a:xfrm>
            <a:off x="2543606" y="1184443"/>
            <a:ext cx="5463579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86F3EC7F-E7D3-D587-7E3E-6F28365B0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129" y="4178398"/>
            <a:ext cx="816379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5FE3FF0B-5A3E-276D-E986-87525BA418C0}"/>
              </a:ext>
            </a:extLst>
          </p:cNvPr>
          <p:cNvCxnSpPr>
            <a:cxnSpLocks/>
            <a:stCxn id="1030" idx="2"/>
            <a:endCxn id="1031" idx="0"/>
          </p:cNvCxnSpPr>
          <p:nvPr/>
        </p:nvCxnSpPr>
        <p:spPr>
          <a:xfrm rot="5400000">
            <a:off x="6549757" y="4848128"/>
            <a:ext cx="383329" cy="100529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DC6A7D0B-406E-C01F-635F-4E96A47E3C05}"/>
              </a:ext>
            </a:extLst>
          </p:cNvPr>
          <p:cNvSpPr txBox="1"/>
          <p:nvPr/>
        </p:nvSpPr>
        <p:spPr>
          <a:xfrm>
            <a:off x="7601990" y="4691928"/>
            <a:ext cx="797676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08B9F66D-9AC1-0E7A-983C-A230C408EC17}"/>
              </a:ext>
            </a:extLst>
          </p:cNvPr>
          <p:cNvSpPr/>
          <p:nvPr/>
        </p:nvSpPr>
        <p:spPr>
          <a:xfrm>
            <a:off x="6363081" y="5870932"/>
            <a:ext cx="1761469" cy="391466"/>
          </a:xfrm>
          <a:prstGeom prst="wedgeRoundRectCallout">
            <a:avLst>
              <a:gd name="adj1" fmla="val 30391"/>
              <a:gd name="adj2" fmla="val -1097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窓口が状況報告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3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165D27B-755E-CB3A-7297-CA3BEC15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916" y="3259769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F7C1BA8-1B7F-76D5-B015-0451D997F13D}"/>
              </a:ext>
            </a:extLst>
          </p:cNvPr>
          <p:cNvSpPr txBox="1"/>
          <p:nvPr/>
        </p:nvSpPr>
        <p:spPr>
          <a:xfrm>
            <a:off x="1613797" y="3129530"/>
            <a:ext cx="797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D76FEA19-6711-F4ED-CEC0-ACAF17576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86" y="3050261"/>
            <a:ext cx="311699" cy="247343"/>
          </a:xfrm>
          <a:prstGeom prst="rect">
            <a:avLst/>
          </a:prstGeom>
        </p:spPr>
      </p:pic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E68AD45-D30D-E539-B5C2-95C01FF1AF23}"/>
              </a:ext>
            </a:extLst>
          </p:cNvPr>
          <p:cNvSpPr/>
          <p:nvPr/>
        </p:nvSpPr>
        <p:spPr bwMode="gray">
          <a:xfrm>
            <a:off x="3216716" y="3363149"/>
            <a:ext cx="2315976" cy="22178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700"/>
              <a:t>11_OCIアラート共有 - TEC_U-SLIM（基盤検証） </a:t>
            </a:r>
            <a:r>
              <a:rPr lang="ja-JP" altLang="en-US" sz="700">
                <a:hlinkClick r:id="rId5"/>
              </a:rPr>
              <a:t>424d87e6.tatgroup.onmicrosoft.com@jp.teams.ms</a:t>
            </a:r>
            <a:endParaRPr lang="en-US" altLang="ja-JP" sz="700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53C3115-7785-D956-6CD9-271DFCF1F5E3}"/>
              </a:ext>
            </a:extLst>
          </p:cNvPr>
          <p:cNvSpPr/>
          <p:nvPr/>
        </p:nvSpPr>
        <p:spPr bwMode="gray">
          <a:xfrm>
            <a:off x="3210207" y="3825034"/>
            <a:ext cx="2343037" cy="26904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12_CDP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6"/>
              </a:rPr>
              <a:t>c31c0289.tatgroup.onmicrosoft.com@jp.teams.ms</a:t>
            </a:r>
            <a:endParaRPr lang="en-US" altLang="ja-JP" sz="7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0F5A84D-5831-3614-C72E-23DB5510F574}"/>
              </a:ext>
            </a:extLst>
          </p:cNvPr>
          <p:cNvSpPr/>
          <p:nvPr/>
        </p:nvSpPr>
        <p:spPr bwMode="gray">
          <a:xfrm>
            <a:off x="3248891" y="4270775"/>
            <a:ext cx="2324645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13_WebApp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7"/>
              </a:rPr>
              <a:t>f88b021c.tatgroup.onmicrosoft.com@jp.teams.ms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pic>
        <p:nvPicPr>
          <p:cNvPr id="1024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C1E1B161-6642-9606-16F9-664F2FCC4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029" y="3769187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0BED91C9-C185-F5F3-EF19-7D10612DC47F}"/>
              </a:ext>
            </a:extLst>
          </p:cNvPr>
          <p:cNvSpPr txBox="1"/>
          <p:nvPr/>
        </p:nvSpPr>
        <p:spPr>
          <a:xfrm>
            <a:off x="1194923" y="4030684"/>
            <a:ext cx="797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pic>
        <p:nvPicPr>
          <p:cNvPr id="1026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4198EAAA-3586-80E1-03A1-6E6E87D9E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4864505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D119D5DA-21CE-83F3-4E8A-6E79DB2346ED}"/>
              </a:ext>
            </a:extLst>
          </p:cNvPr>
          <p:cNvSpPr txBox="1"/>
          <p:nvPr/>
        </p:nvSpPr>
        <p:spPr>
          <a:xfrm>
            <a:off x="1181627" y="5167465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E42861E6-ECA2-30E4-24FD-911498553184}"/>
              </a:ext>
            </a:extLst>
          </p:cNvPr>
          <p:cNvCxnSpPr>
            <a:cxnSpLocks/>
            <a:stCxn id="10" idx="3"/>
            <a:endCxn id="1194" idx="1"/>
          </p:cNvCxnSpPr>
          <p:nvPr/>
        </p:nvCxnSpPr>
        <p:spPr>
          <a:xfrm flipV="1">
            <a:off x="1585732" y="3445255"/>
            <a:ext cx="924429" cy="979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フローチャート: 判断 1028">
            <a:extLst>
              <a:ext uri="{FF2B5EF4-FFF2-40B4-BE49-F238E27FC236}">
                <a16:creationId xmlns:a16="http://schemas.microsoft.com/office/drawing/2014/main" id="{04E78481-7169-9488-8888-D3178C3B35EA}"/>
              </a:ext>
            </a:extLst>
          </p:cNvPr>
          <p:cNvSpPr/>
          <p:nvPr/>
        </p:nvSpPr>
        <p:spPr>
          <a:xfrm>
            <a:off x="6137051" y="4123089"/>
            <a:ext cx="1218635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テキスト ボックス 1029">
            <a:extLst>
              <a:ext uri="{FF2B5EF4-FFF2-40B4-BE49-F238E27FC236}">
                <a16:creationId xmlns:a16="http://schemas.microsoft.com/office/drawing/2014/main" id="{80D32A57-E927-4B9D-008C-9CA6E080F429}"/>
              </a:ext>
            </a:extLst>
          </p:cNvPr>
          <p:cNvSpPr txBox="1"/>
          <p:nvPr/>
        </p:nvSpPr>
        <p:spPr>
          <a:xfrm>
            <a:off x="6293312" y="4198897"/>
            <a:ext cx="9967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900">
                <a:latin typeface="+mn-ea"/>
              </a:rPr>
              <a:t>ai21</a:t>
            </a:r>
            <a:r>
              <a:rPr lang="ja-JP" altLang="en-US" sz="900">
                <a:latin typeface="+mn-ea"/>
              </a:rPr>
              <a:t>へ影響</a:t>
            </a:r>
            <a:endParaRPr lang="en-US" altLang="ja-JP" sz="900">
              <a:latin typeface="+mn-ea"/>
            </a:endParaRPr>
          </a:p>
          <a:p>
            <a:pPr algn="ctr"/>
            <a:r>
              <a:rPr lang="ja-JP" altLang="en-US" sz="900">
                <a:latin typeface="+mn-ea"/>
              </a:rPr>
              <a:t>を及ぼすアラート有無</a:t>
            </a:r>
          </a:p>
        </p:txBody>
      </p:sp>
      <p:sp>
        <p:nvSpPr>
          <p:cNvPr id="1031" name="フローチャート: 和接合 1030">
            <a:extLst>
              <a:ext uri="{FF2B5EF4-FFF2-40B4-BE49-F238E27FC236}">
                <a16:creationId xmlns:a16="http://schemas.microsoft.com/office/drawing/2014/main" id="{1B599C39-B38A-07FF-7295-BCCAD73334EA}"/>
              </a:ext>
            </a:extLst>
          </p:cNvPr>
          <p:cNvSpPr/>
          <p:nvPr/>
        </p:nvSpPr>
        <p:spPr>
          <a:xfrm>
            <a:off x="6574639" y="5090057"/>
            <a:ext cx="233033" cy="223677"/>
          </a:xfrm>
          <a:prstGeom prst="flowChartSummingJunction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72CB24DA-8A56-5021-BBEA-5D8CCE2E3342}"/>
              </a:ext>
            </a:extLst>
          </p:cNvPr>
          <p:cNvSpPr txBox="1"/>
          <p:nvPr/>
        </p:nvSpPr>
        <p:spPr>
          <a:xfrm>
            <a:off x="6645675" y="4795157"/>
            <a:ext cx="3751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無</a:t>
            </a:r>
          </a:p>
        </p:txBody>
      </p:sp>
      <p:cxnSp>
        <p:nvCxnSpPr>
          <p:cNvPr id="1035" name="コネクタ: カギ線 1034">
            <a:extLst>
              <a:ext uri="{FF2B5EF4-FFF2-40B4-BE49-F238E27FC236}">
                <a16:creationId xmlns:a16="http://schemas.microsoft.com/office/drawing/2014/main" id="{7F182570-23DD-0E91-3F62-B62B17A9A2C7}"/>
              </a:ext>
            </a:extLst>
          </p:cNvPr>
          <p:cNvCxnSpPr>
            <a:cxnSpLocks/>
            <a:stCxn id="54" idx="3"/>
            <a:endCxn id="1029" idx="1"/>
          </p:cNvCxnSpPr>
          <p:nvPr/>
        </p:nvCxnSpPr>
        <p:spPr>
          <a:xfrm>
            <a:off x="5532692" y="3474040"/>
            <a:ext cx="604359" cy="94623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コネクタ: カギ線 1042">
            <a:extLst>
              <a:ext uri="{FF2B5EF4-FFF2-40B4-BE49-F238E27FC236}">
                <a16:creationId xmlns:a16="http://schemas.microsoft.com/office/drawing/2014/main" id="{7B5208B6-0A22-C057-1533-87EA784455D8}"/>
              </a:ext>
            </a:extLst>
          </p:cNvPr>
          <p:cNvCxnSpPr>
            <a:cxnSpLocks/>
            <a:stCxn id="55" idx="3"/>
            <a:endCxn id="1029" idx="1"/>
          </p:cNvCxnSpPr>
          <p:nvPr/>
        </p:nvCxnSpPr>
        <p:spPr>
          <a:xfrm>
            <a:off x="5553244" y="3959558"/>
            <a:ext cx="583807" cy="46072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コネクタ: カギ線 1045">
            <a:extLst>
              <a:ext uri="{FF2B5EF4-FFF2-40B4-BE49-F238E27FC236}">
                <a16:creationId xmlns:a16="http://schemas.microsoft.com/office/drawing/2014/main" id="{9B624547-ED99-9804-A06C-352BE5E843BD}"/>
              </a:ext>
            </a:extLst>
          </p:cNvPr>
          <p:cNvCxnSpPr>
            <a:cxnSpLocks/>
            <a:stCxn id="56" idx="3"/>
            <a:endCxn id="1029" idx="1"/>
          </p:cNvCxnSpPr>
          <p:nvPr/>
        </p:nvCxnSpPr>
        <p:spPr>
          <a:xfrm flipV="1">
            <a:off x="5573536" y="4420278"/>
            <a:ext cx="563515" cy="1640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コネクタ: カギ線 1051">
            <a:extLst>
              <a:ext uri="{FF2B5EF4-FFF2-40B4-BE49-F238E27FC236}">
                <a16:creationId xmlns:a16="http://schemas.microsoft.com/office/drawing/2014/main" id="{21C1777F-1581-E8C6-E0BB-4CD3F7195BEE}"/>
              </a:ext>
            </a:extLst>
          </p:cNvPr>
          <p:cNvCxnSpPr>
            <a:cxnSpLocks/>
            <a:stCxn id="3" idx="3"/>
            <a:endCxn id="1029" idx="1"/>
          </p:cNvCxnSpPr>
          <p:nvPr/>
        </p:nvCxnSpPr>
        <p:spPr>
          <a:xfrm flipV="1">
            <a:off x="5529421" y="4420278"/>
            <a:ext cx="607630" cy="59418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四角形: 角を丸くする 1057">
            <a:extLst>
              <a:ext uri="{FF2B5EF4-FFF2-40B4-BE49-F238E27FC236}">
                <a16:creationId xmlns:a16="http://schemas.microsoft.com/office/drawing/2014/main" id="{FC50D201-377B-8DE0-6A6E-636CB9C7DAED}"/>
              </a:ext>
            </a:extLst>
          </p:cNvPr>
          <p:cNvSpPr/>
          <p:nvPr/>
        </p:nvSpPr>
        <p:spPr>
          <a:xfrm>
            <a:off x="8124550" y="1592764"/>
            <a:ext cx="3940929" cy="5134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アラート窓口連絡の基、担当者が対応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</a:rPr>
              <a:t>（体制維持：</a:t>
            </a:r>
            <a:r>
              <a:rPr lang="en-US" altLang="ja-JP" sz="1400">
                <a:solidFill>
                  <a:schemeClr val="tx1"/>
                </a:solidFill>
              </a:rPr>
              <a:t>9-17</a:t>
            </a:r>
            <a:r>
              <a:rPr lang="ja-JP" altLang="en-US" sz="1400">
                <a:solidFill>
                  <a:schemeClr val="tx1"/>
                </a:solidFill>
              </a:rPr>
              <a:t>）</a:t>
            </a:r>
            <a:r>
              <a:rPr lang="en-US" altLang="ja-JP" sz="1100">
                <a:solidFill>
                  <a:schemeClr val="tx1"/>
                </a:solidFill>
              </a:rPr>
              <a:t>※</a:t>
            </a:r>
            <a:r>
              <a:rPr lang="ja-JP" altLang="en-US" sz="1100">
                <a:solidFill>
                  <a:schemeClr val="tx1"/>
                </a:solidFill>
              </a:rPr>
              <a:t>必要に応じて</a:t>
            </a:r>
            <a:r>
              <a:rPr lang="en-US" altLang="ja-JP" sz="1100">
                <a:solidFill>
                  <a:schemeClr val="tx1"/>
                </a:solidFill>
              </a:rPr>
              <a:t>17:00</a:t>
            </a:r>
            <a:r>
              <a:rPr lang="ja-JP" altLang="en-US" sz="1100">
                <a:solidFill>
                  <a:schemeClr val="tx1"/>
                </a:solidFill>
              </a:rPr>
              <a:t>以降も対応</a:t>
            </a:r>
            <a:endParaRPr lang="en-US" altLang="ja-JP" sz="1100">
              <a:solidFill>
                <a:schemeClr val="tx1"/>
              </a:solidFill>
            </a:endParaRPr>
          </a:p>
        </p:txBody>
      </p:sp>
      <p:cxnSp>
        <p:nvCxnSpPr>
          <p:cNvPr id="1071" name="コネクタ: カギ線 1070">
            <a:extLst>
              <a:ext uri="{FF2B5EF4-FFF2-40B4-BE49-F238E27FC236}">
                <a16:creationId xmlns:a16="http://schemas.microsoft.com/office/drawing/2014/main" id="{F66731D2-1048-9162-D3F7-128B0538FBDB}"/>
              </a:ext>
            </a:extLst>
          </p:cNvPr>
          <p:cNvCxnSpPr>
            <a:cxnSpLocks/>
            <a:stCxn id="1029" idx="3"/>
            <a:endCxn id="1200" idx="1"/>
          </p:cNvCxnSpPr>
          <p:nvPr/>
        </p:nvCxnSpPr>
        <p:spPr>
          <a:xfrm>
            <a:off x="7355686" y="4420278"/>
            <a:ext cx="242443" cy="1270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64FB8F4E-B8D9-2328-9AA1-1B4FD17A4937}"/>
              </a:ext>
            </a:extLst>
          </p:cNvPr>
          <p:cNvSpPr/>
          <p:nvPr/>
        </p:nvSpPr>
        <p:spPr>
          <a:xfrm>
            <a:off x="8861560" y="2391178"/>
            <a:ext cx="1322401" cy="41506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アラート対応</a:t>
            </a:r>
          </a:p>
        </p:txBody>
      </p:sp>
      <p:sp>
        <p:nvSpPr>
          <p:cNvPr id="1080" name="四角形: 角を丸くする 1079">
            <a:extLst>
              <a:ext uri="{FF2B5EF4-FFF2-40B4-BE49-F238E27FC236}">
                <a16:creationId xmlns:a16="http://schemas.microsoft.com/office/drawing/2014/main" id="{668F15A1-177A-3DEE-6FA5-07B76671B4B3}"/>
              </a:ext>
            </a:extLst>
          </p:cNvPr>
          <p:cNvSpPr/>
          <p:nvPr/>
        </p:nvSpPr>
        <p:spPr>
          <a:xfrm>
            <a:off x="8949763" y="3895013"/>
            <a:ext cx="1072480" cy="70718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王・劉・胡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</a:t>
            </a:r>
            <a:endParaRPr lang="en-US" altLang="ja-JP" sz="1400">
              <a:solidFill>
                <a:schemeClr val="tx1"/>
              </a:solidFill>
            </a:endParaRPr>
          </a:p>
        </p:txBody>
      </p:sp>
      <p:sp>
        <p:nvSpPr>
          <p:cNvPr id="1081" name="四角形: 角を丸くする 1080">
            <a:extLst>
              <a:ext uri="{FF2B5EF4-FFF2-40B4-BE49-F238E27FC236}">
                <a16:creationId xmlns:a16="http://schemas.microsoft.com/office/drawing/2014/main" id="{09ED4EB2-8F45-280A-6EE5-812D821215A7}"/>
              </a:ext>
            </a:extLst>
          </p:cNvPr>
          <p:cNvSpPr/>
          <p:nvPr/>
        </p:nvSpPr>
        <p:spPr>
          <a:xfrm>
            <a:off x="8977025" y="5803893"/>
            <a:ext cx="1072480" cy="525544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楊・三ツ井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大森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82" name="四角形: 角を丸くする 1081">
            <a:extLst>
              <a:ext uri="{FF2B5EF4-FFF2-40B4-BE49-F238E27FC236}">
                <a16:creationId xmlns:a16="http://schemas.microsoft.com/office/drawing/2014/main" id="{1F81A531-776C-5A5B-CFB9-9441EA9C11D5}"/>
              </a:ext>
            </a:extLst>
          </p:cNvPr>
          <p:cNvSpPr/>
          <p:nvPr/>
        </p:nvSpPr>
        <p:spPr>
          <a:xfrm>
            <a:off x="8966919" y="5018227"/>
            <a:ext cx="1072480" cy="536016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rgbClr val="FF0000"/>
                </a:solidFill>
                <a:latin typeface="+mj-lt"/>
              </a:rPr>
              <a:t>佐藤</a:t>
            </a:r>
            <a:endParaRPr lang="en-US" altLang="ja-JP" sz="1400">
              <a:solidFill>
                <a:srgbClr val="FF0000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周・鄭</a:t>
            </a:r>
            <a:endParaRPr lang="en-US" altLang="ja-JP" sz="14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83" name="テキスト ボックス 1082">
            <a:extLst>
              <a:ext uri="{FF2B5EF4-FFF2-40B4-BE49-F238E27FC236}">
                <a16:creationId xmlns:a16="http://schemas.microsoft.com/office/drawing/2014/main" id="{DB6751D4-2B49-9ABE-BC46-E70CFB6BA341}"/>
              </a:ext>
            </a:extLst>
          </p:cNvPr>
          <p:cNvSpPr txBox="1"/>
          <p:nvPr/>
        </p:nvSpPr>
        <p:spPr>
          <a:xfrm>
            <a:off x="8906690" y="4745264"/>
            <a:ext cx="647305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4" name="テキスト ボックス 1083">
            <a:extLst>
              <a:ext uri="{FF2B5EF4-FFF2-40B4-BE49-F238E27FC236}">
                <a16:creationId xmlns:a16="http://schemas.microsoft.com/office/drawing/2014/main" id="{6436404D-0481-D6B6-6F21-96D86B22AA75}"/>
              </a:ext>
            </a:extLst>
          </p:cNvPr>
          <p:cNvSpPr txBox="1"/>
          <p:nvPr/>
        </p:nvSpPr>
        <p:spPr>
          <a:xfrm>
            <a:off x="8911793" y="2738829"/>
            <a:ext cx="113771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</a:p>
        </p:txBody>
      </p:sp>
      <p:sp>
        <p:nvSpPr>
          <p:cNvPr id="1085" name="テキスト ボックス 1084">
            <a:extLst>
              <a:ext uri="{FF2B5EF4-FFF2-40B4-BE49-F238E27FC236}">
                <a16:creationId xmlns:a16="http://schemas.microsoft.com/office/drawing/2014/main" id="{59B855EB-5DA5-AE51-C055-2B11BF27994A}"/>
              </a:ext>
            </a:extLst>
          </p:cNvPr>
          <p:cNvSpPr txBox="1"/>
          <p:nvPr/>
        </p:nvSpPr>
        <p:spPr>
          <a:xfrm>
            <a:off x="8910520" y="5598044"/>
            <a:ext cx="789729" cy="1685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6" name="テキスト ボックス 1085">
            <a:extLst>
              <a:ext uri="{FF2B5EF4-FFF2-40B4-BE49-F238E27FC236}">
                <a16:creationId xmlns:a16="http://schemas.microsoft.com/office/drawing/2014/main" id="{4C099BFA-12E9-FD0C-08DB-1638725D81DD}"/>
              </a:ext>
            </a:extLst>
          </p:cNvPr>
          <p:cNvSpPr txBox="1"/>
          <p:nvPr/>
        </p:nvSpPr>
        <p:spPr>
          <a:xfrm>
            <a:off x="8926678" y="3674988"/>
            <a:ext cx="110794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、差分連携</a:t>
            </a:r>
          </a:p>
        </p:txBody>
      </p:sp>
      <p:sp>
        <p:nvSpPr>
          <p:cNvPr id="1087" name="四角形: 角を丸くする 1086">
            <a:extLst>
              <a:ext uri="{FF2B5EF4-FFF2-40B4-BE49-F238E27FC236}">
                <a16:creationId xmlns:a16="http://schemas.microsoft.com/office/drawing/2014/main" id="{58880B27-84CF-3CB2-76FF-532D7CD20290}"/>
              </a:ext>
            </a:extLst>
          </p:cNvPr>
          <p:cNvSpPr/>
          <p:nvPr/>
        </p:nvSpPr>
        <p:spPr>
          <a:xfrm>
            <a:off x="8949323" y="3005021"/>
            <a:ext cx="1073588" cy="584432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肖・</a:t>
            </a:r>
            <a:r>
              <a:rPr lang="zh-CN" altLang="en-US" sz="1400">
                <a:solidFill>
                  <a:schemeClr val="tx1"/>
                </a:solidFill>
                <a:latin typeface="+mj-lt"/>
              </a:rPr>
              <a:t>倪</a:t>
            </a:r>
            <a:endParaRPr lang="en-US" altLang="zh-CN" sz="14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西村</a:t>
            </a:r>
            <a:endParaRPr lang="en-US" altLang="zh-CN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1" name="四角形: 角を丸くする 1090">
            <a:extLst>
              <a:ext uri="{FF2B5EF4-FFF2-40B4-BE49-F238E27FC236}">
                <a16:creationId xmlns:a16="http://schemas.microsoft.com/office/drawing/2014/main" id="{FB810CB2-DEC0-1C31-B5D3-2B8EF65AC6B6}"/>
              </a:ext>
            </a:extLst>
          </p:cNvPr>
          <p:cNvSpPr/>
          <p:nvPr/>
        </p:nvSpPr>
        <p:spPr>
          <a:xfrm>
            <a:off x="7726393" y="3382335"/>
            <a:ext cx="561584" cy="29265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>
                <a:solidFill>
                  <a:srgbClr val="FF0000"/>
                </a:solidFill>
                <a:latin typeface="+mj-lt"/>
              </a:rPr>
              <a:t>西村</a:t>
            </a:r>
            <a:endParaRPr kumimoji="1" lang="en-US" altLang="ja-JP" sz="14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92" name="テキスト ボックス 1091">
            <a:extLst>
              <a:ext uri="{FF2B5EF4-FFF2-40B4-BE49-F238E27FC236}">
                <a16:creationId xmlns:a16="http://schemas.microsoft.com/office/drawing/2014/main" id="{F6683A25-8B07-B7EF-EC35-7B9372F0E44D}"/>
              </a:ext>
            </a:extLst>
          </p:cNvPr>
          <p:cNvSpPr txBox="1"/>
          <p:nvPr/>
        </p:nvSpPr>
        <p:spPr>
          <a:xfrm>
            <a:off x="7926894" y="3767320"/>
            <a:ext cx="69041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意思決定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7FEB5C82-E939-6865-38DF-6E3BBBD8FC18}"/>
              </a:ext>
            </a:extLst>
          </p:cNvPr>
          <p:cNvSpPr/>
          <p:nvPr/>
        </p:nvSpPr>
        <p:spPr>
          <a:xfrm>
            <a:off x="7228119" y="2334069"/>
            <a:ext cx="1389188" cy="386048"/>
          </a:xfrm>
          <a:prstGeom prst="wedgeRoundRectCallout">
            <a:avLst>
              <a:gd name="adj1" fmla="val 17777"/>
              <a:gd name="adj2" fmla="val 9662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必要に応じて方針意思決定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95" name="コネクタ: カギ線 1094">
            <a:extLst>
              <a:ext uri="{FF2B5EF4-FFF2-40B4-BE49-F238E27FC236}">
                <a16:creationId xmlns:a16="http://schemas.microsoft.com/office/drawing/2014/main" id="{EBA63E8D-0229-19FC-4B5F-5B4336580DAB}"/>
              </a:ext>
            </a:extLst>
          </p:cNvPr>
          <p:cNvCxnSpPr>
            <a:cxnSpLocks/>
            <a:stCxn id="1091" idx="2"/>
            <a:endCxn id="1200" idx="0"/>
          </p:cNvCxnSpPr>
          <p:nvPr/>
        </p:nvCxnSpPr>
        <p:spPr>
          <a:xfrm rot="5400000">
            <a:off x="7755047" y="3926260"/>
            <a:ext cx="503410" cy="86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コネクタ: カギ線 1101">
            <a:extLst>
              <a:ext uri="{FF2B5EF4-FFF2-40B4-BE49-F238E27FC236}">
                <a16:creationId xmlns:a16="http://schemas.microsoft.com/office/drawing/2014/main" id="{820F5C15-9D4F-7C45-C2CA-83D4778FD7F9}"/>
              </a:ext>
            </a:extLst>
          </p:cNvPr>
          <p:cNvCxnSpPr>
            <a:cxnSpLocks/>
            <a:stCxn id="1200" idx="3"/>
            <a:endCxn id="1087" idx="1"/>
          </p:cNvCxnSpPr>
          <p:nvPr/>
        </p:nvCxnSpPr>
        <p:spPr>
          <a:xfrm flipV="1">
            <a:off x="8414508" y="3297237"/>
            <a:ext cx="534815" cy="112304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コネクタ: カギ線 1104">
            <a:extLst>
              <a:ext uri="{FF2B5EF4-FFF2-40B4-BE49-F238E27FC236}">
                <a16:creationId xmlns:a16="http://schemas.microsoft.com/office/drawing/2014/main" id="{A2BE7031-214E-AB79-44C8-FA7E1000F4BE}"/>
              </a:ext>
            </a:extLst>
          </p:cNvPr>
          <p:cNvCxnSpPr>
            <a:cxnSpLocks/>
            <a:stCxn id="1200" idx="3"/>
            <a:endCxn id="1080" idx="1"/>
          </p:cNvCxnSpPr>
          <p:nvPr/>
        </p:nvCxnSpPr>
        <p:spPr>
          <a:xfrm flipV="1">
            <a:off x="8414508" y="4248607"/>
            <a:ext cx="535255" cy="17167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コネクタ: カギ線 1109">
            <a:extLst>
              <a:ext uri="{FF2B5EF4-FFF2-40B4-BE49-F238E27FC236}">
                <a16:creationId xmlns:a16="http://schemas.microsoft.com/office/drawing/2014/main" id="{72943953-23A7-FF61-2B40-F833AC68978B}"/>
              </a:ext>
            </a:extLst>
          </p:cNvPr>
          <p:cNvCxnSpPr>
            <a:cxnSpLocks/>
            <a:stCxn id="1200" idx="3"/>
            <a:endCxn id="1082" idx="1"/>
          </p:cNvCxnSpPr>
          <p:nvPr/>
        </p:nvCxnSpPr>
        <p:spPr>
          <a:xfrm>
            <a:off x="8414508" y="4420278"/>
            <a:ext cx="552411" cy="86595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コネクタ: カギ線 1112">
            <a:extLst>
              <a:ext uri="{FF2B5EF4-FFF2-40B4-BE49-F238E27FC236}">
                <a16:creationId xmlns:a16="http://schemas.microsoft.com/office/drawing/2014/main" id="{A0F0D732-EF18-F3A6-FE9E-B71F1CEDED43}"/>
              </a:ext>
            </a:extLst>
          </p:cNvPr>
          <p:cNvCxnSpPr>
            <a:cxnSpLocks/>
            <a:stCxn id="1200" idx="3"/>
            <a:endCxn id="1081" idx="1"/>
          </p:cNvCxnSpPr>
          <p:nvPr/>
        </p:nvCxnSpPr>
        <p:spPr>
          <a:xfrm>
            <a:off x="8414508" y="4420278"/>
            <a:ext cx="562517" cy="164638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2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41F51589-1D2A-633B-1FF8-52E7FA7EF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557" y="426150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3" name="テキスト ボックス 1122">
            <a:extLst>
              <a:ext uri="{FF2B5EF4-FFF2-40B4-BE49-F238E27FC236}">
                <a16:creationId xmlns:a16="http://schemas.microsoft.com/office/drawing/2014/main" id="{1FB81993-ACCE-51CD-6726-31F70A7A9AE8}"/>
              </a:ext>
            </a:extLst>
          </p:cNvPr>
          <p:cNvSpPr txBox="1"/>
          <p:nvPr/>
        </p:nvSpPr>
        <p:spPr>
          <a:xfrm>
            <a:off x="11138728" y="4789852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1126" name="テキスト ボックス 1125">
            <a:extLst>
              <a:ext uri="{FF2B5EF4-FFF2-40B4-BE49-F238E27FC236}">
                <a16:creationId xmlns:a16="http://schemas.microsoft.com/office/drawing/2014/main" id="{ED136752-66BE-30B2-2195-9F900B4669DB}"/>
              </a:ext>
            </a:extLst>
          </p:cNvPr>
          <p:cNvSpPr txBox="1"/>
          <p:nvPr/>
        </p:nvSpPr>
        <p:spPr>
          <a:xfrm>
            <a:off x="7260179" y="5019978"/>
            <a:ext cx="1468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en-US" altLang="ja-JP" sz="800">
                <a:solidFill>
                  <a:schemeClr val="tx1"/>
                </a:solidFill>
                <a:latin typeface="+mj-lt"/>
                <a:hlinkClick r:id="rId8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27" name="コネクタ: カギ線 1126">
            <a:extLst>
              <a:ext uri="{FF2B5EF4-FFF2-40B4-BE49-F238E27FC236}">
                <a16:creationId xmlns:a16="http://schemas.microsoft.com/office/drawing/2014/main" id="{CED77118-819B-219C-4397-A91AF5AA75F3}"/>
              </a:ext>
            </a:extLst>
          </p:cNvPr>
          <p:cNvCxnSpPr>
            <a:cxnSpLocks/>
            <a:stCxn id="1087" idx="3"/>
            <a:endCxn id="1122" idx="1"/>
          </p:cNvCxnSpPr>
          <p:nvPr/>
        </p:nvCxnSpPr>
        <p:spPr>
          <a:xfrm>
            <a:off x="10022911" y="3297237"/>
            <a:ext cx="1084646" cy="120614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コネクタ: カギ線 1135">
            <a:extLst>
              <a:ext uri="{FF2B5EF4-FFF2-40B4-BE49-F238E27FC236}">
                <a16:creationId xmlns:a16="http://schemas.microsoft.com/office/drawing/2014/main" id="{BF4E15CB-6C6D-674D-F654-669CC96C1F9C}"/>
              </a:ext>
            </a:extLst>
          </p:cNvPr>
          <p:cNvCxnSpPr>
            <a:cxnSpLocks/>
            <a:stCxn id="1080" idx="3"/>
            <a:endCxn id="1122" idx="1"/>
          </p:cNvCxnSpPr>
          <p:nvPr/>
        </p:nvCxnSpPr>
        <p:spPr>
          <a:xfrm>
            <a:off x="10022243" y="4248607"/>
            <a:ext cx="1085314" cy="25477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コネクタ: カギ線 1138">
            <a:extLst>
              <a:ext uri="{FF2B5EF4-FFF2-40B4-BE49-F238E27FC236}">
                <a16:creationId xmlns:a16="http://schemas.microsoft.com/office/drawing/2014/main" id="{15AE5596-3703-7634-2819-E042AD714D4B}"/>
              </a:ext>
            </a:extLst>
          </p:cNvPr>
          <p:cNvCxnSpPr>
            <a:cxnSpLocks/>
            <a:stCxn id="1082" idx="3"/>
            <a:endCxn id="1122" idx="1"/>
          </p:cNvCxnSpPr>
          <p:nvPr/>
        </p:nvCxnSpPr>
        <p:spPr>
          <a:xfrm flipV="1">
            <a:off x="10039399" y="4503385"/>
            <a:ext cx="1068158" cy="78285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コネクタ: カギ線 1142">
            <a:extLst>
              <a:ext uri="{FF2B5EF4-FFF2-40B4-BE49-F238E27FC236}">
                <a16:creationId xmlns:a16="http://schemas.microsoft.com/office/drawing/2014/main" id="{2BB6D19A-80F4-171E-3760-FC49CEBE8865}"/>
              </a:ext>
            </a:extLst>
          </p:cNvPr>
          <p:cNvCxnSpPr>
            <a:cxnSpLocks/>
            <a:stCxn id="1081" idx="3"/>
            <a:endCxn id="1122" idx="1"/>
          </p:cNvCxnSpPr>
          <p:nvPr/>
        </p:nvCxnSpPr>
        <p:spPr>
          <a:xfrm flipV="1">
            <a:off x="10049505" y="4503385"/>
            <a:ext cx="1058052" cy="156328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4" name="吹き出し: 角を丸めた四角形 1123">
            <a:extLst>
              <a:ext uri="{FF2B5EF4-FFF2-40B4-BE49-F238E27FC236}">
                <a16:creationId xmlns:a16="http://schemas.microsoft.com/office/drawing/2014/main" id="{F80CA1F6-65AD-112E-2082-497296EB3E57}"/>
              </a:ext>
            </a:extLst>
          </p:cNvPr>
          <p:cNvSpPr/>
          <p:nvPr/>
        </p:nvSpPr>
        <p:spPr>
          <a:xfrm>
            <a:off x="10896137" y="5381862"/>
            <a:ext cx="1169342" cy="483759"/>
          </a:xfrm>
          <a:prstGeom prst="wedgeRoundRectCallout">
            <a:avLst>
              <a:gd name="adj1" fmla="val 9807"/>
              <a:gd name="adj2" fmla="val -9064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窓口から対応状況報告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9" name="四角形: 角を丸くする 1148">
            <a:extLst>
              <a:ext uri="{FF2B5EF4-FFF2-40B4-BE49-F238E27FC236}">
                <a16:creationId xmlns:a16="http://schemas.microsoft.com/office/drawing/2014/main" id="{ED62D394-F270-00C2-883F-23BE45EDF0D0}"/>
              </a:ext>
            </a:extLst>
          </p:cNvPr>
          <p:cNvSpPr/>
          <p:nvPr/>
        </p:nvSpPr>
        <p:spPr>
          <a:xfrm>
            <a:off x="6316154" y="3383280"/>
            <a:ext cx="634014" cy="29265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>
                <a:solidFill>
                  <a:schemeClr val="tx1"/>
                </a:solidFill>
                <a:latin typeface="+mj-lt"/>
              </a:rPr>
              <a:t>TMC</a:t>
            </a:r>
          </a:p>
        </p:txBody>
      </p:sp>
      <p:cxnSp>
        <p:nvCxnSpPr>
          <p:cNvPr id="1150" name="コネクタ: カギ線 1149">
            <a:extLst>
              <a:ext uri="{FF2B5EF4-FFF2-40B4-BE49-F238E27FC236}">
                <a16:creationId xmlns:a16="http://schemas.microsoft.com/office/drawing/2014/main" id="{474A3E00-DC73-E83B-4999-2A7DD0C74FC6}"/>
              </a:ext>
            </a:extLst>
          </p:cNvPr>
          <p:cNvCxnSpPr>
            <a:cxnSpLocks/>
            <a:stCxn id="1091" idx="1"/>
            <a:endCxn id="1149" idx="3"/>
          </p:cNvCxnSpPr>
          <p:nvPr/>
        </p:nvCxnSpPr>
        <p:spPr>
          <a:xfrm rot="10800000" flipV="1">
            <a:off x="6950169" y="3528661"/>
            <a:ext cx="776225" cy="94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5" name="吹き出し: 角を丸めた四角形 1154">
            <a:extLst>
              <a:ext uri="{FF2B5EF4-FFF2-40B4-BE49-F238E27FC236}">
                <a16:creationId xmlns:a16="http://schemas.microsoft.com/office/drawing/2014/main" id="{C56D0112-F5DD-5DFA-A4A1-FED1DF8FEB87}"/>
              </a:ext>
            </a:extLst>
          </p:cNvPr>
          <p:cNvSpPr/>
          <p:nvPr/>
        </p:nvSpPr>
        <p:spPr>
          <a:xfrm>
            <a:off x="5863943" y="2877140"/>
            <a:ext cx="1507426" cy="386048"/>
          </a:xfrm>
          <a:prstGeom prst="wedgeRoundRectCallout">
            <a:avLst>
              <a:gd name="adj1" fmla="val 34872"/>
              <a:gd name="adj2" fmla="val 10523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</a:rPr>
              <a:t>TMC</a:t>
            </a:r>
            <a:r>
              <a:rPr kumimoji="1" lang="ja-JP" altLang="en-US" sz="1200">
                <a:solidFill>
                  <a:schemeClr val="tx1"/>
                </a:solidFill>
              </a:rPr>
              <a:t>にアナウンス必要と判断した場合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57" name="テキスト ボックス 1156">
            <a:extLst>
              <a:ext uri="{FF2B5EF4-FFF2-40B4-BE49-F238E27FC236}">
                <a16:creationId xmlns:a16="http://schemas.microsoft.com/office/drawing/2014/main" id="{0213718A-9A31-67C4-D775-82B6938A4BCA}"/>
              </a:ext>
            </a:extLst>
          </p:cNvPr>
          <p:cNvSpPr txBox="1"/>
          <p:nvPr/>
        </p:nvSpPr>
        <p:spPr>
          <a:xfrm>
            <a:off x="8958003" y="6579087"/>
            <a:ext cx="147595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100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連休輪番体制は次頁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B53FA6-6FCA-F950-3524-14C225D6D2C2}"/>
              </a:ext>
            </a:extLst>
          </p:cNvPr>
          <p:cNvSpPr/>
          <p:nvPr/>
        </p:nvSpPr>
        <p:spPr bwMode="gray">
          <a:xfrm>
            <a:off x="3308143" y="4848560"/>
            <a:ext cx="2221278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14_Azure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9"/>
              </a:rPr>
              <a:t>da87eef2.tatgroup.onmicrosoft.com@jp.teams.ms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89DF23FF-AAD4-F60A-5309-B0F97953B59B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1585732" y="3446234"/>
            <a:ext cx="914219" cy="49089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A8FAEACF-4E65-AA10-9786-303B2F675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4234122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80522E-49BA-0A95-FE0D-41BB59BB246C}"/>
              </a:ext>
            </a:extLst>
          </p:cNvPr>
          <p:cNvSpPr txBox="1"/>
          <p:nvPr/>
        </p:nvSpPr>
        <p:spPr>
          <a:xfrm>
            <a:off x="1159261" y="4445707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D704C296-DA4D-2DE4-61DA-B8273E64A240}"/>
              </a:ext>
            </a:extLst>
          </p:cNvPr>
          <p:cNvCxnSpPr>
            <a:cxnSpLocks/>
            <a:stCxn id="10" idx="3"/>
            <a:endCxn id="1187" idx="1"/>
          </p:cNvCxnSpPr>
          <p:nvPr/>
        </p:nvCxnSpPr>
        <p:spPr>
          <a:xfrm>
            <a:off x="1585732" y="3446234"/>
            <a:ext cx="917361" cy="95626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D19234C8-2BAF-6F48-0EC4-F27370E77571}"/>
              </a:ext>
            </a:extLst>
          </p:cNvPr>
          <p:cNvCxnSpPr>
            <a:cxnSpLocks/>
            <a:stCxn id="10" idx="3"/>
            <a:endCxn id="2" idx="1"/>
          </p:cNvCxnSpPr>
          <p:nvPr/>
        </p:nvCxnSpPr>
        <p:spPr>
          <a:xfrm>
            <a:off x="1585732" y="3446234"/>
            <a:ext cx="906018" cy="154510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BD3E27C-BA94-73E6-6629-0ACB8674658F}"/>
              </a:ext>
            </a:extLst>
          </p:cNvPr>
          <p:cNvSpPr/>
          <p:nvPr/>
        </p:nvSpPr>
        <p:spPr bwMode="gray">
          <a:xfrm>
            <a:off x="3308143" y="5406301"/>
            <a:ext cx="2224549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30_Neo_OGG_HB30</a:t>
            </a:r>
            <a:r>
              <a:rPr lang="ja-JP" altLang="en-US" sz="700"/>
              <a:t>分間遅延通知用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10"/>
              </a:rPr>
              <a:t>2a3528b1.tatgroup.onmicrosoft.com@jp.teams.ms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D3F22C5-C1AC-9BD5-6F80-198E387DD8BC}"/>
              </a:ext>
            </a:extLst>
          </p:cNvPr>
          <p:cNvSpPr/>
          <p:nvPr/>
        </p:nvSpPr>
        <p:spPr bwMode="gray">
          <a:xfrm>
            <a:off x="3308143" y="5913119"/>
            <a:ext cx="2224549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40_Ai21_tblagmon30</a:t>
            </a:r>
            <a:r>
              <a:rPr lang="ja-JP" altLang="en-US" sz="700"/>
              <a:t>分間遅延通知用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11"/>
              </a:rPr>
              <a:t>283f4dc8.tatgroup.onmicrosoft.com@jp.teams.ms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pic>
        <p:nvPicPr>
          <p:cNvPr id="1028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81EC4CC4-D924-FAFC-72F4-FEC8FA8CC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5489783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E424B852-806E-68E4-24B2-2E640AED8731}"/>
              </a:ext>
            </a:extLst>
          </p:cNvPr>
          <p:cNvSpPr txBox="1"/>
          <p:nvPr/>
        </p:nvSpPr>
        <p:spPr>
          <a:xfrm>
            <a:off x="1181627" y="5791585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差分連携遅延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1033" name="コネクタ: カギ線 1032">
            <a:extLst>
              <a:ext uri="{FF2B5EF4-FFF2-40B4-BE49-F238E27FC236}">
                <a16:creationId xmlns:a16="http://schemas.microsoft.com/office/drawing/2014/main" id="{AD961F7A-2635-CF45-DAD1-6724256BC3A7}"/>
              </a:ext>
            </a:extLst>
          </p:cNvPr>
          <p:cNvCxnSpPr>
            <a:cxnSpLocks/>
            <a:stCxn id="10" idx="3"/>
            <a:endCxn id="57" idx="1"/>
          </p:cNvCxnSpPr>
          <p:nvPr/>
        </p:nvCxnSpPr>
        <p:spPr>
          <a:xfrm>
            <a:off x="1585732" y="3446234"/>
            <a:ext cx="906019" cy="209984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コネクタ: カギ線 1039">
            <a:extLst>
              <a:ext uri="{FF2B5EF4-FFF2-40B4-BE49-F238E27FC236}">
                <a16:creationId xmlns:a16="http://schemas.microsoft.com/office/drawing/2014/main" id="{BB1C1A15-E88F-02E2-8FB7-37F7290C19B5}"/>
              </a:ext>
            </a:extLst>
          </p:cNvPr>
          <p:cNvCxnSpPr>
            <a:cxnSpLocks/>
            <a:stCxn id="10" idx="3"/>
            <a:endCxn id="59" idx="1"/>
          </p:cNvCxnSpPr>
          <p:nvPr/>
        </p:nvCxnSpPr>
        <p:spPr>
          <a:xfrm>
            <a:off x="1585732" y="3446234"/>
            <a:ext cx="906018" cy="259702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テキスト ボックス 1075">
            <a:extLst>
              <a:ext uri="{FF2B5EF4-FFF2-40B4-BE49-F238E27FC236}">
                <a16:creationId xmlns:a16="http://schemas.microsoft.com/office/drawing/2014/main" id="{8EC89ECF-1462-E838-BBD0-46EF3DFBD012}"/>
              </a:ext>
            </a:extLst>
          </p:cNvPr>
          <p:cNvSpPr txBox="1"/>
          <p:nvPr/>
        </p:nvSpPr>
        <p:spPr>
          <a:xfrm>
            <a:off x="2438248" y="6579087"/>
            <a:ext cx="147595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100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連休輪番体制は次頁</a:t>
            </a:r>
          </a:p>
        </p:txBody>
      </p:sp>
      <p:cxnSp>
        <p:nvCxnSpPr>
          <p:cNvPr id="1077" name="コネクタ: カギ線 1076">
            <a:extLst>
              <a:ext uri="{FF2B5EF4-FFF2-40B4-BE49-F238E27FC236}">
                <a16:creationId xmlns:a16="http://schemas.microsoft.com/office/drawing/2014/main" id="{1E28611E-AB07-66CB-697E-23278493E270}"/>
              </a:ext>
            </a:extLst>
          </p:cNvPr>
          <p:cNvCxnSpPr>
            <a:cxnSpLocks/>
            <a:stCxn id="62" idx="3"/>
            <a:endCxn id="1029" idx="1"/>
          </p:cNvCxnSpPr>
          <p:nvPr/>
        </p:nvCxnSpPr>
        <p:spPr>
          <a:xfrm flipV="1">
            <a:off x="5532692" y="4420278"/>
            <a:ext cx="604359" cy="115192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コネクタ: カギ線 1077">
            <a:extLst>
              <a:ext uri="{FF2B5EF4-FFF2-40B4-BE49-F238E27FC236}">
                <a16:creationId xmlns:a16="http://schemas.microsoft.com/office/drawing/2014/main" id="{48CBB75E-A6B1-3BCF-E51A-63476D640115}"/>
              </a:ext>
            </a:extLst>
          </p:cNvPr>
          <p:cNvCxnSpPr>
            <a:cxnSpLocks/>
            <a:stCxn id="63" idx="3"/>
            <a:endCxn id="1029" idx="1"/>
          </p:cNvCxnSpPr>
          <p:nvPr/>
        </p:nvCxnSpPr>
        <p:spPr>
          <a:xfrm flipV="1">
            <a:off x="5532692" y="4420278"/>
            <a:ext cx="604359" cy="165874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074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FC06-89FA-213C-A572-4A99C849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正方形/長方形 1107">
            <a:extLst>
              <a:ext uri="{FF2B5EF4-FFF2-40B4-BE49-F238E27FC236}">
                <a16:creationId xmlns:a16="http://schemas.microsoft.com/office/drawing/2014/main" id="{95AB1C55-2ED7-48C6-91AA-50D5C0E315BE}"/>
              </a:ext>
            </a:extLst>
          </p:cNvPr>
          <p:cNvSpPr/>
          <p:nvPr/>
        </p:nvSpPr>
        <p:spPr>
          <a:xfrm>
            <a:off x="8037420" y="1653651"/>
            <a:ext cx="2978001" cy="48819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アラート窓口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8B0B3B4-A958-DF52-BB34-5F237F7A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運用体制：障害監視（</a:t>
            </a:r>
            <a:r>
              <a:rPr lang="en-US" altLang="ja-JP" sz="1867">
                <a:latin typeface="+mn-ea"/>
              </a:rPr>
              <a:t>2607</a:t>
            </a:r>
            <a:r>
              <a:rPr lang="ja-JP" altLang="en-US" sz="1867">
                <a:latin typeface="+mn-ea"/>
              </a:rPr>
              <a:t>月時点）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5318C8-301F-2E74-07AD-E9743D37CD08}"/>
              </a:ext>
            </a:extLst>
          </p:cNvPr>
          <p:cNvSpPr/>
          <p:nvPr/>
        </p:nvSpPr>
        <p:spPr bwMode="gray">
          <a:xfrm>
            <a:off x="188860" y="1181899"/>
            <a:ext cx="2900348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D4B17C-13CB-11EF-AA07-69C0ED0C6A42}"/>
              </a:ext>
            </a:extLst>
          </p:cNvPr>
          <p:cNvSpPr/>
          <p:nvPr/>
        </p:nvSpPr>
        <p:spPr bwMode="gray">
          <a:xfrm>
            <a:off x="7614458" y="1186937"/>
            <a:ext cx="4451021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ED85CBC-BA8E-267F-9A2D-013776DFF064}"/>
              </a:ext>
            </a:extLst>
          </p:cNvPr>
          <p:cNvSpPr/>
          <p:nvPr/>
        </p:nvSpPr>
        <p:spPr bwMode="gray">
          <a:xfrm>
            <a:off x="188863" y="1760865"/>
            <a:ext cx="497722" cy="44903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eaVert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3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システム監視</a:t>
            </a:r>
            <a:endParaRPr lang="en-US" altLang="ja-JP" sz="13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F63BAED-CC86-F720-CCD4-CA6E36F977D1}"/>
              </a:ext>
            </a:extLst>
          </p:cNvPr>
          <p:cNvSpPr/>
          <p:nvPr/>
        </p:nvSpPr>
        <p:spPr bwMode="gray">
          <a:xfrm>
            <a:off x="1579366" y="3470587"/>
            <a:ext cx="1509842" cy="14254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アラート専用窓口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toyotecdap-alert@toyotec-jp.com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70BC8707-8B97-C8F9-CA5E-27CB31A8042B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55008" y="4183308"/>
            <a:ext cx="1024358" cy="68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02DCEC2-C5B6-304A-45E8-9934897DFFE9}"/>
              </a:ext>
            </a:extLst>
          </p:cNvPr>
          <p:cNvSpPr txBox="1"/>
          <p:nvPr/>
        </p:nvSpPr>
        <p:spPr>
          <a:xfrm>
            <a:off x="815538" y="3671964"/>
            <a:ext cx="67807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アラート通知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A103644-EEFC-06CD-CA51-62B0ED03A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25" y="3886411"/>
            <a:ext cx="311699" cy="247343"/>
          </a:xfrm>
          <a:prstGeom prst="rect">
            <a:avLst/>
          </a:prstGeom>
        </p:spPr>
      </p:pic>
      <p:sp>
        <p:nvSpPr>
          <p:cNvPr id="14" name="爆発: 14 pt 13">
            <a:extLst>
              <a:ext uri="{FF2B5EF4-FFF2-40B4-BE49-F238E27FC236}">
                <a16:creationId xmlns:a16="http://schemas.microsoft.com/office/drawing/2014/main" id="{3B8E5C2B-BA2D-EC81-F9BB-EB19B50CADA8}"/>
              </a:ext>
            </a:extLst>
          </p:cNvPr>
          <p:cNvSpPr/>
          <p:nvPr/>
        </p:nvSpPr>
        <p:spPr>
          <a:xfrm>
            <a:off x="514731" y="3977702"/>
            <a:ext cx="476172" cy="369854"/>
          </a:xfrm>
          <a:prstGeom prst="irregularSeal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CF9E738-F5DB-29E9-B42D-5445ACD5B585}"/>
              </a:ext>
            </a:extLst>
          </p:cNvPr>
          <p:cNvSpPr txBox="1"/>
          <p:nvPr/>
        </p:nvSpPr>
        <p:spPr>
          <a:xfrm>
            <a:off x="807626" y="4297571"/>
            <a:ext cx="54502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異常検知</a:t>
            </a:r>
          </a:p>
        </p:txBody>
      </p:sp>
      <p:sp>
        <p:nvSpPr>
          <p:cNvPr id="31" name="サブタイトル 2">
            <a:extLst>
              <a:ext uri="{FF2B5EF4-FFF2-40B4-BE49-F238E27FC236}">
                <a16:creationId xmlns:a16="http://schemas.microsoft.com/office/drawing/2014/main" id="{07D28122-8FC2-6958-C6EA-67BD0131482C}"/>
              </a:ext>
            </a:extLst>
          </p:cNvPr>
          <p:cNvSpPr txBox="1">
            <a:spLocks/>
          </p:cNvSpPr>
          <p:nvPr/>
        </p:nvSpPr>
        <p:spPr>
          <a:xfrm>
            <a:off x="5640447" y="4497820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連休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64058265-4862-D7F5-41D2-A35B8C2C2F66}"/>
              </a:ext>
            </a:extLst>
          </p:cNvPr>
          <p:cNvSpPr/>
          <p:nvPr/>
        </p:nvSpPr>
        <p:spPr>
          <a:xfrm>
            <a:off x="3284381" y="3672121"/>
            <a:ext cx="1605693" cy="106066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u="sng">
                <a:solidFill>
                  <a:schemeClr val="tx1"/>
                </a:solidFill>
                <a:latin typeface="+mj-lt"/>
              </a:rPr>
              <a:t>アラート窓口</a:t>
            </a:r>
            <a:endParaRPr kumimoji="1" lang="en-US" altLang="ja-JP" sz="1400" u="sng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</a:t>
            </a:r>
            <a:r>
              <a:rPr lang="en-US" altLang="ja-JP" sz="1400">
                <a:solidFill>
                  <a:srgbClr val="FF0000"/>
                </a:solidFill>
                <a:latin typeface="+mj-lt"/>
              </a:rPr>
              <a:t>20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長期連休除き土日祝</a:t>
            </a:r>
            <a:br>
              <a:rPr kumimoji="1" lang="en-US" altLang="ja-JP" sz="1050">
                <a:solidFill>
                  <a:schemeClr val="tx1"/>
                </a:solidFill>
                <a:latin typeface="+mj-lt"/>
              </a:rPr>
            </a:br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随時アラートチェック</a:t>
            </a: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374B2F68-7526-96AF-D402-81FA9C2062D0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3089208" y="4183308"/>
            <a:ext cx="195173" cy="19144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E48925C9-6B93-4C1E-2B55-9DEB582BFDD2}"/>
              </a:ext>
            </a:extLst>
          </p:cNvPr>
          <p:cNvCxnSpPr>
            <a:cxnSpLocks/>
            <a:stCxn id="1140" idx="3"/>
            <a:endCxn id="1108" idx="1"/>
          </p:cNvCxnSpPr>
          <p:nvPr/>
        </p:nvCxnSpPr>
        <p:spPr>
          <a:xfrm flipV="1">
            <a:off x="6407705" y="4094603"/>
            <a:ext cx="1629715" cy="9197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C72DE0ED-6E3B-4133-5661-497602512C78}"/>
              </a:ext>
            </a:extLst>
          </p:cNvPr>
          <p:cNvSpPr/>
          <p:nvPr/>
        </p:nvSpPr>
        <p:spPr bwMode="gray">
          <a:xfrm>
            <a:off x="3284381" y="1181897"/>
            <a:ext cx="4255263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39" name="四角形: 角を丸くする 1038">
            <a:extLst>
              <a:ext uri="{FF2B5EF4-FFF2-40B4-BE49-F238E27FC236}">
                <a16:creationId xmlns:a16="http://schemas.microsoft.com/office/drawing/2014/main" id="{2896AD0B-9BDA-6262-035F-B5047473BD7F}"/>
              </a:ext>
            </a:extLst>
          </p:cNvPr>
          <p:cNvSpPr/>
          <p:nvPr/>
        </p:nvSpPr>
        <p:spPr>
          <a:xfrm>
            <a:off x="8121780" y="3339131"/>
            <a:ext cx="2692709" cy="793072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王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(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wang_zhong_za@toyotec-jp.com)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劉　虹帆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(hongfan_liu_za@toyotec-jp.com)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胡　欣欣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(xinxin_hu_za@toyotec-jp.com)</a:t>
            </a:r>
          </a:p>
        </p:txBody>
      </p:sp>
      <p:sp>
        <p:nvSpPr>
          <p:cNvPr id="1060" name="テキスト ボックス 1059">
            <a:extLst>
              <a:ext uri="{FF2B5EF4-FFF2-40B4-BE49-F238E27FC236}">
                <a16:creationId xmlns:a16="http://schemas.microsoft.com/office/drawing/2014/main" id="{A2ECBA29-95F4-05E4-9AFB-AB670D6FD52F}"/>
              </a:ext>
            </a:extLst>
          </p:cNvPr>
          <p:cNvSpPr txBox="1"/>
          <p:nvPr/>
        </p:nvSpPr>
        <p:spPr>
          <a:xfrm>
            <a:off x="7152635" y="3768466"/>
            <a:ext cx="81753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対応確認依頼</a:t>
            </a:r>
          </a:p>
        </p:txBody>
      </p:sp>
      <p:sp>
        <p:nvSpPr>
          <p:cNvPr id="1063" name="フローチャート: 判断 1062">
            <a:extLst>
              <a:ext uri="{FF2B5EF4-FFF2-40B4-BE49-F238E27FC236}">
                <a16:creationId xmlns:a16="http://schemas.microsoft.com/office/drawing/2014/main" id="{6AF0D0B3-540D-EFC2-4C6E-B373A67419A3}"/>
              </a:ext>
            </a:extLst>
          </p:cNvPr>
          <p:cNvSpPr/>
          <p:nvPr/>
        </p:nvSpPr>
        <p:spPr>
          <a:xfrm>
            <a:off x="6090766" y="4785928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4" name="コネクタ: カギ線 1063">
            <a:extLst>
              <a:ext uri="{FF2B5EF4-FFF2-40B4-BE49-F238E27FC236}">
                <a16:creationId xmlns:a16="http://schemas.microsoft.com/office/drawing/2014/main" id="{5AEE3BB8-57A5-158D-B07A-192D62569BA4}"/>
              </a:ext>
            </a:extLst>
          </p:cNvPr>
          <p:cNvCxnSpPr>
            <a:cxnSpLocks/>
            <a:stCxn id="1140" idx="2"/>
            <a:endCxn id="1063" idx="1"/>
          </p:cNvCxnSpPr>
          <p:nvPr/>
        </p:nvCxnSpPr>
        <p:spPr>
          <a:xfrm rot="16200000" flipH="1">
            <a:off x="5618407" y="4610757"/>
            <a:ext cx="599347" cy="345372"/>
          </a:xfrm>
          <a:prstGeom prst="bentConnector2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テキスト ボックス 1066">
            <a:extLst>
              <a:ext uri="{FF2B5EF4-FFF2-40B4-BE49-F238E27FC236}">
                <a16:creationId xmlns:a16="http://schemas.microsoft.com/office/drawing/2014/main" id="{B28D2A4D-DF72-12C2-1CA6-4541C6C447E8}"/>
              </a:ext>
            </a:extLst>
          </p:cNvPr>
          <p:cNvSpPr txBox="1"/>
          <p:nvPr/>
        </p:nvSpPr>
        <p:spPr>
          <a:xfrm>
            <a:off x="6254704" y="4868223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>
                <a:latin typeface="+mj-lt"/>
              </a:rPr>
              <a:t>ai21</a:t>
            </a:r>
            <a:r>
              <a:rPr kumimoji="1" lang="ja-JP" altLang="en-US" sz="1200">
                <a:latin typeface="+mj-lt"/>
              </a:rPr>
              <a:t>へ影響</a:t>
            </a:r>
            <a:endParaRPr kumimoji="1" lang="en-US" altLang="ja-JP" sz="1200">
              <a:latin typeface="+mj-lt"/>
            </a:endParaRPr>
          </a:p>
          <a:p>
            <a:pPr algn="ctr"/>
            <a:r>
              <a:rPr kumimoji="1" lang="ja-JP" altLang="en-US" sz="1200">
                <a:latin typeface="+mj-lt"/>
              </a:rPr>
              <a:t>を及ぼす</a:t>
            </a:r>
          </a:p>
        </p:txBody>
      </p:sp>
      <p:cxnSp>
        <p:nvCxnSpPr>
          <p:cNvPr id="1069" name="コネクタ: カギ線 1068">
            <a:extLst>
              <a:ext uri="{FF2B5EF4-FFF2-40B4-BE49-F238E27FC236}">
                <a16:creationId xmlns:a16="http://schemas.microsoft.com/office/drawing/2014/main" id="{5BF14BD4-6020-B7D3-00DE-F2B730E7B6EE}"/>
              </a:ext>
            </a:extLst>
          </p:cNvPr>
          <p:cNvCxnSpPr>
            <a:cxnSpLocks/>
            <a:stCxn id="1063" idx="3"/>
            <a:endCxn id="1108" idx="1"/>
          </p:cNvCxnSpPr>
          <p:nvPr/>
        </p:nvCxnSpPr>
        <p:spPr>
          <a:xfrm flipV="1">
            <a:off x="7415388" y="4094603"/>
            <a:ext cx="622032" cy="98851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テキスト ボックス 1071">
            <a:extLst>
              <a:ext uri="{FF2B5EF4-FFF2-40B4-BE49-F238E27FC236}">
                <a16:creationId xmlns:a16="http://schemas.microsoft.com/office/drawing/2014/main" id="{818DD7A7-9072-C4F3-CAB0-D56D47CBD7E5}"/>
              </a:ext>
            </a:extLst>
          </p:cNvPr>
          <p:cNvSpPr txBox="1"/>
          <p:nvPr/>
        </p:nvSpPr>
        <p:spPr>
          <a:xfrm>
            <a:off x="7217579" y="4734677"/>
            <a:ext cx="2580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YES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3" name="テキスト ボックス 1072">
            <a:extLst>
              <a:ext uri="{FF2B5EF4-FFF2-40B4-BE49-F238E27FC236}">
                <a16:creationId xmlns:a16="http://schemas.microsoft.com/office/drawing/2014/main" id="{CF6DCE7E-AEAE-313B-7AAA-EEC155B2789D}"/>
              </a:ext>
            </a:extLst>
          </p:cNvPr>
          <p:cNvSpPr txBox="1"/>
          <p:nvPr/>
        </p:nvSpPr>
        <p:spPr>
          <a:xfrm>
            <a:off x="6908919" y="5590609"/>
            <a:ext cx="2051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NO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09" name="コネクタ: カギ線 1108">
            <a:extLst>
              <a:ext uri="{FF2B5EF4-FFF2-40B4-BE49-F238E27FC236}">
                <a16:creationId xmlns:a16="http://schemas.microsoft.com/office/drawing/2014/main" id="{0F2DEC56-25EF-DE8D-AFB7-4F57CF874BE1}"/>
              </a:ext>
            </a:extLst>
          </p:cNvPr>
          <p:cNvCxnSpPr>
            <a:cxnSpLocks/>
            <a:stCxn id="1063" idx="2"/>
            <a:endCxn id="38" idx="2"/>
          </p:cNvCxnSpPr>
          <p:nvPr/>
        </p:nvCxnSpPr>
        <p:spPr>
          <a:xfrm rot="5400000" flipH="1">
            <a:off x="5096391" y="3723621"/>
            <a:ext cx="647523" cy="2665849"/>
          </a:xfrm>
          <a:prstGeom prst="bentConnector3">
            <a:avLst>
              <a:gd name="adj1" fmla="val -35304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" name="サブタイトル 2">
            <a:extLst>
              <a:ext uri="{FF2B5EF4-FFF2-40B4-BE49-F238E27FC236}">
                <a16:creationId xmlns:a16="http://schemas.microsoft.com/office/drawing/2014/main" id="{C80F452D-3328-0BC5-9CEB-4BD94E913327}"/>
              </a:ext>
            </a:extLst>
          </p:cNvPr>
          <p:cNvSpPr txBox="1">
            <a:spLocks/>
          </p:cNvSpPr>
          <p:nvPr/>
        </p:nvSpPr>
        <p:spPr>
          <a:xfrm>
            <a:off x="3976529" y="5232192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営業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40" name="フローチャート: 判断 1139">
            <a:extLst>
              <a:ext uri="{FF2B5EF4-FFF2-40B4-BE49-F238E27FC236}">
                <a16:creationId xmlns:a16="http://schemas.microsoft.com/office/drawing/2014/main" id="{A25E63E0-A783-F27E-B5AF-1495ABDCD5E5}"/>
              </a:ext>
            </a:extLst>
          </p:cNvPr>
          <p:cNvSpPr/>
          <p:nvPr/>
        </p:nvSpPr>
        <p:spPr>
          <a:xfrm>
            <a:off x="5083083" y="3889392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45" name="コネクタ: カギ線 1144">
            <a:extLst>
              <a:ext uri="{FF2B5EF4-FFF2-40B4-BE49-F238E27FC236}">
                <a16:creationId xmlns:a16="http://schemas.microsoft.com/office/drawing/2014/main" id="{3F8D7447-6EF5-D69C-1857-23F11170EDA9}"/>
              </a:ext>
            </a:extLst>
          </p:cNvPr>
          <p:cNvCxnSpPr>
            <a:cxnSpLocks/>
            <a:stCxn id="38" idx="3"/>
            <a:endCxn id="1140" idx="1"/>
          </p:cNvCxnSpPr>
          <p:nvPr/>
        </p:nvCxnSpPr>
        <p:spPr>
          <a:xfrm flipV="1">
            <a:off x="4890074" y="4186581"/>
            <a:ext cx="193009" cy="1587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8" name="テキスト ボックス 1147">
            <a:extLst>
              <a:ext uri="{FF2B5EF4-FFF2-40B4-BE49-F238E27FC236}">
                <a16:creationId xmlns:a16="http://schemas.microsoft.com/office/drawing/2014/main" id="{6AB890C5-6962-B2C9-A811-3A27E5E40DAA}"/>
              </a:ext>
            </a:extLst>
          </p:cNvPr>
          <p:cNvSpPr txBox="1"/>
          <p:nvPr/>
        </p:nvSpPr>
        <p:spPr>
          <a:xfrm>
            <a:off x="5260503" y="4051356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>
                <a:latin typeface="+mj-lt"/>
              </a:rPr>
              <a:t>長期連休*か</a:t>
            </a:r>
          </a:p>
        </p:txBody>
      </p:sp>
      <p:sp>
        <p:nvSpPr>
          <p:cNvPr id="1151" name="サブタイトル 2">
            <a:extLst>
              <a:ext uri="{FF2B5EF4-FFF2-40B4-BE49-F238E27FC236}">
                <a16:creationId xmlns:a16="http://schemas.microsoft.com/office/drawing/2014/main" id="{9DC6B812-351C-D179-17AB-FAC921EEA152}"/>
              </a:ext>
            </a:extLst>
          </p:cNvPr>
          <p:cNvSpPr txBox="1">
            <a:spLocks/>
          </p:cNvSpPr>
          <p:nvPr/>
        </p:nvSpPr>
        <p:spPr>
          <a:xfrm>
            <a:off x="6090766" y="3836374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以外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59" name="四角形: 角を丸くする 1158">
            <a:extLst>
              <a:ext uri="{FF2B5EF4-FFF2-40B4-BE49-F238E27FC236}">
                <a16:creationId xmlns:a16="http://schemas.microsoft.com/office/drawing/2014/main" id="{8808F665-7E34-18B9-8A59-62D75BDB480E}"/>
              </a:ext>
            </a:extLst>
          </p:cNvPr>
          <p:cNvSpPr/>
          <p:nvPr/>
        </p:nvSpPr>
        <p:spPr>
          <a:xfrm>
            <a:off x="6297159" y="6355063"/>
            <a:ext cx="1699619" cy="358511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Oracle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：鈴木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60" name="四角形: 角を丸くする 1159">
            <a:extLst>
              <a:ext uri="{FF2B5EF4-FFF2-40B4-BE49-F238E27FC236}">
                <a16:creationId xmlns:a16="http://schemas.microsoft.com/office/drawing/2014/main" id="{A51651D3-5FBC-A405-BB11-B5D7DB6D2E31}"/>
              </a:ext>
            </a:extLst>
          </p:cNvPr>
          <p:cNvSpPr/>
          <p:nvPr/>
        </p:nvSpPr>
        <p:spPr>
          <a:xfrm>
            <a:off x="6297159" y="6036724"/>
            <a:ext cx="1699619" cy="26800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Ai21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レプリカ：突元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6" name="四角形: 角を丸くする 1175">
            <a:extLst>
              <a:ext uri="{FF2B5EF4-FFF2-40B4-BE49-F238E27FC236}">
                <a16:creationId xmlns:a16="http://schemas.microsoft.com/office/drawing/2014/main" id="{C5A75C4C-9AAC-E652-0878-2DDFE9E1C440}"/>
              </a:ext>
            </a:extLst>
          </p:cNvPr>
          <p:cNvSpPr/>
          <p:nvPr/>
        </p:nvSpPr>
        <p:spPr>
          <a:xfrm>
            <a:off x="8147853" y="5616083"/>
            <a:ext cx="2657540" cy="79523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楊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(xinyu_yang_za@toyotec-jp.com)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三ツ井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(ryouta_mitsui_za@toyotec-jp.com)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大森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(nobuyuki_omori@toyotec-jp.com)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81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DDE0C3A-45FF-3A77-69BD-EFA418EFD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27" y="3425395"/>
            <a:ext cx="561746" cy="31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2" name="四角形: 角を丸くする 1181">
            <a:extLst>
              <a:ext uri="{FF2B5EF4-FFF2-40B4-BE49-F238E27FC236}">
                <a16:creationId xmlns:a16="http://schemas.microsoft.com/office/drawing/2014/main" id="{E27CF860-6DA8-947C-E14A-DA4380AE7E82}"/>
              </a:ext>
            </a:extLst>
          </p:cNvPr>
          <p:cNvSpPr/>
          <p:nvPr/>
        </p:nvSpPr>
        <p:spPr>
          <a:xfrm>
            <a:off x="8145501" y="4517149"/>
            <a:ext cx="2659892" cy="740170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rgbClr val="FF0000"/>
                </a:solidFill>
                <a:latin typeface="+mj-lt"/>
              </a:rPr>
              <a:t>佐藤</a:t>
            </a:r>
            <a:r>
              <a:rPr lang="en-US" altLang="ja-JP" sz="800">
                <a:solidFill>
                  <a:srgbClr val="FF0000"/>
                </a:solidFill>
                <a:latin typeface="+mj-lt"/>
              </a:rPr>
              <a:t>(takumi_sato_za@toyotec-jp.com)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周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(zhou_kai_za@toyotec-jp.com)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鄭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(zheng_shuxi_za@toyotec-jp.com)</a:t>
            </a:r>
          </a:p>
        </p:txBody>
      </p:sp>
      <p:sp>
        <p:nvSpPr>
          <p:cNvPr id="1187" name="テキスト ボックス 1186">
            <a:extLst>
              <a:ext uri="{FF2B5EF4-FFF2-40B4-BE49-F238E27FC236}">
                <a16:creationId xmlns:a16="http://schemas.microsoft.com/office/drawing/2014/main" id="{4F5FEEFF-62EC-4077-0924-99B40F4177BE}"/>
              </a:ext>
            </a:extLst>
          </p:cNvPr>
          <p:cNvSpPr txBox="1"/>
          <p:nvPr/>
        </p:nvSpPr>
        <p:spPr>
          <a:xfrm>
            <a:off x="8138223" y="4297155"/>
            <a:ext cx="73382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9" name="吹き出し: 角を丸めた四角形 1188">
            <a:extLst>
              <a:ext uri="{FF2B5EF4-FFF2-40B4-BE49-F238E27FC236}">
                <a16:creationId xmlns:a16="http://schemas.microsoft.com/office/drawing/2014/main" id="{3737DE34-3CF2-6671-C117-CE7739D57FF4}"/>
              </a:ext>
            </a:extLst>
          </p:cNvPr>
          <p:cNvSpPr/>
          <p:nvPr/>
        </p:nvSpPr>
        <p:spPr>
          <a:xfrm>
            <a:off x="3483689" y="2302961"/>
            <a:ext cx="3140910" cy="1303657"/>
          </a:xfrm>
          <a:prstGeom prst="wedgeRoundRectCallout">
            <a:avLst>
              <a:gd name="adj1" fmla="val -36697"/>
              <a:gd name="adj2" fmla="val 5973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+mj-lt"/>
              </a:rPr>
              <a:t>アラート用チャネルに自動転送</a:t>
            </a:r>
            <a:endParaRPr kumimoji="1" lang="en-US" altLang="ja-JP" sz="1100">
              <a:solidFill>
                <a:schemeClr val="tx1"/>
              </a:solidFill>
              <a:latin typeface="+mj-lt"/>
            </a:endParaRPr>
          </a:p>
          <a:p>
            <a:r>
              <a:rPr lang="ja-JP" altLang="en-US" sz="700">
                <a:solidFill>
                  <a:schemeClr val="tx1"/>
                </a:solidFill>
                <a:latin typeface="+mj-lt"/>
              </a:rPr>
              <a:t>11_OCIアラート共有 - TEC_U-SLIM（基盤検証） </a:t>
            </a:r>
            <a:r>
              <a:rPr lang="ja-JP" altLang="en-US" sz="700">
                <a:solidFill>
                  <a:schemeClr val="tx1"/>
                </a:solidFill>
                <a:latin typeface="+mj-lt"/>
                <a:hlinkClick r:id="rId4"/>
              </a:rPr>
              <a:t>424d87e6.tatgroup.onmicrosoft.com@jp.teams.ms</a:t>
            </a:r>
            <a:endParaRPr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12_CDP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5"/>
              </a:rPr>
              <a:t>c31c0289.tatgroup.onmicrosoft.com@jp.teams.ms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13_WebApp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6"/>
              </a:rPr>
              <a:t>f88b021c.tatgroup.onmicrosoft.com@jp.teams.ms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30_Neo_OGG_HB30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分間遅延通知用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7"/>
              </a:rPr>
              <a:t>2a3528b1.tatgroup.onmicrosoft.com@jp.teams.ms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40_Ai21_tblagmon30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分間遅延通知用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8"/>
              </a:rPr>
              <a:t>283f4dc8.tatgroup.onmicrosoft.com@jp.teams.ms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94" name="テキスト ボックス 1193">
            <a:extLst>
              <a:ext uri="{FF2B5EF4-FFF2-40B4-BE49-F238E27FC236}">
                <a16:creationId xmlns:a16="http://schemas.microsoft.com/office/drawing/2014/main" id="{1326F891-9DE3-CB39-A9EB-85E2F468E4CC}"/>
              </a:ext>
            </a:extLst>
          </p:cNvPr>
          <p:cNvSpPr txBox="1"/>
          <p:nvPr/>
        </p:nvSpPr>
        <p:spPr>
          <a:xfrm>
            <a:off x="8085464" y="2001303"/>
            <a:ext cx="1307621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</a:p>
        </p:txBody>
      </p:sp>
      <p:sp>
        <p:nvSpPr>
          <p:cNvPr id="1195" name="テキスト ボックス 1194">
            <a:extLst>
              <a:ext uri="{FF2B5EF4-FFF2-40B4-BE49-F238E27FC236}">
                <a16:creationId xmlns:a16="http://schemas.microsoft.com/office/drawing/2014/main" id="{C2712B66-2011-D0F3-0E1C-00C0239F7DFC}"/>
              </a:ext>
            </a:extLst>
          </p:cNvPr>
          <p:cNvSpPr txBox="1"/>
          <p:nvPr/>
        </p:nvSpPr>
        <p:spPr>
          <a:xfrm>
            <a:off x="8172816" y="5410577"/>
            <a:ext cx="665247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6" name="テキスト ボックス 1195">
            <a:extLst>
              <a:ext uri="{FF2B5EF4-FFF2-40B4-BE49-F238E27FC236}">
                <a16:creationId xmlns:a16="http://schemas.microsoft.com/office/drawing/2014/main" id="{D8E6D671-2EB2-E38D-EE7C-FCD48F0556BB}"/>
              </a:ext>
            </a:extLst>
          </p:cNvPr>
          <p:cNvSpPr txBox="1"/>
          <p:nvPr/>
        </p:nvSpPr>
        <p:spPr>
          <a:xfrm>
            <a:off x="6311160" y="5754821"/>
            <a:ext cx="43281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サポート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9" name="矢印: 折線 1198">
            <a:extLst>
              <a:ext uri="{FF2B5EF4-FFF2-40B4-BE49-F238E27FC236}">
                <a16:creationId xmlns:a16="http://schemas.microsoft.com/office/drawing/2014/main" id="{AC5BB5CB-538F-265F-4F77-84EDABF289BB}"/>
              </a:ext>
            </a:extLst>
          </p:cNvPr>
          <p:cNvSpPr/>
          <p:nvPr/>
        </p:nvSpPr>
        <p:spPr>
          <a:xfrm>
            <a:off x="2318321" y="2903652"/>
            <a:ext cx="1158932" cy="547347"/>
          </a:xfrm>
          <a:prstGeom prst="bentArrow">
            <a:avLst>
              <a:gd name="adj1" fmla="val 31565"/>
              <a:gd name="adj2" fmla="val 25156"/>
              <a:gd name="adj3" fmla="val 26696"/>
              <a:gd name="adj4" fmla="val 3767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E8B557C-6693-AC93-2EE3-BD3FA5581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019" y="295136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713C48F8-8178-F436-42BB-109CB6BC0E12}"/>
              </a:ext>
            </a:extLst>
          </p:cNvPr>
          <p:cNvCxnSpPr>
            <a:cxnSpLocks/>
            <a:stCxn id="1108" idx="3"/>
            <a:endCxn id="1200" idx="1"/>
          </p:cNvCxnSpPr>
          <p:nvPr/>
        </p:nvCxnSpPr>
        <p:spPr>
          <a:xfrm flipV="1">
            <a:off x="11015421" y="3193245"/>
            <a:ext cx="291598" cy="90135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5B4EB419-52BF-29F3-5695-9FA05E6D1E58}"/>
              </a:ext>
            </a:extLst>
          </p:cNvPr>
          <p:cNvSpPr txBox="1"/>
          <p:nvPr/>
        </p:nvSpPr>
        <p:spPr>
          <a:xfrm>
            <a:off x="11338190" y="3479712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70C95B77-129C-32C9-864C-E3D1AC87387A}"/>
              </a:ext>
            </a:extLst>
          </p:cNvPr>
          <p:cNvSpPr/>
          <p:nvPr/>
        </p:nvSpPr>
        <p:spPr>
          <a:xfrm>
            <a:off x="5220715" y="1643142"/>
            <a:ext cx="2759549" cy="591911"/>
          </a:xfrm>
          <a:prstGeom prst="wedgeRoundRectCallout">
            <a:avLst>
              <a:gd name="adj1" fmla="val 36203"/>
              <a:gd name="adj2" fmla="val 24051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+mj-lt"/>
              </a:rPr>
              <a:t>アラート監視共有チャネルで対応依頼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6544743F-3E2E-F637-CAA9-0C89DE9AFCC6}"/>
              </a:ext>
            </a:extLst>
          </p:cNvPr>
          <p:cNvSpPr/>
          <p:nvPr/>
        </p:nvSpPr>
        <p:spPr>
          <a:xfrm>
            <a:off x="11082675" y="4183308"/>
            <a:ext cx="1084362" cy="1507221"/>
          </a:xfrm>
          <a:prstGeom prst="wedgeRoundRectCallout">
            <a:avLst>
              <a:gd name="adj1" fmla="val 9628"/>
              <a:gd name="adj2" fmla="val -7387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担当者が対応と報告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0348D8-121B-5DDF-BF9B-2FBFBFD0A7DC}"/>
              </a:ext>
            </a:extLst>
          </p:cNvPr>
          <p:cNvSpPr txBox="1"/>
          <p:nvPr/>
        </p:nvSpPr>
        <p:spPr>
          <a:xfrm>
            <a:off x="8145501" y="3103512"/>
            <a:ext cx="1006663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、差分連携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2AE2C90D-A89C-FD8B-F22B-0D5F0971FB68}"/>
              </a:ext>
            </a:extLst>
          </p:cNvPr>
          <p:cNvSpPr/>
          <p:nvPr/>
        </p:nvSpPr>
        <p:spPr>
          <a:xfrm>
            <a:off x="8103186" y="2217227"/>
            <a:ext cx="2724901" cy="70710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(xiao_haobo_za@toyotec-jp.com)</a:t>
            </a:r>
          </a:p>
          <a:p>
            <a:r>
              <a:rPr lang="zh-CN" altLang="en-US" sz="1400">
                <a:solidFill>
                  <a:schemeClr val="tx1"/>
                </a:solidFill>
              </a:rPr>
              <a:t>倪</a:t>
            </a:r>
            <a:r>
              <a:rPr lang="en-US" altLang="ja-JP" sz="800">
                <a:solidFill>
                  <a:schemeClr val="tx1"/>
                </a:solidFill>
              </a:rPr>
              <a:t>(haoli_ni_za@toyotec-jp.com)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西村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(souma_nishimura_za@toyotec-jp.com)</a:t>
            </a:r>
            <a:endParaRPr lang="en-US" altLang="ja-JP" sz="800">
              <a:solidFill>
                <a:schemeClr val="tx1"/>
              </a:solidFill>
            </a:endParaRPr>
          </a:p>
        </p:txBody>
      </p:sp>
      <p:pic>
        <p:nvPicPr>
          <p:cNvPr id="23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5D35D5D1-E607-9E7B-C9F3-376D54876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027" y="5271061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CD83A80-6418-A840-840A-3962FF79640B}"/>
              </a:ext>
            </a:extLst>
          </p:cNvPr>
          <p:cNvSpPr txBox="1"/>
          <p:nvPr/>
        </p:nvSpPr>
        <p:spPr>
          <a:xfrm>
            <a:off x="4933027" y="5834765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86D520ED-5078-60E0-ECEE-6F8F07FEAFBF}"/>
              </a:ext>
            </a:extLst>
          </p:cNvPr>
          <p:cNvSpPr/>
          <p:nvPr/>
        </p:nvSpPr>
        <p:spPr>
          <a:xfrm>
            <a:off x="2318321" y="6243132"/>
            <a:ext cx="2892296" cy="505059"/>
          </a:xfrm>
          <a:prstGeom prst="wedgeRoundRectCallout">
            <a:avLst>
              <a:gd name="adj1" fmla="val 37918"/>
              <a:gd name="adj2" fmla="val -8928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担当者が状況報告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サブタイトル 2">
            <a:extLst>
              <a:ext uri="{FF2B5EF4-FFF2-40B4-BE49-F238E27FC236}">
                <a16:creationId xmlns:a16="http://schemas.microsoft.com/office/drawing/2014/main" id="{65B9E60C-3BD6-6EDD-2F85-8182DB7959F3}"/>
              </a:ext>
            </a:extLst>
          </p:cNvPr>
          <p:cNvSpPr txBox="1">
            <a:spLocks/>
          </p:cNvSpPr>
          <p:nvPr/>
        </p:nvSpPr>
        <p:spPr>
          <a:xfrm>
            <a:off x="8486340" y="754279"/>
            <a:ext cx="3377171" cy="3789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*長期連休：土曜を含む連続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4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日以上の休日が重なる場合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46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5090E7-6FC8-A6CD-AC71-E04FEC8D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C00E-9C5A-8E4F-FFD1-3538906F083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ja-JP" altLang="en-US"/>
              <a:t>関係者体制（</a:t>
            </a:r>
            <a:r>
              <a:rPr kumimoji="1" lang="en-US" altLang="ja-JP"/>
              <a:t>TMC</a:t>
            </a:r>
            <a:r>
              <a:rPr kumimoji="1" lang="ja-JP" altLang="en-US"/>
              <a:t>レプリカ）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9F1943-C9E7-D168-7BF3-46791A03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3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41D2D05D-12DD-6C8C-D305-390B4294A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479477"/>
              </p:ext>
            </p:extLst>
          </p:nvPr>
        </p:nvGraphicFramePr>
        <p:xfrm>
          <a:off x="228137" y="1088172"/>
          <a:ext cx="4402052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91">
                  <a:extLst>
                    <a:ext uri="{9D8B030D-6E8A-4147-A177-3AD203B41FA5}">
                      <a16:colId xmlns:a16="http://schemas.microsoft.com/office/drawing/2014/main" val="2181852103"/>
                    </a:ext>
                  </a:extLst>
                </a:gridCol>
                <a:gridCol w="1616591">
                  <a:extLst>
                    <a:ext uri="{9D8B030D-6E8A-4147-A177-3AD203B41FA5}">
                      <a16:colId xmlns:a16="http://schemas.microsoft.com/office/drawing/2014/main" val="1737755503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4172249749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1727051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要員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連絡先</a:t>
                      </a:r>
                      <a:r>
                        <a:rPr kumimoji="1" lang="en-US" altLang="ja-JP" sz="1400"/>
                        <a:t>(</a:t>
                      </a:r>
                      <a:r>
                        <a:rPr kumimoji="1" lang="ja-JP" altLang="en-US" sz="1400"/>
                        <a:t>窓口のみ</a:t>
                      </a:r>
                      <a:r>
                        <a:rPr kumimoji="1" lang="en-US" altLang="ja-JP" sz="1400"/>
                        <a:t>)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担当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400"/>
                        <a:t>突元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/>
                        <a:t>090-6850-0450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/>
                        <a:t>〇</a:t>
                      </a:r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6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72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57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14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44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863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915822"/>
                  </a:ext>
                </a:extLst>
              </a:tr>
            </a:tbl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7A5BC0F-992B-A74B-D9AA-46D06200409B}"/>
              </a:ext>
            </a:extLst>
          </p:cNvPr>
          <p:cNvSpPr txBox="1"/>
          <p:nvPr/>
        </p:nvSpPr>
        <p:spPr>
          <a:xfrm>
            <a:off x="228137" y="718840"/>
            <a:ext cx="144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ai21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レプリカ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B7B74BD-8D7E-5AAD-65E1-FD93DBD39932}"/>
              </a:ext>
            </a:extLst>
          </p:cNvPr>
          <p:cNvSpPr txBox="1"/>
          <p:nvPr/>
        </p:nvSpPr>
        <p:spPr>
          <a:xfrm>
            <a:off x="228137" y="3709833"/>
            <a:ext cx="144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NEO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レプリカ</a:t>
            </a:r>
          </a:p>
        </p:txBody>
      </p:sp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66911F74-7FF8-3C85-F412-E30E90EB6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767338"/>
              </p:ext>
            </p:extLst>
          </p:nvPr>
        </p:nvGraphicFramePr>
        <p:xfrm>
          <a:off x="6343046" y="1293245"/>
          <a:ext cx="553924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対応体制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対応者役割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左記参照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/>
                        <a:t>左記参照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連絡経路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窓口経由で担当者に連絡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窓口経由で担当者に連絡</a:t>
                      </a:r>
                    </a:p>
                    <a:p>
                      <a:pPr lvl="0">
                        <a:buNone/>
                      </a:pP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代替要員有無と連絡方法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 </a:t>
                      </a:r>
                      <a:r>
                        <a:rPr kumimoji="1" lang="ja-JP" altLang="en-US" sz="1100"/>
                        <a:t>●●経由で内部連携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Slack、Teams経由で内部連絡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0937"/>
                  </a:ext>
                </a:extLst>
              </a:tr>
            </a:tbl>
          </a:graphicData>
        </a:graphic>
      </p:graphicFrame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55DEEBA8-FFB2-9E71-A690-170BD092D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641289"/>
              </p:ext>
            </p:extLst>
          </p:nvPr>
        </p:nvGraphicFramePr>
        <p:xfrm>
          <a:off x="6343046" y="2752513"/>
          <a:ext cx="553924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対応時間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100"/>
                        <a:t>対応可能な時間帯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>
                          <a:latin typeface="+mj-ea"/>
                          <a:ea typeface="+mj-ea"/>
                        </a:rPr>
                        <a:t>例</a:t>
                      </a:r>
                      <a:r>
                        <a:rPr lang="en-US" altLang="ja-JP" sz="1100">
                          <a:latin typeface="+mj-ea"/>
                          <a:ea typeface="+mj-ea"/>
                        </a:rPr>
                        <a:t>)9:00〜18:00</a:t>
                      </a:r>
                      <a:r>
                        <a:rPr lang="ja-JP" altLang="en-US" sz="1100">
                          <a:latin typeface="+mj-ea"/>
                          <a:ea typeface="+mj-ea"/>
                        </a:rPr>
                        <a:t>、緊急時は</a:t>
                      </a:r>
                      <a:r>
                        <a:rPr lang="en-US" altLang="ja-JP" sz="1100">
                          <a:latin typeface="+mj-ea"/>
                          <a:ea typeface="+mj-ea"/>
                        </a:rPr>
                        <a:t>24</a:t>
                      </a:r>
                      <a:r>
                        <a:rPr lang="ja-JP" altLang="en-US" sz="1100">
                          <a:latin typeface="+mj-ea"/>
                          <a:ea typeface="+mj-ea"/>
                        </a:rPr>
                        <a:t>時間</a:t>
                      </a:r>
                      <a:endParaRPr kumimoji="1" lang="ja-JP" altLang="en-US" sz="110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ja-JP" altLang="en-US" sz="1100"/>
                        <a:t>休日夜間はBest Effortのため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100"/>
                        <a:t>時間外対応の条件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lang="ja-JP" altLang="en-US" sz="1100"/>
                        <a:t>重大障害のみ、顧客要請時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重大障害のみ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BC162751-6555-8C7A-00B9-EF969298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874087"/>
              </p:ext>
            </p:extLst>
          </p:nvPr>
        </p:nvGraphicFramePr>
        <p:xfrm>
          <a:off x="6343046" y="3982296"/>
          <a:ext cx="5539249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1100">
                          <a:solidFill>
                            <a:schemeClr val="tx1"/>
                          </a:solidFill>
                        </a:rPr>
                        <a:t>連絡手段</a:t>
                      </a:r>
                      <a:endParaRPr kumimoji="1" lang="en-US" altLang="ja-JP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使用するツール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電話、メール、</a:t>
                      </a:r>
                      <a:r>
                        <a:rPr kumimoji="1" lang="en-US" altLang="ja-JP" sz="1100"/>
                        <a:t>Teams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ja-JP" altLang="en-US" sz="1100"/>
                        <a:t>電話、Teams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連絡の優先順位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まずチャット、次に電話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1100"/>
                        <a:t>電話とTeams両方に連絡下さい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BCA62658-1962-9EDB-B2BC-4613AB9AA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046560"/>
              </p:ext>
            </p:extLst>
          </p:nvPr>
        </p:nvGraphicFramePr>
        <p:xfrm>
          <a:off x="228137" y="4151031"/>
          <a:ext cx="4402052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91">
                  <a:extLst>
                    <a:ext uri="{9D8B030D-6E8A-4147-A177-3AD203B41FA5}">
                      <a16:colId xmlns:a16="http://schemas.microsoft.com/office/drawing/2014/main" val="2181852103"/>
                    </a:ext>
                  </a:extLst>
                </a:gridCol>
                <a:gridCol w="1616591">
                  <a:extLst>
                    <a:ext uri="{9D8B030D-6E8A-4147-A177-3AD203B41FA5}">
                      <a16:colId xmlns:a16="http://schemas.microsoft.com/office/drawing/2014/main" val="1737755503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4172249749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1727051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要員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連絡先</a:t>
                      </a:r>
                      <a:r>
                        <a:rPr kumimoji="1" lang="en-US" altLang="ja-JP" sz="1400"/>
                        <a:t>(</a:t>
                      </a:r>
                      <a:r>
                        <a:rPr kumimoji="1" lang="ja-JP" altLang="en-US" sz="1400"/>
                        <a:t>窓口のみ</a:t>
                      </a:r>
                      <a:r>
                        <a:rPr kumimoji="1" lang="en-US" altLang="ja-JP" sz="1400"/>
                        <a:t>)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担当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400"/>
                        <a:t>中森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latin typeface="Arial"/>
                        </a:rPr>
                        <a:t>080-6189-3373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〇</a:t>
                      </a:r>
                      <a:endParaRPr kumimoji="1" lang="en-US" altLang="ja-JP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6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突元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090-6850-0450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〇</a:t>
                      </a:r>
                      <a:endParaRPr kumimoji="1" lang="en-US" altLang="ja-JP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72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57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14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44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49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007728"/>
                  </a:ext>
                </a:extLst>
              </a:tr>
            </a:tbl>
          </a:graphicData>
        </a:graphic>
      </p:graphicFrame>
      <p:graphicFrame>
        <p:nvGraphicFramePr>
          <p:cNvPr id="28" name="表 27">
            <a:extLst>
              <a:ext uri="{FF2B5EF4-FFF2-40B4-BE49-F238E27FC236}">
                <a16:creationId xmlns:a16="http://schemas.microsoft.com/office/drawing/2014/main" id="{88DC50F4-2BB4-967C-FDFB-4A65C364D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063887"/>
              </p:ext>
            </p:extLst>
          </p:nvPr>
        </p:nvGraphicFramePr>
        <p:xfrm>
          <a:off x="6343045" y="5120215"/>
          <a:ext cx="5539249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対応基準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対応すべき事象の定義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システム停止、データ損失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/>
                        <a:t>システム停止、データ損失、データ遅延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その他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なにかあれば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51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28A68-612F-10EE-A59F-E00D2014B83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en-US" altLang="ja-JP"/>
              <a:t>2026</a:t>
            </a:r>
            <a:r>
              <a:rPr kumimoji="1" lang="ja-JP" altLang="en-US"/>
              <a:t>年</a:t>
            </a:r>
            <a:r>
              <a:rPr lang="ja-JP" altLang="en-US"/>
              <a:t>夏季</a:t>
            </a:r>
            <a:r>
              <a:rPr kumimoji="1" lang="ja-JP" altLang="en-US"/>
              <a:t>休暇体制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8BCDE3-A4F9-4AC1-552A-18611598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4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0DF1DED-D4C6-4179-2DFE-12310B0BD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235766"/>
              </p:ext>
            </p:extLst>
          </p:nvPr>
        </p:nvGraphicFramePr>
        <p:xfrm>
          <a:off x="660108" y="971348"/>
          <a:ext cx="11018083" cy="3287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312">
                  <a:extLst>
                    <a:ext uri="{9D8B030D-6E8A-4147-A177-3AD203B41FA5}">
                      <a16:colId xmlns:a16="http://schemas.microsoft.com/office/drawing/2014/main" val="1301179436"/>
                    </a:ext>
                  </a:extLst>
                </a:gridCol>
                <a:gridCol w="708933">
                  <a:extLst>
                    <a:ext uri="{9D8B030D-6E8A-4147-A177-3AD203B41FA5}">
                      <a16:colId xmlns:a16="http://schemas.microsoft.com/office/drawing/2014/main" val="1684122932"/>
                    </a:ext>
                  </a:extLst>
                </a:gridCol>
                <a:gridCol w="1010174">
                  <a:extLst>
                    <a:ext uri="{9D8B030D-6E8A-4147-A177-3AD203B41FA5}">
                      <a16:colId xmlns:a16="http://schemas.microsoft.com/office/drawing/2014/main" val="105864171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3635948449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2118028620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2458838299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4265056242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652584557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1429374823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3082463893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2269595572"/>
                    </a:ext>
                  </a:extLst>
                </a:gridCol>
              </a:tblGrid>
              <a:tr h="4182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夏季休暇体制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8/8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8/9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8/10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8/11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8/12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8/13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8/14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8/15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8/16</a:t>
                      </a:r>
                      <a:endParaRPr lang="ja-JP" altLang="en-US" sz="14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684008"/>
                  </a:ext>
                </a:extLst>
              </a:tr>
              <a:tr h="203600">
                <a:tc gridSpan="2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48644"/>
                  </a:ext>
                </a:extLst>
              </a:tr>
              <a:tr h="333164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CDP</a:t>
                      </a:r>
                    </a:p>
                    <a:p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604035"/>
                  </a:ext>
                </a:extLst>
              </a:tr>
              <a:tr h="33316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>
                          <a:latin typeface="+mj-lt"/>
                        </a:rPr>
                        <a:t>肖／</a:t>
                      </a:r>
                      <a:r>
                        <a:rPr kumimoji="1" lang="zh-CN" altLang="en-US" sz="1050">
                          <a:latin typeface="+mj-lt"/>
                        </a:rPr>
                        <a:t>倪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229782"/>
                  </a:ext>
                </a:extLst>
              </a:tr>
              <a:tr h="333164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OCI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684946"/>
                  </a:ext>
                </a:extLst>
              </a:tr>
              <a:tr h="33316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王／劉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劉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劉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劉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劉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62108"/>
                  </a:ext>
                </a:extLst>
              </a:tr>
              <a:tr h="333164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WebApp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69359"/>
                  </a:ext>
                </a:extLst>
              </a:tr>
              <a:tr h="33316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鄭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鄭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佐藤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佐藤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748871"/>
                  </a:ext>
                </a:extLst>
              </a:tr>
              <a:tr h="333164">
                <a:tc rowSpan="2">
                  <a:txBody>
                    <a:bodyPr/>
                    <a:lstStyle/>
                    <a:p>
                      <a:r>
                        <a:rPr kumimoji="1" lang="en-US" altLang="ja-JP" sz="1200" err="1">
                          <a:latin typeface="+mj-lt"/>
                        </a:rPr>
                        <a:t>AzureNW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079880"/>
                  </a:ext>
                </a:extLst>
              </a:tr>
              <a:tr h="33316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2451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A470D41-51A1-0487-914B-5FC09B6F92A5}"/>
              </a:ext>
            </a:extLst>
          </p:cNvPr>
          <p:cNvSpPr txBox="1"/>
          <p:nvPr/>
        </p:nvSpPr>
        <p:spPr>
          <a:xfrm>
            <a:off x="660108" y="4535061"/>
            <a:ext cx="7739149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夏季休暇期間は、各環境の</a:t>
            </a:r>
            <a:r>
              <a:rPr lang="ja-JP" altLang="en-US">
                <a:latin typeface="+mn-ea"/>
              </a:rPr>
              <a:t>アラート窓口が定期チェックを実施</a:t>
            </a:r>
            <a:endParaRPr kumimoji="1" lang="ja-JP" altLang="en-US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確認者：</a:t>
            </a:r>
            <a:r>
              <a:rPr kumimoji="1" lang="en-US" altLang="ja-JP">
                <a:latin typeface="+mn-ea"/>
              </a:rPr>
              <a:t>Teams</a:t>
            </a:r>
            <a:r>
              <a:rPr lang="ja-JP" altLang="en-US">
                <a:latin typeface="+mn-ea"/>
              </a:rPr>
              <a:t>チャネルに参加している</a:t>
            </a:r>
            <a:r>
              <a:rPr kumimoji="1" lang="ja-JP" altLang="en-US">
                <a:latin typeface="+mn-ea"/>
              </a:rPr>
              <a:t>窓口担当</a:t>
            </a:r>
            <a:endParaRPr kumimoji="1" lang="en-US" altLang="ja-JP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アラートチェック：</a:t>
            </a:r>
            <a:r>
              <a:rPr lang="ja-JP" altLang="en-US">
                <a:latin typeface="+mn-ea"/>
              </a:rPr>
              <a:t>9時～、</a:t>
            </a:r>
            <a:endParaRPr lang="en-US" altLang="ja-JP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報告手段：</a:t>
            </a:r>
            <a:r>
              <a:rPr kumimoji="1" lang="en-US" altLang="ja-JP">
                <a:latin typeface="+mn-ea"/>
              </a:rPr>
              <a:t>Teams</a:t>
            </a:r>
            <a:r>
              <a:rPr kumimoji="1" lang="ja-JP" altLang="en-US">
                <a:latin typeface="+mn-ea"/>
              </a:rPr>
              <a:t>チャネル投稿</a:t>
            </a:r>
            <a:r>
              <a:rPr kumimoji="1" lang="ja-JP" altLang="en-US" sz="1200">
                <a:latin typeface="+mn-ea"/>
              </a:rPr>
              <a:t>　</a:t>
            </a:r>
            <a:r>
              <a:rPr kumimoji="1" lang="en-US" altLang="ja-JP" sz="1200">
                <a:latin typeface="+mn-ea"/>
              </a:rPr>
              <a:t>10_</a:t>
            </a:r>
            <a:r>
              <a:rPr kumimoji="1" lang="ja-JP" altLang="en-US" sz="1200">
                <a:latin typeface="+mn-ea"/>
              </a:rPr>
              <a:t>アラート監視共有 </a:t>
            </a:r>
            <a:r>
              <a:rPr kumimoji="1" lang="en-US" altLang="ja-JP" sz="1200">
                <a:latin typeface="+mn-ea"/>
              </a:rPr>
              <a:t>- TEC_U-SLIM</a:t>
            </a:r>
            <a:r>
              <a:rPr kumimoji="1" lang="ja-JP" altLang="en-US" sz="1200">
                <a:latin typeface="+mn-ea"/>
              </a:rPr>
              <a:t>（基盤検証）</a:t>
            </a:r>
            <a:br>
              <a:rPr kumimoji="1" lang="en-US" altLang="ja-JP" sz="1200">
                <a:latin typeface="+mn-ea"/>
              </a:rPr>
            </a:b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　　　　　　　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緊急時は携帯電話など連絡する。</a:t>
            </a:r>
            <a:endParaRPr kumimoji="1" lang="en-US" altLang="ja-JP" sz="1200">
              <a:solidFill>
                <a:srgbClr val="FF0000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n-ea"/>
              </a:rPr>
              <a:t>アラート対応時は窓口担当経由で対応者に指示</a:t>
            </a:r>
            <a:endParaRPr lang="en-US" altLang="ja-JP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n-ea"/>
              </a:rPr>
              <a:t>体制維持：</a:t>
            </a:r>
            <a:r>
              <a:rPr lang="en-US" altLang="ja-JP">
                <a:latin typeface="+mn-ea"/>
              </a:rPr>
              <a:t>9:00-18:00</a:t>
            </a:r>
            <a:r>
              <a:rPr lang="ja-JP" altLang="en-US" sz="1200">
                <a:latin typeface="+mn-ea"/>
              </a:rPr>
              <a:t> </a:t>
            </a:r>
            <a:r>
              <a:rPr lang="en-US" altLang="ja-JP" sz="1200">
                <a:latin typeface="+mn-ea"/>
              </a:rPr>
              <a:t>※18:00</a:t>
            </a:r>
            <a:r>
              <a:rPr lang="ja-JP" altLang="en-US" sz="1200">
                <a:latin typeface="+mn-ea"/>
              </a:rPr>
              <a:t>以降も対応が必要な場合は除く</a:t>
            </a:r>
          </a:p>
        </p:txBody>
      </p:sp>
    </p:spTree>
    <p:extLst>
      <p:ext uri="{BB962C8B-B14F-4D97-AF65-F5344CB8AC3E}">
        <p14:creationId xmlns:p14="http://schemas.microsoft.com/office/powerpoint/2010/main" val="3504139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5CADE-122D-3152-82AE-A50AA7A7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79A6BF6D-6F90-1397-1B9B-C5918838ED8F}"/>
              </a:ext>
            </a:extLst>
          </p:cNvPr>
          <p:cNvGrpSpPr/>
          <p:nvPr/>
        </p:nvGrpSpPr>
        <p:grpSpPr>
          <a:xfrm>
            <a:off x="2438249" y="2349713"/>
            <a:ext cx="3316321" cy="4150626"/>
            <a:chOff x="4566979" y="2427606"/>
            <a:chExt cx="2978001" cy="4150626"/>
          </a:xfrm>
        </p:grpSpPr>
        <p:sp>
          <p:nvSpPr>
            <p:cNvPr id="1108" name="正方形/長方形 1107">
              <a:extLst>
                <a:ext uri="{FF2B5EF4-FFF2-40B4-BE49-F238E27FC236}">
                  <a16:creationId xmlns:a16="http://schemas.microsoft.com/office/drawing/2014/main" id="{F304FA9A-6178-60B9-6029-5734976BC4D6}"/>
                </a:ext>
              </a:extLst>
            </p:cNvPr>
            <p:cNvSpPr/>
            <p:nvPr/>
          </p:nvSpPr>
          <p:spPr>
            <a:xfrm>
              <a:off x="4566979" y="2427606"/>
              <a:ext cx="2978001" cy="41506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sz="1600" b="1" u="sng">
                  <a:solidFill>
                    <a:schemeClr val="accent1">
                      <a:lumMod val="75000"/>
                    </a:schemeClr>
                  </a:solidFill>
                </a:rPr>
                <a:t>アラート監視窓口</a:t>
              </a:r>
            </a:p>
          </p:txBody>
        </p:sp>
        <p:sp>
          <p:nvSpPr>
            <p:cNvPr id="1187" name="テキスト ボックス 1186">
              <a:extLst>
                <a:ext uri="{FF2B5EF4-FFF2-40B4-BE49-F238E27FC236}">
                  <a16:creationId xmlns:a16="http://schemas.microsoft.com/office/drawing/2014/main" id="{BC5C4A9D-4C2E-6455-6B74-17B03BB1EEB6}"/>
                </a:ext>
              </a:extLst>
            </p:cNvPr>
            <p:cNvSpPr txBox="1"/>
            <p:nvPr/>
          </p:nvSpPr>
          <p:spPr>
            <a:xfrm>
              <a:off x="4625208" y="4398286"/>
              <a:ext cx="554276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WebApp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94" name="テキスト ボックス 1193">
              <a:extLst>
                <a:ext uri="{FF2B5EF4-FFF2-40B4-BE49-F238E27FC236}">
                  <a16:creationId xmlns:a16="http://schemas.microsoft.com/office/drawing/2014/main" id="{A40C1F42-7BF1-2EA8-6615-11DCE6636888}"/>
                </a:ext>
              </a:extLst>
            </p:cNvPr>
            <p:cNvSpPr txBox="1"/>
            <p:nvPr/>
          </p:nvSpPr>
          <p:spPr>
            <a:xfrm>
              <a:off x="4631555" y="3441042"/>
              <a:ext cx="514489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CDP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95" name="テキスト ボックス 1194">
              <a:extLst>
                <a:ext uri="{FF2B5EF4-FFF2-40B4-BE49-F238E27FC236}">
                  <a16:creationId xmlns:a16="http://schemas.microsoft.com/office/drawing/2014/main" id="{C73A55EB-2D45-C6DB-7B4C-0F342B292C51}"/>
                </a:ext>
              </a:extLst>
            </p:cNvPr>
            <p:cNvSpPr txBox="1"/>
            <p:nvPr/>
          </p:nvSpPr>
          <p:spPr>
            <a:xfrm>
              <a:off x="4629313" y="4563879"/>
              <a:ext cx="665247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Azure NW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9F472C2B-CEFC-C2A9-838C-6A05B872BB23}"/>
                </a:ext>
              </a:extLst>
            </p:cNvPr>
            <p:cNvSpPr txBox="1"/>
            <p:nvPr/>
          </p:nvSpPr>
          <p:spPr>
            <a:xfrm>
              <a:off x="4622386" y="3932912"/>
              <a:ext cx="514489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OCI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19CA1E6-8672-A6C3-D166-D0E06AF344A6}"/>
                </a:ext>
              </a:extLst>
            </p:cNvPr>
            <p:cNvSpPr/>
            <p:nvPr/>
          </p:nvSpPr>
          <p:spPr>
            <a:xfrm>
              <a:off x="4650918" y="2747758"/>
              <a:ext cx="2724901" cy="584432"/>
            </a:xfrm>
            <a:prstGeom prst="roundRect">
              <a:avLst>
                <a:gd name="adj" fmla="val 5858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劉　虹帆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(hongfan_liu_za@toyotec-jp.com)</a:t>
              </a:r>
            </a:p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胡　欣欣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(xinxin_hu_za@toyotec-jp.com)</a:t>
              </a:r>
              <a:endParaRPr kumimoji="1" lang="en-US" altLang="ja-JP" sz="80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F396C39-30E1-FFDB-F808-CD6B46E589E3}"/>
                </a:ext>
              </a:extLst>
            </p:cNvPr>
            <p:cNvSpPr txBox="1"/>
            <p:nvPr/>
          </p:nvSpPr>
          <p:spPr>
            <a:xfrm>
              <a:off x="4615022" y="4905019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Azure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 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メンテナンス</a:t>
              </a: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D536C61-5759-061C-AA8A-3750259CC6D6}"/>
                </a:ext>
              </a:extLst>
            </p:cNvPr>
            <p:cNvSpPr txBox="1"/>
            <p:nvPr/>
          </p:nvSpPr>
          <p:spPr>
            <a:xfrm>
              <a:off x="4615023" y="5459755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NEO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連携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30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分遅延</a:t>
              </a: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F70411D4-C908-6BB9-4DCB-BB3E9334650D}"/>
                </a:ext>
              </a:extLst>
            </p:cNvPr>
            <p:cNvSpPr txBox="1"/>
            <p:nvPr/>
          </p:nvSpPr>
          <p:spPr>
            <a:xfrm>
              <a:off x="4615022" y="5956942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ai21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連携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30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分遅延</a:t>
              </a:r>
            </a:p>
          </p:txBody>
        </p:sp>
      </p:grpSp>
      <p:sp>
        <p:nvSpPr>
          <p:cNvPr id="1094" name="正方形/長方形 1093">
            <a:extLst>
              <a:ext uri="{FF2B5EF4-FFF2-40B4-BE49-F238E27FC236}">
                <a16:creationId xmlns:a16="http://schemas.microsoft.com/office/drawing/2014/main" id="{DA227E96-860B-6C3C-227B-77DEF66B59DB}"/>
              </a:ext>
            </a:extLst>
          </p:cNvPr>
          <p:cNvSpPr/>
          <p:nvPr/>
        </p:nvSpPr>
        <p:spPr>
          <a:xfrm>
            <a:off x="7459132" y="2957701"/>
            <a:ext cx="1070412" cy="1053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100" b="1" u="sng">
                <a:solidFill>
                  <a:schemeClr val="accent1">
                    <a:lumMod val="75000"/>
                  </a:schemeClr>
                </a:solidFill>
              </a:rPr>
              <a:t>システム管理者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656B80C-D3C7-3900-27CF-A70F670E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障害監視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71029C6-5E72-16D2-51E3-879F1D803A3A}"/>
              </a:ext>
            </a:extLst>
          </p:cNvPr>
          <p:cNvSpPr/>
          <p:nvPr/>
        </p:nvSpPr>
        <p:spPr bwMode="gray">
          <a:xfrm>
            <a:off x="188859" y="1181899"/>
            <a:ext cx="2249389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アラート監視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1A4C39-1838-7A8C-C603-4E430D12DA1C}"/>
              </a:ext>
            </a:extLst>
          </p:cNvPr>
          <p:cNvSpPr/>
          <p:nvPr/>
        </p:nvSpPr>
        <p:spPr bwMode="gray">
          <a:xfrm>
            <a:off x="8124550" y="1186937"/>
            <a:ext cx="3940929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B41FF2-25A0-9B1A-6C43-65816A08924F}"/>
              </a:ext>
            </a:extLst>
          </p:cNvPr>
          <p:cNvSpPr/>
          <p:nvPr/>
        </p:nvSpPr>
        <p:spPr bwMode="gray">
          <a:xfrm>
            <a:off x="75890" y="3050937"/>
            <a:ext cx="1509842" cy="79059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アラート確認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</a:t>
            </a: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  <a:hlinkClick r:id="rId2"/>
              </a:rPr>
              <a:t>toyotecdap-alert@toyotec-jp.com</a:t>
            </a:r>
            <a:endParaRPr lang="en-US" altLang="ja-JP" sz="9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35DF3797-B4C0-99A6-505F-2E61D362F707}"/>
              </a:ext>
            </a:extLst>
          </p:cNvPr>
          <p:cNvSpPr/>
          <p:nvPr/>
        </p:nvSpPr>
        <p:spPr>
          <a:xfrm>
            <a:off x="2553713" y="1581242"/>
            <a:ext cx="5453472" cy="5134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（体制維持：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</a:t>
            </a:r>
            <a:r>
              <a:rPr lang="en-US" altLang="ja-JP" sz="1400">
                <a:solidFill>
                  <a:srgbClr val="FF0000"/>
                </a:solidFill>
                <a:latin typeface="+mj-lt"/>
              </a:rPr>
              <a:t>20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r>
              <a:rPr kumimoji="1" lang="en-US" altLang="ja-JP" sz="1050">
                <a:solidFill>
                  <a:schemeClr val="tx1"/>
                </a:solidFill>
                <a:latin typeface="+mj-lt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土日祝随時アラートチェック</a:t>
            </a:r>
            <a:r>
              <a:rPr kumimoji="1" lang="ja-JP" altLang="en-US" sz="1050">
                <a:solidFill>
                  <a:srgbClr val="FF0000"/>
                </a:solidFill>
                <a:latin typeface="+mj-lt"/>
              </a:rPr>
              <a:t>（長期連休は要検討</a:t>
            </a:r>
            <a:r>
              <a:rPr lang="ja-JP" altLang="en-US" sz="1050">
                <a:solidFill>
                  <a:srgbClr val="FF0000"/>
                </a:solidFill>
                <a:latin typeface="+mj-lt"/>
              </a:rPr>
              <a:t>）</a:t>
            </a:r>
            <a:endParaRPr kumimoji="1" lang="en-US" altLang="ja-JP" sz="105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D98530B4-7797-D92D-7A69-F6AFC3014BEA}"/>
              </a:ext>
            </a:extLst>
          </p:cNvPr>
          <p:cNvSpPr/>
          <p:nvPr/>
        </p:nvSpPr>
        <p:spPr bwMode="gray">
          <a:xfrm>
            <a:off x="2543606" y="1184443"/>
            <a:ext cx="5463579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86F3EC7F-E7D3-D587-7E3E-6F28365B0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129" y="4178398"/>
            <a:ext cx="816379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5FE3FF0B-5A3E-276D-E986-87525BA418C0}"/>
              </a:ext>
            </a:extLst>
          </p:cNvPr>
          <p:cNvCxnSpPr>
            <a:cxnSpLocks/>
            <a:stCxn id="1030" idx="2"/>
            <a:endCxn id="1031" idx="0"/>
          </p:cNvCxnSpPr>
          <p:nvPr/>
        </p:nvCxnSpPr>
        <p:spPr>
          <a:xfrm rot="5400000">
            <a:off x="6549757" y="4848128"/>
            <a:ext cx="383329" cy="100529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DC6A7D0B-406E-C01F-635F-4E96A47E3C05}"/>
              </a:ext>
            </a:extLst>
          </p:cNvPr>
          <p:cNvSpPr txBox="1"/>
          <p:nvPr/>
        </p:nvSpPr>
        <p:spPr>
          <a:xfrm>
            <a:off x="7601990" y="4691928"/>
            <a:ext cx="797676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08B9F66D-9AC1-0E7A-983C-A230C408EC17}"/>
              </a:ext>
            </a:extLst>
          </p:cNvPr>
          <p:cNvSpPr/>
          <p:nvPr/>
        </p:nvSpPr>
        <p:spPr>
          <a:xfrm>
            <a:off x="6363081" y="5870932"/>
            <a:ext cx="1761469" cy="391466"/>
          </a:xfrm>
          <a:prstGeom prst="wedgeRoundRectCallout">
            <a:avLst>
              <a:gd name="adj1" fmla="val 30391"/>
              <a:gd name="adj2" fmla="val -1097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窓口が状況報告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3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165D27B-755E-CB3A-7297-CA3BEC15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916" y="3259769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F7C1BA8-1B7F-76D5-B015-0451D997F13D}"/>
              </a:ext>
            </a:extLst>
          </p:cNvPr>
          <p:cNvSpPr txBox="1"/>
          <p:nvPr/>
        </p:nvSpPr>
        <p:spPr>
          <a:xfrm>
            <a:off x="1613797" y="3129530"/>
            <a:ext cx="797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D76FEA19-6711-F4ED-CEC0-ACAF17576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86" y="3050261"/>
            <a:ext cx="311699" cy="247343"/>
          </a:xfrm>
          <a:prstGeom prst="rect">
            <a:avLst/>
          </a:prstGeom>
        </p:spPr>
      </p:pic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E68AD45-D30D-E539-B5C2-95C01FF1AF23}"/>
              </a:ext>
            </a:extLst>
          </p:cNvPr>
          <p:cNvSpPr/>
          <p:nvPr/>
        </p:nvSpPr>
        <p:spPr bwMode="gray">
          <a:xfrm>
            <a:off x="3216716" y="3363149"/>
            <a:ext cx="2315976" cy="22178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700"/>
              <a:t>11_OCIアラート共有 - TEC_U-SLIM（基盤検証） </a:t>
            </a:r>
            <a:r>
              <a:rPr lang="ja-JP" altLang="en-US" sz="700">
                <a:hlinkClick r:id="rId5"/>
              </a:rPr>
              <a:t>424d87e6.tatgroup.onmicrosoft.com@jp.teams.ms</a:t>
            </a:r>
            <a:endParaRPr lang="en-US" altLang="ja-JP" sz="700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53C3115-7785-D956-6CD9-271DFCF1F5E3}"/>
              </a:ext>
            </a:extLst>
          </p:cNvPr>
          <p:cNvSpPr/>
          <p:nvPr/>
        </p:nvSpPr>
        <p:spPr bwMode="gray">
          <a:xfrm>
            <a:off x="3210207" y="3825034"/>
            <a:ext cx="2343037" cy="26904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12_CDP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6"/>
              </a:rPr>
              <a:t>c31c0289.tatgroup.onmicrosoft.com@jp.teams.ms</a:t>
            </a:r>
            <a:endParaRPr lang="en-US" altLang="ja-JP" sz="7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0F5A84D-5831-3614-C72E-23DB5510F574}"/>
              </a:ext>
            </a:extLst>
          </p:cNvPr>
          <p:cNvSpPr/>
          <p:nvPr/>
        </p:nvSpPr>
        <p:spPr bwMode="gray">
          <a:xfrm>
            <a:off x="3248891" y="4270775"/>
            <a:ext cx="2324645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13_WebApp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7"/>
              </a:rPr>
              <a:t>f88b021c.tatgroup.onmicrosoft.com@jp.teams.ms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pic>
        <p:nvPicPr>
          <p:cNvPr id="1024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C1E1B161-6642-9606-16F9-664F2FCC4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029" y="3769187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0BED91C9-C185-F5F3-EF19-7D10612DC47F}"/>
              </a:ext>
            </a:extLst>
          </p:cNvPr>
          <p:cNvSpPr txBox="1"/>
          <p:nvPr/>
        </p:nvSpPr>
        <p:spPr>
          <a:xfrm>
            <a:off x="1194923" y="4030684"/>
            <a:ext cx="797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pic>
        <p:nvPicPr>
          <p:cNvPr id="1026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4198EAAA-3586-80E1-03A1-6E6E87D9E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4864505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D119D5DA-21CE-83F3-4E8A-6E79DB2346ED}"/>
              </a:ext>
            </a:extLst>
          </p:cNvPr>
          <p:cNvSpPr txBox="1"/>
          <p:nvPr/>
        </p:nvSpPr>
        <p:spPr>
          <a:xfrm>
            <a:off x="1181627" y="5167465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E42861E6-ECA2-30E4-24FD-911498553184}"/>
              </a:ext>
            </a:extLst>
          </p:cNvPr>
          <p:cNvCxnSpPr>
            <a:cxnSpLocks/>
            <a:stCxn id="10" idx="3"/>
            <a:endCxn id="1194" idx="1"/>
          </p:cNvCxnSpPr>
          <p:nvPr/>
        </p:nvCxnSpPr>
        <p:spPr>
          <a:xfrm flipV="1">
            <a:off x="1585732" y="3445255"/>
            <a:ext cx="924429" cy="979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フローチャート: 判断 1028">
            <a:extLst>
              <a:ext uri="{FF2B5EF4-FFF2-40B4-BE49-F238E27FC236}">
                <a16:creationId xmlns:a16="http://schemas.microsoft.com/office/drawing/2014/main" id="{04E78481-7169-9488-8888-D3178C3B35EA}"/>
              </a:ext>
            </a:extLst>
          </p:cNvPr>
          <p:cNvSpPr/>
          <p:nvPr/>
        </p:nvSpPr>
        <p:spPr>
          <a:xfrm>
            <a:off x="6137051" y="4123089"/>
            <a:ext cx="1218635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テキスト ボックス 1029">
            <a:extLst>
              <a:ext uri="{FF2B5EF4-FFF2-40B4-BE49-F238E27FC236}">
                <a16:creationId xmlns:a16="http://schemas.microsoft.com/office/drawing/2014/main" id="{80D32A57-E927-4B9D-008C-9CA6E080F429}"/>
              </a:ext>
            </a:extLst>
          </p:cNvPr>
          <p:cNvSpPr txBox="1"/>
          <p:nvPr/>
        </p:nvSpPr>
        <p:spPr>
          <a:xfrm>
            <a:off x="6293312" y="4198897"/>
            <a:ext cx="9967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900">
                <a:latin typeface="+mn-ea"/>
              </a:rPr>
              <a:t>ai21</a:t>
            </a:r>
            <a:r>
              <a:rPr lang="ja-JP" altLang="en-US" sz="900">
                <a:latin typeface="+mn-ea"/>
              </a:rPr>
              <a:t>へ影響</a:t>
            </a:r>
            <a:endParaRPr lang="en-US" altLang="ja-JP" sz="900">
              <a:latin typeface="+mn-ea"/>
            </a:endParaRPr>
          </a:p>
          <a:p>
            <a:pPr algn="ctr"/>
            <a:r>
              <a:rPr lang="ja-JP" altLang="en-US" sz="900">
                <a:latin typeface="+mn-ea"/>
              </a:rPr>
              <a:t>を及ぼすアラート有無</a:t>
            </a:r>
          </a:p>
        </p:txBody>
      </p:sp>
      <p:sp>
        <p:nvSpPr>
          <p:cNvPr id="1031" name="フローチャート: 和接合 1030">
            <a:extLst>
              <a:ext uri="{FF2B5EF4-FFF2-40B4-BE49-F238E27FC236}">
                <a16:creationId xmlns:a16="http://schemas.microsoft.com/office/drawing/2014/main" id="{1B599C39-B38A-07FF-7295-BCCAD73334EA}"/>
              </a:ext>
            </a:extLst>
          </p:cNvPr>
          <p:cNvSpPr/>
          <p:nvPr/>
        </p:nvSpPr>
        <p:spPr>
          <a:xfrm>
            <a:off x="6574639" y="5090057"/>
            <a:ext cx="233033" cy="223677"/>
          </a:xfrm>
          <a:prstGeom prst="flowChartSummingJunction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72CB24DA-8A56-5021-BBEA-5D8CCE2E3342}"/>
              </a:ext>
            </a:extLst>
          </p:cNvPr>
          <p:cNvSpPr txBox="1"/>
          <p:nvPr/>
        </p:nvSpPr>
        <p:spPr>
          <a:xfrm>
            <a:off x="6645675" y="4795157"/>
            <a:ext cx="3751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無</a:t>
            </a:r>
          </a:p>
        </p:txBody>
      </p:sp>
      <p:cxnSp>
        <p:nvCxnSpPr>
          <p:cNvPr id="1035" name="コネクタ: カギ線 1034">
            <a:extLst>
              <a:ext uri="{FF2B5EF4-FFF2-40B4-BE49-F238E27FC236}">
                <a16:creationId xmlns:a16="http://schemas.microsoft.com/office/drawing/2014/main" id="{7F182570-23DD-0E91-3F62-B62B17A9A2C7}"/>
              </a:ext>
            </a:extLst>
          </p:cNvPr>
          <p:cNvCxnSpPr>
            <a:cxnSpLocks/>
            <a:stCxn id="54" idx="3"/>
            <a:endCxn id="1029" idx="1"/>
          </p:cNvCxnSpPr>
          <p:nvPr/>
        </p:nvCxnSpPr>
        <p:spPr>
          <a:xfrm>
            <a:off x="5532692" y="3474040"/>
            <a:ext cx="604359" cy="94623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コネクタ: カギ線 1042">
            <a:extLst>
              <a:ext uri="{FF2B5EF4-FFF2-40B4-BE49-F238E27FC236}">
                <a16:creationId xmlns:a16="http://schemas.microsoft.com/office/drawing/2014/main" id="{7B5208B6-0A22-C057-1533-87EA784455D8}"/>
              </a:ext>
            </a:extLst>
          </p:cNvPr>
          <p:cNvCxnSpPr>
            <a:cxnSpLocks/>
            <a:stCxn id="55" idx="3"/>
            <a:endCxn id="1029" idx="1"/>
          </p:cNvCxnSpPr>
          <p:nvPr/>
        </p:nvCxnSpPr>
        <p:spPr>
          <a:xfrm>
            <a:off x="5553244" y="3959558"/>
            <a:ext cx="583807" cy="46072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コネクタ: カギ線 1045">
            <a:extLst>
              <a:ext uri="{FF2B5EF4-FFF2-40B4-BE49-F238E27FC236}">
                <a16:creationId xmlns:a16="http://schemas.microsoft.com/office/drawing/2014/main" id="{9B624547-ED99-9804-A06C-352BE5E843BD}"/>
              </a:ext>
            </a:extLst>
          </p:cNvPr>
          <p:cNvCxnSpPr>
            <a:cxnSpLocks/>
            <a:stCxn id="56" idx="3"/>
            <a:endCxn id="1029" idx="1"/>
          </p:cNvCxnSpPr>
          <p:nvPr/>
        </p:nvCxnSpPr>
        <p:spPr>
          <a:xfrm flipV="1">
            <a:off x="5573536" y="4420278"/>
            <a:ext cx="563515" cy="1640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コネクタ: カギ線 1051">
            <a:extLst>
              <a:ext uri="{FF2B5EF4-FFF2-40B4-BE49-F238E27FC236}">
                <a16:creationId xmlns:a16="http://schemas.microsoft.com/office/drawing/2014/main" id="{21C1777F-1581-E8C6-E0BB-4CD3F7195BEE}"/>
              </a:ext>
            </a:extLst>
          </p:cNvPr>
          <p:cNvCxnSpPr>
            <a:cxnSpLocks/>
            <a:stCxn id="3" idx="3"/>
            <a:endCxn id="1029" idx="1"/>
          </p:cNvCxnSpPr>
          <p:nvPr/>
        </p:nvCxnSpPr>
        <p:spPr>
          <a:xfrm flipV="1">
            <a:off x="5529421" y="4420278"/>
            <a:ext cx="607630" cy="59418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四角形: 角を丸くする 1057">
            <a:extLst>
              <a:ext uri="{FF2B5EF4-FFF2-40B4-BE49-F238E27FC236}">
                <a16:creationId xmlns:a16="http://schemas.microsoft.com/office/drawing/2014/main" id="{FC50D201-377B-8DE0-6A6E-636CB9C7DAED}"/>
              </a:ext>
            </a:extLst>
          </p:cNvPr>
          <p:cNvSpPr/>
          <p:nvPr/>
        </p:nvSpPr>
        <p:spPr>
          <a:xfrm>
            <a:off x="8124550" y="1592764"/>
            <a:ext cx="3940929" cy="5134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アラート窓口連絡の基、担当者が対応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</a:rPr>
              <a:t>（体制維持：</a:t>
            </a:r>
            <a:r>
              <a:rPr lang="en-US" altLang="ja-JP" sz="1400">
                <a:solidFill>
                  <a:schemeClr val="tx1"/>
                </a:solidFill>
              </a:rPr>
              <a:t>9-17</a:t>
            </a:r>
            <a:r>
              <a:rPr lang="ja-JP" altLang="en-US" sz="1400">
                <a:solidFill>
                  <a:schemeClr val="tx1"/>
                </a:solidFill>
              </a:rPr>
              <a:t>）</a:t>
            </a:r>
            <a:r>
              <a:rPr lang="en-US" altLang="ja-JP" sz="1100">
                <a:solidFill>
                  <a:schemeClr val="tx1"/>
                </a:solidFill>
              </a:rPr>
              <a:t>※</a:t>
            </a:r>
            <a:r>
              <a:rPr lang="ja-JP" altLang="en-US" sz="1100">
                <a:solidFill>
                  <a:schemeClr val="tx1"/>
                </a:solidFill>
              </a:rPr>
              <a:t>必要に応じて</a:t>
            </a:r>
            <a:r>
              <a:rPr lang="en-US" altLang="ja-JP" sz="1100">
                <a:solidFill>
                  <a:schemeClr val="tx1"/>
                </a:solidFill>
              </a:rPr>
              <a:t>17:00</a:t>
            </a:r>
            <a:r>
              <a:rPr lang="ja-JP" altLang="en-US" sz="1100">
                <a:solidFill>
                  <a:schemeClr val="tx1"/>
                </a:solidFill>
              </a:rPr>
              <a:t>以降も対応</a:t>
            </a:r>
            <a:endParaRPr lang="en-US" altLang="ja-JP" sz="1100">
              <a:solidFill>
                <a:schemeClr val="tx1"/>
              </a:solidFill>
            </a:endParaRPr>
          </a:p>
        </p:txBody>
      </p:sp>
      <p:cxnSp>
        <p:nvCxnSpPr>
          <p:cNvPr id="1071" name="コネクタ: カギ線 1070">
            <a:extLst>
              <a:ext uri="{FF2B5EF4-FFF2-40B4-BE49-F238E27FC236}">
                <a16:creationId xmlns:a16="http://schemas.microsoft.com/office/drawing/2014/main" id="{F66731D2-1048-9162-D3F7-128B0538FBDB}"/>
              </a:ext>
            </a:extLst>
          </p:cNvPr>
          <p:cNvCxnSpPr>
            <a:cxnSpLocks/>
            <a:stCxn id="1029" idx="3"/>
            <a:endCxn id="1200" idx="1"/>
          </p:cNvCxnSpPr>
          <p:nvPr/>
        </p:nvCxnSpPr>
        <p:spPr>
          <a:xfrm>
            <a:off x="7355686" y="4420278"/>
            <a:ext cx="242443" cy="1270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64FB8F4E-B8D9-2328-9AA1-1B4FD17A4937}"/>
              </a:ext>
            </a:extLst>
          </p:cNvPr>
          <p:cNvSpPr/>
          <p:nvPr/>
        </p:nvSpPr>
        <p:spPr>
          <a:xfrm>
            <a:off x="8861560" y="2391178"/>
            <a:ext cx="1322401" cy="41506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アラート対応</a:t>
            </a:r>
          </a:p>
        </p:txBody>
      </p:sp>
      <p:sp>
        <p:nvSpPr>
          <p:cNvPr id="1080" name="四角形: 角を丸くする 1079">
            <a:extLst>
              <a:ext uri="{FF2B5EF4-FFF2-40B4-BE49-F238E27FC236}">
                <a16:creationId xmlns:a16="http://schemas.microsoft.com/office/drawing/2014/main" id="{668F15A1-177A-3DEE-6FA5-07B76671B4B3}"/>
              </a:ext>
            </a:extLst>
          </p:cNvPr>
          <p:cNvSpPr/>
          <p:nvPr/>
        </p:nvSpPr>
        <p:spPr>
          <a:xfrm>
            <a:off x="8949763" y="3895013"/>
            <a:ext cx="1072480" cy="70718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王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</a:t>
            </a:r>
            <a:endParaRPr lang="en-US" altLang="ja-JP" sz="1400">
              <a:solidFill>
                <a:schemeClr val="tx1"/>
              </a:solidFill>
            </a:endParaRPr>
          </a:p>
        </p:txBody>
      </p:sp>
      <p:sp>
        <p:nvSpPr>
          <p:cNvPr id="1081" name="四角形: 角を丸くする 1080">
            <a:extLst>
              <a:ext uri="{FF2B5EF4-FFF2-40B4-BE49-F238E27FC236}">
                <a16:creationId xmlns:a16="http://schemas.microsoft.com/office/drawing/2014/main" id="{09ED4EB2-8F45-280A-6EE5-812D821215A7}"/>
              </a:ext>
            </a:extLst>
          </p:cNvPr>
          <p:cNvSpPr/>
          <p:nvPr/>
        </p:nvSpPr>
        <p:spPr>
          <a:xfrm>
            <a:off x="8977025" y="5803893"/>
            <a:ext cx="1072480" cy="525544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楊・</a:t>
            </a:r>
            <a:r>
              <a:rPr lang="ja-JP" altLang="en-US" sz="1400">
                <a:solidFill>
                  <a:srgbClr val="FF0000"/>
                </a:solidFill>
                <a:latin typeface="+mj-lt"/>
              </a:rPr>
              <a:t>三ツ井</a:t>
            </a:r>
            <a:endParaRPr lang="ja-JP" altLang="en-US" sz="1400">
              <a:solidFill>
                <a:schemeClr val="tx1"/>
              </a:solidFill>
              <a:latin typeface="+mj-lt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大森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82" name="四角形: 角を丸くする 1081">
            <a:extLst>
              <a:ext uri="{FF2B5EF4-FFF2-40B4-BE49-F238E27FC236}">
                <a16:creationId xmlns:a16="http://schemas.microsoft.com/office/drawing/2014/main" id="{1F81A531-776C-5A5B-CFB9-9441EA9C11D5}"/>
              </a:ext>
            </a:extLst>
          </p:cNvPr>
          <p:cNvSpPr/>
          <p:nvPr/>
        </p:nvSpPr>
        <p:spPr>
          <a:xfrm>
            <a:off x="8966919" y="5018227"/>
            <a:ext cx="1072480" cy="536016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rgbClr val="FF0000"/>
                </a:solidFill>
                <a:latin typeface="+mj-lt"/>
              </a:rPr>
              <a:t>三ツ井</a:t>
            </a:r>
            <a:endParaRPr lang="en-US" altLang="ja-JP" sz="1400">
              <a:solidFill>
                <a:srgbClr val="FF0000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周・鄭</a:t>
            </a:r>
            <a:endParaRPr lang="en-US" altLang="ja-JP" sz="14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83" name="テキスト ボックス 1082">
            <a:extLst>
              <a:ext uri="{FF2B5EF4-FFF2-40B4-BE49-F238E27FC236}">
                <a16:creationId xmlns:a16="http://schemas.microsoft.com/office/drawing/2014/main" id="{DB6751D4-2B49-9ABE-BC46-E70CFB6BA341}"/>
              </a:ext>
            </a:extLst>
          </p:cNvPr>
          <p:cNvSpPr txBox="1"/>
          <p:nvPr/>
        </p:nvSpPr>
        <p:spPr>
          <a:xfrm>
            <a:off x="8906690" y="4745264"/>
            <a:ext cx="647305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4" name="テキスト ボックス 1083">
            <a:extLst>
              <a:ext uri="{FF2B5EF4-FFF2-40B4-BE49-F238E27FC236}">
                <a16:creationId xmlns:a16="http://schemas.microsoft.com/office/drawing/2014/main" id="{6436404D-0481-D6B6-6F21-96D86B22AA75}"/>
              </a:ext>
            </a:extLst>
          </p:cNvPr>
          <p:cNvSpPr txBox="1"/>
          <p:nvPr/>
        </p:nvSpPr>
        <p:spPr>
          <a:xfrm>
            <a:off x="8911793" y="2738829"/>
            <a:ext cx="113771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</a:p>
        </p:txBody>
      </p:sp>
      <p:sp>
        <p:nvSpPr>
          <p:cNvPr id="1085" name="テキスト ボックス 1084">
            <a:extLst>
              <a:ext uri="{FF2B5EF4-FFF2-40B4-BE49-F238E27FC236}">
                <a16:creationId xmlns:a16="http://schemas.microsoft.com/office/drawing/2014/main" id="{59B855EB-5DA5-AE51-C055-2B11BF27994A}"/>
              </a:ext>
            </a:extLst>
          </p:cNvPr>
          <p:cNvSpPr txBox="1"/>
          <p:nvPr/>
        </p:nvSpPr>
        <p:spPr>
          <a:xfrm>
            <a:off x="8910520" y="5598044"/>
            <a:ext cx="789729" cy="1685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6" name="テキスト ボックス 1085">
            <a:extLst>
              <a:ext uri="{FF2B5EF4-FFF2-40B4-BE49-F238E27FC236}">
                <a16:creationId xmlns:a16="http://schemas.microsoft.com/office/drawing/2014/main" id="{4C099BFA-12E9-FD0C-08DB-1638725D81DD}"/>
              </a:ext>
            </a:extLst>
          </p:cNvPr>
          <p:cNvSpPr txBox="1"/>
          <p:nvPr/>
        </p:nvSpPr>
        <p:spPr>
          <a:xfrm>
            <a:off x="8926678" y="3674988"/>
            <a:ext cx="110794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、差分連携</a:t>
            </a:r>
          </a:p>
        </p:txBody>
      </p:sp>
      <p:sp>
        <p:nvSpPr>
          <p:cNvPr id="1087" name="四角形: 角を丸くする 1086">
            <a:extLst>
              <a:ext uri="{FF2B5EF4-FFF2-40B4-BE49-F238E27FC236}">
                <a16:creationId xmlns:a16="http://schemas.microsoft.com/office/drawing/2014/main" id="{58880B27-84CF-3CB2-76FF-532D7CD20290}"/>
              </a:ext>
            </a:extLst>
          </p:cNvPr>
          <p:cNvSpPr/>
          <p:nvPr/>
        </p:nvSpPr>
        <p:spPr>
          <a:xfrm>
            <a:off x="8949323" y="3005021"/>
            <a:ext cx="1073588" cy="584432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肖・西村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lang="zh-CN" altLang="en-US" sz="1400">
                <a:solidFill>
                  <a:srgbClr val="FF0000"/>
                </a:solidFill>
                <a:latin typeface="+mj-lt"/>
              </a:rPr>
              <a:t>倪</a:t>
            </a:r>
            <a:endParaRPr kumimoji="1" lang="en-US" altLang="ja-JP" sz="8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91" name="四角形: 角を丸くする 1090">
            <a:extLst>
              <a:ext uri="{FF2B5EF4-FFF2-40B4-BE49-F238E27FC236}">
                <a16:creationId xmlns:a16="http://schemas.microsoft.com/office/drawing/2014/main" id="{FB810CB2-DEC0-1C31-B5D3-2B8EF65AC6B6}"/>
              </a:ext>
            </a:extLst>
          </p:cNvPr>
          <p:cNvSpPr/>
          <p:nvPr/>
        </p:nvSpPr>
        <p:spPr>
          <a:xfrm>
            <a:off x="7726393" y="3382335"/>
            <a:ext cx="561584" cy="29265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川上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2" name="テキスト ボックス 1091">
            <a:extLst>
              <a:ext uri="{FF2B5EF4-FFF2-40B4-BE49-F238E27FC236}">
                <a16:creationId xmlns:a16="http://schemas.microsoft.com/office/drawing/2014/main" id="{F6683A25-8B07-B7EF-EC35-7B9372F0E44D}"/>
              </a:ext>
            </a:extLst>
          </p:cNvPr>
          <p:cNvSpPr txBox="1"/>
          <p:nvPr/>
        </p:nvSpPr>
        <p:spPr>
          <a:xfrm>
            <a:off x="7926894" y="3767320"/>
            <a:ext cx="69041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意思決定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7FEB5C82-E939-6865-38DF-6E3BBBD8FC18}"/>
              </a:ext>
            </a:extLst>
          </p:cNvPr>
          <p:cNvSpPr/>
          <p:nvPr/>
        </p:nvSpPr>
        <p:spPr>
          <a:xfrm>
            <a:off x="7228119" y="2334069"/>
            <a:ext cx="1389188" cy="386048"/>
          </a:xfrm>
          <a:prstGeom prst="wedgeRoundRectCallout">
            <a:avLst>
              <a:gd name="adj1" fmla="val 17777"/>
              <a:gd name="adj2" fmla="val 9662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必要に応じて方針意思決定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95" name="コネクタ: カギ線 1094">
            <a:extLst>
              <a:ext uri="{FF2B5EF4-FFF2-40B4-BE49-F238E27FC236}">
                <a16:creationId xmlns:a16="http://schemas.microsoft.com/office/drawing/2014/main" id="{EBA63E8D-0229-19FC-4B5F-5B4336580DAB}"/>
              </a:ext>
            </a:extLst>
          </p:cNvPr>
          <p:cNvCxnSpPr>
            <a:cxnSpLocks/>
            <a:stCxn id="1091" idx="2"/>
            <a:endCxn id="1200" idx="0"/>
          </p:cNvCxnSpPr>
          <p:nvPr/>
        </p:nvCxnSpPr>
        <p:spPr>
          <a:xfrm rot="5400000">
            <a:off x="7755047" y="3926260"/>
            <a:ext cx="503410" cy="86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コネクタ: カギ線 1101">
            <a:extLst>
              <a:ext uri="{FF2B5EF4-FFF2-40B4-BE49-F238E27FC236}">
                <a16:creationId xmlns:a16="http://schemas.microsoft.com/office/drawing/2014/main" id="{820F5C15-9D4F-7C45-C2CA-83D4778FD7F9}"/>
              </a:ext>
            </a:extLst>
          </p:cNvPr>
          <p:cNvCxnSpPr>
            <a:cxnSpLocks/>
            <a:stCxn id="1200" idx="3"/>
            <a:endCxn id="1087" idx="1"/>
          </p:cNvCxnSpPr>
          <p:nvPr/>
        </p:nvCxnSpPr>
        <p:spPr>
          <a:xfrm flipV="1">
            <a:off x="8414508" y="3297237"/>
            <a:ext cx="534815" cy="112304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コネクタ: カギ線 1104">
            <a:extLst>
              <a:ext uri="{FF2B5EF4-FFF2-40B4-BE49-F238E27FC236}">
                <a16:creationId xmlns:a16="http://schemas.microsoft.com/office/drawing/2014/main" id="{A2BE7031-214E-AB79-44C8-FA7E1000F4BE}"/>
              </a:ext>
            </a:extLst>
          </p:cNvPr>
          <p:cNvCxnSpPr>
            <a:cxnSpLocks/>
            <a:stCxn id="1200" idx="3"/>
            <a:endCxn id="1080" idx="1"/>
          </p:cNvCxnSpPr>
          <p:nvPr/>
        </p:nvCxnSpPr>
        <p:spPr>
          <a:xfrm flipV="1">
            <a:off x="8414508" y="4248607"/>
            <a:ext cx="535255" cy="17167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コネクタ: カギ線 1109">
            <a:extLst>
              <a:ext uri="{FF2B5EF4-FFF2-40B4-BE49-F238E27FC236}">
                <a16:creationId xmlns:a16="http://schemas.microsoft.com/office/drawing/2014/main" id="{72943953-23A7-FF61-2B40-F833AC68978B}"/>
              </a:ext>
            </a:extLst>
          </p:cNvPr>
          <p:cNvCxnSpPr>
            <a:cxnSpLocks/>
            <a:stCxn id="1200" idx="3"/>
            <a:endCxn id="1082" idx="1"/>
          </p:cNvCxnSpPr>
          <p:nvPr/>
        </p:nvCxnSpPr>
        <p:spPr>
          <a:xfrm>
            <a:off x="8414508" y="4420278"/>
            <a:ext cx="552411" cy="86595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コネクタ: カギ線 1112">
            <a:extLst>
              <a:ext uri="{FF2B5EF4-FFF2-40B4-BE49-F238E27FC236}">
                <a16:creationId xmlns:a16="http://schemas.microsoft.com/office/drawing/2014/main" id="{A0F0D732-EF18-F3A6-FE9E-B71F1CEDED43}"/>
              </a:ext>
            </a:extLst>
          </p:cNvPr>
          <p:cNvCxnSpPr>
            <a:cxnSpLocks/>
            <a:stCxn id="1200" idx="3"/>
            <a:endCxn id="1081" idx="1"/>
          </p:cNvCxnSpPr>
          <p:nvPr/>
        </p:nvCxnSpPr>
        <p:spPr>
          <a:xfrm>
            <a:off x="8414508" y="4420278"/>
            <a:ext cx="562517" cy="164638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2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41F51589-1D2A-633B-1FF8-52E7FA7EF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557" y="426150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3" name="テキスト ボックス 1122">
            <a:extLst>
              <a:ext uri="{FF2B5EF4-FFF2-40B4-BE49-F238E27FC236}">
                <a16:creationId xmlns:a16="http://schemas.microsoft.com/office/drawing/2014/main" id="{1FB81993-ACCE-51CD-6726-31F70A7A9AE8}"/>
              </a:ext>
            </a:extLst>
          </p:cNvPr>
          <p:cNvSpPr txBox="1"/>
          <p:nvPr/>
        </p:nvSpPr>
        <p:spPr>
          <a:xfrm>
            <a:off x="11138728" y="4789852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1126" name="テキスト ボックス 1125">
            <a:extLst>
              <a:ext uri="{FF2B5EF4-FFF2-40B4-BE49-F238E27FC236}">
                <a16:creationId xmlns:a16="http://schemas.microsoft.com/office/drawing/2014/main" id="{ED136752-66BE-30B2-2195-9F900B4669DB}"/>
              </a:ext>
            </a:extLst>
          </p:cNvPr>
          <p:cNvSpPr txBox="1"/>
          <p:nvPr/>
        </p:nvSpPr>
        <p:spPr>
          <a:xfrm>
            <a:off x="7260179" y="5019978"/>
            <a:ext cx="1468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en-US" altLang="ja-JP" sz="800">
                <a:solidFill>
                  <a:schemeClr val="tx1"/>
                </a:solidFill>
                <a:latin typeface="+mj-lt"/>
                <a:hlinkClick r:id="rId8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27" name="コネクタ: カギ線 1126">
            <a:extLst>
              <a:ext uri="{FF2B5EF4-FFF2-40B4-BE49-F238E27FC236}">
                <a16:creationId xmlns:a16="http://schemas.microsoft.com/office/drawing/2014/main" id="{CED77118-819B-219C-4397-A91AF5AA75F3}"/>
              </a:ext>
            </a:extLst>
          </p:cNvPr>
          <p:cNvCxnSpPr>
            <a:cxnSpLocks/>
            <a:stCxn id="1087" idx="3"/>
            <a:endCxn id="1122" idx="1"/>
          </p:cNvCxnSpPr>
          <p:nvPr/>
        </p:nvCxnSpPr>
        <p:spPr>
          <a:xfrm>
            <a:off x="10022911" y="3297237"/>
            <a:ext cx="1084646" cy="120614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コネクタ: カギ線 1135">
            <a:extLst>
              <a:ext uri="{FF2B5EF4-FFF2-40B4-BE49-F238E27FC236}">
                <a16:creationId xmlns:a16="http://schemas.microsoft.com/office/drawing/2014/main" id="{BF4E15CB-6C6D-674D-F654-669CC96C1F9C}"/>
              </a:ext>
            </a:extLst>
          </p:cNvPr>
          <p:cNvCxnSpPr>
            <a:cxnSpLocks/>
            <a:stCxn id="1080" idx="3"/>
            <a:endCxn id="1122" idx="1"/>
          </p:cNvCxnSpPr>
          <p:nvPr/>
        </p:nvCxnSpPr>
        <p:spPr>
          <a:xfrm>
            <a:off x="10022243" y="4248607"/>
            <a:ext cx="1085314" cy="25477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コネクタ: カギ線 1138">
            <a:extLst>
              <a:ext uri="{FF2B5EF4-FFF2-40B4-BE49-F238E27FC236}">
                <a16:creationId xmlns:a16="http://schemas.microsoft.com/office/drawing/2014/main" id="{15AE5596-3703-7634-2819-E042AD714D4B}"/>
              </a:ext>
            </a:extLst>
          </p:cNvPr>
          <p:cNvCxnSpPr>
            <a:cxnSpLocks/>
            <a:stCxn id="1082" idx="3"/>
            <a:endCxn id="1122" idx="1"/>
          </p:cNvCxnSpPr>
          <p:nvPr/>
        </p:nvCxnSpPr>
        <p:spPr>
          <a:xfrm flipV="1">
            <a:off x="10039399" y="4503385"/>
            <a:ext cx="1068158" cy="78285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コネクタ: カギ線 1142">
            <a:extLst>
              <a:ext uri="{FF2B5EF4-FFF2-40B4-BE49-F238E27FC236}">
                <a16:creationId xmlns:a16="http://schemas.microsoft.com/office/drawing/2014/main" id="{2BB6D19A-80F4-171E-3760-FC49CEBE8865}"/>
              </a:ext>
            </a:extLst>
          </p:cNvPr>
          <p:cNvCxnSpPr>
            <a:cxnSpLocks/>
            <a:stCxn id="1081" idx="3"/>
            <a:endCxn id="1122" idx="1"/>
          </p:cNvCxnSpPr>
          <p:nvPr/>
        </p:nvCxnSpPr>
        <p:spPr>
          <a:xfrm flipV="1">
            <a:off x="10049505" y="4503385"/>
            <a:ext cx="1058052" cy="156328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4" name="吹き出し: 角を丸めた四角形 1123">
            <a:extLst>
              <a:ext uri="{FF2B5EF4-FFF2-40B4-BE49-F238E27FC236}">
                <a16:creationId xmlns:a16="http://schemas.microsoft.com/office/drawing/2014/main" id="{F80CA1F6-65AD-112E-2082-497296EB3E57}"/>
              </a:ext>
            </a:extLst>
          </p:cNvPr>
          <p:cNvSpPr/>
          <p:nvPr/>
        </p:nvSpPr>
        <p:spPr>
          <a:xfrm>
            <a:off x="10896137" y="5381862"/>
            <a:ext cx="1169342" cy="483759"/>
          </a:xfrm>
          <a:prstGeom prst="wedgeRoundRectCallout">
            <a:avLst>
              <a:gd name="adj1" fmla="val 9807"/>
              <a:gd name="adj2" fmla="val -9064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窓口から対応状況報告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9" name="四角形: 角を丸くする 1148">
            <a:extLst>
              <a:ext uri="{FF2B5EF4-FFF2-40B4-BE49-F238E27FC236}">
                <a16:creationId xmlns:a16="http://schemas.microsoft.com/office/drawing/2014/main" id="{ED62D394-F270-00C2-883F-23BE45EDF0D0}"/>
              </a:ext>
            </a:extLst>
          </p:cNvPr>
          <p:cNvSpPr/>
          <p:nvPr/>
        </p:nvSpPr>
        <p:spPr>
          <a:xfrm>
            <a:off x="6316154" y="3383280"/>
            <a:ext cx="634014" cy="29265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>
                <a:solidFill>
                  <a:schemeClr val="tx1"/>
                </a:solidFill>
                <a:latin typeface="+mj-lt"/>
              </a:rPr>
              <a:t>TMC</a:t>
            </a:r>
          </a:p>
        </p:txBody>
      </p:sp>
      <p:cxnSp>
        <p:nvCxnSpPr>
          <p:cNvPr id="1150" name="コネクタ: カギ線 1149">
            <a:extLst>
              <a:ext uri="{FF2B5EF4-FFF2-40B4-BE49-F238E27FC236}">
                <a16:creationId xmlns:a16="http://schemas.microsoft.com/office/drawing/2014/main" id="{474A3E00-DC73-E83B-4999-2A7DD0C74FC6}"/>
              </a:ext>
            </a:extLst>
          </p:cNvPr>
          <p:cNvCxnSpPr>
            <a:cxnSpLocks/>
            <a:stCxn id="1091" idx="1"/>
            <a:endCxn id="1149" idx="3"/>
          </p:cNvCxnSpPr>
          <p:nvPr/>
        </p:nvCxnSpPr>
        <p:spPr>
          <a:xfrm rot="10800000" flipV="1">
            <a:off x="6950169" y="3528661"/>
            <a:ext cx="776225" cy="94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5" name="吹き出し: 角を丸めた四角形 1154">
            <a:extLst>
              <a:ext uri="{FF2B5EF4-FFF2-40B4-BE49-F238E27FC236}">
                <a16:creationId xmlns:a16="http://schemas.microsoft.com/office/drawing/2014/main" id="{C56D0112-F5DD-5DFA-A4A1-FED1DF8FEB87}"/>
              </a:ext>
            </a:extLst>
          </p:cNvPr>
          <p:cNvSpPr/>
          <p:nvPr/>
        </p:nvSpPr>
        <p:spPr>
          <a:xfrm>
            <a:off x="5863943" y="2877140"/>
            <a:ext cx="1507426" cy="386048"/>
          </a:xfrm>
          <a:prstGeom prst="wedgeRoundRectCallout">
            <a:avLst>
              <a:gd name="adj1" fmla="val 34872"/>
              <a:gd name="adj2" fmla="val 10523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</a:rPr>
              <a:t>TMC</a:t>
            </a:r>
            <a:r>
              <a:rPr kumimoji="1" lang="ja-JP" altLang="en-US" sz="1200">
                <a:solidFill>
                  <a:schemeClr val="tx1"/>
                </a:solidFill>
              </a:rPr>
              <a:t>にアナウンス必要と判断した場合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57" name="テキスト ボックス 1156">
            <a:extLst>
              <a:ext uri="{FF2B5EF4-FFF2-40B4-BE49-F238E27FC236}">
                <a16:creationId xmlns:a16="http://schemas.microsoft.com/office/drawing/2014/main" id="{0213718A-9A31-67C4-D775-82B6938A4BCA}"/>
              </a:ext>
            </a:extLst>
          </p:cNvPr>
          <p:cNvSpPr txBox="1"/>
          <p:nvPr/>
        </p:nvSpPr>
        <p:spPr>
          <a:xfrm>
            <a:off x="8958003" y="6579087"/>
            <a:ext cx="147595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100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連休輪番体制は次頁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B53FA6-6FCA-F950-3524-14C225D6D2C2}"/>
              </a:ext>
            </a:extLst>
          </p:cNvPr>
          <p:cNvSpPr/>
          <p:nvPr/>
        </p:nvSpPr>
        <p:spPr bwMode="gray">
          <a:xfrm>
            <a:off x="3308143" y="4848560"/>
            <a:ext cx="2221278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14_Azure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9"/>
              </a:rPr>
              <a:t>da87eef2.tatgroup.onmicrosoft.com@jp.teams.ms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89DF23FF-AAD4-F60A-5309-B0F97953B59B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1585732" y="3446234"/>
            <a:ext cx="914219" cy="49089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A8FAEACF-4E65-AA10-9786-303B2F675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4234122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80522E-49BA-0A95-FE0D-41BB59BB246C}"/>
              </a:ext>
            </a:extLst>
          </p:cNvPr>
          <p:cNvSpPr txBox="1"/>
          <p:nvPr/>
        </p:nvSpPr>
        <p:spPr>
          <a:xfrm>
            <a:off x="1159261" y="4445707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D704C296-DA4D-2DE4-61DA-B8273E64A240}"/>
              </a:ext>
            </a:extLst>
          </p:cNvPr>
          <p:cNvCxnSpPr>
            <a:cxnSpLocks/>
            <a:stCxn id="10" idx="3"/>
            <a:endCxn id="1187" idx="1"/>
          </p:cNvCxnSpPr>
          <p:nvPr/>
        </p:nvCxnSpPr>
        <p:spPr>
          <a:xfrm>
            <a:off x="1585732" y="3446234"/>
            <a:ext cx="917361" cy="95626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D19234C8-2BAF-6F48-0EC4-F27370E77571}"/>
              </a:ext>
            </a:extLst>
          </p:cNvPr>
          <p:cNvCxnSpPr>
            <a:cxnSpLocks/>
            <a:stCxn id="10" idx="3"/>
            <a:endCxn id="2" idx="1"/>
          </p:cNvCxnSpPr>
          <p:nvPr/>
        </p:nvCxnSpPr>
        <p:spPr>
          <a:xfrm>
            <a:off x="1585732" y="3446234"/>
            <a:ext cx="906018" cy="154510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BD3E27C-BA94-73E6-6629-0ACB8674658F}"/>
              </a:ext>
            </a:extLst>
          </p:cNvPr>
          <p:cNvSpPr/>
          <p:nvPr/>
        </p:nvSpPr>
        <p:spPr bwMode="gray">
          <a:xfrm>
            <a:off x="3308143" y="5406301"/>
            <a:ext cx="2224549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30_Neo_OGG_HB30</a:t>
            </a:r>
            <a:r>
              <a:rPr lang="ja-JP" altLang="en-US" sz="700"/>
              <a:t>分間遅延通知用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10"/>
              </a:rPr>
              <a:t>2a3528b1.tatgroup.onmicrosoft.com@jp.teams.ms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D3F22C5-C1AC-9BD5-6F80-198E387DD8BC}"/>
              </a:ext>
            </a:extLst>
          </p:cNvPr>
          <p:cNvSpPr/>
          <p:nvPr/>
        </p:nvSpPr>
        <p:spPr bwMode="gray">
          <a:xfrm>
            <a:off x="3308143" y="5913119"/>
            <a:ext cx="2224549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40_Ai21_tblagmon30</a:t>
            </a:r>
            <a:r>
              <a:rPr lang="ja-JP" altLang="en-US" sz="700"/>
              <a:t>分間遅延通知用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11"/>
              </a:rPr>
              <a:t>283f4dc8.tatgroup.onmicrosoft.com@jp.teams.ms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pic>
        <p:nvPicPr>
          <p:cNvPr id="1028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81EC4CC4-D924-FAFC-72F4-FEC8FA8CC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5489783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E424B852-806E-68E4-24B2-2E640AED8731}"/>
              </a:ext>
            </a:extLst>
          </p:cNvPr>
          <p:cNvSpPr txBox="1"/>
          <p:nvPr/>
        </p:nvSpPr>
        <p:spPr>
          <a:xfrm>
            <a:off x="1181627" y="5791585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差分連携遅延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1033" name="コネクタ: カギ線 1032">
            <a:extLst>
              <a:ext uri="{FF2B5EF4-FFF2-40B4-BE49-F238E27FC236}">
                <a16:creationId xmlns:a16="http://schemas.microsoft.com/office/drawing/2014/main" id="{AD961F7A-2635-CF45-DAD1-6724256BC3A7}"/>
              </a:ext>
            </a:extLst>
          </p:cNvPr>
          <p:cNvCxnSpPr>
            <a:cxnSpLocks/>
            <a:stCxn id="10" idx="3"/>
            <a:endCxn id="57" idx="1"/>
          </p:cNvCxnSpPr>
          <p:nvPr/>
        </p:nvCxnSpPr>
        <p:spPr>
          <a:xfrm>
            <a:off x="1585732" y="3446234"/>
            <a:ext cx="906019" cy="209984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コネクタ: カギ線 1039">
            <a:extLst>
              <a:ext uri="{FF2B5EF4-FFF2-40B4-BE49-F238E27FC236}">
                <a16:creationId xmlns:a16="http://schemas.microsoft.com/office/drawing/2014/main" id="{BB1C1A15-E88F-02E2-8FB7-37F7290C19B5}"/>
              </a:ext>
            </a:extLst>
          </p:cNvPr>
          <p:cNvCxnSpPr>
            <a:cxnSpLocks/>
            <a:stCxn id="10" idx="3"/>
            <a:endCxn id="59" idx="1"/>
          </p:cNvCxnSpPr>
          <p:nvPr/>
        </p:nvCxnSpPr>
        <p:spPr>
          <a:xfrm>
            <a:off x="1585732" y="3446234"/>
            <a:ext cx="906018" cy="259702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テキスト ボックス 1075">
            <a:extLst>
              <a:ext uri="{FF2B5EF4-FFF2-40B4-BE49-F238E27FC236}">
                <a16:creationId xmlns:a16="http://schemas.microsoft.com/office/drawing/2014/main" id="{8EC89ECF-1462-E838-BBD0-46EF3DFBD012}"/>
              </a:ext>
            </a:extLst>
          </p:cNvPr>
          <p:cNvSpPr txBox="1"/>
          <p:nvPr/>
        </p:nvSpPr>
        <p:spPr>
          <a:xfrm>
            <a:off x="2438248" y="6579087"/>
            <a:ext cx="147595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100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連休輪番体制は次頁</a:t>
            </a:r>
          </a:p>
        </p:txBody>
      </p:sp>
      <p:cxnSp>
        <p:nvCxnSpPr>
          <p:cNvPr id="1077" name="コネクタ: カギ線 1076">
            <a:extLst>
              <a:ext uri="{FF2B5EF4-FFF2-40B4-BE49-F238E27FC236}">
                <a16:creationId xmlns:a16="http://schemas.microsoft.com/office/drawing/2014/main" id="{1E28611E-AB07-66CB-697E-23278493E270}"/>
              </a:ext>
            </a:extLst>
          </p:cNvPr>
          <p:cNvCxnSpPr>
            <a:cxnSpLocks/>
            <a:stCxn id="62" idx="3"/>
            <a:endCxn id="1029" idx="1"/>
          </p:cNvCxnSpPr>
          <p:nvPr/>
        </p:nvCxnSpPr>
        <p:spPr>
          <a:xfrm flipV="1">
            <a:off x="5532692" y="4420278"/>
            <a:ext cx="604359" cy="115192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コネクタ: カギ線 1077">
            <a:extLst>
              <a:ext uri="{FF2B5EF4-FFF2-40B4-BE49-F238E27FC236}">
                <a16:creationId xmlns:a16="http://schemas.microsoft.com/office/drawing/2014/main" id="{48CBB75E-A6B1-3BCF-E51A-63476D640115}"/>
              </a:ext>
            </a:extLst>
          </p:cNvPr>
          <p:cNvCxnSpPr>
            <a:cxnSpLocks/>
            <a:stCxn id="63" idx="3"/>
            <a:endCxn id="1029" idx="1"/>
          </p:cNvCxnSpPr>
          <p:nvPr/>
        </p:nvCxnSpPr>
        <p:spPr>
          <a:xfrm flipV="1">
            <a:off x="5532692" y="4420278"/>
            <a:ext cx="604359" cy="165874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2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FC06-89FA-213C-A572-4A99C849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正方形/長方形 1107">
            <a:extLst>
              <a:ext uri="{FF2B5EF4-FFF2-40B4-BE49-F238E27FC236}">
                <a16:creationId xmlns:a16="http://schemas.microsoft.com/office/drawing/2014/main" id="{95AB1C55-2ED7-48C6-91AA-50D5C0E315BE}"/>
              </a:ext>
            </a:extLst>
          </p:cNvPr>
          <p:cNvSpPr/>
          <p:nvPr/>
        </p:nvSpPr>
        <p:spPr>
          <a:xfrm>
            <a:off x="8037420" y="1653651"/>
            <a:ext cx="2978001" cy="48819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アラート窓口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8B0B3B4-A958-DF52-BB34-5F237F7A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運用体制：障害監視（１２月時点）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5318C8-301F-2E74-07AD-E9743D37CD08}"/>
              </a:ext>
            </a:extLst>
          </p:cNvPr>
          <p:cNvSpPr/>
          <p:nvPr/>
        </p:nvSpPr>
        <p:spPr bwMode="gray">
          <a:xfrm>
            <a:off x="188860" y="1181899"/>
            <a:ext cx="2900348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D4B17C-13CB-11EF-AA07-69C0ED0C6A42}"/>
              </a:ext>
            </a:extLst>
          </p:cNvPr>
          <p:cNvSpPr/>
          <p:nvPr/>
        </p:nvSpPr>
        <p:spPr bwMode="gray">
          <a:xfrm>
            <a:off x="7614458" y="1186937"/>
            <a:ext cx="4451021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ED85CBC-BA8E-267F-9A2D-013776DFF064}"/>
              </a:ext>
            </a:extLst>
          </p:cNvPr>
          <p:cNvSpPr/>
          <p:nvPr/>
        </p:nvSpPr>
        <p:spPr bwMode="gray">
          <a:xfrm>
            <a:off x="188863" y="1760865"/>
            <a:ext cx="497722" cy="44903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eaVert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3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システム監視</a:t>
            </a:r>
            <a:endParaRPr lang="en-US" altLang="ja-JP" sz="13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F63BAED-CC86-F720-CCD4-CA6E36F977D1}"/>
              </a:ext>
            </a:extLst>
          </p:cNvPr>
          <p:cNvSpPr/>
          <p:nvPr/>
        </p:nvSpPr>
        <p:spPr bwMode="gray">
          <a:xfrm>
            <a:off x="1579366" y="3470587"/>
            <a:ext cx="1509842" cy="14254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アラート専用窓口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toyotecdap-alert@toyotec-jp.com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70BC8707-8B97-C8F9-CA5E-27CB31A8042B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55008" y="4183308"/>
            <a:ext cx="1024358" cy="68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02DCEC2-C5B6-304A-45E8-9934897DFFE9}"/>
              </a:ext>
            </a:extLst>
          </p:cNvPr>
          <p:cNvSpPr txBox="1"/>
          <p:nvPr/>
        </p:nvSpPr>
        <p:spPr>
          <a:xfrm>
            <a:off x="815538" y="3671964"/>
            <a:ext cx="67807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アラート通知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A103644-EEFC-06CD-CA51-62B0ED03A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25" y="3886411"/>
            <a:ext cx="311699" cy="247343"/>
          </a:xfrm>
          <a:prstGeom prst="rect">
            <a:avLst/>
          </a:prstGeom>
        </p:spPr>
      </p:pic>
      <p:sp>
        <p:nvSpPr>
          <p:cNvPr id="14" name="爆発: 14 pt 13">
            <a:extLst>
              <a:ext uri="{FF2B5EF4-FFF2-40B4-BE49-F238E27FC236}">
                <a16:creationId xmlns:a16="http://schemas.microsoft.com/office/drawing/2014/main" id="{3B8E5C2B-BA2D-EC81-F9BB-EB19B50CADA8}"/>
              </a:ext>
            </a:extLst>
          </p:cNvPr>
          <p:cNvSpPr/>
          <p:nvPr/>
        </p:nvSpPr>
        <p:spPr>
          <a:xfrm>
            <a:off x="514731" y="3977702"/>
            <a:ext cx="476172" cy="369854"/>
          </a:xfrm>
          <a:prstGeom prst="irregularSeal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CF9E738-F5DB-29E9-B42D-5445ACD5B585}"/>
              </a:ext>
            </a:extLst>
          </p:cNvPr>
          <p:cNvSpPr txBox="1"/>
          <p:nvPr/>
        </p:nvSpPr>
        <p:spPr>
          <a:xfrm>
            <a:off x="807626" y="4297571"/>
            <a:ext cx="54502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異常検知</a:t>
            </a:r>
          </a:p>
        </p:txBody>
      </p:sp>
      <p:sp>
        <p:nvSpPr>
          <p:cNvPr id="31" name="サブタイトル 2">
            <a:extLst>
              <a:ext uri="{FF2B5EF4-FFF2-40B4-BE49-F238E27FC236}">
                <a16:creationId xmlns:a16="http://schemas.microsoft.com/office/drawing/2014/main" id="{07D28122-8FC2-6958-C6EA-67BD0131482C}"/>
              </a:ext>
            </a:extLst>
          </p:cNvPr>
          <p:cNvSpPr txBox="1">
            <a:spLocks/>
          </p:cNvSpPr>
          <p:nvPr/>
        </p:nvSpPr>
        <p:spPr>
          <a:xfrm>
            <a:off x="5640447" y="4497820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連休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64058265-4862-D7F5-41D2-A35B8C2C2F66}"/>
              </a:ext>
            </a:extLst>
          </p:cNvPr>
          <p:cNvSpPr/>
          <p:nvPr/>
        </p:nvSpPr>
        <p:spPr>
          <a:xfrm>
            <a:off x="3284381" y="3672121"/>
            <a:ext cx="1605693" cy="106066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u="sng">
                <a:solidFill>
                  <a:schemeClr val="tx1"/>
                </a:solidFill>
                <a:latin typeface="+mj-lt"/>
              </a:rPr>
              <a:t>アラート窓口</a:t>
            </a:r>
            <a:endParaRPr kumimoji="1" lang="en-US" altLang="ja-JP" sz="1400" u="sng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</a:t>
            </a:r>
            <a:r>
              <a:rPr lang="en-US" altLang="ja-JP" sz="1400">
                <a:solidFill>
                  <a:srgbClr val="FF0000"/>
                </a:solidFill>
                <a:latin typeface="+mj-lt"/>
              </a:rPr>
              <a:t>20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長期連休除き土日祝</a:t>
            </a:r>
            <a:br>
              <a:rPr kumimoji="1" lang="en-US" altLang="ja-JP" sz="1050">
                <a:solidFill>
                  <a:schemeClr val="tx1"/>
                </a:solidFill>
                <a:latin typeface="+mj-lt"/>
              </a:rPr>
            </a:br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随時アラートチェック</a:t>
            </a: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374B2F68-7526-96AF-D402-81FA9C2062D0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3089208" y="4183308"/>
            <a:ext cx="195173" cy="19144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E48925C9-6B93-4C1E-2B55-9DEB582BFDD2}"/>
              </a:ext>
            </a:extLst>
          </p:cNvPr>
          <p:cNvCxnSpPr>
            <a:cxnSpLocks/>
            <a:stCxn id="1140" idx="3"/>
            <a:endCxn id="1108" idx="1"/>
          </p:cNvCxnSpPr>
          <p:nvPr/>
        </p:nvCxnSpPr>
        <p:spPr>
          <a:xfrm flipV="1">
            <a:off x="6407705" y="4094603"/>
            <a:ext cx="1629715" cy="9197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C72DE0ED-6E3B-4133-5661-497602512C78}"/>
              </a:ext>
            </a:extLst>
          </p:cNvPr>
          <p:cNvSpPr/>
          <p:nvPr/>
        </p:nvSpPr>
        <p:spPr bwMode="gray">
          <a:xfrm>
            <a:off x="3284381" y="1181897"/>
            <a:ext cx="4255263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39" name="四角形: 角を丸くする 1038">
            <a:extLst>
              <a:ext uri="{FF2B5EF4-FFF2-40B4-BE49-F238E27FC236}">
                <a16:creationId xmlns:a16="http://schemas.microsoft.com/office/drawing/2014/main" id="{2896AD0B-9BDA-6262-035F-B5047473BD7F}"/>
              </a:ext>
            </a:extLst>
          </p:cNvPr>
          <p:cNvSpPr/>
          <p:nvPr/>
        </p:nvSpPr>
        <p:spPr>
          <a:xfrm>
            <a:off x="8121780" y="3339131"/>
            <a:ext cx="2692709" cy="525544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王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(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wang_zhong_za@toyotec-jp.com)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(xiao_haobo_za@toyotec-jp.com)</a:t>
            </a:r>
          </a:p>
        </p:txBody>
      </p:sp>
      <p:sp>
        <p:nvSpPr>
          <p:cNvPr id="1060" name="テキスト ボックス 1059">
            <a:extLst>
              <a:ext uri="{FF2B5EF4-FFF2-40B4-BE49-F238E27FC236}">
                <a16:creationId xmlns:a16="http://schemas.microsoft.com/office/drawing/2014/main" id="{A2ECBA29-95F4-05E4-9AFB-AB670D6FD52F}"/>
              </a:ext>
            </a:extLst>
          </p:cNvPr>
          <p:cNvSpPr txBox="1"/>
          <p:nvPr/>
        </p:nvSpPr>
        <p:spPr>
          <a:xfrm>
            <a:off x="7152635" y="3768466"/>
            <a:ext cx="81753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対応確認依頼</a:t>
            </a:r>
          </a:p>
        </p:txBody>
      </p:sp>
      <p:sp>
        <p:nvSpPr>
          <p:cNvPr id="1063" name="フローチャート: 判断 1062">
            <a:extLst>
              <a:ext uri="{FF2B5EF4-FFF2-40B4-BE49-F238E27FC236}">
                <a16:creationId xmlns:a16="http://schemas.microsoft.com/office/drawing/2014/main" id="{6AF0D0B3-540D-EFC2-4C6E-B373A67419A3}"/>
              </a:ext>
            </a:extLst>
          </p:cNvPr>
          <p:cNvSpPr/>
          <p:nvPr/>
        </p:nvSpPr>
        <p:spPr>
          <a:xfrm>
            <a:off x="6090766" y="4785928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4" name="コネクタ: カギ線 1063">
            <a:extLst>
              <a:ext uri="{FF2B5EF4-FFF2-40B4-BE49-F238E27FC236}">
                <a16:creationId xmlns:a16="http://schemas.microsoft.com/office/drawing/2014/main" id="{5AEE3BB8-57A5-158D-B07A-192D62569BA4}"/>
              </a:ext>
            </a:extLst>
          </p:cNvPr>
          <p:cNvCxnSpPr>
            <a:cxnSpLocks/>
            <a:stCxn id="1140" idx="2"/>
            <a:endCxn id="1063" idx="1"/>
          </p:cNvCxnSpPr>
          <p:nvPr/>
        </p:nvCxnSpPr>
        <p:spPr>
          <a:xfrm rot="16200000" flipH="1">
            <a:off x="5618407" y="4610757"/>
            <a:ext cx="599347" cy="345372"/>
          </a:xfrm>
          <a:prstGeom prst="bentConnector2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テキスト ボックス 1066">
            <a:extLst>
              <a:ext uri="{FF2B5EF4-FFF2-40B4-BE49-F238E27FC236}">
                <a16:creationId xmlns:a16="http://schemas.microsoft.com/office/drawing/2014/main" id="{B28D2A4D-DF72-12C2-1CA6-4541C6C447E8}"/>
              </a:ext>
            </a:extLst>
          </p:cNvPr>
          <p:cNvSpPr txBox="1"/>
          <p:nvPr/>
        </p:nvSpPr>
        <p:spPr>
          <a:xfrm>
            <a:off x="6254704" y="4868223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>
                <a:latin typeface="+mj-lt"/>
              </a:rPr>
              <a:t>ai21</a:t>
            </a:r>
            <a:r>
              <a:rPr kumimoji="1" lang="ja-JP" altLang="en-US" sz="1200">
                <a:latin typeface="+mj-lt"/>
              </a:rPr>
              <a:t>へ影響</a:t>
            </a:r>
            <a:endParaRPr kumimoji="1" lang="en-US" altLang="ja-JP" sz="1200">
              <a:latin typeface="+mj-lt"/>
            </a:endParaRPr>
          </a:p>
          <a:p>
            <a:pPr algn="ctr"/>
            <a:r>
              <a:rPr kumimoji="1" lang="ja-JP" altLang="en-US" sz="1200">
                <a:latin typeface="+mj-lt"/>
              </a:rPr>
              <a:t>を及ぼす</a:t>
            </a:r>
          </a:p>
        </p:txBody>
      </p:sp>
      <p:cxnSp>
        <p:nvCxnSpPr>
          <p:cNvPr id="1069" name="コネクタ: カギ線 1068">
            <a:extLst>
              <a:ext uri="{FF2B5EF4-FFF2-40B4-BE49-F238E27FC236}">
                <a16:creationId xmlns:a16="http://schemas.microsoft.com/office/drawing/2014/main" id="{5BF14BD4-6020-B7D3-00DE-F2B730E7B6EE}"/>
              </a:ext>
            </a:extLst>
          </p:cNvPr>
          <p:cNvCxnSpPr>
            <a:cxnSpLocks/>
            <a:stCxn id="1063" idx="3"/>
            <a:endCxn id="1108" idx="1"/>
          </p:cNvCxnSpPr>
          <p:nvPr/>
        </p:nvCxnSpPr>
        <p:spPr>
          <a:xfrm flipV="1">
            <a:off x="7415388" y="4094603"/>
            <a:ext cx="622032" cy="98851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テキスト ボックス 1071">
            <a:extLst>
              <a:ext uri="{FF2B5EF4-FFF2-40B4-BE49-F238E27FC236}">
                <a16:creationId xmlns:a16="http://schemas.microsoft.com/office/drawing/2014/main" id="{818DD7A7-9072-C4F3-CAB0-D56D47CBD7E5}"/>
              </a:ext>
            </a:extLst>
          </p:cNvPr>
          <p:cNvSpPr txBox="1"/>
          <p:nvPr/>
        </p:nvSpPr>
        <p:spPr>
          <a:xfrm>
            <a:off x="7217579" y="4734677"/>
            <a:ext cx="2580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YES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3" name="テキスト ボックス 1072">
            <a:extLst>
              <a:ext uri="{FF2B5EF4-FFF2-40B4-BE49-F238E27FC236}">
                <a16:creationId xmlns:a16="http://schemas.microsoft.com/office/drawing/2014/main" id="{CF6DCE7E-AEAE-313B-7AAA-EEC155B2789D}"/>
              </a:ext>
            </a:extLst>
          </p:cNvPr>
          <p:cNvSpPr txBox="1"/>
          <p:nvPr/>
        </p:nvSpPr>
        <p:spPr>
          <a:xfrm>
            <a:off x="6908919" y="5590609"/>
            <a:ext cx="2051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NO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09" name="コネクタ: カギ線 1108">
            <a:extLst>
              <a:ext uri="{FF2B5EF4-FFF2-40B4-BE49-F238E27FC236}">
                <a16:creationId xmlns:a16="http://schemas.microsoft.com/office/drawing/2014/main" id="{0F2DEC56-25EF-DE8D-AFB7-4F57CF874BE1}"/>
              </a:ext>
            </a:extLst>
          </p:cNvPr>
          <p:cNvCxnSpPr>
            <a:cxnSpLocks/>
            <a:stCxn id="1063" idx="2"/>
            <a:endCxn id="38" idx="2"/>
          </p:cNvCxnSpPr>
          <p:nvPr/>
        </p:nvCxnSpPr>
        <p:spPr>
          <a:xfrm rot="5400000" flipH="1">
            <a:off x="5096391" y="3723621"/>
            <a:ext cx="647523" cy="2665849"/>
          </a:xfrm>
          <a:prstGeom prst="bentConnector3">
            <a:avLst>
              <a:gd name="adj1" fmla="val -35304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" name="サブタイトル 2">
            <a:extLst>
              <a:ext uri="{FF2B5EF4-FFF2-40B4-BE49-F238E27FC236}">
                <a16:creationId xmlns:a16="http://schemas.microsoft.com/office/drawing/2014/main" id="{C80F452D-3328-0BC5-9CEB-4BD94E913327}"/>
              </a:ext>
            </a:extLst>
          </p:cNvPr>
          <p:cNvSpPr txBox="1">
            <a:spLocks/>
          </p:cNvSpPr>
          <p:nvPr/>
        </p:nvSpPr>
        <p:spPr>
          <a:xfrm>
            <a:off x="3976529" y="5232192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営業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40" name="フローチャート: 判断 1139">
            <a:extLst>
              <a:ext uri="{FF2B5EF4-FFF2-40B4-BE49-F238E27FC236}">
                <a16:creationId xmlns:a16="http://schemas.microsoft.com/office/drawing/2014/main" id="{A25E63E0-A783-F27E-B5AF-1495ABDCD5E5}"/>
              </a:ext>
            </a:extLst>
          </p:cNvPr>
          <p:cNvSpPr/>
          <p:nvPr/>
        </p:nvSpPr>
        <p:spPr>
          <a:xfrm>
            <a:off x="5083083" y="3889392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45" name="コネクタ: カギ線 1144">
            <a:extLst>
              <a:ext uri="{FF2B5EF4-FFF2-40B4-BE49-F238E27FC236}">
                <a16:creationId xmlns:a16="http://schemas.microsoft.com/office/drawing/2014/main" id="{3F8D7447-6EF5-D69C-1857-23F11170EDA9}"/>
              </a:ext>
            </a:extLst>
          </p:cNvPr>
          <p:cNvCxnSpPr>
            <a:cxnSpLocks/>
            <a:stCxn id="38" idx="3"/>
            <a:endCxn id="1140" idx="1"/>
          </p:cNvCxnSpPr>
          <p:nvPr/>
        </p:nvCxnSpPr>
        <p:spPr>
          <a:xfrm flipV="1">
            <a:off x="4890074" y="4186581"/>
            <a:ext cx="193009" cy="1587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8" name="テキスト ボックス 1147">
            <a:extLst>
              <a:ext uri="{FF2B5EF4-FFF2-40B4-BE49-F238E27FC236}">
                <a16:creationId xmlns:a16="http://schemas.microsoft.com/office/drawing/2014/main" id="{6AB890C5-6962-B2C9-A811-3A27E5E40DAA}"/>
              </a:ext>
            </a:extLst>
          </p:cNvPr>
          <p:cNvSpPr txBox="1"/>
          <p:nvPr/>
        </p:nvSpPr>
        <p:spPr>
          <a:xfrm>
            <a:off x="5260503" y="4051356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>
                <a:latin typeface="+mj-lt"/>
              </a:rPr>
              <a:t>長期連休*か</a:t>
            </a:r>
          </a:p>
        </p:txBody>
      </p:sp>
      <p:sp>
        <p:nvSpPr>
          <p:cNvPr id="1151" name="サブタイトル 2">
            <a:extLst>
              <a:ext uri="{FF2B5EF4-FFF2-40B4-BE49-F238E27FC236}">
                <a16:creationId xmlns:a16="http://schemas.microsoft.com/office/drawing/2014/main" id="{9DC6B812-351C-D179-17AB-FAC921EEA152}"/>
              </a:ext>
            </a:extLst>
          </p:cNvPr>
          <p:cNvSpPr txBox="1">
            <a:spLocks/>
          </p:cNvSpPr>
          <p:nvPr/>
        </p:nvSpPr>
        <p:spPr>
          <a:xfrm>
            <a:off x="6090766" y="3836374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以外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59" name="四角形: 角を丸くする 1158">
            <a:extLst>
              <a:ext uri="{FF2B5EF4-FFF2-40B4-BE49-F238E27FC236}">
                <a16:creationId xmlns:a16="http://schemas.microsoft.com/office/drawing/2014/main" id="{8808F665-7E34-18B9-8A59-62D75BDB480E}"/>
              </a:ext>
            </a:extLst>
          </p:cNvPr>
          <p:cNvSpPr/>
          <p:nvPr/>
        </p:nvSpPr>
        <p:spPr>
          <a:xfrm>
            <a:off x="6297159" y="6355063"/>
            <a:ext cx="1699619" cy="358511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Oracle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：鈴木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60" name="四角形: 角を丸くする 1159">
            <a:extLst>
              <a:ext uri="{FF2B5EF4-FFF2-40B4-BE49-F238E27FC236}">
                <a16:creationId xmlns:a16="http://schemas.microsoft.com/office/drawing/2014/main" id="{A51651D3-5FBC-A405-BB11-B5D7DB6D2E31}"/>
              </a:ext>
            </a:extLst>
          </p:cNvPr>
          <p:cNvSpPr/>
          <p:nvPr/>
        </p:nvSpPr>
        <p:spPr>
          <a:xfrm>
            <a:off x="6297159" y="6036724"/>
            <a:ext cx="1699619" cy="26800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Ai21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レプリカ：突元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6" name="四角形: 角を丸くする 1175">
            <a:extLst>
              <a:ext uri="{FF2B5EF4-FFF2-40B4-BE49-F238E27FC236}">
                <a16:creationId xmlns:a16="http://schemas.microsoft.com/office/drawing/2014/main" id="{C5A75C4C-9AAC-E652-0878-2DDFE9E1C440}"/>
              </a:ext>
            </a:extLst>
          </p:cNvPr>
          <p:cNvSpPr/>
          <p:nvPr/>
        </p:nvSpPr>
        <p:spPr>
          <a:xfrm>
            <a:off x="8147853" y="5308483"/>
            <a:ext cx="2657540" cy="79523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楊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(xinyu_yang_za@toyotec-jp.com)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rgbClr val="FF0000"/>
                </a:solidFill>
                <a:latin typeface="+mj-lt"/>
              </a:rPr>
              <a:t>三ツ井</a:t>
            </a:r>
            <a:r>
              <a:rPr lang="en-US" altLang="ja-JP" sz="800">
                <a:solidFill>
                  <a:srgbClr val="FF0000"/>
                </a:solidFill>
                <a:latin typeface="+mj-lt"/>
              </a:rPr>
              <a:t>(ryouta_mitsui_za@toyotec-jp.com)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大森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(nobuyuki_omori@toyotec-jp.com)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81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DDE0C3A-45FF-3A77-69BD-EFA418EFD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27" y="3425395"/>
            <a:ext cx="561746" cy="31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2" name="四角形: 角を丸くする 1181">
            <a:extLst>
              <a:ext uri="{FF2B5EF4-FFF2-40B4-BE49-F238E27FC236}">
                <a16:creationId xmlns:a16="http://schemas.microsoft.com/office/drawing/2014/main" id="{E27CF860-6DA8-947C-E14A-DA4380AE7E82}"/>
              </a:ext>
            </a:extLst>
          </p:cNvPr>
          <p:cNvSpPr/>
          <p:nvPr/>
        </p:nvSpPr>
        <p:spPr>
          <a:xfrm>
            <a:off x="8145501" y="4244385"/>
            <a:ext cx="2659892" cy="740170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rgbClr val="FF0000"/>
                </a:solidFill>
                <a:latin typeface="+mj-lt"/>
              </a:rPr>
              <a:t>三ツ井</a:t>
            </a:r>
            <a:r>
              <a:rPr lang="en-US" altLang="ja-JP" sz="800">
                <a:solidFill>
                  <a:srgbClr val="FF0000"/>
                </a:solidFill>
                <a:latin typeface="+mj-lt"/>
              </a:rPr>
              <a:t>(ryouta_mitsui_za@toyotec-jp.com)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周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(zhou_kai_za@toyotec-jp.com)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鄭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(zheng_shuxi_za@toyotec-jp.com)</a:t>
            </a:r>
          </a:p>
        </p:txBody>
      </p:sp>
      <p:sp>
        <p:nvSpPr>
          <p:cNvPr id="1187" name="テキスト ボックス 1186">
            <a:extLst>
              <a:ext uri="{FF2B5EF4-FFF2-40B4-BE49-F238E27FC236}">
                <a16:creationId xmlns:a16="http://schemas.microsoft.com/office/drawing/2014/main" id="{4F5FEEFF-62EC-4077-0924-99B40F4177BE}"/>
              </a:ext>
            </a:extLst>
          </p:cNvPr>
          <p:cNvSpPr txBox="1"/>
          <p:nvPr/>
        </p:nvSpPr>
        <p:spPr>
          <a:xfrm>
            <a:off x="8138223" y="4024391"/>
            <a:ext cx="73382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9" name="吹き出し: 角を丸めた四角形 1188">
            <a:extLst>
              <a:ext uri="{FF2B5EF4-FFF2-40B4-BE49-F238E27FC236}">
                <a16:creationId xmlns:a16="http://schemas.microsoft.com/office/drawing/2014/main" id="{3737DE34-3CF2-6671-C117-CE7739D57FF4}"/>
              </a:ext>
            </a:extLst>
          </p:cNvPr>
          <p:cNvSpPr/>
          <p:nvPr/>
        </p:nvSpPr>
        <p:spPr>
          <a:xfrm>
            <a:off x="3483689" y="2302961"/>
            <a:ext cx="3140910" cy="1303657"/>
          </a:xfrm>
          <a:prstGeom prst="wedgeRoundRectCallout">
            <a:avLst>
              <a:gd name="adj1" fmla="val -36697"/>
              <a:gd name="adj2" fmla="val 5973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+mj-lt"/>
              </a:rPr>
              <a:t>アラート用チャネルに自動転送</a:t>
            </a:r>
            <a:endParaRPr kumimoji="1" lang="en-US" altLang="ja-JP" sz="1100">
              <a:solidFill>
                <a:schemeClr val="tx1"/>
              </a:solidFill>
              <a:latin typeface="+mj-lt"/>
            </a:endParaRPr>
          </a:p>
          <a:p>
            <a:r>
              <a:rPr lang="ja-JP" altLang="en-US" sz="700">
                <a:solidFill>
                  <a:schemeClr val="tx1"/>
                </a:solidFill>
                <a:latin typeface="+mj-lt"/>
              </a:rPr>
              <a:t>11_OCIアラート共有 - TEC_U-SLIM（基盤検証） </a:t>
            </a:r>
            <a:r>
              <a:rPr lang="ja-JP" altLang="en-US" sz="700">
                <a:solidFill>
                  <a:schemeClr val="tx1"/>
                </a:solidFill>
                <a:latin typeface="+mj-lt"/>
                <a:hlinkClick r:id="rId4"/>
              </a:rPr>
              <a:t>424d87e6.tatgroup.onmicrosoft.com@jp.teams.ms</a:t>
            </a:r>
            <a:endParaRPr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12_CDP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5"/>
              </a:rPr>
              <a:t>c31c0289.tatgroup.onmicrosoft.com@jp.teams.ms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13_WebApp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6"/>
              </a:rPr>
              <a:t>f88b021c.tatgroup.onmicrosoft.com@jp.teams.ms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30_Neo_OGG_HB30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分間遅延通知用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7"/>
              </a:rPr>
              <a:t>2a3528b1.tatgroup.onmicrosoft.com@jp.teams.ms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40_Ai21_tblagmon30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分間遅延通知用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8"/>
              </a:rPr>
              <a:t>283f4dc8.tatgroup.onmicrosoft.com@jp.teams.ms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94" name="テキスト ボックス 1193">
            <a:extLst>
              <a:ext uri="{FF2B5EF4-FFF2-40B4-BE49-F238E27FC236}">
                <a16:creationId xmlns:a16="http://schemas.microsoft.com/office/drawing/2014/main" id="{1326F891-9DE3-CB39-A9EB-85E2F468E4CC}"/>
              </a:ext>
            </a:extLst>
          </p:cNvPr>
          <p:cNvSpPr txBox="1"/>
          <p:nvPr/>
        </p:nvSpPr>
        <p:spPr>
          <a:xfrm>
            <a:off x="8085464" y="2001303"/>
            <a:ext cx="1307621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</a:p>
        </p:txBody>
      </p:sp>
      <p:sp>
        <p:nvSpPr>
          <p:cNvPr id="1195" name="テキスト ボックス 1194">
            <a:extLst>
              <a:ext uri="{FF2B5EF4-FFF2-40B4-BE49-F238E27FC236}">
                <a16:creationId xmlns:a16="http://schemas.microsoft.com/office/drawing/2014/main" id="{C2712B66-2011-D0F3-0E1C-00C0239F7DFC}"/>
              </a:ext>
            </a:extLst>
          </p:cNvPr>
          <p:cNvSpPr txBox="1"/>
          <p:nvPr/>
        </p:nvSpPr>
        <p:spPr>
          <a:xfrm>
            <a:off x="8172816" y="5102977"/>
            <a:ext cx="665247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6" name="テキスト ボックス 1195">
            <a:extLst>
              <a:ext uri="{FF2B5EF4-FFF2-40B4-BE49-F238E27FC236}">
                <a16:creationId xmlns:a16="http://schemas.microsoft.com/office/drawing/2014/main" id="{D8E6D671-2EB2-E38D-EE7C-FCD48F0556BB}"/>
              </a:ext>
            </a:extLst>
          </p:cNvPr>
          <p:cNvSpPr txBox="1"/>
          <p:nvPr/>
        </p:nvSpPr>
        <p:spPr>
          <a:xfrm>
            <a:off x="6311160" y="5754821"/>
            <a:ext cx="43281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サポート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9" name="矢印: 折線 1198">
            <a:extLst>
              <a:ext uri="{FF2B5EF4-FFF2-40B4-BE49-F238E27FC236}">
                <a16:creationId xmlns:a16="http://schemas.microsoft.com/office/drawing/2014/main" id="{AC5BB5CB-538F-265F-4F77-84EDABF289BB}"/>
              </a:ext>
            </a:extLst>
          </p:cNvPr>
          <p:cNvSpPr/>
          <p:nvPr/>
        </p:nvSpPr>
        <p:spPr>
          <a:xfrm>
            <a:off x="2318321" y="2903652"/>
            <a:ext cx="1158932" cy="547347"/>
          </a:xfrm>
          <a:prstGeom prst="bentArrow">
            <a:avLst>
              <a:gd name="adj1" fmla="val 31565"/>
              <a:gd name="adj2" fmla="val 25156"/>
              <a:gd name="adj3" fmla="val 26696"/>
              <a:gd name="adj4" fmla="val 3767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E8B557C-6693-AC93-2EE3-BD3FA5581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019" y="295136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713C48F8-8178-F436-42BB-109CB6BC0E12}"/>
              </a:ext>
            </a:extLst>
          </p:cNvPr>
          <p:cNvCxnSpPr>
            <a:cxnSpLocks/>
            <a:stCxn id="1108" idx="3"/>
            <a:endCxn id="1200" idx="1"/>
          </p:cNvCxnSpPr>
          <p:nvPr/>
        </p:nvCxnSpPr>
        <p:spPr>
          <a:xfrm flipV="1">
            <a:off x="11015421" y="3193245"/>
            <a:ext cx="291598" cy="90135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5B4EB419-52BF-29F3-5695-9FA05E6D1E58}"/>
              </a:ext>
            </a:extLst>
          </p:cNvPr>
          <p:cNvSpPr txBox="1"/>
          <p:nvPr/>
        </p:nvSpPr>
        <p:spPr>
          <a:xfrm>
            <a:off x="11338190" y="3479712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70C95B77-129C-32C9-864C-E3D1AC87387A}"/>
              </a:ext>
            </a:extLst>
          </p:cNvPr>
          <p:cNvSpPr/>
          <p:nvPr/>
        </p:nvSpPr>
        <p:spPr>
          <a:xfrm>
            <a:off x="5220715" y="1643142"/>
            <a:ext cx="2759549" cy="591911"/>
          </a:xfrm>
          <a:prstGeom prst="wedgeRoundRectCallout">
            <a:avLst>
              <a:gd name="adj1" fmla="val 36203"/>
              <a:gd name="adj2" fmla="val 24051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+mj-lt"/>
              </a:rPr>
              <a:t>アラート監視共有チャネルで対応依頼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6544743F-3E2E-F637-CAA9-0C89DE9AFCC6}"/>
              </a:ext>
            </a:extLst>
          </p:cNvPr>
          <p:cNvSpPr/>
          <p:nvPr/>
        </p:nvSpPr>
        <p:spPr>
          <a:xfrm>
            <a:off x="11082675" y="4183308"/>
            <a:ext cx="1084362" cy="1507221"/>
          </a:xfrm>
          <a:prstGeom prst="wedgeRoundRectCallout">
            <a:avLst>
              <a:gd name="adj1" fmla="val 9628"/>
              <a:gd name="adj2" fmla="val -7387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担当者が対応と報告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0348D8-121B-5DDF-BF9B-2FBFBFD0A7DC}"/>
              </a:ext>
            </a:extLst>
          </p:cNvPr>
          <p:cNvSpPr txBox="1"/>
          <p:nvPr/>
        </p:nvSpPr>
        <p:spPr>
          <a:xfrm>
            <a:off x="8145501" y="3103512"/>
            <a:ext cx="1006663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、差分連携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2AE2C90D-A89C-FD8B-F22B-0D5F0971FB68}"/>
              </a:ext>
            </a:extLst>
          </p:cNvPr>
          <p:cNvSpPr/>
          <p:nvPr/>
        </p:nvSpPr>
        <p:spPr>
          <a:xfrm>
            <a:off x="8103186" y="2217227"/>
            <a:ext cx="2724901" cy="70710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(xiao_haobo_za@toyotec-jp.com)</a:t>
            </a:r>
          </a:p>
          <a:p>
            <a:r>
              <a:rPr lang="zh-CN" altLang="en-US" sz="1400">
                <a:solidFill>
                  <a:srgbClr val="FF0000"/>
                </a:solidFill>
              </a:rPr>
              <a:t>倪</a:t>
            </a:r>
            <a:r>
              <a:rPr lang="en-US" altLang="ja-JP" sz="800">
                <a:solidFill>
                  <a:srgbClr val="FF0000"/>
                </a:solidFill>
              </a:rPr>
              <a:t>(haoli_ni_za@toyotec-jp.com)</a:t>
            </a:r>
            <a:endParaRPr lang="en-US" altLang="ja-JP" sz="800">
              <a:solidFill>
                <a:srgbClr val="FF0000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西村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(souma_nishimura_za@toyotec-jp.com)</a:t>
            </a:r>
            <a:endParaRPr lang="en-US" altLang="ja-JP" sz="800">
              <a:solidFill>
                <a:schemeClr val="tx1"/>
              </a:solidFill>
            </a:endParaRPr>
          </a:p>
        </p:txBody>
      </p:sp>
      <p:pic>
        <p:nvPicPr>
          <p:cNvPr id="23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5D35D5D1-E607-9E7B-C9F3-376D54876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027" y="5271061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CD83A80-6418-A840-840A-3962FF79640B}"/>
              </a:ext>
            </a:extLst>
          </p:cNvPr>
          <p:cNvSpPr txBox="1"/>
          <p:nvPr/>
        </p:nvSpPr>
        <p:spPr>
          <a:xfrm>
            <a:off x="4933027" y="5834765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86D520ED-5078-60E0-ECEE-6F8F07FEAFBF}"/>
              </a:ext>
            </a:extLst>
          </p:cNvPr>
          <p:cNvSpPr/>
          <p:nvPr/>
        </p:nvSpPr>
        <p:spPr>
          <a:xfrm>
            <a:off x="2318321" y="6243132"/>
            <a:ext cx="2892296" cy="505059"/>
          </a:xfrm>
          <a:prstGeom prst="wedgeRoundRectCallout">
            <a:avLst>
              <a:gd name="adj1" fmla="val 37918"/>
              <a:gd name="adj2" fmla="val -8928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担当者が状況報告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サブタイトル 2">
            <a:extLst>
              <a:ext uri="{FF2B5EF4-FFF2-40B4-BE49-F238E27FC236}">
                <a16:creationId xmlns:a16="http://schemas.microsoft.com/office/drawing/2014/main" id="{65B9E60C-3BD6-6EDD-2F85-8182DB7959F3}"/>
              </a:ext>
            </a:extLst>
          </p:cNvPr>
          <p:cNvSpPr txBox="1">
            <a:spLocks/>
          </p:cNvSpPr>
          <p:nvPr/>
        </p:nvSpPr>
        <p:spPr>
          <a:xfrm>
            <a:off x="8486340" y="754279"/>
            <a:ext cx="3377171" cy="3789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*長期連休：土曜を含む連続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4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日以上の休日が重なる場合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997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5090E7-6FC8-A6CD-AC71-E04FEC8D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C00E-9C5A-8E4F-FFD1-3538906F083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ja-JP" altLang="en-US"/>
              <a:t>関係者体制（</a:t>
            </a:r>
            <a:r>
              <a:rPr kumimoji="1" lang="en-US" altLang="ja-JP"/>
              <a:t>TMC</a:t>
            </a:r>
            <a:r>
              <a:rPr kumimoji="1" lang="ja-JP" altLang="en-US"/>
              <a:t>レプリカ）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9F1943-C9E7-D168-7BF3-46791A03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7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41D2D05D-12DD-6C8C-D305-390B4294AE94}"/>
              </a:ext>
            </a:extLst>
          </p:cNvPr>
          <p:cNvGraphicFramePr>
            <a:graphicFrameLocks noGrp="1"/>
          </p:cNvGraphicFramePr>
          <p:nvPr/>
        </p:nvGraphicFramePr>
        <p:xfrm>
          <a:off x="228137" y="1088172"/>
          <a:ext cx="4402052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91">
                  <a:extLst>
                    <a:ext uri="{9D8B030D-6E8A-4147-A177-3AD203B41FA5}">
                      <a16:colId xmlns:a16="http://schemas.microsoft.com/office/drawing/2014/main" val="2181852103"/>
                    </a:ext>
                  </a:extLst>
                </a:gridCol>
                <a:gridCol w="1616591">
                  <a:extLst>
                    <a:ext uri="{9D8B030D-6E8A-4147-A177-3AD203B41FA5}">
                      <a16:colId xmlns:a16="http://schemas.microsoft.com/office/drawing/2014/main" val="1737755503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4172249749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1727051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要員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連絡先</a:t>
                      </a:r>
                      <a:r>
                        <a:rPr kumimoji="1" lang="en-US" altLang="ja-JP" sz="1400"/>
                        <a:t>(</a:t>
                      </a:r>
                      <a:r>
                        <a:rPr kumimoji="1" lang="ja-JP" altLang="en-US" sz="1400"/>
                        <a:t>窓口のみ</a:t>
                      </a:r>
                      <a:r>
                        <a:rPr kumimoji="1" lang="en-US" altLang="ja-JP" sz="1400"/>
                        <a:t>)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担当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400"/>
                        <a:t>突元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/>
                        <a:t>090-6850-0450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/>
                        <a:t>〇</a:t>
                      </a:r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6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72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57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14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44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863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915822"/>
                  </a:ext>
                </a:extLst>
              </a:tr>
            </a:tbl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7A5BC0F-992B-A74B-D9AA-46D06200409B}"/>
              </a:ext>
            </a:extLst>
          </p:cNvPr>
          <p:cNvSpPr txBox="1"/>
          <p:nvPr/>
        </p:nvSpPr>
        <p:spPr>
          <a:xfrm>
            <a:off x="228137" y="718840"/>
            <a:ext cx="144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ai21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レプリカ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B7B74BD-8D7E-5AAD-65E1-FD93DBD39932}"/>
              </a:ext>
            </a:extLst>
          </p:cNvPr>
          <p:cNvSpPr txBox="1"/>
          <p:nvPr/>
        </p:nvSpPr>
        <p:spPr>
          <a:xfrm>
            <a:off x="228137" y="3709833"/>
            <a:ext cx="144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NEO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レプリカ</a:t>
            </a:r>
          </a:p>
        </p:txBody>
      </p:sp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66911F74-7FF8-3C85-F412-E30E90EB668E}"/>
              </a:ext>
            </a:extLst>
          </p:cNvPr>
          <p:cNvGraphicFramePr>
            <a:graphicFrameLocks noGrp="1"/>
          </p:cNvGraphicFramePr>
          <p:nvPr/>
        </p:nvGraphicFramePr>
        <p:xfrm>
          <a:off x="6343046" y="1293245"/>
          <a:ext cx="553924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対応体制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対応者役割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左記参照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/>
                        <a:t>左記参照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連絡経路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窓口経由で担当者に連絡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窓口経由で担当者に連絡</a:t>
                      </a:r>
                    </a:p>
                    <a:p>
                      <a:pPr lvl="0">
                        <a:buNone/>
                      </a:pP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代替要員有無と連絡方法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 </a:t>
                      </a:r>
                      <a:r>
                        <a:rPr kumimoji="1" lang="ja-JP" altLang="en-US" sz="1100"/>
                        <a:t>●●経由で内部連携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Slack、Teams経由で内部連絡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0937"/>
                  </a:ext>
                </a:extLst>
              </a:tr>
            </a:tbl>
          </a:graphicData>
        </a:graphic>
      </p:graphicFrame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55DEEBA8-FFB2-9E71-A690-170BD092DAD5}"/>
              </a:ext>
            </a:extLst>
          </p:cNvPr>
          <p:cNvGraphicFramePr>
            <a:graphicFrameLocks noGrp="1"/>
          </p:cNvGraphicFramePr>
          <p:nvPr/>
        </p:nvGraphicFramePr>
        <p:xfrm>
          <a:off x="6343046" y="2752513"/>
          <a:ext cx="553924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対応時間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100"/>
                        <a:t>対応可能な時間帯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>
                          <a:latin typeface="+mj-ea"/>
                          <a:ea typeface="+mj-ea"/>
                        </a:rPr>
                        <a:t>例</a:t>
                      </a:r>
                      <a:r>
                        <a:rPr lang="en-US" altLang="ja-JP" sz="1100">
                          <a:latin typeface="+mj-ea"/>
                          <a:ea typeface="+mj-ea"/>
                        </a:rPr>
                        <a:t>)9:00〜18:00</a:t>
                      </a:r>
                      <a:r>
                        <a:rPr lang="ja-JP" altLang="en-US" sz="1100">
                          <a:latin typeface="+mj-ea"/>
                          <a:ea typeface="+mj-ea"/>
                        </a:rPr>
                        <a:t>、緊急時は</a:t>
                      </a:r>
                      <a:r>
                        <a:rPr lang="en-US" altLang="ja-JP" sz="1100">
                          <a:latin typeface="+mj-ea"/>
                          <a:ea typeface="+mj-ea"/>
                        </a:rPr>
                        <a:t>24</a:t>
                      </a:r>
                      <a:r>
                        <a:rPr lang="ja-JP" altLang="en-US" sz="1100">
                          <a:latin typeface="+mj-ea"/>
                          <a:ea typeface="+mj-ea"/>
                        </a:rPr>
                        <a:t>時間</a:t>
                      </a:r>
                      <a:endParaRPr kumimoji="1" lang="ja-JP" altLang="en-US" sz="110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ja-JP" altLang="en-US" sz="1100"/>
                        <a:t>休日夜間はBest Effortのため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100"/>
                        <a:t>時間外対応の条件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lang="ja-JP" altLang="en-US" sz="1100"/>
                        <a:t>重大障害のみ、顧客要請時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重大障害のみ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BC162751-6555-8C7A-00B9-EF969298D4D2}"/>
              </a:ext>
            </a:extLst>
          </p:cNvPr>
          <p:cNvGraphicFramePr>
            <a:graphicFrameLocks noGrp="1"/>
          </p:cNvGraphicFramePr>
          <p:nvPr/>
        </p:nvGraphicFramePr>
        <p:xfrm>
          <a:off x="6343046" y="3982296"/>
          <a:ext cx="5539249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1100">
                          <a:solidFill>
                            <a:schemeClr val="tx1"/>
                          </a:solidFill>
                        </a:rPr>
                        <a:t>連絡手段</a:t>
                      </a:r>
                      <a:endParaRPr kumimoji="1" lang="en-US" altLang="ja-JP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使用するツール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電話、メール、</a:t>
                      </a:r>
                      <a:r>
                        <a:rPr kumimoji="1" lang="en-US" altLang="ja-JP" sz="1100"/>
                        <a:t>Teams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ja-JP" altLang="en-US" sz="1100"/>
                        <a:t>電話、Teams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連絡の優先順位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まずチャット、次に電話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1100"/>
                        <a:t>電話とTeams両方に連絡下さい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BCA62658-1962-9EDB-B2BC-4613AB9AA42B}"/>
              </a:ext>
            </a:extLst>
          </p:cNvPr>
          <p:cNvGraphicFramePr>
            <a:graphicFrameLocks noGrp="1"/>
          </p:cNvGraphicFramePr>
          <p:nvPr/>
        </p:nvGraphicFramePr>
        <p:xfrm>
          <a:off x="228137" y="4151031"/>
          <a:ext cx="4402052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91">
                  <a:extLst>
                    <a:ext uri="{9D8B030D-6E8A-4147-A177-3AD203B41FA5}">
                      <a16:colId xmlns:a16="http://schemas.microsoft.com/office/drawing/2014/main" val="2181852103"/>
                    </a:ext>
                  </a:extLst>
                </a:gridCol>
                <a:gridCol w="1616591">
                  <a:extLst>
                    <a:ext uri="{9D8B030D-6E8A-4147-A177-3AD203B41FA5}">
                      <a16:colId xmlns:a16="http://schemas.microsoft.com/office/drawing/2014/main" val="1737755503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4172249749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1727051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要員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連絡先</a:t>
                      </a:r>
                      <a:r>
                        <a:rPr kumimoji="1" lang="en-US" altLang="ja-JP" sz="1400"/>
                        <a:t>(</a:t>
                      </a:r>
                      <a:r>
                        <a:rPr kumimoji="1" lang="ja-JP" altLang="en-US" sz="1400"/>
                        <a:t>窓口のみ</a:t>
                      </a:r>
                      <a:r>
                        <a:rPr kumimoji="1" lang="en-US" altLang="ja-JP" sz="1400"/>
                        <a:t>)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担当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400"/>
                        <a:t>中森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latin typeface="Arial"/>
                        </a:rPr>
                        <a:t>080-6189-3373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〇</a:t>
                      </a:r>
                      <a:endParaRPr kumimoji="1" lang="en-US" altLang="ja-JP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6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突元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090-6850-0450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〇</a:t>
                      </a:r>
                      <a:endParaRPr kumimoji="1" lang="en-US" altLang="ja-JP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72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57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14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44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49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007728"/>
                  </a:ext>
                </a:extLst>
              </a:tr>
            </a:tbl>
          </a:graphicData>
        </a:graphic>
      </p:graphicFrame>
      <p:graphicFrame>
        <p:nvGraphicFramePr>
          <p:cNvPr id="28" name="表 27">
            <a:extLst>
              <a:ext uri="{FF2B5EF4-FFF2-40B4-BE49-F238E27FC236}">
                <a16:creationId xmlns:a16="http://schemas.microsoft.com/office/drawing/2014/main" id="{88DC50F4-2BB4-967C-FDFB-4A65C364D740}"/>
              </a:ext>
            </a:extLst>
          </p:cNvPr>
          <p:cNvGraphicFramePr>
            <a:graphicFrameLocks noGrp="1"/>
          </p:cNvGraphicFramePr>
          <p:nvPr/>
        </p:nvGraphicFramePr>
        <p:xfrm>
          <a:off x="6343045" y="5120215"/>
          <a:ext cx="5539249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対応基準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対応すべき事象の定義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システム停止、データ損失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/>
                        <a:t>システム停止、データ損失、データ遅延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その他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なにかあれば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2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28A68-612F-10EE-A59F-E00D2014B83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en-US" altLang="ja-JP"/>
              <a:t>2026</a:t>
            </a:r>
            <a:r>
              <a:rPr kumimoji="1" lang="ja-JP" altLang="en-US"/>
              <a:t>年</a:t>
            </a:r>
            <a:r>
              <a:rPr kumimoji="1" lang="en-US" altLang="ja-JP"/>
              <a:t>GW</a:t>
            </a:r>
            <a:r>
              <a:rPr kumimoji="1" lang="ja-JP" altLang="en-US"/>
              <a:t>休暇体制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8BCDE3-A4F9-4AC1-552A-18611598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8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0DF1DED-D4C6-4179-2DFE-12310B0BD2BF}"/>
              </a:ext>
            </a:extLst>
          </p:cNvPr>
          <p:cNvGraphicFramePr>
            <a:graphicFrameLocks noGrp="1"/>
          </p:cNvGraphicFramePr>
          <p:nvPr/>
        </p:nvGraphicFramePr>
        <p:xfrm>
          <a:off x="660108" y="971348"/>
          <a:ext cx="11018083" cy="3287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312">
                  <a:extLst>
                    <a:ext uri="{9D8B030D-6E8A-4147-A177-3AD203B41FA5}">
                      <a16:colId xmlns:a16="http://schemas.microsoft.com/office/drawing/2014/main" val="1301179436"/>
                    </a:ext>
                  </a:extLst>
                </a:gridCol>
                <a:gridCol w="708933">
                  <a:extLst>
                    <a:ext uri="{9D8B030D-6E8A-4147-A177-3AD203B41FA5}">
                      <a16:colId xmlns:a16="http://schemas.microsoft.com/office/drawing/2014/main" val="1684122932"/>
                    </a:ext>
                  </a:extLst>
                </a:gridCol>
                <a:gridCol w="1010174">
                  <a:extLst>
                    <a:ext uri="{9D8B030D-6E8A-4147-A177-3AD203B41FA5}">
                      <a16:colId xmlns:a16="http://schemas.microsoft.com/office/drawing/2014/main" val="105864171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3635948449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2118028620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2458838299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4265056242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652584557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1429374823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3082463893"/>
                    </a:ext>
                  </a:extLst>
                </a:gridCol>
                <a:gridCol w="1010458">
                  <a:extLst>
                    <a:ext uri="{9D8B030D-6E8A-4147-A177-3AD203B41FA5}">
                      <a16:colId xmlns:a16="http://schemas.microsoft.com/office/drawing/2014/main" val="2269595572"/>
                    </a:ext>
                  </a:extLst>
                </a:gridCol>
              </a:tblGrid>
              <a:tr h="4182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GW</a:t>
                      </a:r>
                      <a:r>
                        <a:rPr lang="ja-JP" alt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休暇体制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4/28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4/29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4/30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5/1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5/2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5/3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5/4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5/5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5/6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684008"/>
                  </a:ext>
                </a:extLst>
              </a:tr>
              <a:tr h="203600">
                <a:tc gridSpan="2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48644"/>
                  </a:ext>
                </a:extLst>
              </a:tr>
              <a:tr h="333164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CDP</a:t>
                      </a:r>
                    </a:p>
                    <a:p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604035"/>
                  </a:ext>
                </a:extLst>
              </a:tr>
              <a:tr h="33316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>
                          <a:latin typeface="+mj-lt"/>
                        </a:rPr>
                        <a:t>肖／</a:t>
                      </a:r>
                      <a:r>
                        <a:rPr kumimoji="1" lang="zh-CN" altLang="en-US" sz="1050">
                          <a:latin typeface="+mj-lt"/>
                        </a:rPr>
                        <a:t>倪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</a:t>
                      </a:r>
                      <a:r>
                        <a:rPr kumimoji="1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倪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229782"/>
                  </a:ext>
                </a:extLst>
              </a:tr>
              <a:tr h="333164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OCI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684946"/>
                  </a:ext>
                </a:extLst>
              </a:tr>
              <a:tr h="33316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王／肖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62108"/>
                  </a:ext>
                </a:extLst>
              </a:tr>
              <a:tr h="333164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WebApp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69359"/>
                  </a:ext>
                </a:extLst>
              </a:tr>
              <a:tr h="33316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三ツ井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杉浦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杉浦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杉浦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筒井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748871"/>
                  </a:ext>
                </a:extLst>
              </a:tr>
              <a:tr h="333164">
                <a:tc rowSpan="2">
                  <a:txBody>
                    <a:bodyPr/>
                    <a:lstStyle/>
                    <a:p>
                      <a:r>
                        <a:rPr kumimoji="1" lang="en-US" altLang="ja-JP" sz="1200" err="1">
                          <a:latin typeface="+mj-lt"/>
                        </a:rPr>
                        <a:t>AzureNW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079880"/>
                  </a:ext>
                </a:extLst>
              </a:tr>
              <a:tr h="333164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三ツ井／楊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2451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A470D41-51A1-0487-914B-5FC09B6F92A5}"/>
              </a:ext>
            </a:extLst>
          </p:cNvPr>
          <p:cNvSpPr txBox="1"/>
          <p:nvPr/>
        </p:nvSpPr>
        <p:spPr>
          <a:xfrm>
            <a:off x="660108" y="4535061"/>
            <a:ext cx="7739149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>
                <a:latin typeface="+mn-ea"/>
              </a:rPr>
              <a:t>GW</a:t>
            </a:r>
            <a:r>
              <a:rPr kumimoji="1" lang="ja-JP" altLang="en-US">
                <a:latin typeface="+mn-ea"/>
              </a:rPr>
              <a:t>休暇期間は、各環境の</a:t>
            </a:r>
            <a:r>
              <a:rPr lang="ja-JP" altLang="en-US">
                <a:latin typeface="+mn-ea"/>
              </a:rPr>
              <a:t>アラート窓口が定期チェックを実施</a:t>
            </a:r>
            <a:endParaRPr kumimoji="1" lang="ja-JP" altLang="en-US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確認者：</a:t>
            </a:r>
            <a:r>
              <a:rPr kumimoji="1" lang="en-US" altLang="ja-JP">
                <a:latin typeface="+mn-ea"/>
              </a:rPr>
              <a:t>Teams</a:t>
            </a:r>
            <a:r>
              <a:rPr lang="ja-JP" altLang="en-US">
                <a:latin typeface="+mn-ea"/>
              </a:rPr>
              <a:t>チャネルに参加している</a:t>
            </a:r>
            <a:r>
              <a:rPr kumimoji="1" lang="ja-JP" altLang="en-US">
                <a:latin typeface="+mn-ea"/>
              </a:rPr>
              <a:t>窓口担当</a:t>
            </a:r>
            <a:endParaRPr kumimoji="1" lang="en-US" altLang="ja-JP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アラートチェック：</a:t>
            </a:r>
            <a:r>
              <a:rPr lang="ja-JP" altLang="en-US">
                <a:latin typeface="+mn-ea"/>
              </a:rPr>
              <a:t>9時～、</a:t>
            </a:r>
            <a:endParaRPr lang="en-US" altLang="ja-JP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報告手段：</a:t>
            </a:r>
            <a:r>
              <a:rPr kumimoji="1" lang="en-US" altLang="ja-JP">
                <a:latin typeface="+mn-ea"/>
              </a:rPr>
              <a:t>Teams</a:t>
            </a:r>
            <a:r>
              <a:rPr kumimoji="1" lang="ja-JP" altLang="en-US">
                <a:latin typeface="+mn-ea"/>
              </a:rPr>
              <a:t>チャネル投稿</a:t>
            </a:r>
            <a:r>
              <a:rPr kumimoji="1" lang="ja-JP" altLang="en-US" sz="1200">
                <a:latin typeface="+mn-ea"/>
              </a:rPr>
              <a:t>　</a:t>
            </a:r>
            <a:r>
              <a:rPr kumimoji="1" lang="en-US" altLang="ja-JP" sz="1200">
                <a:latin typeface="+mn-ea"/>
              </a:rPr>
              <a:t>10_</a:t>
            </a:r>
            <a:r>
              <a:rPr kumimoji="1" lang="ja-JP" altLang="en-US" sz="1200">
                <a:latin typeface="+mn-ea"/>
              </a:rPr>
              <a:t>アラート監視共有 </a:t>
            </a:r>
            <a:r>
              <a:rPr kumimoji="1" lang="en-US" altLang="ja-JP" sz="1200">
                <a:latin typeface="+mn-ea"/>
              </a:rPr>
              <a:t>- TEC_U-SLIM</a:t>
            </a:r>
            <a:r>
              <a:rPr kumimoji="1" lang="ja-JP" altLang="en-US" sz="1200">
                <a:latin typeface="+mn-ea"/>
              </a:rPr>
              <a:t>（基盤検証）</a:t>
            </a:r>
            <a:br>
              <a:rPr kumimoji="1" lang="en-US" altLang="ja-JP" sz="1200">
                <a:latin typeface="+mn-ea"/>
              </a:rPr>
            </a:b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　　　　　　　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緊急時は携帯電話など連絡する。</a:t>
            </a:r>
            <a:endParaRPr kumimoji="1" lang="en-US" altLang="ja-JP" sz="1200">
              <a:solidFill>
                <a:srgbClr val="FF0000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n-ea"/>
              </a:rPr>
              <a:t>アラート対応時は窓口担当経由で対応者に指示</a:t>
            </a:r>
            <a:endParaRPr lang="en-US" altLang="ja-JP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n-ea"/>
              </a:rPr>
              <a:t>体制維持：</a:t>
            </a:r>
            <a:r>
              <a:rPr lang="en-US" altLang="ja-JP">
                <a:latin typeface="+mn-ea"/>
              </a:rPr>
              <a:t>9:00-</a:t>
            </a:r>
            <a:r>
              <a:rPr lang="en-US" altLang="ja-JP">
                <a:solidFill>
                  <a:srgbClr val="FF0000"/>
                </a:solidFill>
                <a:latin typeface="+mn-ea"/>
              </a:rPr>
              <a:t>12:00</a:t>
            </a:r>
            <a:r>
              <a:rPr lang="ja-JP" altLang="en-US" sz="1200">
                <a:latin typeface="+mn-ea"/>
              </a:rPr>
              <a:t> </a:t>
            </a:r>
            <a:r>
              <a:rPr lang="en-US" altLang="ja-JP" sz="1200">
                <a:latin typeface="+mn-ea"/>
              </a:rPr>
              <a:t>※12:00</a:t>
            </a:r>
            <a:r>
              <a:rPr lang="ja-JP" altLang="en-US" sz="1200">
                <a:latin typeface="+mn-ea"/>
              </a:rPr>
              <a:t>以降も対応が必要な場合は除く</a:t>
            </a:r>
          </a:p>
        </p:txBody>
      </p:sp>
    </p:spTree>
    <p:extLst>
      <p:ext uri="{BB962C8B-B14F-4D97-AF65-F5344CB8AC3E}">
        <p14:creationId xmlns:p14="http://schemas.microsoft.com/office/powerpoint/2010/main" val="3329302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5CADE-122D-3152-82AE-A50AA7A7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79A6BF6D-6F90-1397-1B9B-C5918838ED8F}"/>
              </a:ext>
            </a:extLst>
          </p:cNvPr>
          <p:cNvGrpSpPr/>
          <p:nvPr/>
        </p:nvGrpSpPr>
        <p:grpSpPr>
          <a:xfrm>
            <a:off x="2438249" y="2349713"/>
            <a:ext cx="3316321" cy="4150626"/>
            <a:chOff x="4566979" y="2427606"/>
            <a:chExt cx="2978001" cy="4150626"/>
          </a:xfrm>
        </p:grpSpPr>
        <p:sp>
          <p:nvSpPr>
            <p:cNvPr id="1108" name="正方形/長方形 1107">
              <a:extLst>
                <a:ext uri="{FF2B5EF4-FFF2-40B4-BE49-F238E27FC236}">
                  <a16:creationId xmlns:a16="http://schemas.microsoft.com/office/drawing/2014/main" id="{F304FA9A-6178-60B9-6029-5734976BC4D6}"/>
                </a:ext>
              </a:extLst>
            </p:cNvPr>
            <p:cNvSpPr/>
            <p:nvPr/>
          </p:nvSpPr>
          <p:spPr>
            <a:xfrm>
              <a:off x="4566979" y="2427606"/>
              <a:ext cx="2978001" cy="41506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sz="1600" b="1" u="sng">
                  <a:solidFill>
                    <a:schemeClr val="accent1">
                      <a:lumMod val="75000"/>
                    </a:schemeClr>
                  </a:solidFill>
                </a:rPr>
                <a:t>アラート監視窓口</a:t>
              </a:r>
            </a:p>
          </p:txBody>
        </p:sp>
        <p:sp>
          <p:nvSpPr>
            <p:cNvPr id="1187" name="テキスト ボックス 1186">
              <a:extLst>
                <a:ext uri="{FF2B5EF4-FFF2-40B4-BE49-F238E27FC236}">
                  <a16:creationId xmlns:a16="http://schemas.microsoft.com/office/drawing/2014/main" id="{BC5C4A9D-4C2E-6455-6B74-17B03BB1EEB6}"/>
                </a:ext>
              </a:extLst>
            </p:cNvPr>
            <p:cNvSpPr txBox="1"/>
            <p:nvPr/>
          </p:nvSpPr>
          <p:spPr>
            <a:xfrm>
              <a:off x="4625208" y="4398286"/>
              <a:ext cx="554276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WebApp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94" name="テキスト ボックス 1193">
              <a:extLst>
                <a:ext uri="{FF2B5EF4-FFF2-40B4-BE49-F238E27FC236}">
                  <a16:creationId xmlns:a16="http://schemas.microsoft.com/office/drawing/2014/main" id="{A40C1F42-7BF1-2EA8-6615-11DCE6636888}"/>
                </a:ext>
              </a:extLst>
            </p:cNvPr>
            <p:cNvSpPr txBox="1"/>
            <p:nvPr/>
          </p:nvSpPr>
          <p:spPr>
            <a:xfrm>
              <a:off x="4631555" y="3441042"/>
              <a:ext cx="514489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CDP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95" name="テキスト ボックス 1194">
              <a:extLst>
                <a:ext uri="{FF2B5EF4-FFF2-40B4-BE49-F238E27FC236}">
                  <a16:creationId xmlns:a16="http://schemas.microsoft.com/office/drawing/2014/main" id="{C73A55EB-2D45-C6DB-7B4C-0F342B292C51}"/>
                </a:ext>
              </a:extLst>
            </p:cNvPr>
            <p:cNvSpPr txBox="1"/>
            <p:nvPr/>
          </p:nvSpPr>
          <p:spPr>
            <a:xfrm>
              <a:off x="4629313" y="4563879"/>
              <a:ext cx="665247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Azure NW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9F472C2B-CEFC-C2A9-838C-6A05B872BB23}"/>
                </a:ext>
              </a:extLst>
            </p:cNvPr>
            <p:cNvSpPr txBox="1"/>
            <p:nvPr/>
          </p:nvSpPr>
          <p:spPr>
            <a:xfrm>
              <a:off x="4622386" y="3932912"/>
              <a:ext cx="514489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OCI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19CA1E6-8672-A6C3-D166-D0E06AF344A6}"/>
                </a:ext>
              </a:extLst>
            </p:cNvPr>
            <p:cNvSpPr/>
            <p:nvPr/>
          </p:nvSpPr>
          <p:spPr>
            <a:xfrm>
              <a:off x="4650918" y="2747758"/>
              <a:ext cx="2724901" cy="584432"/>
            </a:xfrm>
            <a:prstGeom prst="roundRect">
              <a:avLst>
                <a:gd name="adj" fmla="val 5858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劉　虹帆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(hongfan_liu_za@toyotec-jp.com)</a:t>
              </a:r>
            </a:p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胡　欣欣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(xinxin_hu_za@toyotec-jp.com)</a:t>
              </a:r>
              <a:endParaRPr kumimoji="1" lang="en-US" altLang="ja-JP" sz="80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F396C39-30E1-FFDB-F808-CD6B46E589E3}"/>
                </a:ext>
              </a:extLst>
            </p:cNvPr>
            <p:cNvSpPr txBox="1"/>
            <p:nvPr/>
          </p:nvSpPr>
          <p:spPr>
            <a:xfrm>
              <a:off x="4615022" y="4905019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Azure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 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メンテナンス</a:t>
              </a: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D536C61-5759-061C-AA8A-3750259CC6D6}"/>
                </a:ext>
              </a:extLst>
            </p:cNvPr>
            <p:cNvSpPr txBox="1"/>
            <p:nvPr/>
          </p:nvSpPr>
          <p:spPr>
            <a:xfrm>
              <a:off x="4615023" y="5459755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NEO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連携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30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分遅延</a:t>
              </a: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F70411D4-C908-6BB9-4DCB-BB3E9334650D}"/>
                </a:ext>
              </a:extLst>
            </p:cNvPr>
            <p:cNvSpPr txBox="1"/>
            <p:nvPr/>
          </p:nvSpPr>
          <p:spPr>
            <a:xfrm>
              <a:off x="4615022" y="5956942"/>
              <a:ext cx="705116" cy="328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ai21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連携</a:t>
              </a:r>
              <a:b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30</a:t>
              </a:r>
              <a:r>
                <a:rPr lang="ja-JP" altLang="en-US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分遅延</a:t>
              </a:r>
            </a:p>
          </p:txBody>
        </p:sp>
      </p:grpSp>
      <p:sp>
        <p:nvSpPr>
          <p:cNvPr id="1094" name="正方形/長方形 1093">
            <a:extLst>
              <a:ext uri="{FF2B5EF4-FFF2-40B4-BE49-F238E27FC236}">
                <a16:creationId xmlns:a16="http://schemas.microsoft.com/office/drawing/2014/main" id="{DA227E96-860B-6C3C-227B-77DEF66B59DB}"/>
              </a:ext>
            </a:extLst>
          </p:cNvPr>
          <p:cNvSpPr/>
          <p:nvPr/>
        </p:nvSpPr>
        <p:spPr>
          <a:xfrm>
            <a:off x="7459132" y="2957701"/>
            <a:ext cx="1070412" cy="1053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100" b="1" u="sng">
                <a:solidFill>
                  <a:schemeClr val="accent1">
                    <a:lumMod val="75000"/>
                  </a:schemeClr>
                </a:solidFill>
              </a:rPr>
              <a:t>システム管理者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656B80C-D3C7-3900-27CF-A70F670E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障害監視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71029C6-5E72-16D2-51E3-879F1D803A3A}"/>
              </a:ext>
            </a:extLst>
          </p:cNvPr>
          <p:cNvSpPr/>
          <p:nvPr/>
        </p:nvSpPr>
        <p:spPr bwMode="gray">
          <a:xfrm>
            <a:off x="188859" y="1181899"/>
            <a:ext cx="2249389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アラート監視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1A4C39-1838-7A8C-C603-4E430D12DA1C}"/>
              </a:ext>
            </a:extLst>
          </p:cNvPr>
          <p:cNvSpPr/>
          <p:nvPr/>
        </p:nvSpPr>
        <p:spPr bwMode="gray">
          <a:xfrm>
            <a:off x="8124550" y="1186937"/>
            <a:ext cx="3940929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B41FF2-25A0-9B1A-6C43-65816A08924F}"/>
              </a:ext>
            </a:extLst>
          </p:cNvPr>
          <p:cNvSpPr/>
          <p:nvPr/>
        </p:nvSpPr>
        <p:spPr bwMode="gray">
          <a:xfrm>
            <a:off x="75890" y="3050937"/>
            <a:ext cx="1509842" cy="79059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アラート確認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</a:t>
            </a: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  <a:hlinkClick r:id="rId2"/>
              </a:rPr>
              <a:t>toyotecdap-alert@toyotec-jp.com</a:t>
            </a:r>
            <a:endParaRPr lang="en-US" altLang="ja-JP" sz="9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35DF3797-B4C0-99A6-505F-2E61D362F707}"/>
              </a:ext>
            </a:extLst>
          </p:cNvPr>
          <p:cNvSpPr/>
          <p:nvPr/>
        </p:nvSpPr>
        <p:spPr>
          <a:xfrm>
            <a:off x="2553713" y="1581242"/>
            <a:ext cx="5453472" cy="5134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（体制維持：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</a:t>
            </a:r>
            <a:r>
              <a:rPr lang="en-US" altLang="ja-JP" sz="1400">
                <a:solidFill>
                  <a:srgbClr val="FF0000"/>
                </a:solidFill>
                <a:latin typeface="+mj-lt"/>
              </a:rPr>
              <a:t>20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r>
              <a:rPr kumimoji="1" lang="en-US" altLang="ja-JP" sz="1050">
                <a:solidFill>
                  <a:schemeClr val="tx1"/>
                </a:solidFill>
                <a:latin typeface="+mj-lt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土日祝随時アラートチェック</a:t>
            </a:r>
            <a:r>
              <a:rPr kumimoji="1" lang="ja-JP" altLang="en-US" sz="1050">
                <a:solidFill>
                  <a:srgbClr val="FF0000"/>
                </a:solidFill>
                <a:latin typeface="+mj-lt"/>
              </a:rPr>
              <a:t>（長期連休は要検討</a:t>
            </a:r>
            <a:r>
              <a:rPr lang="ja-JP" altLang="en-US" sz="1050">
                <a:solidFill>
                  <a:srgbClr val="FF0000"/>
                </a:solidFill>
                <a:latin typeface="+mj-lt"/>
              </a:rPr>
              <a:t>）</a:t>
            </a:r>
            <a:endParaRPr kumimoji="1" lang="en-US" altLang="ja-JP" sz="105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D98530B4-7797-D92D-7A69-F6AFC3014BEA}"/>
              </a:ext>
            </a:extLst>
          </p:cNvPr>
          <p:cNvSpPr/>
          <p:nvPr/>
        </p:nvSpPr>
        <p:spPr bwMode="gray">
          <a:xfrm>
            <a:off x="2543606" y="1184443"/>
            <a:ext cx="5463579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86F3EC7F-E7D3-D587-7E3E-6F28365B0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129" y="4178398"/>
            <a:ext cx="816379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5FE3FF0B-5A3E-276D-E986-87525BA418C0}"/>
              </a:ext>
            </a:extLst>
          </p:cNvPr>
          <p:cNvCxnSpPr>
            <a:cxnSpLocks/>
            <a:stCxn id="1030" idx="2"/>
            <a:endCxn id="1031" idx="0"/>
          </p:cNvCxnSpPr>
          <p:nvPr/>
        </p:nvCxnSpPr>
        <p:spPr>
          <a:xfrm rot="5400000">
            <a:off x="6549757" y="4848128"/>
            <a:ext cx="383329" cy="100529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DC6A7D0B-406E-C01F-635F-4E96A47E3C05}"/>
              </a:ext>
            </a:extLst>
          </p:cNvPr>
          <p:cNvSpPr txBox="1"/>
          <p:nvPr/>
        </p:nvSpPr>
        <p:spPr>
          <a:xfrm>
            <a:off x="7601990" y="4691928"/>
            <a:ext cx="797676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08B9F66D-9AC1-0E7A-983C-A230C408EC17}"/>
              </a:ext>
            </a:extLst>
          </p:cNvPr>
          <p:cNvSpPr/>
          <p:nvPr/>
        </p:nvSpPr>
        <p:spPr>
          <a:xfrm>
            <a:off x="6363081" y="5870932"/>
            <a:ext cx="1761469" cy="391466"/>
          </a:xfrm>
          <a:prstGeom prst="wedgeRoundRectCallout">
            <a:avLst>
              <a:gd name="adj1" fmla="val 30391"/>
              <a:gd name="adj2" fmla="val -1097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窓口が状況報告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3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165D27B-755E-CB3A-7297-CA3BEC15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916" y="3259769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F7C1BA8-1B7F-76D5-B015-0451D997F13D}"/>
              </a:ext>
            </a:extLst>
          </p:cNvPr>
          <p:cNvSpPr txBox="1"/>
          <p:nvPr/>
        </p:nvSpPr>
        <p:spPr>
          <a:xfrm>
            <a:off x="1613797" y="3129530"/>
            <a:ext cx="797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D76FEA19-6711-F4ED-CEC0-ACAF17576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86" y="3050261"/>
            <a:ext cx="311699" cy="247343"/>
          </a:xfrm>
          <a:prstGeom prst="rect">
            <a:avLst/>
          </a:prstGeom>
        </p:spPr>
      </p:pic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E68AD45-D30D-E539-B5C2-95C01FF1AF23}"/>
              </a:ext>
            </a:extLst>
          </p:cNvPr>
          <p:cNvSpPr/>
          <p:nvPr/>
        </p:nvSpPr>
        <p:spPr bwMode="gray">
          <a:xfrm>
            <a:off x="3216716" y="3363149"/>
            <a:ext cx="2315976" cy="22178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700"/>
              <a:t>11_OCIアラート共有 - TEC_U-SLIM（基盤検証） </a:t>
            </a:r>
            <a:r>
              <a:rPr lang="ja-JP" altLang="en-US" sz="700">
                <a:hlinkClick r:id="rId5"/>
              </a:rPr>
              <a:t>424d87e6.tatgroup.onmicrosoft.com@jp.teams.ms</a:t>
            </a:r>
            <a:endParaRPr lang="en-US" altLang="ja-JP" sz="700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53C3115-7785-D956-6CD9-271DFCF1F5E3}"/>
              </a:ext>
            </a:extLst>
          </p:cNvPr>
          <p:cNvSpPr/>
          <p:nvPr/>
        </p:nvSpPr>
        <p:spPr bwMode="gray">
          <a:xfrm>
            <a:off x="3210207" y="3825034"/>
            <a:ext cx="2343037" cy="26904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12_CDP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6"/>
              </a:rPr>
              <a:t>c31c0289.tatgroup.onmicrosoft.com@jp.teams.ms</a:t>
            </a:r>
            <a:endParaRPr lang="en-US" altLang="ja-JP" sz="7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0F5A84D-5831-3614-C72E-23DB5510F574}"/>
              </a:ext>
            </a:extLst>
          </p:cNvPr>
          <p:cNvSpPr/>
          <p:nvPr/>
        </p:nvSpPr>
        <p:spPr bwMode="gray">
          <a:xfrm>
            <a:off x="3248891" y="4270775"/>
            <a:ext cx="2324645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13_WebApp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7"/>
              </a:rPr>
              <a:t>f88b021c.tatgroup.onmicrosoft.com@jp.teams.ms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pic>
        <p:nvPicPr>
          <p:cNvPr id="1024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C1E1B161-6642-9606-16F9-664F2FCC4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029" y="3769187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0BED91C9-C185-F5F3-EF19-7D10612DC47F}"/>
              </a:ext>
            </a:extLst>
          </p:cNvPr>
          <p:cNvSpPr txBox="1"/>
          <p:nvPr/>
        </p:nvSpPr>
        <p:spPr>
          <a:xfrm>
            <a:off x="1194923" y="4030684"/>
            <a:ext cx="797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pic>
        <p:nvPicPr>
          <p:cNvPr id="1026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4198EAAA-3586-80E1-03A1-6E6E87D9E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4864505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D119D5DA-21CE-83F3-4E8A-6E79DB2346ED}"/>
              </a:ext>
            </a:extLst>
          </p:cNvPr>
          <p:cNvSpPr txBox="1"/>
          <p:nvPr/>
        </p:nvSpPr>
        <p:spPr>
          <a:xfrm>
            <a:off x="1181627" y="5167465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E42861E6-ECA2-30E4-24FD-911498553184}"/>
              </a:ext>
            </a:extLst>
          </p:cNvPr>
          <p:cNvCxnSpPr>
            <a:cxnSpLocks/>
            <a:stCxn id="10" idx="3"/>
            <a:endCxn id="1194" idx="1"/>
          </p:cNvCxnSpPr>
          <p:nvPr/>
        </p:nvCxnSpPr>
        <p:spPr>
          <a:xfrm flipV="1">
            <a:off x="1585732" y="3445255"/>
            <a:ext cx="924429" cy="979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フローチャート: 判断 1028">
            <a:extLst>
              <a:ext uri="{FF2B5EF4-FFF2-40B4-BE49-F238E27FC236}">
                <a16:creationId xmlns:a16="http://schemas.microsoft.com/office/drawing/2014/main" id="{04E78481-7169-9488-8888-D3178C3B35EA}"/>
              </a:ext>
            </a:extLst>
          </p:cNvPr>
          <p:cNvSpPr/>
          <p:nvPr/>
        </p:nvSpPr>
        <p:spPr>
          <a:xfrm>
            <a:off x="6137051" y="4123089"/>
            <a:ext cx="1218635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テキスト ボックス 1029">
            <a:extLst>
              <a:ext uri="{FF2B5EF4-FFF2-40B4-BE49-F238E27FC236}">
                <a16:creationId xmlns:a16="http://schemas.microsoft.com/office/drawing/2014/main" id="{80D32A57-E927-4B9D-008C-9CA6E080F429}"/>
              </a:ext>
            </a:extLst>
          </p:cNvPr>
          <p:cNvSpPr txBox="1"/>
          <p:nvPr/>
        </p:nvSpPr>
        <p:spPr>
          <a:xfrm>
            <a:off x="6293312" y="4198897"/>
            <a:ext cx="9967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900">
                <a:latin typeface="+mn-ea"/>
              </a:rPr>
              <a:t>ai21</a:t>
            </a:r>
            <a:r>
              <a:rPr lang="ja-JP" altLang="en-US" sz="900">
                <a:latin typeface="+mn-ea"/>
              </a:rPr>
              <a:t>へ影響</a:t>
            </a:r>
            <a:endParaRPr lang="en-US" altLang="ja-JP" sz="900">
              <a:latin typeface="+mn-ea"/>
            </a:endParaRPr>
          </a:p>
          <a:p>
            <a:pPr algn="ctr"/>
            <a:r>
              <a:rPr lang="ja-JP" altLang="en-US" sz="900">
                <a:latin typeface="+mn-ea"/>
              </a:rPr>
              <a:t>を及ぼすアラート有無</a:t>
            </a:r>
          </a:p>
        </p:txBody>
      </p:sp>
      <p:sp>
        <p:nvSpPr>
          <p:cNvPr id="1031" name="フローチャート: 和接合 1030">
            <a:extLst>
              <a:ext uri="{FF2B5EF4-FFF2-40B4-BE49-F238E27FC236}">
                <a16:creationId xmlns:a16="http://schemas.microsoft.com/office/drawing/2014/main" id="{1B599C39-B38A-07FF-7295-BCCAD73334EA}"/>
              </a:ext>
            </a:extLst>
          </p:cNvPr>
          <p:cNvSpPr/>
          <p:nvPr/>
        </p:nvSpPr>
        <p:spPr>
          <a:xfrm>
            <a:off x="6574639" y="5090057"/>
            <a:ext cx="233033" cy="223677"/>
          </a:xfrm>
          <a:prstGeom prst="flowChartSummingJunction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72CB24DA-8A56-5021-BBEA-5D8CCE2E3342}"/>
              </a:ext>
            </a:extLst>
          </p:cNvPr>
          <p:cNvSpPr txBox="1"/>
          <p:nvPr/>
        </p:nvSpPr>
        <p:spPr>
          <a:xfrm>
            <a:off x="6645675" y="4795157"/>
            <a:ext cx="3751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無</a:t>
            </a:r>
          </a:p>
        </p:txBody>
      </p:sp>
      <p:cxnSp>
        <p:nvCxnSpPr>
          <p:cNvPr id="1035" name="コネクタ: カギ線 1034">
            <a:extLst>
              <a:ext uri="{FF2B5EF4-FFF2-40B4-BE49-F238E27FC236}">
                <a16:creationId xmlns:a16="http://schemas.microsoft.com/office/drawing/2014/main" id="{7F182570-23DD-0E91-3F62-B62B17A9A2C7}"/>
              </a:ext>
            </a:extLst>
          </p:cNvPr>
          <p:cNvCxnSpPr>
            <a:cxnSpLocks/>
            <a:stCxn id="54" idx="3"/>
            <a:endCxn id="1029" idx="1"/>
          </p:cNvCxnSpPr>
          <p:nvPr/>
        </p:nvCxnSpPr>
        <p:spPr>
          <a:xfrm>
            <a:off x="5532692" y="3474040"/>
            <a:ext cx="604359" cy="94623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コネクタ: カギ線 1042">
            <a:extLst>
              <a:ext uri="{FF2B5EF4-FFF2-40B4-BE49-F238E27FC236}">
                <a16:creationId xmlns:a16="http://schemas.microsoft.com/office/drawing/2014/main" id="{7B5208B6-0A22-C057-1533-87EA784455D8}"/>
              </a:ext>
            </a:extLst>
          </p:cNvPr>
          <p:cNvCxnSpPr>
            <a:cxnSpLocks/>
            <a:stCxn id="55" idx="3"/>
            <a:endCxn id="1029" idx="1"/>
          </p:cNvCxnSpPr>
          <p:nvPr/>
        </p:nvCxnSpPr>
        <p:spPr>
          <a:xfrm>
            <a:off x="5553244" y="3959558"/>
            <a:ext cx="583807" cy="46072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コネクタ: カギ線 1045">
            <a:extLst>
              <a:ext uri="{FF2B5EF4-FFF2-40B4-BE49-F238E27FC236}">
                <a16:creationId xmlns:a16="http://schemas.microsoft.com/office/drawing/2014/main" id="{9B624547-ED99-9804-A06C-352BE5E843BD}"/>
              </a:ext>
            </a:extLst>
          </p:cNvPr>
          <p:cNvCxnSpPr>
            <a:cxnSpLocks/>
            <a:stCxn id="56" idx="3"/>
            <a:endCxn id="1029" idx="1"/>
          </p:cNvCxnSpPr>
          <p:nvPr/>
        </p:nvCxnSpPr>
        <p:spPr>
          <a:xfrm flipV="1">
            <a:off x="5573536" y="4420278"/>
            <a:ext cx="563515" cy="1640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コネクタ: カギ線 1051">
            <a:extLst>
              <a:ext uri="{FF2B5EF4-FFF2-40B4-BE49-F238E27FC236}">
                <a16:creationId xmlns:a16="http://schemas.microsoft.com/office/drawing/2014/main" id="{21C1777F-1581-E8C6-E0BB-4CD3F7195BEE}"/>
              </a:ext>
            </a:extLst>
          </p:cNvPr>
          <p:cNvCxnSpPr>
            <a:cxnSpLocks/>
            <a:stCxn id="3" idx="3"/>
            <a:endCxn id="1029" idx="1"/>
          </p:cNvCxnSpPr>
          <p:nvPr/>
        </p:nvCxnSpPr>
        <p:spPr>
          <a:xfrm flipV="1">
            <a:off x="5529421" y="4420278"/>
            <a:ext cx="607630" cy="59418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四角形: 角を丸くする 1057">
            <a:extLst>
              <a:ext uri="{FF2B5EF4-FFF2-40B4-BE49-F238E27FC236}">
                <a16:creationId xmlns:a16="http://schemas.microsoft.com/office/drawing/2014/main" id="{FC50D201-377B-8DE0-6A6E-636CB9C7DAED}"/>
              </a:ext>
            </a:extLst>
          </p:cNvPr>
          <p:cNvSpPr/>
          <p:nvPr/>
        </p:nvSpPr>
        <p:spPr>
          <a:xfrm>
            <a:off x="8124550" y="1592764"/>
            <a:ext cx="3940929" cy="5134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アラート窓口連絡の基、担当者が対応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</a:rPr>
              <a:t>（体制維持：</a:t>
            </a:r>
            <a:r>
              <a:rPr lang="en-US" altLang="ja-JP" sz="1400">
                <a:solidFill>
                  <a:schemeClr val="tx1"/>
                </a:solidFill>
              </a:rPr>
              <a:t>9-17</a:t>
            </a:r>
            <a:r>
              <a:rPr lang="ja-JP" altLang="en-US" sz="1400">
                <a:solidFill>
                  <a:schemeClr val="tx1"/>
                </a:solidFill>
              </a:rPr>
              <a:t>）</a:t>
            </a:r>
            <a:r>
              <a:rPr lang="en-US" altLang="ja-JP" sz="1100">
                <a:solidFill>
                  <a:schemeClr val="tx1"/>
                </a:solidFill>
              </a:rPr>
              <a:t>※</a:t>
            </a:r>
            <a:r>
              <a:rPr lang="ja-JP" altLang="en-US" sz="1100">
                <a:solidFill>
                  <a:schemeClr val="tx1"/>
                </a:solidFill>
              </a:rPr>
              <a:t>必要に応じて</a:t>
            </a:r>
            <a:r>
              <a:rPr lang="en-US" altLang="ja-JP" sz="1100">
                <a:solidFill>
                  <a:schemeClr val="tx1"/>
                </a:solidFill>
              </a:rPr>
              <a:t>17:00</a:t>
            </a:r>
            <a:r>
              <a:rPr lang="ja-JP" altLang="en-US" sz="1100">
                <a:solidFill>
                  <a:schemeClr val="tx1"/>
                </a:solidFill>
              </a:rPr>
              <a:t>以降も対応</a:t>
            </a:r>
            <a:endParaRPr lang="en-US" altLang="ja-JP" sz="1100">
              <a:solidFill>
                <a:schemeClr val="tx1"/>
              </a:solidFill>
            </a:endParaRPr>
          </a:p>
        </p:txBody>
      </p:sp>
      <p:cxnSp>
        <p:nvCxnSpPr>
          <p:cNvPr id="1071" name="コネクタ: カギ線 1070">
            <a:extLst>
              <a:ext uri="{FF2B5EF4-FFF2-40B4-BE49-F238E27FC236}">
                <a16:creationId xmlns:a16="http://schemas.microsoft.com/office/drawing/2014/main" id="{F66731D2-1048-9162-D3F7-128B0538FBDB}"/>
              </a:ext>
            </a:extLst>
          </p:cNvPr>
          <p:cNvCxnSpPr>
            <a:cxnSpLocks/>
            <a:stCxn id="1029" idx="3"/>
            <a:endCxn id="1200" idx="1"/>
          </p:cNvCxnSpPr>
          <p:nvPr/>
        </p:nvCxnSpPr>
        <p:spPr>
          <a:xfrm>
            <a:off x="7355686" y="4420278"/>
            <a:ext cx="242443" cy="1270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64FB8F4E-B8D9-2328-9AA1-1B4FD17A4937}"/>
              </a:ext>
            </a:extLst>
          </p:cNvPr>
          <p:cNvSpPr/>
          <p:nvPr/>
        </p:nvSpPr>
        <p:spPr>
          <a:xfrm>
            <a:off x="8861560" y="2391178"/>
            <a:ext cx="1322401" cy="41506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アラート対応</a:t>
            </a:r>
          </a:p>
        </p:txBody>
      </p:sp>
      <p:sp>
        <p:nvSpPr>
          <p:cNvPr id="1080" name="四角形: 角を丸くする 1079">
            <a:extLst>
              <a:ext uri="{FF2B5EF4-FFF2-40B4-BE49-F238E27FC236}">
                <a16:creationId xmlns:a16="http://schemas.microsoft.com/office/drawing/2014/main" id="{668F15A1-177A-3DEE-6FA5-07B76671B4B3}"/>
              </a:ext>
            </a:extLst>
          </p:cNvPr>
          <p:cNvSpPr/>
          <p:nvPr/>
        </p:nvSpPr>
        <p:spPr>
          <a:xfrm>
            <a:off x="8949763" y="3895013"/>
            <a:ext cx="1072480" cy="70718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王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石井</a:t>
            </a:r>
            <a:endParaRPr lang="en-US" altLang="ja-JP" sz="1400">
              <a:solidFill>
                <a:schemeClr val="tx1"/>
              </a:solidFill>
            </a:endParaRPr>
          </a:p>
        </p:txBody>
      </p:sp>
      <p:sp>
        <p:nvSpPr>
          <p:cNvPr id="1081" name="四角形: 角を丸くする 1080">
            <a:extLst>
              <a:ext uri="{FF2B5EF4-FFF2-40B4-BE49-F238E27FC236}">
                <a16:creationId xmlns:a16="http://schemas.microsoft.com/office/drawing/2014/main" id="{09ED4EB2-8F45-280A-6EE5-812D821215A7}"/>
              </a:ext>
            </a:extLst>
          </p:cNvPr>
          <p:cNvSpPr/>
          <p:nvPr/>
        </p:nvSpPr>
        <p:spPr>
          <a:xfrm>
            <a:off x="8977025" y="5803893"/>
            <a:ext cx="1072480" cy="525544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楊・西村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大森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82" name="四角形: 角を丸くする 1081">
            <a:extLst>
              <a:ext uri="{FF2B5EF4-FFF2-40B4-BE49-F238E27FC236}">
                <a16:creationId xmlns:a16="http://schemas.microsoft.com/office/drawing/2014/main" id="{1F81A531-776C-5A5B-CFB9-9441EA9C11D5}"/>
              </a:ext>
            </a:extLst>
          </p:cNvPr>
          <p:cNvSpPr/>
          <p:nvPr/>
        </p:nvSpPr>
        <p:spPr>
          <a:xfrm>
            <a:off x="8966919" y="5018227"/>
            <a:ext cx="1072480" cy="536016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石川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周・鄭</a:t>
            </a:r>
            <a:endParaRPr lang="en-US" altLang="ja-JP" sz="14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83" name="テキスト ボックス 1082">
            <a:extLst>
              <a:ext uri="{FF2B5EF4-FFF2-40B4-BE49-F238E27FC236}">
                <a16:creationId xmlns:a16="http://schemas.microsoft.com/office/drawing/2014/main" id="{DB6751D4-2B49-9ABE-BC46-E70CFB6BA341}"/>
              </a:ext>
            </a:extLst>
          </p:cNvPr>
          <p:cNvSpPr txBox="1"/>
          <p:nvPr/>
        </p:nvSpPr>
        <p:spPr>
          <a:xfrm>
            <a:off x="8906690" y="4745264"/>
            <a:ext cx="647305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4" name="テキスト ボックス 1083">
            <a:extLst>
              <a:ext uri="{FF2B5EF4-FFF2-40B4-BE49-F238E27FC236}">
                <a16:creationId xmlns:a16="http://schemas.microsoft.com/office/drawing/2014/main" id="{6436404D-0481-D6B6-6F21-96D86B22AA75}"/>
              </a:ext>
            </a:extLst>
          </p:cNvPr>
          <p:cNvSpPr txBox="1"/>
          <p:nvPr/>
        </p:nvSpPr>
        <p:spPr>
          <a:xfrm>
            <a:off x="8911793" y="2738829"/>
            <a:ext cx="113771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</a:p>
        </p:txBody>
      </p:sp>
      <p:sp>
        <p:nvSpPr>
          <p:cNvPr id="1085" name="テキスト ボックス 1084">
            <a:extLst>
              <a:ext uri="{FF2B5EF4-FFF2-40B4-BE49-F238E27FC236}">
                <a16:creationId xmlns:a16="http://schemas.microsoft.com/office/drawing/2014/main" id="{59B855EB-5DA5-AE51-C055-2B11BF27994A}"/>
              </a:ext>
            </a:extLst>
          </p:cNvPr>
          <p:cNvSpPr txBox="1"/>
          <p:nvPr/>
        </p:nvSpPr>
        <p:spPr>
          <a:xfrm>
            <a:off x="8910520" y="5598044"/>
            <a:ext cx="789729" cy="1685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6" name="テキスト ボックス 1085">
            <a:extLst>
              <a:ext uri="{FF2B5EF4-FFF2-40B4-BE49-F238E27FC236}">
                <a16:creationId xmlns:a16="http://schemas.microsoft.com/office/drawing/2014/main" id="{4C099BFA-12E9-FD0C-08DB-1638725D81DD}"/>
              </a:ext>
            </a:extLst>
          </p:cNvPr>
          <p:cNvSpPr txBox="1"/>
          <p:nvPr/>
        </p:nvSpPr>
        <p:spPr>
          <a:xfrm>
            <a:off x="8926678" y="3674988"/>
            <a:ext cx="110794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、差分連携</a:t>
            </a:r>
          </a:p>
        </p:txBody>
      </p:sp>
      <p:sp>
        <p:nvSpPr>
          <p:cNvPr id="1087" name="四角形: 角を丸くする 1086">
            <a:extLst>
              <a:ext uri="{FF2B5EF4-FFF2-40B4-BE49-F238E27FC236}">
                <a16:creationId xmlns:a16="http://schemas.microsoft.com/office/drawing/2014/main" id="{58880B27-84CF-3CB2-76FF-532D7CD20290}"/>
              </a:ext>
            </a:extLst>
          </p:cNvPr>
          <p:cNvSpPr/>
          <p:nvPr/>
        </p:nvSpPr>
        <p:spPr>
          <a:xfrm>
            <a:off x="8949323" y="3005021"/>
            <a:ext cx="1073588" cy="584432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肖・西村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唐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1" name="四角形: 角を丸くする 1090">
            <a:extLst>
              <a:ext uri="{FF2B5EF4-FFF2-40B4-BE49-F238E27FC236}">
                <a16:creationId xmlns:a16="http://schemas.microsoft.com/office/drawing/2014/main" id="{FB810CB2-DEC0-1C31-B5D3-2B8EF65AC6B6}"/>
              </a:ext>
            </a:extLst>
          </p:cNvPr>
          <p:cNvSpPr/>
          <p:nvPr/>
        </p:nvSpPr>
        <p:spPr>
          <a:xfrm>
            <a:off x="7726393" y="3382335"/>
            <a:ext cx="561584" cy="29265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川上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2" name="テキスト ボックス 1091">
            <a:extLst>
              <a:ext uri="{FF2B5EF4-FFF2-40B4-BE49-F238E27FC236}">
                <a16:creationId xmlns:a16="http://schemas.microsoft.com/office/drawing/2014/main" id="{F6683A25-8B07-B7EF-EC35-7B9372F0E44D}"/>
              </a:ext>
            </a:extLst>
          </p:cNvPr>
          <p:cNvSpPr txBox="1"/>
          <p:nvPr/>
        </p:nvSpPr>
        <p:spPr>
          <a:xfrm>
            <a:off x="7926894" y="3767320"/>
            <a:ext cx="69041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意思決定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7FEB5C82-E939-6865-38DF-6E3BBBD8FC18}"/>
              </a:ext>
            </a:extLst>
          </p:cNvPr>
          <p:cNvSpPr/>
          <p:nvPr/>
        </p:nvSpPr>
        <p:spPr>
          <a:xfrm>
            <a:off x="7228119" y="2334069"/>
            <a:ext cx="1389188" cy="386048"/>
          </a:xfrm>
          <a:prstGeom prst="wedgeRoundRectCallout">
            <a:avLst>
              <a:gd name="adj1" fmla="val 17777"/>
              <a:gd name="adj2" fmla="val 9662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必要に応じて方針意思決定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95" name="コネクタ: カギ線 1094">
            <a:extLst>
              <a:ext uri="{FF2B5EF4-FFF2-40B4-BE49-F238E27FC236}">
                <a16:creationId xmlns:a16="http://schemas.microsoft.com/office/drawing/2014/main" id="{EBA63E8D-0229-19FC-4B5F-5B4336580DAB}"/>
              </a:ext>
            </a:extLst>
          </p:cNvPr>
          <p:cNvCxnSpPr>
            <a:cxnSpLocks/>
            <a:stCxn id="1091" idx="2"/>
            <a:endCxn id="1200" idx="0"/>
          </p:cNvCxnSpPr>
          <p:nvPr/>
        </p:nvCxnSpPr>
        <p:spPr>
          <a:xfrm rot="5400000">
            <a:off x="7755047" y="3926260"/>
            <a:ext cx="503410" cy="86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コネクタ: カギ線 1101">
            <a:extLst>
              <a:ext uri="{FF2B5EF4-FFF2-40B4-BE49-F238E27FC236}">
                <a16:creationId xmlns:a16="http://schemas.microsoft.com/office/drawing/2014/main" id="{820F5C15-9D4F-7C45-C2CA-83D4778FD7F9}"/>
              </a:ext>
            </a:extLst>
          </p:cNvPr>
          <p:cNvCxnSpPr>
            <a:cxnSpLocks/>
            <a:stCxn id="1200" idx="3"/>
            <a:endCxn id="1087" idx="1"/>
          </p:cNvCxnSpPr>
          <p:nvPr/>
        </p:nvCxnSpPr>
        <p:spPr>
          <a:xfrm flipV="1">
            <a:off x="8414508" y="3297237"/>
            <a:ext cx="534815" cy="112304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コネクタ: カギ線 1104">
            <a:extLst>
              <a:ext uri="{FF2B5EF4-FFF2-40B4-BE49-F238E27FC236}">
                <a16:creationId xmlns:a16="http://schemas.microsoft.com/office/drawing/2014/main" id="{A2BE7031-214E-AB79-44C8-FA7E1000F4BE}"/>
              </a:ext>
            </a:extLst>
          </p:cNvPr>
          <p:cNvCxnSpPr>
            <a:cxnSpLocks/>
            <a:stCxn id="1200" idx="3"/>
            <a:endCxn id="1080" idx="1"/>
          </p:cNvCxnSpPr>
          <p:nvPr/>
        </p:nvCxnSpPr>
        <p:spPr>
          <a:xfrm flipV="1">
            <a:off x="8414508" y="4248607"/>
            <a:ext cx="535255" cy="17167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コネクタ: カギ線 1109">
            <a:extLst>
              <a:ext uri="{FF2B5EF4-FFF2-40B4-BE49-F238E27FC236}">
                <a16:creationId xmlns:a16="http://schemas.microsoft.com/office/drawing/2014/main" id="{72943953-23A7-FF61-2B40-F833AC68978B}"/>
              </a:ext>
            </a:extLst>
          </p:cNvPr>
          <p:cNvCxnSpPr>
            <a:cxnSpLocks/>
            <a:stCxn id="1200" idx="3"/>
            <a:endCxn id="1082" idx="1"/>
          </p:cNvCxnSpPr>
          <p:nvPr/>
        </p:nvCxnSpPr>
        <p:spPr>
          <a:xfrm>
            <a:off x="8414508" y="4420278"/>
            <a:ext cx="552411" cy="86595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コネクタ: カギ線 1112">
            <a:extLst>
              <a:ext uri="{FF2B5EF4-FFF2-40B4-BE49-F238E27FC236}">
                <a16:creationId xmlns:a16="http://schemas.microsoft.com/office/drawing/2014/main" id="{A0F0D732-EF18-F3A6-FE9E-B71F1CEDED43}"/>
              </a:ext>
            </a:extLst>
          </p:cNvPr>
          <p:cNvCxnSpPr>
            <a:cxnSpLocks/>
            <a:stCxn id="1200" idx="3"/>
            <a:endCxn id="1081" idx="1"/>
          </p:cNvCxnSpPr>
          <p:nvPr/>
        </p:nvCxnSpPr>
        <p:spPr>
          <a:xfrm>
            <a:off x="8414508" y="4420278"/>
            <a:ext cx="562517" cy="164638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2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41F51589-1D2A-633B-1FF8-52E7FA7EF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557" y="426150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3" name="テキスト ボックス 1122">
            <a:extLst>
              <a:ext uri="{FF2B5EF4-FFF2-40B4-BE49-F238E27FC236}">
                <a16:creationId xmlns:a16="http://schemas.microsoft.com/office/drawing/2014/main" id="{1FB81993-ACCE-51CD-6726-31F70A7A9AE8}"/>
              </a:ext>
            </a:extLst>
          </p:cNvPr>
          <p:cNvSpPr txBox="1"/>
          <p:nvPr/>
        </p:nvSpPr>
        <p:spPr>
          <a:xfrm>
            <a:off x="11138728" y="4789852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1126" name="テキスト ボックス 1125">
            <a:extLst>
              <a:ext uri="{FF2B5EF4-FFF2-40B4-BE49-F238E27FC236}">
                <a16:creationId xmlns:a16="http://schemas.microsoft.com/office/drawing/2014/main" id="{ED136752-66BE-30B2-2195-9F900B4669DB}"/>
              </a:ext>
            </a:extLst>
          </p:cNvPr>
          <p:cNvSpPr txBox="1"/>
          <p:nvPr/>
        </p:nvSpPr>
        <p:spPr>
          <a:xfrm>
            <a:off x="7260179" y="5019978"/>
            <a:ext cx="1468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en-US" altLang="ja-JP" sz="800">
                <a:solidFill>
                  <a:schemeClr val="tx1"/>
                </a:solidFill>
                <a:latin typeface="+mj-lt"/>
                <a:hlinkClick r:id="rId8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27" name="コネクタ: カギ線 1126">
            <a:extLst>
              <a:ext uri="{FF2B5EF4-FFF2-40B4-BE49-F238E27FC236}">
                <a16:creationId xmlns:a16="http://schemas.microsoft.com/office/drawing/2014/main" id="{CED77118-819B-219C-4397-A91AF5AA75F3}"/>
              </a:ext>
            </a:extLst>
          </p:cNvPr>
          <p:cNvCxnSpPr>
            <a:cxnSpLocks/>
            <a:stCxn id="1087" idx="3"/>
            <a:endCxn id="1122" idx="1"/>
          </p:cNvCxnSpPr>
          <p:nvPr/>
        </p:nvCxnSpPr>
        <p:spPr>
          <a:xfrm>
            <a:off x="10022911" y="3297237"/>
            <a:ext cx="1084646" cy="120614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コネクタ: カギ線 1135">
            <a:extLst>
              <a:ext uri="{FF2B5EF4-FFF2-40B4-BE49-F238E27FC236}">
                <a16:creationId xmlns:a16="http://schemas.microsoft.com/office/drawing/2014/main" id="{BF4E15CB-6C6D-674D-F654-669CC96C1F9C}"/>
              </a:ext>
            </a:extLst>
          </p:cNvPr>
          <p:cNvCxnSpPr>
            <a:cxnSpLocks/>
            <a:stCxn id="1080" idx="3"/>
            <a:endCxn id="1122" idx="1"/>
          </p:cNvCxnSpPr>
          <p:nvPr/>
        </p:nvCxnSpPr>
        <p:spPr>
          <a:xfrm>
            <a:off x="10022243" y="4248607"/>
            <a:ext cx="1085314" cy="25477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コネクタ: カギ線 1138">
            <a:extLst>
              <a:ext uri="{FF2B5EF4-FFF2-40B4-BE49-F238E27FC236}">
                <a16:creationId xmlns:a16="http://schemas.microsoft.com/office/drawing/2014/main" id="{15AE5596-3703-7634-2819-E042AD714D4B}"/>
              </a:ext>
            </a:extLst>
          </p:cNvPr>
          <p:cNvCxnSpPr>
            <a:cxnSpLocks/>
            <a:stCxn id="1082" idx="3"/>
            <a:endCxn id="1122" idx="1"/>
          </p:cNvCxnSpPr>
          <p:nvPr/>
        </p:nvCxnSpPr>
        <p:spPr>
          <a:xfrm flipV="1">
            <a:off x="10039399" y="4503385"/>
            <a:ext cx="1068158" cy="78285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コネクタ: カギ線 1142">
            <a:extLst>
              <a:ext uri="{FF2B5EF4-FFF2-40B4-BE49-F238E27FC236}">
                <a16:creationId xmlns:a16="http://schemas.microsoft.com/office/drawing/2014/main" id="{2BB6D19A-80F4-171E-3760-FC49CEBE8865}"/>
              </a:ext>
            </a:extLst>
          </p:cNvPr>
          <p:cNvCxnSpPr>
            <a:cxnSpLocks/>
            <a:stCxn id="1081" idx="3"/>
            <a:endCxn id="1122" idx="1"/>
          </p:cNvCxnSpPr>
          <p:nvPr/>
        </p:nvCxnSpPr>
        <p:spPr>
          <a:xfrm flipV="1">
            <a:off x="10049505" y="4503385"/>
            <a:ext cx="1058052" cy="156328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4" name="吹き出し: 角を丸めた四角形 1123">
            <a:extLst>
              <a:ext uri="{FF2B5EF4-FFF2-40B4-BE49-F238E27FC236}">
                <a16:creationId xmlns:a16="http://schemas.microsoft.com/office/drawing/2014/main" id="{F80CA1F6-65AD-112E-2082-497296EB3E57}"/>
              </a:ext>
            </a:extLst>
          </p:cNvPr>
          <p:cNvSpPr/>
          <p:nvPr/>
        </p:nvSpPr>
        <p:spPr>
          <a:xfrm>
            <a:off x="10896137" y="5381862"/>
            <a:ext cx="1169342" cy="483759"/>
          </a:xfrm>
          <a:prstGeom prst="wedgeRoundRectCallout">
            <a:avLst>
              <a:gd name="adj1" fmla="val 9807"/>
              <a:gd name="adj2" fmla="val -9064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窓口から対応状況報告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9" name="四角形: 角を丸くする 1148">
            <a:extLst>
              <a:ext uri="{FF2B5EF4-FFF2-40B4-BE49-F238E27FC236}">
                <a16:creationId xmlns:a16="http://schemas.microsoft.com/office/drawing/2014/main" id="{ED62D394-F270-00C2-883F-23BE45EDF0D0}"/>
              </a:ext>
            </a:extLst>
          </p:cNvPr>
          <p:cNvSpPr/>
          <p:nvPr/>
        </p:nvSpPr>
        <p:spPr>
          <a:xfrm>
            <a:off x="6316154" y="3383280"/>
            <a:ext cx="634014" cy="29265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>
                <a:solidFill>
                  <a:schemeClr val="tx1"/>
                </a:solidFill>
                <a:latin typeface="+mj-lt"/>
              </a:rPr>
              <a:t>TMC</a:t>
            </a:r>
          </a:p>
        </p:txBody>
      </p:sp>
      <p:cxnSp>
        <p:nvCxnSpPr>
          <p:cNvPr id="1150" name="コネクタ: カギ線 1149">
            <a:extLst>
              <a:ext uri="{FF2B5EF4-FFF2-40B4-BE49-F238E27FC236}">
                <a16:creationId xmlns:a16="http://schemas.microsoft.com/office/drawing/2014/main" id="{474A3E00-DC73-E83B-4999-2A7DD0C74FC6}"/>
              </a:ext>
            </a:extLst>
          </p:cNvPr>
          <p:cNvCxnSpPr>
            <a:cxnSpLocks/>
            <a:stCxn id="1091" idx="1"/>
            <a:endCxn id="1149" idx="3"/>
          </p:cNvCxnSpPr>
          <p:nvPr/>
        </p:nvCxnSpPr>
        <p:spPr>
          <a:xfrm rot="10800000" flipV="1">
            <a:off x="6950169" y="3528661"/>
            <a:ext cx="776225" cy="94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5" name="吹き出し: 角を丸めた四角形 1154">
            <a:extLst>
              <a:ext uri="{FF2B5EF4-FFF2-40B4-BE49-F238E27FC236}">
                <a16:creationId xmlns:a16="http://schemas.microsoft.com/office/drawing/2014/main" id="{C56D0112-F5DD-5DFA-A4A1-FED1DF8FEB87}"/>
              </a:ext>
            </a:extLst>
          </p:cNvPr>
          <p:cNvSpPr/>
          <p:nvPr/>
        </p:nvSpPr>
        <p:spPr>
          <a:xfrm>
            <a:off x="5863943" y="2877140"/>
            <a:ext cx="1507426" cy="386048"/>
          </a:xfrm>
          <a:prstGeom prst="wedgeRoundRectCallout">
            <a:avLst>
              <a:gd name="adj1" fmla="val 34872"/>
              <a:gd name="adj2" fmla="val 10523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</a:rPr>
              <a:t>TMC</a:t>
            </a:r>
            <a:r>
              <a:rPr kumimoji="1" lang="ja-JP" altLang="en-US" sz="1200">
                <a:solidFill>
                  <a:schemeClr val="tx1"/>
                </a:solidFill>
              </a:rPr>
              <a:t>にアナウンス必要と判断した場合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57" name="テキスト ボックス 1156">
            <a:extLst>
              <a:ext uri="{FF2B5EF4-FFF2-40B4-BE49-F238E27FC236}">
                <a16:creationId xmlns:a16="http://schemas.microsoft.com/office/drawing/2014/main" id="{0213718A-9A31-67C4-D775-82B6938A4BCA}"/>
              </a:ext>
            </a:extLst>
          </p:cNvPr>
          <p:cNvSpPr txBox="1"/>
          <p:nvPr/>
        </p:nvSpPr>
        <p:spPr>
          <a:xfrm>
            <a:off x="8958003" y="6579087"/>
            <a:ext cx="147595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100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連休輪番体制は次頁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B53FA6-6FCA-F950-3524-14C225D6D2C2}"/>
              </a:ext>
            </a:extLst>
          </p:cNvPr>
          <p:cNvSpPr/>
          <p:nvPr/>
        </p:nvSpPr>
        <p:spPr bwMode="gray">
          <a:xfrm>
            <a:off x="3308143" y="4848560"/>
            <a:ext cx="2221278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14_Azure</a:t>
            </a:r>
            <a:r>
              <a:rPr lang="ja-JP" altLang="en-US" sz="700"/>
              <a:t>アラート共有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9"/>
              </a:rPr>
              <a:t>da87eef2.tatgroup.onmicrosoft.com@jp.teams.ms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89DF23FF-AAD4-F60A-5309-B0F97953B59B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1585732" y="3446234"/>
            <a:ext cx="914219" cy="49089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A8FAEACF-4E65-AA10-9786-303B2F675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4234122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80522E-49BA-0A95-FE0D-41BB59BB246C}"/>
              </a:ext>
            </a:extLst>
          </p:cNvPr>
          <p:cNvSpPr txBox="1"/>
          <p:nvPr/>
        </p:nvSpPr>
        <p:spPr>
          <a:xfrm>
            <a:off x="1159261" y="4445707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D704C296-DA4D-2DE4-61DA-B8273E64A240}"/>
              </a:ext>
            </a:extLst>
          </p:cNvPr>
          <p:cNvCxnSpPr>
            <a:cxnSpLocks/>
            <a:stCxn id="10" idx="3"/>
            <a:endCxn id="1187" idx="1"/>
          </p:cNvCxnSpPr>
          <p:nvPr/>
        </p:nvCxnSpPr>
        <p:spPr>
          <a:xfrm>
            <a:off x="1585732" y="3446234"/>
            <a:ext cx="917361" cy="95626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D19234C8-2BAF-6F48-0EC4-F27370E77571}"/>
              </a:ext>
            </a:extLst>
          </p:cNvPr>
          <p:cNvCxnSpPr>
            <a:cxnSpLocks/>
            <a:stCxn id="10" idx="3"/>
            <a:endCxn id="2" idx="1"/>
          </p:cNvCxnSpPr>
          <p:nvPr/>
        </p:nvCxnSpPr>
        <p:spPr>
          <a:xfrm>
            <a:off x="1585732" y="3446234"/>
            <a:ext cx="906018" cy="154510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BD3E27C-BA94-73E6-6629-0ACB8674658F}"/>
              </a:ext>
            </a:extLst>
          </p:cNvPr>
          <p:cNvSpPr/>
          <p:nvPr/>
        </p:nvSpPr>
        <p:spPr bwMode="gray">
          <a:xfrm>
            <a:off x="3308143" y="5406301"/>
            <a:ext cx="2224549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30_Neo_OGG_HB30</a:t>
            </a:r>
            <a:r>
              <a:rPr lang="ja-JP" altLang="en-US" sz="700"/>
              <a:t>分間遅延通知用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10"/>
              </a:rPr>
              <a:t>2a3528b1.tatgroup.onmicrosoft.com@jp.teams.ms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D3F22C5-C1AC-9BD5-6F80-198E387DD8BC}"/>
              </a:ext>
            </a:extLst>
          </p:cNvPr>
          <p:cNvSpPr/>
          <p:nvPr/>
        </p:nvSpPr>
        <p:spPr bwMode="gray">
          <a:xfrm>
            <a:off x="3308143" y="5913119"/>
            <a:ext cx="2224549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700"/>
              <a:t>40_Ai21_tblagmon30</a:t>
            </a:r>
            <a:r>
              <a:rPr lang="ja-JP" altLang="en-US" sz="700"/>
              <a:t>分間遅延通知用 </a:t>
            </a:r>
            <a:r>
              <a:rPr lang="en-US" altLang="ja-JP" sz="700"/>
              <a:t>- TEC_U-SLIM</a:t>
            </a:r>
            <a:r>
              <a:rPr lang="ja-JP" altLang="en-US" sz="700"/>
              <a:t>（基盤検証） </a:t>
            </a:r>
            <a:r>
              <a:rPr lang="en-US" altLang="ja-JP" sz="700">
                <a:hlinkClick r:id="rId11"/>
              </a:rPr>
              <a:t>283f4dc8.tatgroup.onmicrosoft.com@jp.teams.ms</a:t>
            </a:r>
            <a:endParaRPr lang="en-US" altLang="ja-JP" sz="7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pic>
        <p:nvPicPr>
          <p:cNvPr id="1028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81EC4CC4-D924-FAFC-72F4-FEC8FA8CC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5489783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E424B852-806E-68E4-24B2-2E640AED8731}"/>
              </a:ext>
            </a:extLst>
          </p:cNvPr>
          <p:cNvSpPr txBox="1"/>
          <p:nvPr/>
        </p:nvSpPr>
        <p:spPr>
          <a:xfrm>
            <a:off x="1181627" y="5791585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差分連携遅延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1033" name="コネクタ: カギ線 1032">
            <a:extLst>
              <a:ext uri="{FF2B5EF4-FFF2-40B4-BE49-F238E27FC236}">
                <a16:creationId xmlns:a16="http://schemas.microsoft.com/office/drawing/2014/main" id="{AD961F7A-2635-CF45-DAD1-6724256BC3A7}"/>
              </a:ext>
            </a:extLst>
          </p:cNvPr>
          <p:cNvCxnSpPr>
            <a:cxnSpLocks/>
            <a:stCxn id="10" idx="3"/>
            <a:endCxn id="57" idx="1"/>
          </p:cNvCxnSpPr>
          <p:nvPr/>
        </p:nvCxnSpPr>
        <p:spPr>
          <a:xfrm>
            <a:off x="1585732" y="3446234"/>
            <a:ext cx="906019" cy="209984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コネクタ: カギ線 1039">
            <a:extLst>
              <a:ext uri="{FF2B5EF4-FFF2-40B4-BE49-F238E27FC236}">
                <a16:creationId xmlns:a16="http://schemas.microsoft.com/office/drawing/2014/main" id="{BB1C1A15-E88F-02E2-8FB7-37F7290C19B5}"/>
              </a:ext>
            </a:extLst>
          </p:cNvPr>
          <p:cNvCxnSpPr>
            <a:cxnSpLocks/>
            <a:stCxn id="10" idx="3"/>
            <a:endCxn id="59" idx="1"/>
          </p:cNvCxnSpPr>
          <p:nvPr/>
        </p:nvCxnSpPr>
        <p:spPr>
          <a:xfrm>
            <a:off x="1585732" y="3446234"/>
            <a:ext cx="906018" cy="259702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テキスト ボックス 1075">
            <a:extLst>
              <a:ext uri="{FF2B5EF4-FFF2-40B4-BE49-F238E27FC236}">
                <a16:creationId xmlns:a16="http://schemas.microsoft.com/office/drawing/2014/main" id="{8EC89ECF-1462-E838-BBD0-46EF3DFBD012}"/>
              </a:ext>
            </a:extLst>
          </p:cNvPr>
          <p:cNvSpPr txBox="1"/>
          <p:nvPr/>
        </p:nvSpPr>
        <p:spPr>
          <a:xfrm>
            <a:off x="2438248" y="6579087"/>
            <a:ext cx="147595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100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連休輪番体制は次頁</a:t>
            </a:r>
          </a:p>
        </p:txBody>
      </p:sp>
      <p:cxnSp>
        <p:nvCxnSpPr>
          <p:cNvPr id="1077" name="コネクタ: カギ線 1076">
            <a:extLst>
              <a:ext uri="{FF2B5EF4-FFF2-40B4-BE49-F238E27FC236}">
                <a16:creationId xmlns:a16="http://schemas.microsoft.com/office/drawing/2014/main" id="{1E28611E-AB07-66CB-697E-23278493E270}"/>
              </a:ext>
            </a:extLst>
          </p:cNvPr>
          <p:cNvCxnSpPr>
            <a:cxnSpLocks/>
            <a:stCxn id="62" idx="3"/>
            <a:endCxn id="1029" idx="1"/>
          </p:cNvCxnSpPr>
          <p:nvPr/>
        </p:nvCxnSpPr>
        <p:spPr>
          <a:xfrm flipV="1">
            <a:off x="5532692" y="4420278"/>
            <a:ext cx="604359" cy="115192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コネクタ: カギ線 1077">
            <a:extLst>
              <a:ext uri="{FF2B5EF4-FFF2-40B4-BE49-F238E27FC236}">
                <a16:creationId xmlns:a16="http://schemas.microsoft.com/office/drawing/2014/main" id="{48CBB75E-A6B1-3BCF-E51A-63476D640115}"/>
              </a:ext>
            </a:extLst>
          </p:cNvPr>
          <p:cNvCxnSpPr>
            <a:cxnSpLocks/>
            <a:stCxn id="63" idx="3"/>
            <a:endCxn id="1029" idx="1"/>
          </p:cNvCxnSpPr>
          <p:nvPr/>
        </p:nvCxnSpPr>
        <p:spPr>
          <a:xfrm flipV="1">
            <a:off x="5532692" y="4420278"/>
            <a:ext cx="604359" cy="165874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2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FC06-89FA-213C-A572-4A99C849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正方形/長方形 1107">
            <a:extLst>
              <a:ext uri="{FF2B5EF4-FFF2-40B4-BE49-F238E27FC236}">
                <a16:creationId xmlns:a16="http://schemas.microsoft.com/office/drawing/2014/main" id="{95AB1C55-2ED7-48C6-91AA-50D5C0E315BE}"/>
              </a:ext>
            </a:extLst>
          </p:cNvPr>
          <p:cNvSpPr/>
          <p:nvPr/>
        </p:nvSpPr>
        <p:spPr>
          <a:xfrm>
            <a:off x="8037420" y="1653651"/>
            <a:ext cx="2978001" cy="48819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アラート窓口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8B0B3B4-A958-DF52-BB34-5F237F7A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運用体制：障害監視（１２月時点）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5318C8-301F-2E74-07AD-E9743D37CD08}"/>
              </a:ext>
            </a:extLst>
          </p:cNvPr>
          <p:cNvSpPr/>
          <p:nvPr/>
        </p:nvSpPr>
        <p:spPr bwMode="gray">
          <a:xfrm>
            <a:off x="188860" y="1181899"/>
            <a:ext cx="2900348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D4B17C-13CB-11EF-AA07-69C0ED0C6A42}"/>
              </a:ext>
            </a:extLst>
          </p:cNvPr>
          <p:cNvSpPr/>
          <p:nvPr/>
        </p:nvSpPr>
        <p:spPr bwMode="gray">
          <a:xfrm>
            <a:off x="7614458" y="1186937"/>
            <a:ext cx="4451021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ED85CBC-BA8E-267F-9A2D-013776DFF064}"/>
              </a:ext>
            </a:extLst>
          </p:cNvPr>
          <p:cNvSpPr/>
          <p:nvPr/>
        </p:nvSpPr>
        <p:spPr bwMode="gray">
          <a:xfrm>
            <a:off x="188863" y="1760865"/>
            <a:ext cx="497722" cy="44903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eaVert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3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システム監視</a:t>
            </a:r>
            <a:endParaRPr lang="en-US" altLang="ja-JP" sz="13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F63BAED-CC86-F720-CCD4-CA6E36F977D1}"/>
              </a:ext>
            </a:extLst>
          </p:cNvPr>
          <p:cNvSpPr/>
          <p:nvPr/>
        </p:nvSpPr>
        <p:spPr bwMode="gray">
          <a:xfrm>
            <a:off x="1579366" y="3470587"/>
            <a:ext cx="1509842" cy="14254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アラート専用窓口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toyotecdap-alert@toyotec-jp.com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70BC8707-8B97-C8F9-CA5E-27CB31A8042B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55008" y="4183308"/>
            <a:ext cx="1024358" cy="68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02DCEC2-C5B6-304A-45E8-9934897DFFE9}"/>
              </a:ext>
            </a:extLst>
          </p:cNvPr>
          <p:cNvSpPr txBox="1"/>
          <p:nvPr/>
        </p:nvSpPr>
        <p:spPr>
          <a:xfrm>
            <a:off x="815538" y="3671964"/>
            <a:ext cx="67807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アラート通知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A103644-EEFC-06CD-CA51-62B0ED03A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25" y="3886411"/>
            <a:ext cx="311699" cy="247343"/>
          </a:xfrm>
          <a:prstGeom prst="rect">
            <a:avLst/>
          </a:prstGeom>
        </p:spPr>
      </p:pic>
      <p:sp>
        <p:nvSpPr>
          <p:cNvPr id="14" name="爆発: 14 pt 13">
            <a:extLst>
              <a:ext uri="{FF2B5EF4-FFF2-40B4-BE49-F238E27FC236}">
                <a16:creationId xmlns:a16="http://schemas.microsoft.com/office/drawing/2014/main" id="{3B8E5C2B-BA2D-EC81-F9BB-EB19B50CADA8}"/>
              </a:ext>
            </a:extLst>
          </p:cNvPr>
          <p:cNvSpPr/>
          <p:nvPr/>
        </p:nvSpPr>
        <p:spPr>
          <a:xfrm>
            <a:off x="514731" y="3977702"/>
            <a:ext cx="476172" cy="369854"/>
          </a:xfrm>
          <a:prstGeom prst="irregularSeal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CF9E738-F5DB-29E9-B42D-5445ACD5B585}"/>
              </a:ext>
            </a:extLst>
          </p:cNvPr>
          <p:cNvSpPr txBox="1"/>
          <p:nvPr/>
        </p:nvSpPr>
        <p:spPr>
          <a:xfrm>
            <a:off x="807626" y="4297571"/>
            <a:ext cx="54502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異常検知</a:t>
            </a:r>
          </a:p>
        </p:txBody>
      </p:sp>
      <p:sp>
        <p:nvSpPr>
          <p:cNvPr id="31" name="サブタイトル 2">
            <a:extLst>
              <a:ext uri="{FF2B5EF4-FFF2-40B4-BE49-F238E27FC236}">
                <a16:creationId xmlns:a16="http://schemas.microsoft.com/office/drawing/2014/main" id="{07D28122-8FC2-6958-C6EA-67BD0131482C}"/>
              </a:ext>
            </a:extLst>
          </p:cNvPr>
          <p:cNvSpPr txBox="1">
            <a:spLocks/>
          </p:cNvSpPr>
          <p:nvPr/>
        </p:nvSpPr>
        <p:spPr>
          <a:xfrm>
            <a:off x="5640447" y="4497820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連休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64058265-4862-D7F5-41D2-A35B8C2C2F66}"/>
              </a:ext>
            </a:extLst>
          </p:cNvPr>
          <p:cNvSpPr/>
          <p:nvPr/>
        </p:nvSpPr>
        <p:spPr>
          <a:xfrm>
            <a:off x="3284381" y="3672121"/>
            <a:ext cx="1605693" cy="106066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u="sng">
                <a:solidFill>
                  <a:schemeClr val="tx1"/>
                </a:solidFill>
                <a:latin typeface="+mj-lt"/>
              </a:rPr>
              <a:t>アラート窓口</a:t>
            </a:r>
            <a:endParaRPr kumimoji="1" lang="en-US" altLang="ja-JP" sz="1400" u="sng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</a:t>
            </a:r>
            <a:r>
              <a:rPr lang="en-US" altLang="ja-JP" sz="1400">
                <a:solidFill>
                  <a:srgbClr val="FF0000"/>
                </a:solidFill>
                <a:latin typeface="+mj-lt"/>
              </a:rPr>
              <a:t>20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長期連休除き土日祝</a:t>
            </a:r>
            <a:br>
              <a:rPr kumimoji="1" lang="en-US" altLang="ja-JP" sz="1050">
                <a:solidFill>
                  <a:schemeClr val="tx1"/>
                </a:solidFill>
                <a:latin typeface="+mj-lt"/>
              </a:rPr>
            </a:br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随時アラートチェック</a:t>
            </a: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374B2F68-7526-96AF-D402-81FA9C2062D0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3089208" y="4183308"/>
            <a:ext cx="195173" cy="19144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E48925C9-6B93-4C1E-2B55-9DEB582BFDD2}"/>
              </a:ext>
            </a:extLst>
          </p:cNvPr>
          <p:cNvCxnSpPr>
            <a:cxnSpLocks/>
            <a:stCxn id="1140" idx="3"/>
            <a:endCxn id="1108" idx="1"/>
          </p:cNvCxnSpPr>
          <p:nvPr/>
        </p:nvCxnSpPr>
        <p:spPr>
          <a:xfrm flipV="1">
            <a:off x="6407705" y="4094603"/>
            <a:ext cx="1629715" cy="9197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C72DE0ED-6E3B-4133-5661-497602512C78}"/>
              </a:ext>
            </a:extLst>
          </p:cNvPr>
          <p:cNvSpPr/>
          <p:nvPr/>
        </p:nvSpPr>
        <p:spPr bwMode="gray">
          <a:xfrm>
            <a:off x="3284381" y="1181897"/>
            <a:ext cx="4255263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39" name="四角形: 角を丸くする 1038">
            <a:extLst>
              <a:ext uri="{FF2B5EF4-FFF2-40B4-BE49-F238E27FC236}">
                <a16:creationId xmlns:a16="http://schemas.microsoft.com/office/drawing/2014/main" id="{2896AD0B-9BDA-6262-035F-B5047473BD7F}"/>
              </a:ext>
            </a:extLst>
          </p:cNvPr>
          <p:cNvSpPr/>
          <p:nvPr/>
        </p:nvSpPr>
        <p:spPr>
          <a:xfrm>
            <a:off x="8121780" y="3339131"/>
            <a:ext cx="2692709" cy="525544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王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(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wang_zhong_za@toyotec-jp.com)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石井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(shou_ishii_za@toyotec-jp.com)</a:t>
            </a:r>
          </a:p>
        </p:txBody>
      </p:sp>
      <p:sp>
        <p:nvSpPr>
          <p:cNvPr id="1060" name="テキスト ボックス 1059">
            <a:extLst>
              <a:ext uri="{FF2B5EF4-FFF2-40B4-BE49-F238E27FC236}">
                <a16:creationId xmlns:a16="http://schemas.microsoft.com/office/drawing/2014/main" id="{A2ECBA29-95F4-05E4-9AFB-AB670D6FD52F}"/>
              </a:ext>
            </a:extLst>
          </p:cNvPr>
          <p:cNvSpPr txBox="1"/>
          <p:nvPr/>
        </p:nvSpPr>
        <p:spPr>
          <a:xfrm>
            <a:off x="7152635" y="3768466"/>
            <a:ext cx="81753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対応確認依頼</a:t>
            </a:r>
          </a:p>
        </p:txBody>
      </p:sp>
      <p:sp>
        <p:nvSpPr>
          <p:cNvPr id="1063" name="フローチャート: 判断 1062">
            <a:extLst>
              <a:ext uri="{FF2B5EF4-FFF2-40B4-BE49-F238E27FC236}">
                <a16:creationId xmlns:a16="http://schemas.microsoft.com/office/drawing/2014/main" id="{6AF0D0B3-540D-EFC2-4C6E-B373A67419A3}"/>
              </a:ext>
            </a:extLst>
          </p:cNvPr>
          <p:cNvSpPr/>
          <p:nvPr/>
        </p:nvSpPr>
        <p:spPr>
          <a:xfrm>
            <a:off x="6090766" y="4785928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4" name="コネクタ: カギ線 1063">
            <a:extLst>
              <a:ext uri="{FF2B5EF4-FFF2-40B4-BE49-F238E27FC236}">
                <a16:creationId xmlns:a16="http://schemas.microsoft.com/office/drawing/2014/main" id="{5AEE3BB8-57A5-158D-B07A-192D62569BA4}"/>
              </a:ext>
            </a:extLst>
          </p:cNvPr>
          <p:cNvCxnSpPr>
            <a:cxnSpLocks/>
            <a:stCxn id="1140" idx="2"/>
            <a:endCxn id="1063" idx="1"/>
          </p:cNvCxnSpPr>
          <p:nvPr/>
        </p:nvCxnSpPr>
        <p:spPr>
          <a:xfrm rot="16200000" flipH="1">
            <a:off x="5618407" y="4610757"/>
            <a:ext cx="599347" cy="345372"/>
          </a:xfrm>
          <a:prstGeom prst="bentConnector2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テキスト ボックス 1066">
            <a:extLst>
              <a:ext uri="{FF2B5EF4-FFF2-40B4-BE49-F238E27FC236}">
                <a16:creationId xmlns:a16="http://schemas.microsoft.com/office/drawing/2014/main" id="{B28D2A4D-DF72-12C2-1CA6-4541C6C447E8}"/>
              </a:ext>
            </a:extLst>
          </p:cNvPr>
          <p:cNvSpPr txBox="1"/>
          <p:nvPr/>
        </p:nvSpPr>
        <p:spPr>
          <a:xfrm>
            <a:off x="6254704" y="4868223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>
                <a:latin typeface="+mj-lt"/>
              </a:rPr>
              <a:t>ai21</a:t>
            </a:r>
            <a:r>
              <a:rPr kumimoji="1" lang="ja-JP" altLang="en-US" sz="1200">
                <a:latin typeface="+mj-lt"/>
              </a:rPr>
              <a:t>へ影響</a:t>
            </a:r>
            <a:endParaRPr kumimoji="1" lang="en-US" altLang="ja-JP" sz="1200">
              <a:latin typeface="+mj-lt"/>
            </a:endParaRPr>
          </a:p>
          <a:p>
            <a:pPr algn="ctr"/>
            <a:r>
              <a:rPr kumimoji="1" lang="ja-JP" altLang="en-US" sz="1200">
                <a:latin typeface="+mj-lt"/>
              </a:rPr>
              <a:t>を及ぼす</a:t>
            </a:r>
          </a:p>
        </p:txBody>
      </p:sp>
      <p:cxnSp>
        <p:nvCxnSpPr>
          <p:cNvPr id="1069" name="コネクタ: カギ線 1068">
            <a:extLst>
              <a:ext uri="{FF2B5EF4-FFF2-40B4-BE49-F238E27FC236}">
                <a16:creationId xmlns:a16="http://schemas.microsoft.com/office/drawing/2014/main" id="{5BF14BD4-6020-B7D3-00DE-F2B730E7B6EE}"/>
              </a:ext>
            </a:extLst>
          </p:cNvPr>
          <p:cNvCxnSpPr>
            <a:cxnSpLocks/>
            <a:stCxn id="1063" idx="3"/>
            <a:endCxn id="1108" idx="1"/>
          </p:cNvCxnSpPr>
          <p:nvPr/>
        </p:nvCxnSpPr>
        <p:spPr>
          <a:xfrm flipV="1">
            <a:off x="7415388" y="4094603"/>
            <a:ext cx="622032" cy="98851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テキスト ボックス 1071">
            <a:extLst>
              <a:ext uri="{FF2B5EF4-FFF2-40B4-BE49-F238E27FC236}">
                <a16:creationId xmlns:a16="http://schemas.microsoft.com/office/drawing/2014/main" id="{818DD7A7-9072-C4F3-CAB0-D56D47CBD7E5}"/>
              </a:ext>
            </a:extLst>
          </p:cNvPr>
          <p:cNvSpPr txBox="1"/>
          <p:nvPr/>
        </p:nvSpPr>
        <p:spPr>
          <a:xfrm>
            <a:off x="7217579" y="4734677"/>
            <a:ext cx="2580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YES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3" name="テキスト ボックス 1072">
            <a:extLst>
              <a:ext uri="{FF2B5EF4-FFF2-40B4-BE49-F238E27FC236}">
                <a16:creationId xmlns:a16="http://schemas.microsoft.com/office/drawing/2014/main" id="{CF6DCE7E-AEAE-313B-7AAA-EEC155B2789D}"/>
              </a:ext>
            </a:extLst>
          </p:cNvPr>
          <p:cNvSpPr txBox="1"/>
          <p:nvPr/>
        </p:nvSpPr>
        <p:spPr>
          <a:xfrm>
            <a:off x="6908919" y="5590609"/>
            <a:ext cx="2051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NO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09" name="コネクタ: カギ線 1108">
            <a:extLst>
              <a:ext uri="{FF2B5EF4-FFF2-40B4-BE49-F238E27FC236}">
                <a16:creationId xmlns:a16="http://schemas.microsoft.com/office/drawing/2014/main" id="{0F2DEC56-25EF-DE8D-AFB7-4F57CF874BE1}"/>
              </a:ext>
            </a:extLst>
          </p:cNvPr>
          <p:cNvCxnSpPr>
            <a:cxnSpLocks/>
            <a:stCxn id="1063" idx="2"/>
            <a:endCxn id="38" idx="2"/>
          </p:cNvCxnSpPr>
          <p:nvPr/>
        </p:nvCxnSpPr>
        <p:spPr>
          <a:xfrm rot="5400000" flipH="1">
            <a:off x="5096391" y="3723621"/>
            <a:ext cx="647523" cy="2665849"/>
          </a:xfrm>
          <a:prstGeom prst="bentConnector3">
            <a:avLst>
              <a:gd name="adj1" fmla="val -35304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" name="サブタイトル 2">
            <a:extLst>
              <a:ext uri="{FF2B5EF4-FFF2-40B4-BE49-F238E27FC236}">
                <a16:creationId xmlns:a16="http://schemas.microsoft.com/office/drawing/2014/main" id="{C80F452D-3328-0BC5-9CEB-4BD94E913327}"/>
              </a:ext>
            </a:extLst>
          </p:cNvPr>
          <p:cNvSpPr txBox="1">
            <a:spLocks/>
          </p:cNvSpPr>
          <p:nvPr/>
        </p:nvSpPr>
        <p:spPr>
          <a:xfrm>
            <a:off x="3976529" y="5232192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営業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40" name="フローチャート: 判断 1139">
            <a:extLst>
              <a:ext uri="{FF2B5EF4-FFF2-40B4-BE49-F238E27FC236}">
                <a16:creationId xmlns:a16="http://schemas.microsoft.com/office/drawing/2014/main" id="{A25E63E0-A783-F27E-B5AF-1495ABDCD5E5}"/>
              </a:ext>
            </a:extLst>
          </p:cNvPr>
          <p:cNvSpPr/>
          <p:nvPr/>
        </p:nvSpPr>
        <p:spPr>
          <a:xfrm>
            <a:off x="5083083" y="3889392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45" name="コネクタ: カギ線 1144">
            <a:extLst>
              <a:ext uri="{FF2B5EF4-FFF2-40B4-BE49-F238E27FC236}">
                <a16:creationId xmlns:a16="http://schemas.microsoft.com/office/drawing/2014/main" id="{3F8D7447-6EF5-D69C-1857-23F11170EDA9}"/>
              </a:ext>
            </a:extLst>
          </p:cNvPr>
          <p:cNvCxnSpPr>
            <a:cxnSpLocks/>
            <a:stCxn id="38" idx="3"/>
            <a:endCxn id="1140" idx="1"/>
          </p:cNvCxnSpPr>
          <p:nvPr/>
        </p:nvCxnSpPr>
        <p:spPr>
          <a:xfrm flipV="1">
            <a:off x="4890074" y="4186581"/>
            <a:ext cx="193009" cy="1587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8" name="テキスト ボックス 1147">
            <a:extLst>
              <a:ext uri="{FF2B5EF4-FFF2-40B4-BE49-F238E27FC236}">
                <a16:creationId xmlns:a16="http://schemas.microsoft.com/office/drawing/2014/main" id="{6AB890C5-6962-B2C9-A811-3A27E5E40DAA}"/>
              </a:ext>
            </a:extLst>
          </p:cNvPr>
          <p:cNvSpPr txBox="1"/>
          <p:nvPr/>
        </p:nvSpPr>
        <p:spPr>
          <a:xfrm>
            <a:off x="5260503" y="4051356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>
                <a:latin typeface="+mj-lt"/>
              </a:rPr>
              <a:t>長期連休*か</a:t>
            </a:r>
          </a:p>
        </p:txBody>
      </p:sp>
      <p:sp>
        <p:nvSpPr>
          <p:cNvPr id="1151" name="サブタイトル 2">
            <a:extLst>
              <a:ext uri="{FF2B5EF4-FFF2-40B4-BE49-F238E27FC236}">
                <a16:creationId xmlns:a16="http://schemas.microsoft.com/office/drawing/2014/main" id="{9DC6B812-351C-D179-17AB-FAC921EEA152}"/>
              </a:ext>
            </a:extLst>
          </p:cNvPr>
          <p:cNvSpPr txBox="1">
            <a:spLocks/>
          </p:cNvSpPr>
          <p:nvPr/>
        </p:nvSpPr>
        <p:spPr>
          <a:xfrm>
            <a:off x="6090766" y="3836374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以外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59" name="四角形: 角を丸くする 1158">
            <a:extLst>
              <a:ext uri="{FF2B5EF4-FFF2-40B4-BE49-F238E27FC236}">
                <a16:creationId xmlns:a16="http://schemas.microsoft.com/office/drawing/2014/main" id="{8808F665-7E34-18B9-8A59-62D75BDB480E}"/>
              </a:ext>
            </a:extLst>
          </p:cNvPr>
          <p:cNvSpPr/>
          <p:nvPr/>
        </p:nvSpPr>
        <p:spPr>
          <a:xfrm>
            <a:off x="6297159" y="6355063"/>
            <a:ext cx="1699619" cy="358511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Oracle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：鈴木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60" name="四角形: 角を丸くする 1159">
            <a:extLst>
              <a:ext uri="{FF2B5EF4-FFF2-40B4-BE49-F238E27FC236}">
                <a16:creationId xmlns:a16="http://schemas.microsoft.com/office/drawing/2014/main" id="{A51651D3-5FBC-A405-BB11-B5D7DB6D2E31}"/>
              </a:ext>
            </a:extLst>
          </p:cNvPr>
          <p:cNvSpPr/>
          <p:nvPr/>
        </p:nvSpPr>
        <p:spPr>
          <a:xfrm>
            <a:off x="6297159" y="6036724"/>
            <a:ext cx="1699619" cy="26800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Ai21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レプリカ：突元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6" name="四角形: 角を丸くする 1175">
            <a:extLst>
              <a:ext uri="{FF2B5EF4-FFF2-40B4-BE49-F238E27FC236}">
                <a16:creationId xmlns:a16="http://schemas.microsoft.com/office/drawing/2014/main" id="{C5A75C4C-9AAC-E652-0878-2DDFE9E1C440}"/>
              </a:ext>
            </a:extLst>
          </p:cNvPr>
          <p:cNvSpPr/>
          <p:nvPr/>
        </p:nvSpPr>
        <p:spPr>
          <a:xfrm>
            <a:off x="8147853" y="5308483"/>
            <a:ext cx="2657540" cy="79523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楊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(xinyu_yang_za@toyotec-jp.com)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西村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(souma_nishimura_za@toyotec-jp.com)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大森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(nobuyuki_omori@toyotec-jp.com)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81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DDE0C3A-45FF-3A77-69BD-EFA418EFD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27" y="3425395"/>
            <a:ext cx="561746" cy="31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2" name="四角形: 角を丸くする 1181">
            <a:extLst>
              <a:ext uri="{FF2B5EF4-FFF2-40B4-BE49-F238E27FC236}">
                <a16:creationId xmlns:a16="http://schemas.microsoft.com/office/drawing/2014/main" id="{E27CF860-6DA8-947C-E14A-DA4380AE7E82}"/>
              </a:ext>
            </a:extLst>
          </p:cNvPr>
          <p:cNvSpPr/>
          <p:nvPr/>
        </p:nvSpPr>
        <p:spPr>
          <a:xfrm>
            <a:off x="8145501" y="4244385"/>
            <a:ext cx="2659892" cy="740170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石川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(takahide_ishikawa_za@toyotec-jp.com)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周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(zhou_kai_za@toyotec-jp.com)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鄭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(zheng_shuxi_za@toyotec-jp.com)</a:t>
            </a:r>
          </a:p>
        </p:txBody>
      </p:sp>
      <p:sp>
        <p:nvSpPr>
          <p:cNvPr id="1187" name="テキスト ボックス 1186">
            <a:extLst>
              <a:ext uri="{FF2B5EF4-FFF2-40B4-BE49-F238E27FC236}">
                <a16:creationId xmlns:a16="http://schemas.microsoft.com/office/drawing/2014/main" id="{4F5FEEFF-62EC-4077-0924-99B40F4177BE}"/>
              </a:ext>
            </a:extLst>
          </p:cNvPr>
          <p:cNvSpPr txBox="1"/>
          <p:nvPr/>
        </p:nvSpPr>
        <p:spPr>
          <a:xfrm>
            <a:off x="8138223" y="4024391"/>
            <a:ext cx="733822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9" name="吹き出し: 角を丸めた四角形 1188">
            <a:extLst>
              <a:ext uri="{FF2B5EF4-FFF2-40B4-BE49-F238E27FC236}">
                <a16:creationId xmlns:a16="http://schemas.microsoft.com/office/drawing/2014/main" id="{3737DE34-3CF2-6671-C117-CE7739D57FF4}"/>
              </a:ext>
            </a:extLst>
          </p:cNvPr>
          <p:cNvSpPr/>
          <p:nvPr/>
        </p:nvSpPr>
        <p:spPr>
          <a:xfrm>
            <a:off x="3483689" y="2302961"/>
            <a:ext cx="3140910" cy="1303657"/>
          </a:xfrm>
          <a:prstGeom prst="wedgeRoundRectCallout">
            <a:avLst>
              <a:gd name="adj1" fmla="val -36697"/>
              <a:gd name="adj2" fmla="val 5973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+mj-lt"/>
              </a:rPr>
              <a:t>アラート用チャネルに自動転送</a:t>
            </a:r>
            <a:endParaRPr kumimoji="1" lang="en-US" altLang="ja-JP" sz="1100">
              <a:solidFill>
                <a:schemeClr val="tx1"/>
              </a:solidFill>
              <a:latin typeface="+mj-lt"/>
            </a:endParaRPr>
          </a:p>
          <a:p>
            <a:r>
              <a:rPr lang="ja-JP" altLang="en-US" sz="700">
                <a:solidFill>
                  <a:schemeClr val="tx1"/>
                </a:solidFill>
                <a:latin typeface="+mj-lt"/>
              </a:rPr>
              <a:t>11_OCIアラート共有 - TEC_U-SLIM（基盤検証） </a:t>
            </a:r>
            <a:r>
              <a:rPr lang="ja-JP" altLang="en-US" sz="700">
                <a:solidFill>
                  <a:schemeClr val="tx1"/>
                </a:solidFill>
                <a:latin typeface="+mj-lt"/>
                <a:hlinkClick r:id="rId4"/>
              </a:rPr>
              <a:t>424d87e6.tatgroup.onmicrosoft.com@jp.teams.ms</a:t>
            </a:r>
            <a:endParaRPr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12_CDP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5"/>
              </a:rPr>
              <a:t>c31c0289.tatgroup.onmicrosoft.com@jp.teams.ms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13_WebApp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6"/>
              </a:rPr>
              <a:t>f88b021c.tatgroup.onmicrosoft.com@jp.teams.ms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30_Neo_OGG_HB30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分間遅延通知用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7"/>
              </a:rPr>
              <a:t>2a3528b1.tatgroup.onmicrosoft.com@jp.teams.ms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40_Ai21_tblagmon30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分間遅延通知用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7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700">
                <a:solidFill>
                  <a:schemeClr val="tx1"/>
                </a:solidFill>
                <a:latin typeface="+mj-lt"/>
                <a:hlinkClick r:id="rId8"/>
              </a:rPr>
              <a:t>283f4dc8.tatgroup.onmicrosoft.com@jp.teams.ms</a:t>
            </a:r>
            <a:endParaRPr kumimoji="1" lang="en-US" altLang="ja-JP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94" name="テキスト ボックス 1193">
            <a:extLst>
              <a:ext uri="{FF2B5EF4-FFF2-40B4-BE49-F238E27FC236}">
                <a16:creationId xmlns:a16="http://schemas.microsoft.com/office/drawing/2014/main" id="{1326F891-9DE3-CB39-A9EB-85E2F468E4CC}"/>
              </a:ext>
            </a:extLst>
          </p:cNvPr>
          <p:cNvSpPr txBox="1"/>
          <p:nvPr/>
        </p:nvSpPr>
        <p:spPr>
          <a:xfrm>
            <a:off x="8085464" y="2001303"/>
            <a:ext cx="1307621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メンテ</a:t>
            </a:r>
          </a:p>
        </p:txBody>
      </p:sp>
      <p:sp>
        <p:nvSpPr>
          <p:cNvPr id="1195" name="テキスト ボックス 1194">
            <a:extLst>
              <a:ext uri="{FF2B5EF4-FFF2-40B4-BE49-F238E27FC236}">
                <a16:creationId xmlns:a16="http://schemas.microsoft.com/office/drawing/2014/main" id="{C2712B66-2011-D0F3-0E1C-00C0239F7DFC}"/>
              </a:ext>
            </a:extLst>
          </p:cNvPr>
          <p:cNvSpPr txBox="1"/>
          <p:nvPr/>
        </p:nvSpPr>
        <p:spPr>
          <a:xfrm>
            <a:off x="8172816" y="5102977"/>
            <a:ext cx="665247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6" name="テキスト ボックス 1195">
            <a:extLst>
              <a:ext uri="{FF2B5EF4-FFF2-40B4-BE49-F238E27FC236}">
                <a16:creationId xmlns:a16="http://schemas.microsoft.com/office/drawing/2014/main" id="{D8E6D671-2EB2-E38D-EE7C-FCD48F0556BB}"/>
              </a:ext>
            </a:extLst>
          </p:cNvPr>
          <p:cNvSpPr txBox="1"/>
          <p:nvPr/>
        </p:nvSpPr>
        <p:spPr>
          <a:xfrm>
            <a:off x="6311160" y="5754821"/>
            <a:ext cx="43281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サポート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9" name="矢印: 折線 1198">
            <a:extLst>
              <a:ext uri="{FF2B5EF4-FFF2-40B4-BE49-F238E27FC236}">
                <a16:creationId xmlns:a16="http://schemas.microsoft.com/office/drawing/2014/main" id="{AC5BB5CB-538F-265F-4F77-84EDABF289BB}"/>
              </a:ext>
            </a:extLst>
          </p:cNvPr>
          <p:cNvSpPr/>
          <p:nvPr/>
        </p:nvSpPr>
        <p:spPr>
          <a:xfrm>
            <a:off x="2318321" y="2903652"/>
            <a:ext cx="1158932" cy="547347"/>
          </a:xfrm>
          <a:prstGeom prst="bentArrow">
            <a:avLst>
              <a:gd name="adj1" fmla="val 31565"/>
              <a:gd name="adj2" fmla="val 25156"/>
              <a:gd name="adj3" fmla="val 26696"/>
              <a:gd name="adj4" fmla="val 3767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FE8B557C-6693-AC93-2EE3-BD3FA5581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019" y="295136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713C48F8-8178-F436-42BB-109CB6BC0E12}"/>
              </a:ext>
            </a:extLst>
          </p:cNvPr>
          <p:cNvCxnSpPr>
            <a:cxnSpLocks/>
            <a:stCxn id="1108" idx="3"/>
            <a:endCxn id="1200" idx="1"/>
          </p:cNvCxnSpPr>
          <p:nvPr/>
        </p:nvCxnSpPr>
        <p:spPr>
          <a:xfrm flipV="1">
            <a:off x="11015421" y="3193245"/>
            <a:ext cx="291598" cy="90135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5B4EB419-52BF-29F3-5695-9FA05E6D1E58}"/>
              </a:ext>
            </a:extLst>
          </p:cNvPr>
          <p:cNvSpPr txBox="1"/>
          <p:nvPr/>
        </p:nvSpPr>
        <p:spPr>
          <a:xfrm>
            <a:off x="11338190" y="3479712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70C95B77-129C-32C9-864C-E3D1AC87387A}"/>
              </a:ext>
            </a:extLst>
          </p:cNvPr>
          <p:cNvSpPr/>
          <p:nvPr/>
        </p:nvSpPr>
        <p:spPr>
          <a:xfrm>
            <a:off x="5220715" y="1643142"/>
            <a:ext cx="2759549" cy="591911"/>
          </a:xfrm>
          <a:prstGeom prst="wedgeRoundRectCallout">
            <a:avLst>
              <a:gd name="adj1" fmla="val 36203"/>
              <a:gd name="adj2" fmla="val 24051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+mj-lt"/>
              </a:rPr>
              <a:t>アラート監視共有チャネルで対応依頼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6544743F-3E2E-F637-CAA9-0C89DE9AFCC6}"/>
              </a:ext>
            </a:extLst>
          </p:cNvPr>
          <p:cNvSpPr/>
          <p:nvPr/>
        </p:nvSpPr>
        <p:spPr>
          <a:xfrm>
            <a:off x="11082675" y="4183308"/>
            <a:ext cx="1084362" cy="1507221"/>
          </a:xfrm>
          <a:prstGeom prst="wedgeRoundRectCallout">
            <a:avLst>
              <a:gd name="adj1" fmla="val 9628"/>
              <a:gd name="adj2" fmla="val -7387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担当者が対応と報告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0348D8-121B-5DDF-BF9B-2FBFBFD0A7DC}"/>
              </a:ext>
            </a:extLst>
          </p:cNvPr>
          <p:cNvSpPr txBox="1"/>
          <p:nvPr/>
        </p:nvSpPr>
        <p:spPr>
          <a:xfrm>
            <a:off x="8145501" y="3103512"/>
            <a:ext cx="1006663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、差分連携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2AE2C90D-A89C-FD8B-F22B-0D5F0971FB68}"/>
              </a:ext>
            </a:extLst>
          </p:cNvPr>
          <p:cNvSpPr/>
          <p:nvPr/>
        </p:nvSpPr>
        <p:spPr>
          <a:xfrm>
            <a:off x="8103186" y="2217227"/>
            <a:ext cx="2724901" cy="70710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(xiao_haobo_za@toyotec-jp.com)</a:t>
            </a:r>
          </a:p>
          <a:p>
            <a:r>
              <a:rPr lang="ja-JP" altLang="en-US" sz="1400">
                <a:solidFill>
                  <a:schemeClr val="tx1"/>
                </a:solidFill>
              </a:rPr>
              <a:t>唐</a:t>
            </a:r>
            <a:r>
              <a:rPr lang="en-US" altLang="ja-JP" sz="800">
                <a:solidFill>
                  <a:schemeClr val="tx1"/>
                </a:solidFill>
              </a:rPr>
              <a:t>(chunfeng_tang_za@toyotec-jp.com)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西村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(souma_nishimura_za@toyotec-jp.com)</a:t>
            </a:r>
            <a:endParaRPr lang="en-US" altLang="ja-JP" sz="800">
              <a:solidFill>
                <a:schemeClr val="tx1"/>
              </a:solidFill>
            </a:endParaRPr>
          </a:p>
        </p:txBody>
      </p:sp>
      <p:pic>
        <p:nvPicPr>
          <p:cNvPr id="23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5D35D5D1-E607-9E7B-C9F3-376D54876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027" y="5271061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CD83A80-6418-A840-840A-3962FF79640B}"/>
              </a:ext>
            </a:extLst>
          </p:cNvPr>
          <p:cNvSpPr txBox="1"/>
          <p:nvPr/>
        </p:nvSpPr>
        <p:spPr>
          <a:xfrm>
            <a:off x="4933027" y="5834765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86D520ED-5078-60E0-ECEE-6F8F07FEAFBF}"/>
              </a:ext>
            </a:extLst>
          </p:cNvPr>
          <p:cNvSpPr/>
          <p:nvPr/>
        </p:nvSpPr>
        <p:spPr>
          <a:xfrm>
            <a:off x="2318321" y="6243132"/>
            <a:ext cx="2892296" cy="505059"/>
          </a:xfrm>
          <a:prstGeom prst="wedgeRoundRectCallout">
            <a:avLst>
              <a:gd name="adj1" fmla="val 37918"/>
              <a:gd name="adj2" fmla="val -8928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担当者が状況報告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9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サブタイトル 2">
            <a:extLst>
              <a:ext uri="{FF2B5EF4-FFF2-40B4-BE49-F238E27FC236}">
                <a16:creationId xmlns:a16="http://schemas.microsoft.com/office/drawing/2014/main" id="{65B9E60C-3BD6-6EDD-2F85-8182DB7959F3}"/>
              </a:ext>
            </a:extLst>
          </p:cNvPr>
          <p:cNvSpPr txBox="1">
            <a:spLocks/>
          </p:cNvSpPr>
          <p:nvPr/>
        </p:nvSpPr>
        <p:spPr>
          <a:xfrm>
            <a:off x="8486340" y="754279"/>
            <a:ext cx="3377171" cy="3789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*長期連休：土曜を含む連続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4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日以上の休日が重なる場合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943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5090E7-6FC8-A6CD-AC71-E04FEC8D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C00E-9C5A-8E4F-FFD1-3538906F083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ja-JP" altLang="en-US"/>
              <a:t>関係者体制（</a:t>
            </a:r>
            <a:r>
              <a:rPr kumimoji="1" lang="en-US" altLang="ja-JP"/>
              <a:t>TMC</a:t>
            </a:r>
            <a:r>
              <a:rPr kumimoji="1" lang="ja-JP" altLang="en-US"/>
              <a:t>レプリカ）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9F1943-C9E7-D168-7BF3-46791A03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11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41D2D05D-12DD-6C8C-D305-390B4294AE94}"/>
              </a:ext>
            </a:extLst>
          </p:cNvPr>
          <p:cNvGraphicFramePr>
            <a:graphicFrameLocks noGrp="1"/>
          </p:cNvGraphicFramePr>
          <p:nvPr/>
        </p:nvGraphicFramePr>
        <p:xfrm>
          <a:off x="228137" y="1088172"/>
          <a:ext cx="4402052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91">
                  <a:extLst>
                    <a:ext uri="{9D8B030D-6E8A-4147-A177-3AD203B41FA5}">
                      <a16:colId xmlns:a16="http://schemas.microsoft.com/office/drawing/2014/main" val="2181852103"/>
                    </a:ext>
                  </a:extLst>
                </a:gridCol>
                <a:gridCol w="1616591">
                  <a:extLst>
                    <a:ext uri="{9D8B030D-6E8A-4147-A177-3AD203B41FA5}">
                      <a16:colId xmlns:a16="http://schemas.microsoft.com/office/drawing/2014/main" val="1737755503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4172249749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1727051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要員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連絡先</a:t>
                      </a:r>
                      <a:r>
                        <a:rPr kumimoji="1" lang="en-US" altLang="ja-JP" sz="1400"/>
                        <a:t>(</a:t>
                      </a:r>
                      <a:r>
                        <a:rPr kumimoji="1" lang="ja-JP" altLang="en-US" sz="1400"/>
                        <a:t>窓口のみ</a:t>
                      </a:r>
                      <a:r>
                        <a:rPr kumimoji="1" lang="en-US" altLang="ja-JP" sz="1400"/>
                        <a:t>)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担当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400"/>
                        <a:t>突元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/>
                        <a:t>090-6850-0450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/>
                        <a:t>〇</a:t>
                      </a:r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6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72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57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14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44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863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915822"/>
                  </a:ext>
                </a:extLst>
              </a:tr>
            </a:tbl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7A5BC0F-992B-A74B-D9AA-46D06200409B}"/>
              </a:ext>
            </a:extLst>
          </p:cNvPr>
          <p:cNvSpPr txBox="1"/>
          <p:nvPr/>
        </p:nvSpPr>
        <p:spPr>
          <a:xfrm>
            <a:off x="228137" y="718840"/>
            <a:ext cx="144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ai21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レプリカ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B7B74BD-8D7E-5AAD-65E1-FD93DBD39932}"/>
              </a:ext>
            </a:extLst>
          </p:cNvPr>
          <p:cNvSpPr txBox="1"/>
          <p:nvPr/>
        </p:nvSpPr>
        <p:spPr>
          <a:xfrm>
            <a:off x="228137" y="3709833"/>
            <a:ext cx="144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NEO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レプリカ</a:t>
            </a:r>
          </a:p>
        </p:txBody>
      </p:sp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66911F74-7FF8-3C85-F412-E30E90EB668E}"/>
              </a:ext>
            </a:extLst>
          </p:cNvPr>
          <p:cNvGraphicFramePr>
            <a:graphicFrameLocks noGrp="1"/>
          </p:cNvGraphicFramePr>
          <p:nvPr/>
        </p:nvGraphicFramePr>
        <p:xfrm>
          <a:off x="6343046" y="1293245"/>
          <a:ext cx="553924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対応体制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対応者役割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左記参照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/>
                        <a:t>左記参照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連絡経路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窓口経由で担当者に連絡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11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窓口経由で担当者に連絡</a:t>
                      </a:r>
                    </a:p>
                    <a:p>
                      <a:pPr lvl="0">
                        <a:buNone/>
                      </a:pP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代替要員有無と連絡方法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 </a:t>
                      </a:r>
                      <a:r>
                        <a:rPr kumimoji="1" lang="ja-JP" altLang="en-US" sz="1100"/>
                        <a:t>●●経由で内部連携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Slack、Teams経由で内部連絡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0937"/>
                  </a:ext>
                </a:extLst>
              </a:tr>
            </a:tbl>
          </a:graphicData>
        </a:graphic>
      </p:graphicFrame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55DEEBA8-FFB2-9E71-A690-170BD092DAD5}"/>
              </a:ext>
            </a:extLst>
          </p:cNvPr>
          <p:cNvGraphicFramePr>
            <a:graphicFrameLocks noGrp="1"/>
          </p:cNvGraphicFramePr>
          <p:nvPr/>
        </p:nvGraphicFramePr>
        <p:xfrm>
          <a:off x="6343046" y="2752513"/>
          <a:ext cx="553924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対応時間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100"/>
                        <a:t>対応可能な時間帯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>
                          <a:latin typeface="+mj-ea"/>
                          <a:ea typeface="+mj-ea"/>
                        </a:rPr>
                        <a:t>例</a:t>
                      </a:r>
                      <a:r>
                        <a:rPr lang="en-US" altLang="ja-JP" sz="1100">
                          <a:latin typeface="+mj-ea"/>
                          <a:ea typeface="+mj-ea"/>
                        </a:rPr>
                        <a:t>)9:00〜18:00</a:t>
                      </a:r>
                      <a:r>
                        <a:rPr lang="ja-JP" altLang="en-US" sz="1100">
                          <a:latin typeface="+mj-ea"/>
                          <a:ea typeface="+mj-ea"/>
                        </a:rPr>
                        <a:t>、緊急時は</a:t>
                      </a:r>
                      <a:r>
                        <a:rPr lang="en-US" altLang="ja-JP" sz="1100">
                          <a:latin typeface="+mj-ea"/>
                          <a:ea typeface="+mj-ea"/>
                        </a:rPr>
                        <a:t>24</a:t>
                      </a:r>
                      <a:r>
                        <a:rPr lang="ja-JP" altLang="en-US" sz="1100">
                          <a:latin typeface="+mj-ea"/>
                          <a:ea typeface="+mj-ea"/>
                        </a:rPr>
                        <a:t>時間</a:t>
                      </a:r>
                      <a:endParaRPr kumimoji="1" lang="ja-JP" altLang="en-US" sz="110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ja-JP" altLang="en-US" sz="1100"/>
                        <a:t>休日夜間はBest Effortのため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100"/>
                        <a:t>時間外対応の条件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lang="ja-JP" altLang="en-US" sz="1100"/>
                        <a:t>重大障害のみ、顧客要請時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100"/>
                        <a:t>重大障害のみ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BC162751-6555-8C7A-00B9-EF969298D4D2}"/>
              </a:ext>
            </a:extLst>
          </p:cNvPr>
          <p:cNvGraphicFramePr>
            <a:graphicFrameLocks noGrp="1"/>
          </p:cNvGraphicFramePr>
          <p:nvPr/>
        </p:nvGraphicFramePr>
        <p:xfrm>
          <a:off x="6343046" y="3982296"/>
          <a:ext cx="5539249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1100">
                          <a:solidFill>
                            <a:schemeClr val="tx1"/>
                          </a:solidFill>
                        </a:rPr>
                        <a:t>連絡手段</a:t>
                      </a:r>
                      <a:endParaRPr kumimoji="1" lang="en-US" altLang="ja-JP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使用するツール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電話、メール、</a:t>
                      </a:r>
                      <a:r>
                        <a:rPr kumimoji="1" lang="en-US" altLang="ja-JP" sz="1100"/>
                        <a:t>Teams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ja-JP" altLang="en-US" sz="1100"/>
                        <a:t>電話、Teams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連絡の優先順位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まずチャット、次に電話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altLang="en-US" sz="1100"/>
                        <a:t>電話とTeams両方に連絡下さい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BCA62658-1962-9EDB-B2BC-4613AB9AA42B}"/>
              </a:ext>
            </a:extLst>
          </p:cNvPr>
          <p:cNvGraphicFramePr>
            <a:graphicFrameLocks noGrp="1"/>
          </p:cNvGraphicFramePr>
          <p:nvPr/>
        </p:nvGraphicFramePr>
        <p:xfrm>
          <a:off x="228137" y="4151031"/>
          <a:ext cx="4402052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91">
                  <a:extLst>
                    <a:ext uri="{9D8B030D-6E8A-4147-A177-3AD203B41FA5}">
                      <a16:colId xmlns:a16="http://schemas.microsoft.com/office/drawing/2014/main" val="2181852103"/>
                    </a:ext>
                  </a:extLst>
                </a:gridCol>
                <a:gridCol w="1616591">
                  <a:extLst>
                    <a:ext uri="{9D8B030D-6E8A-4147-A177-3AD203B41FA5}">
                      <a16:colId xmlns:a16="http://schemas.microsoft.com/office/drawing/2014/main" val="1737755503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4172249749"/>
                    </a:ext>
                  </a:extLst>
                </a:gridCol>
                <a:gridCol w="584435">
                  <a:extLst>
                    <a:ext uri="{9D8B030D-6E8A-4147-A177-3AD203B41FA5}">
                      <a16:colId xmlns:a16="http://schemas.microsoft.com/office/drawing/2014/main" val="1727051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要員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連絡先</a:t>
                      </a:r>
                      <a:r>
                        <a:rPr kumimoji="1" lang="en-US" altLang="ja-JP" sz="1400"/>
                        <a:t>(</a:t>
                      </a:r>
                      <a:r>
                        <a:rPr kumimoji="1" lang="ja-JP" altLang="en-US" sz="1400"/>
                        <a:t>窓口のみ</a:t>
                      </a:r>
                      <a:r>
                        <a:rPr kumimoji="1" lang="en-US" altLang="ja-JP" sz="1400"/>
                        <a:t>)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担当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0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400"/>
                        <a:t>中森</a:t>
                      </a:r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latin typeface="Arial"/>
                        </a:rPr>
                        <a:t>080-6189-3373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〇</a:t>
                      </a:r>
                      <a:endParaRPr kumimoji="1" lang="en-US" altLang="ja-JP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6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突元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090-6850-0450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〇</a:t>
                      </a:r>
                      <a:endParaRPr kumimoji="1" lang="en-US" altLang="ja-JP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72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57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14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44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49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007728"/>
                  </a:ext>
                </a:extLst>
              </a:tr>
            </a:tbl>
          </a:graphicData>
        </a:graphic>
      </p:graphicFrame>
      <p:graphicFrame>
        <p:nvGraphicFramePr>
          <p:cNvPr id="28" name="表 27">
            <a:extLst>
              <a:ext uri="{FF2B5EF4-FFF2-40B4-BE49-F238E27FC236}">
                <a16:creationId xmlns:a16="http://schemas.microsoft.com/office/drawing/2014/main" id="{88DC50F4-2BB4-967C-FDFB-4A65C364D740}"/>
              </a:ext>
            </a:extLst>
          </p:cNvPr>
          <p:cNvGraphicFramePr>
            <a:graphicFrameLocks noGrp="1"/>
          </p:cNvGraphicFramePr>
          <p:nvPr/>
        </p:nvGraphicFramePr>
        <p:xfrm>
          <a:off x="6343045" y="5120215"/>
          <a:ext cx="5539249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293">
                  <a:extLst>
                    <a:ext uri="{9D8B030D-6E8A-4147-A177-3AD203B41FA5}">
                      <a16:colId xmlns:a16="http://schemas.microsoft.com/office/drawing/2014/main" val="1533350646"/>
                    </a:ext>
                  </a:extLst>
                </a:gridCol>
                <a:gridCol w="1887855">
                  <a:extLst>
                    <a:ext uri="{9D8B030D-6E8A-4147-A177-3AD203B41FA5}">
                      <a16:colId xmlns:a16="http://schemas.microsoft.com/office/drawing/2014/main" val="2770859321"/>
                    </a:ext>
                  </a:extLst>
                </a:gridCol>
                <a:gridCol w="1946101">
                  <a:extLst>
                    <a:ext uri="{9D8B030D-6E8A-4147-A177-3AD203B41FA5}">
                      <a16:colId xmlns:a16="http://schemas.microsoft.com/office/drawing/2014/main" val="20227783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1"/>
                          </a:solidFill>
                        </a:rPr>
                        <a:t>対応基準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対応すべき事象の定義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例</a:t>
                      </a:r>
                      <a:r>
                        <a:rPr kumimoji="1" lang="en-US" altLang="ja-JP" sz="1100"/>
                        <a:t>)</a:t>
                      </a:r>
                      <a:r>
                        <a:rPr kumimoji="1" lang="ja-JP" altLang="en-US" sz="1100"/>
                        <a:t>システム停止、データ損失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/>
                        <a:t>システム停止、データ損失、データ遅延</a:t>
                      </a:r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32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その他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なにかあれば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92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31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28A68-612F-10EE-A59F-E00D2014B83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en-US" altLang="ja-JP"/>
              <a:t>2025</a:t>
            </a:r>
            <a:r>
              <a:rPr kumimoji="1" lang="ja-JP" altLang="en-US"/>
              <a:t>年末年始休暇体制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8BCDE3-A4F9-4AC1-552A-18611598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12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0DF1DED-D4C6-4179-2DFE-12310B0BD2BF}"/>
              </a:ext>
            </a:extLst>
          </p:cNvPr>
          <p:cNvGraphicFramePr>
            <a:graphicFrameLocks noGrp="1"/>
          </p:cNvGraphicFramePr>
          <p:nvPr/>
        </p:nvGraphicFramePr>
        <p:xfrm>
          <a:off x="660108" y="971348"/>
          <a:ext cx="10878752" cy="3392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142">
                  <a:extLst>
                    <a:ext uri="{9D8B030D-6E8A-4147-A177-3AD203B41FA5}">
                      <a16:colId xmlns:a16="http://schemas.microsoft.com/office/drawing/2014/main" val="1301179436"/>
                    </a:ext>
                  </a:extLst>
                </a:gridCol>
                <a:gridCol w="641167">
                  <a:extLst>
                    <a:ext uri="{9D8B030D-6E8A-4147-A177-3AD203B41FA5}">
                      <a16:colId xmlns:a16="http://schemas.microsoft.com/office/drawing/2014/main" val="1684122932"/>
                    </a:ext>
                  </a:extLst>
                </a:gridCol>
                <a:gridCol w="913613">
                  <a:extLst>
                    <a:ext uri="{9D8B030D-6E8A-4147-A177-3AD203B41FA5}">
                      <a16:colId xmlns:a16="http://schemas.microsoft.com/office/drawing/2014/main" val="105864171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3635948449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2118028620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2458838299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4265056242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652584557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1429374823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3082463893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3363223913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2269595572"/>
                    </a:ext>
                  </a:extLst>
                </a:gridCol>
              </a:tblGrid>
              <a:tr h="34436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年末年始休暇体制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12/27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12/28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12/29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12/30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12/31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1/1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1/2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1/3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kumimoji="1" lang="en-US" altLang="ja-JP" sz="1100" b="0" i="0" u="none" strike="noStrike" kern="1200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  <a:cs typeface="+mn-cs"/>
                        </a:rPr>
                        <a:t>1/4</a:t>
                      </a:r>
                      <a:endParaRPr kumimoji="1" lang="ja-JP" altLang="en-US" sz="1100" b="0" i="0" u="none" strike="noStrike" kern="1200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1/5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684008"/>
                  </a:ext>
                </a:extLst>
              </a:tr>
              <a:tr h="73276">
                <a:tc gridSpan="2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48644"/>
                  </a:ext>
                </a:extLst>
              </a:tr>
              <a:tr h="204169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CDP</a:t>
                      </a:r>
                    </a:p>
                    <a:p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6040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>
                          <a:latin typeface="+mj-lt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229782"/>
                  </a:ext>
                </a:extLst>
              </a:tr>
              <a:tr h="199089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OCI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6849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王／石井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6210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WebApp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693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杉浦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杉浦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乙間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川上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筒井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杉浦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筒井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74887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r>
                        <a:rPr kumimoji="1" lang="en-US" altLang="ja-JP" sz="1200" err="1">
                          <a:latin typeface="+mj-lt"/>
                        </a:rPr>
                        <a:t>AzureNW</a:t>
                      </a:r>
                      <a:br>
                        <a:rPr kumimoji="1" lang="en-US" altLang="ja-JP" sz="1200">
                          <a:latin typeface="+mj-lt"/>
                        </a:rPr>
                      </a:br>
                      <a:r>
                        <a:rPr kumimoji="1" lang="ja-JP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アラート監視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079880"/>
                  </a:ext>
                </a:extLst>
              </a:tr>
              <a:tr h="119026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大森／楊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2451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r>
                        <a:rPr kumimoji="1" lang="en-US" altLang="ja-JP" sz="1200" err="1">
                          <a:solidFill>
                            <a:srgbClr val="FF0000"/>
                          </a:solidFill>
                          <a:latin typeface="+mj-lt"/>
                        </a:rPr>
                        <a:t>PowerBI</a:t>
                      </a:r>
                      <a:endParaRPr kumimoji="1" lang="en-US" altLang="ja-JP" sz="1200">
                        <a:solidFill>
                          <a:srgbClr val="FF0000"/>
                        </a:solidFill>
                        <a:latin typeface="+mj-lt"/>
                      </a:endParaRPr>
                    </a:p>
                    <a:p>
                      <a:r>
                        <a:rPr kumimoji="1" lang="ja-JP" altLang="en-US" sz="1100">
                          <a:solidFill>
                            <a:srgbClr val="FF0000"/>
                          </a:solidFill>
                          <a:latin typeface="+mj-lt"/>
                        </a:rPr>
                        <a:t>インポートデータ</a:t>
                      </a:r>
                      <a:r>
                        <a:rPr kumimoji="1" lang="ja-JP" altLang="en-US" sz="1200">
                          <a:solidFill>
                            <a:srgbClr val="FF0000"/>
                          </a:solidFill>
                          <a:latin typeface="+mj-lt"/>
                        </a:rPr>
                        <a:t>更新確認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/>
                        <a:t>周／肖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肖／</a:t>
                      </a:r>
                      <a:r>
                        <a:rPr lang="ja-JP" altLang="en-US" sz="1050"/>
                        <a:t>周</a:t>
                      </a:r>
                      <a:br>
                        <a:rPr lang="en-US" altLang="ja-JP" sz="1050"/>
                      </a:br>
                      <a:r>
                        <a:rPr lang="en-US" altLang="ja-JP" sz="1050">
                          <a:solidFill>
                            <a:srgbClr val="FF0000"/>
                          </a:solidFill>
                        </a:rPr>
                        <a:t>19</a:t>
                      </a:r>
                      <a:r>
                        <a:rPr lang="ja-JP" altLang="en-US" sz="1050">
                          <a:solidFill>
                            <a:srgbClr val="FF0000"/>
                          </a:solidFill>
                        </a:rPr>
                        <a:t>時～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Meiryo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/>
                        <a:t>周／肖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/>
                        <a:t>周／王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/>
                        <a:t>周／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2028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劉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／楊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／楊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/>
                        <a:t>周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lang="ja-JP" altLang="en-US" sz="1050"/>
                        <a:t>肖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肖／</a:t>
                      </a:r>
                      <a:r>
                        <a:rPr lang="ja-JP" altLang="en-US" sz="1050"/>
                        <a:t>周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/>
                        <a:t>周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lang="ja-JP" altLang="en-US" sz="1050"/>
                        <a:t>肖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肖／王／楊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/>
                        <a:t>周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lang="ja-JP" altLang="en-US" sz="1050"/>
                        <a:t>王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/>
                        <a:t>周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／王／楊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劉／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／楊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劉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</a:t>
                      </a: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  <a:cs typeface="+mn-cs"/>
                        </a:rPr>
                        <a:t>／楊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443852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A470D41-51A1-0487-914B-5FC09B6F92A5}"/>
              </a:ext>
            </a:extLst>
          </p:cNvPr>
          <p:cNvSpPr txBox="1"/>
          <p:nvPr/>
        </p:nvSpPr>
        <p:spPr>
          <a:xfrm>
            <a:off x="660108" y="4535061"/>
            <a:ext cx="7739149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n-ea"/>
              </a:rPr>
              <a:t>年末</a:t>
            </a:r>
            <a:r>
              <a:rPr kumimoji="1" lang="ja-JP" altLang="en-US">
                <a:latin typeface="+mn-ea"/>
              </a:rPr>
              <a:t>休暇期間は、各環境の</a:t>
            </a:r>
            <a:r>
              <a:rPr lang="ja-JP" altLang="en-US">
                <a:latin typeface="+mn-ea"/>
              </a:rPr>
              <a:t>アラート窓口が定期チェックを実施</a:t>
            </a:r>
            <a:endParaRPr kumimoji="1" lang="ja-JP" altLang="en-US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確認者：</a:t>
            </a:r>
            <a:r>
              <a:rPr kumimoji="1" lang="en-US" altLang="ja-JP">
                <a:latin typeface="+mn-ea"/>
              </a:rPr>
              <a:t>Teams</a:t>
            </a:r>
            <a:r>
              <a:rPr lang="ja-JP" altLang="en-US">
                <a:latin typeface="+mn-ea"/>
              </a:rPr>
              <a:t>チャネルに参加している</a:t>
            </a:r>
            <a:r>
              <a:rPr kumimoji="1" lang="ja-JP" altLang="en-US">
                <a:latin typeface="+mn-ea"/>
              </a:rPr>
              <a:t>窓口担当</a:t>
            </a:r>
            <a:endParaRPr kumimoji="1" lang="en-US" altLang="ja-JP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アラートチェック：</a:t>
            </a:r>
            <a:r>
              <a:rPr lang="ja-JP" altLang="en-US">
                <a:latin typeface="+mn-ea"/>
              </a:rPr>
              <a:t>9時～、</a:t>
            </a:r>
            <a:r>
              <a:rPr lang="ja-JP" altLang="en-US">
                <a:solidFill>
                  <a:srgbClr val="FF0000"/>
                </a:solidFill>
                <a:latin typeface="+mn-ea"/>
              </a:rPr>
              <a:t>データ更新チェック：</a:t>
            </a:r>
            <a:r>
              <a:rPr lang="en-US" altLang="ja-JP">
                <a:solidFill>
                  <a:srgbClr val="FF0000"/>
                </a:solidFill>
                <a:latin typeface="+mn-ea"/>
              </a:rPr>
              <a:t>10</a:t>
            </a:r>
            <a:r>
              <a:rPr lang="ja-JP" altLang="en-US">
                <a:solidFill>
                  <a:srgbClr val="FF0000"/>
                </a:solidFill>
                <a:latin typeface="+mn-ea"/>
              </a:rPr>
              <a:t>時～</a:t>
            </a:r>
            <a:endParaRPr lang="en-US" altLang="ja-JP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n-ea"/>
              </a:rPr>
              <a:t>報告手段：</a:t>
            </a:r>
            <a:r>
              <a:rPr kumimoji="1" lang="en-US" altLang="ja-JP">
                <a:latin typeface="+mn-ea"/>
              </a:rPr>
              <a:t>Teams</a:t>
            </a:r>
            <a:r>
              <a:rPr kumimoji="1" lang="ja-JP" altLang="en-US">
                <a:latin typeface="+mn-ea"/>
              </a:rPr>
              <a:t>チャネル投稿</a:t>
            </a:r>
            <a:r>
              <a:rPr kumimoji="1" lang="ja-JP" altLang="en-US" sz="1200">
                <a:latin typeface="+mn-ea"/>
              </a:rPr>
              <a:t>　</a:t>
            </a:r>
            <a:r>
              <a:rPr kumimoji="1" lang="en-US" altLang="ja-JP" sz="1200">
                <a:latin typeface="+mn-ea"/>
              </a:rPr>
              <a:t>10_</a:t>
            </a:r>
            <a:r>
              <a:rPr kumimoji="1" lang="ja-JP" altLang="en-US" sz="1200">
                <a:latin typeface="+mn-ea"/>
              </a:rPr>
              <a:t>アラート監視共有 </a:t>
            </a:r>
            <a:r>
              <a:rPr kumimoji="1" lang="en-US" altLang="ja-JP" sz="1200">
                <a:latin typeface="+mn-ea"/>
              </a:rPr>
              <a:t>- TEC_U-SLIM</a:t>
            </a:r>
            <a:r>
              <a:rPr kumimoji="1" lang="ja-JP" altLang="en-US" sz="1200">
                <a:latin typeface="+mn-ea"/>
              </a:rPr>
              <a:t>（基盤検証）</a:t>
            </a:r>
            <a:br>
              <a:rPr kumimoji="1" lang="en-US" altLang="ja-JP" sz="1200">
                <a:latin typeface="+mn-ea"/>
              </a:rPr>
            </a:b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　　　　　　　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緊急時は携帯電話など連絡する。</a:t>
            </a:r>
            <a:endParaRPr kumimoji="1" lang="en-US" altLang="ja-JP" sz="1200">
              <a:solidFill>
                <a:srgbClr val="FF0000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n-ea"/>
              </a:rPr>
              <a:t>アラート対応時は窓口担当経由で対応者に指示</a:t>
            </a:r>
            <a:endParaRPr lang="en-US" altLang="ja-JP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n-ea"/>
              </a:rPr>
              <a:t>体制維持：</a:t>
            </a:r>
            <a:r>
              <a:rPr lang="en-US" altLang="ja-JP">
                <a:latin typeface="+mn-ea"/>
              </a:rPr>
              <a:t>9:00-</a:t>
            </a:r>
            <a:r>
              <a:rPr lang="en-US" altLang="ja-JP">
                <a:solidFill>
                  <a:srgbClr val="FF0000"/>
                </a:solidFill>
                <a:latin typeface="+mn-ea"/>
              </a:rPr>
              <a:t>12:00</a:t>
            </a:r>
            <a:r>
              <a:rPr lang="ja-JP" altLang="en-US" sz="1200">
                <a:latin typeface="+mn-ea"/>
              </a:rPr>
              <a:t> </a:t>
            </a:r>
            <a:r>
              <a:rPr lang="en-US" altLang="ja-JP" sz="1200">
                <a:latin typeface="+mn-ea"/>
              </a:rPr>
              <a:t>※12:00</a:t>
            </a:r>
            <a:r>
              <a:rPr lang="ja-JP" altLang="en-US" sz="1200">
                <a:latin typeface="+mn-ea"/>
              </a:rPr>
              <a:t>以降も対応が必要な場合は除く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2FD553-9C6D-581F-DDA8-725A43FEE3AF}"/>
              </a:ext>
            </a:extLst>
          </p:cNvPr>
          <p:cNvSpPr txBox="1"/>
          <p:nvPr/>
        </p:nvSpPr>
        <p:spPr>
          <a:xfrm>
            <a:off x="8399258" y="4535061"/>
            <a:ext cx="355505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i="0">
                <a:solidFill>
                  <a:srgbClr val="323130"/>
                </a:solidFill>
                <a:effectLst/>
                <a:latin typeface="+mn-ea"/>
              </a:rPr>
              <a:t>芝浦ビル全館停電（</a:t>
            </a:r>
            <a:r>
              <a:rPr lang="en-US" altLang="ja-JP" sz="1600" i="0">
                <a:solidFill>
                  <a:srgbClr val="323130"/>
                </a:solidFill>
                <a:effectLst/>
                <a:latin typeface="+mn-ea"/>
              </a:rPr>
              <a:t>12/30</a:t>
            </a:r>
            <a:r>
              <a:rPr lang="ja-JP" altLang="en-US" sz="1600" i="0">
                <a:solidFill>
                  <a:srgbClr val="323130"/>
                </a:solidFill>
                <a:effectLst/>
                <a:latin typeface="+mn-ea"/>
              </a:rPr>
              <a:t>）</a:t>
            </a:r>
            <a:br>
              <a:rPr lang="en-US" altLang="ja-JP" b="1" i="0">
                <a:solidFill>
                  <a:srgbClr val="323130"/>
                </a:solidFill>
                <a:effectLst/>
                <a:latin typeface="+mn-ea"/>
              </a:rPr>
            </a:br>
            <a:endParaRPr lang="en-US" altLang="ja-JP" b="1" i="0">
              <a:solidFill>
                <a:srgbClr val="323130"/>
              </a:solidFill>
              <a:effectLst/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200">
                <a:latin typeface="+mn-ea"/>
              </a:rPr>
              <a:t>　実施日　：</a:t>
            </a:r>
            <a:r>
              <a:rPr lang="en-US" altLang="ja-JP" sz="1200">
                <a:latin typeface="+mn-ea"/>
              </a:rPr>
              <a:t>2025</a:t>
            </a:r>
            <a:r>
              <a:rPr lang="ja-JP" altLang="en-US" sz="1200">
                <a:latin typeface="+mn-ea"/>
              </a:rPr>
              <a:t>年</a:t>
            </a:r>
            <a:r>
              <a:rPr lang="en-US" altLang="ja-JP" sz="1200">
                <a:latin typeface="+mn-ea"/>
              </a:rPr>
              <a:t>12</a:t>
            </a:r>
            <a:r>
              <a:rPr lang="ja-JP" altLang="en-US" sz="1200">
                <a:latin typeface="+mn-ea"/>
              </a:rPr>
              <a:t>月</a:t>
            </a:r>
            <a:r>
              <a:rPr lang="en-US" altLang="ja-JP" sz="1200">
                <a:latin typeface="+mn-ea"/>
              </a:rPr>
              <a:t>30</a:t>
            </a:r>
            <a:r>
              <a:rPr lang="ja-JP" altLang="en-US" sz="1200">
                <a:latin typeface="+mn-ea"/>
              </a:rPr>
              <a:t>日（火）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200">
                <a:latin typeface="+mn-ea"/>
              </a:rPr>
              <a:t>　作業時間：</a:t>
            </a:r>
            <a:r>
              <a:rPr lang="en-US" altLang="ja-JP" sz="1200">
                <a:latin typeface="+mn-ea"/>
              </a:rPr>
              <a:t>8:00</a:t>
            </a:r>
            <a:r>
              <a:rPr lang="ja-JP" altLang="en-US" sz="1200">
                <a:latin typeface="+mn-ea"/>
              </a:rPr>
              <a:t>～</a:t>
            </a:r>
            <a:r>
              <a:rPr lang="en-US" altLang="ja-JP" sz="1200">
                <a:latin typeface="+mn-ea"/>
              </a:rPr>
              <a:t>18:00</a:t>
            </a:r>
            <a:r>
              <a:rPr lang="ja-JP" altLang="en-US" sz="1200">
                <a:latin typeface="+mn-ea"/>
              </a:rPr>
              <a:t>（予定）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200">
                <a:latin typeface="+mn-ea"/>
              </a:rPr>
              <a:t>　停電時間：</a:t>
            </a:r>
            <a:r>
              <a:rPr lang="en-US" altLang="ja-JP" sz="1200">
                <a:latin typeface="+mn-ea"/>
              </a:rPr>
              <a:t>9:30</a:t>
            </a:r>
            <a:r>
              <a:rPr lang="ja-JP" altLang="en-US" sz="1200">
                <a:latin typeface="+mn-ea"/>
              </a:rPr>
              <a:t>～</a:t>
            </a:r>
            <a:r>
              <a:rPr lang="en-US" altLang="ja-JP" sz="1200">
                <a:latin typeface="+mn-ea"/>
              </a:rPr>
              <a:t>16:00</a:t>
            </a:r>
            <a:r>
              <a:rPr lang="ja-JP" altLang="en-US" sz="1200">
                <a:latin typeface="+mn-ea"/>
              </a:rPr>
              <a:t>（予定）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200">
                <a:latin typeface="+mn-ea"/>
              </a:rPr>
              <a:t>　停電箇所：全館（立駐棟含む）</a:t>
            </a:r>
            <a:br>
              <a:rPr lang="en-US" altLang="ja-JP" sz="1200">
                <a:latin typeface="+mn-ea"/>
              </a:rPr>
            </a:br>
            <a:br>
              <a:rPr lang="en-US" altLang="ja-JP" sz="1200">
                <a:latin typeface="+mn-ea"/>
              </a:rPr>
            </a:br>
            <a:r>
              <a:rPr lang="ja-JP" altLang="en-US" sz="1200">
                <a:solidFill>
                  <a:srgbClr val="FF0000"/>
                </a:solidFill>
                <a:latin typeface="+mn-ea"/>
              </a:rPr>
              <a:t>➡</a:t>
            </a:r>
            <a:r>
              <a:rPr lang="en-US" altLang="ja-JP" sz="1200">
                <a:solidFill>
                  <a:srgbClr val="FF0000"/>
                </a:solidFill>
                <a:latin typeface="+mn-ea"/>
              </a:rPr>
              <a:t>12/30</a:t>
            </a:r>
            <a:r>
              <a:rPr lang="ja-JP" altLang="en-US" sz="1200">
                <a:solidFill>
                  <a:srgbClr val="FF0000"/>
                </a:solidFill>
                <a:latin typeface="+mn-ea"/>
              </a:rPr>
              <a:t>のチェック時間は</a:t>
            </a:r>
            <a:r>
              <a:rPr lang="en-US" altLang="ja-JP" sz="1200">
                <a:solidFill>
                  <a:srgbClr val="FF0000"/>
                </a:solidFill>
                <a:latin typeface="+mn-ea"/>
              </a:rPr>
              <a:t>PC</a:t>
            </a:r>
            <a:r>
              <a:rPr lang="ja-JP" altLang="en-US" sz="1200">
                <a:solidFill>
                  <a:srgbClr val="FF0000"/>
                </a:solidFill>
                <a:latin typeface="+mn-ea"/>
              </a:rPr>
              <a:t>電源</a:t>
            </a:r>
            <a:r>
              <a:rPr lang="en-US" altLang="ja-JP" sz="1200">
                <a:solidFill>
                  <a:srgbClr val="FF0000"/>
                </a:solidFill>
                <a:latin typeface="+mn-ea"/>
              </a:rPr>
              <a:t>ON</a:t>
            </a:r>
            <a:r>
              <a:rPr lang="ja-JP" altLang="en-US" sz="1200">
                <a:solidFill>
                  <a:srgbClr val="FF0000"/>
                </a:solidFill>
                <a:latin typeface="+mn-ea"/>
              </a:rPr>
              <a:t>になった後</a:t>
            </a:r>
          </a:p>
        </p:txBody>
      </p:sp>
    </p:spTree>
    <p:extLst>
      <p:ext uri="{BB962C8B-B14F-4D97-AF65-F5344CB8AC3E}">
        <p14:creationId xmlns:p14="http://schemas.microsoft.com/office/powerpoint/2010/main" val="346296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4CCD-58F0-95B6-912B-EDA99A1D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正方形/長方形 1093">
            <a:extLst>
              <a:ext uri="{FF2B5EF4-FFF2-40B4-BE49-F238E27FC236}">
                <a16:creationId xmlns:a16="http://schemas.microsoft.com/office/drawing/2014/main" id="{5E41DEB6-99FC-94FA-E0CF-08F1BEB05C14}"/>
              </a:ext>
            </a:extLst>
          </p:cNvPr>
          <p:cNvSpPr/>
          <p:nvPr/>
        </p:nvSpPr>
        <p:spPr>
          <a:xfrm>
            <a:off x="7459132" y="2957701"/>
            <a:ext cx="1070412" cy="1053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100" b="1" u="sng">
                <a:solidFill>
                  <a:schemeClr val="accent1">
                    <a:lumMod val="75000"/>
                  </a:schemeClr>
                </a:solidFill>
              </a:rPr>
              <a:t>システム管理者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544AC6E-D39A-AB6C-495F-FD46C5D7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障害監視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A8A814-FEDE-1887-60C0-31DE359DDF65}"/>
              </a:ext>
            </a:extLst>
          </p:cNvPr>
          <p:cNvSpPr/>
          <p:nvPr/>
        </p:nvSpPr>
        <p:spPr bwMode="gray">
          <a:xfrm>
            <a:off x="188859" y="1181899"/>
            <a:ext cx="2249389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アラート監視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9B8C502-7584-2CC1-D1C8-4336371642AF}"/>
              </a:ext>
            </a:extLst>
          </p:cNvPr>
          <p:cNvSpPr/>
          <p:nvPr/>
        </p:nvSpPr>
        <p:spPr bwMode="gray">
          <a:xfrm>
            <a:off x="8124550" y="1186937"/>
            <a:ext cx="3940929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DB8B6DD-55AF-CA3D-4927-D9D53F6D5D5E}"/>
              </a:ext>
            </a:extLst>
          </p:cNvPr>
          <p:cNvSpPr/>
          <p:nvPr/>
        </p:nvSpPr>
        <p:spPr bwMode="gray">
          <a:xfrm>
            <a:off x="75890" y="3028108"/>
            <a:ext cx="1509842" cy="10011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アラート確認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</a:t>
            </a: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  <a:hlinkClick r:id="rId2"/>
              </a:rPr>
              <a:t>toyotecdap-alert@toyotec-jp.com</a:t>
            </a:r>
            <a:endParaRPr lang="en-US" altLang="ja-JP" sz="9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5A8A4218-1822-DD4F-0694-30C2CAFB44B8}"/>
              </a:ext>
            </a:extLst>
          </p:cNvPr>
          <p:cNvSpPr/>
          <p:nvPr/>
        </p:nvSpPr>
        <p:spPr>
          <a:xfrm>
            <a:off x="2553713" y="1581242"/>
            <a:ext cx="5453472" cy="5134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（体制維持：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9-17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r>
              <a:rPr kumimoji="1" lang="en-US" altLang="ja-JP" sz="1050">
                <a:solidFill>
                  <a:schemeClr val="tx1"/>
                </a:solidFill>
                <a:latin typeface="+mj-lt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定期アラートチェック（</a:t>
            </a:r>
            <a:r>
              <a:rPr kumimoji="1" lang="en-US" altLang="ja-JP" sz="1050">
                <a:solidFill>
                  <a:schemeClr val="tx1"/>
                </a:solidFill>
                <a:latin typeface="+mj-lt"/>
              </a:rPr>
              <a:t>9:00,13:00,17:00</a:t>
            </a:r>
            <a:r>
              <a:rPr lang="ja-JP" altLang="en-US" sz="1050">
                <a:solidFill>
                  <a:schemeClr val="tx1"/>
                </a:solidFill>
                <a:latin typeface="+mj-lt"/>
              </a:rPr>
              <a:t>）</a:t>
            </a:r>
            <a:endParaRPr kumimoji="1" lang="en-US" altLang="ja-JP" sz="105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19918915-1033-D8CE-9415-14B597A0786C}"/>
              </a:ext>
            </a:extLst>
          </p:cNvPr>
          <p:cNvSpPr/>
          <p:nvPr/>
        </p:nvSpPr>
        <p:spPr bwMode="gray">
          <a:xfrm>
            <a:off x="2543606" y="1184443"/>
            <a:ext cx="5463579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A97C1256-1DA5-13A3-0864-074AF8A60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457" y="4252903"/>
            <a:ext cx="816379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9952FF3B-4F7C-B423-2EE7-1C73987C3793}"/>
              </a:ext>
            </a:extLst>
          </p:cNvPr>
          <p:cNvCxnSpPr>
            <a:cxnSpLocks/>
            <a:stCxn id="1030" idx="2"/>
            <a:endCxn id="1031" idx="0"/>
          </p:cNvCxnSpPr>
          <p:nvPr/>
        </p:nvCxnSpPr>
        <p:spPr>
          <a:xfrm rot="5400000">
            <a:off x="6527349" y="4924029"/>
            <a:ext cx="329835" cy="222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74505870-9C4D-B877-FF31-2C23321E91B7}"/>
              </a:ext>
            </a:extLst>
          </p:cNvPr>
          <p:cNvSpPr txBox="1"/>
          <p:nvPr/>
        </p:nvSpPr>
        <p:spPr>
          <a:xfrm>
            <a:off x="7601990" y="4781250"/>
            <a:ext cx="797676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E93F6DBF-96EF-98FF-AC8A-D39680200397}"/>
              </a:ext>
            </a:extLst>
          </p:cNvPr>
          <p:cNvSpPr/>
          <p:nvPr/>
        </p:nvSpPr>
        <p:spPr>
          <a:xfrm>
            <a:off x="6363081" y="5870932"/>
            <a:ext cx="1761469" cy="391466"/>
          </a:xfrm>
          <a:prstGeom prst="wedgeRoundRectCallout">
            <a:avLst>
              <a:gd name="adj1" fmla="val 29001"/>
              <a:gd name="adj2" fmla="val -8893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窓口が状況報告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94CF5C2-C87D-06EE-E430-A276E3F9CDE6}"/>
              </a:ext>
            </a:extLst>
          </p:cNvPr>
          <p:cNvGrpSpPr/>
          <p:nvPr/>
        </p:nvGrpSpPr>
        <p:grpSpPr>
          <a:xfrm>
            <a:off x="2438249" y="2349713"/>
            <a:ext cx="3113658" cy="4150626"/>
            <a:chOff x="4566979" y="2427606"/>
            <a:chExt cx="2978001" cy="4150626"/>
          </a:xfrm>
        </p:grpSpPr>
        <p:sp>
          <p:nvSpPr>
            <p:cNvPr id="1108" name="正方形/長方形 1107">
              <a:extLst>
                <a:ext uri="{FF2B5EF4-FFF2-40B4-BE49-F238E27FC236}">
                  <a16:creationId xmlns:a16="http://schemas.microsoft.com/office/drawing/2014/main" id="{0AC92540-6C46-631C-B493-D63F25664EC3}"/>
                </a:ext>
              </a:extLst>
            </p:cNvPr>
            <p:cNvSpPr/>
            <p:nvPr/>
          </p:nvSpPr>
          <p:spPr>
            <a:xfrm>
              <a:off x="4566979" y="2427606"/>
              <a:ext cx="2978001" cy="41506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sz="1600" b="1" u="sng">
                  <a:solidFill>
                    <a:schemeClr val="accent1">
                      <a:lumMod val="75000"/>
                    </a:schemeClr>
                  </a:solidFill>
                </a:rPr>
                <a:t>アラート窓口</a:t>
              </a:r>
            </a:p>
          </p:txBody>
        </p:sp>
        <p:sp>
          <p:nvSpPr>
            <p:cNvPr id="1039" name="四角形: 角を丸くする 1038">
              <a:extLst>
                <a:ext uri="{FF2B5EF4-FFF2-40B4-BE49-F238E27FC236}">
                  <a16:creationId xmlns:a16="http://schemas.microsoft.com/office/drawing/2014/main" id="{C69F0109-1480-BB46-F743-31AB8D18FF2C}"/>
                </a:ext>
              </a:extLst>
            </p:cNvPr>
            <p:cNvSpPr/>
            <p:nvPr/>
          </p:nvSpPr>
          <p:spPr>
            <a:xfrm>
              <a:off x="4651338" y="3931441"/>
              <a:ext cx="2714815" cy="707188"/>
            </a:xfrm>
            <a:prstGeom prst="roundRect">
              <a:avLst>
                <a:gd name="adj" fmla="val 5858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王</a:t>
              </a:r>
              <a:r>
                <a:rPr kumimoji="1" lang="en-US" altLang="ja-JP" sz="800">
                  <a:solidFill>
                    <a:srgbClr val="FF0000"/>
                  </a:solidFill>
                  <a:latin typeface="+mj-lt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(</a:t>
              </a:r>
              <a:r>
                <a:rPr lang="en-US" altLang="ja-JP" sz="800">
                  <a:solidFill>
                    <a:srgbClr val="FF0000"/>
                  </a:solidFill>
                  <a:latin typeface="+mj-lt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wang_zhong_za@toyotec-jp.com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)</a:t>
              </a:r>
            </a:p>
            <a:p>
              <a:r>
                <a:rPr lang="ja-JP" altLang="en-US" sz="1400">
                  <a:solidFill>
                    <a:schemeClr val="tx1"/>
                  </a:solidFill>
                </a:rPr>
                <a:t>唐</a:t>
              </a:r>
              <a:r>
                <a:rPr lang="en-US" altLang="ja-JP" sz="800">
                  <a:solidFill>
                    <a:schemeClr val="tx1"/>
                  </a:solidFill>
                </a:rPr>
                <a:t>(</a:t>
              </a:r>
              <a:r>
                <a:rPr lang="en-US" altLang="ja-JP" sz="800">
                  <a:solidFill>
                    <a:schemeClr val="tx1"/>
                  </a:solidFill>
                  <a:hlinkClick r:id="rId5"/>
                </a:rPr>
                <a:t>chunfeng_tang_za@toyotec-jp.com</a:t>
              </a:r>
              <a:r>
                <a:rPr lang="en-US" altLang="ja-JP" sz="800">
                  <a:solidFill>
                    <a:schemeClr val="tx1"/>
                  </a:solidFill>
                </a:rPr>
                <a:t>)</a:t>
              </a:r>
            </a:p>
            <a:p>
              <a:endParaRPr lang="en-US" altLang="ja-JP" sz="800">
                <a:solidFill>
                  <a:schemeClr val="tx1"/>
                </a:solidFill>
              </a:endParaRPr>
            </a:p>
          </p:txBody>
        </p:sp>
        <p:sp>
          <p:nvSpPr>
            <p:cNvPr id="1176" name="四角形: 角を丸くする 1175">
              <a:extLst>
                <a:ext uri="{FF2B5EF4-FFF2-40B4-BE49-F238E27FC236}">
                  <a16:creationId xmlns:a16="http://schemas.microsoft.com/office/drawing/2014/main" id="{569B395B-211F-63E4-84D7-762F1251266D}"/>
                </a:ext>
              </a:extLst>
            </p:cNvPr>
            <p:cNvSpPr/>
            <p:nvPr/>
          </p:nvSpPr>
          <p:spPr>
            <a:xfrm>
              <a:off x="4677412" y="5840321"/>
              <a:ext cx="2688740" cy="525544"/>
            </a:xfrm>
            <a:prstGeom prst="roundRect">
              <a:avLst>
                <a:gd name="adj" fmla="val 5858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 anchorCtr="0"/>
            <a:lstStyle/>
            <a:p>
              <a:r>
                <a:rPr lang="ja-JP" sz="1400">
                  <a:solidFill>
                    <a:schemeClr val="tx1"/>
                  </a:solidFill>
                  <a:latin typeface="+mj-lt"/>
                </a:rPr>
                <a:t>楊</a:t>
              </a:r>
              <a:endParaRPr kumimoji="1" lang="en-US" altLang="ja-JP" sz="80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82" name="四角形: 角を丸くする 1181">
              <a:extLst>
                <a:ext uri="{FF2B5EF4-FFF2-40B4-BE49-F238E27FC236}">
                  <a16:creationId xmlns:a16="http://schemas.microsoft.com/office/drawing/2014/main" id="{708DCA5A-4B62-6E0F-6BBE-987C2D6C2E67}"/>
                </a:ext>
              </a:extLst>
            </p:cNvPr>
            <p:cNvSpPr/>
            <p:nvPr/>
          </p:nvSpPr>
          <p:spPr>
            <a:xfrm>
              <a:off x="4667746" y="5054655"/>
              <a:ext cx="2698406" cy="536016"/>
            </a:xfrm>
            <a:prstGeom prst="roundRect">
              <a:avLst>
                <a:gd name="adj" fmla="val 5858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金崎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(kouji_kanezaki_za@toyotec-jp.com)</a:t>
              </a:r>
            </a:p>
            <a:p>
              <a:r>
                <a:rPr kumimoji="1" lang="ja-JP" altLang="en-US" sz="1400">
                  <a:solidFill>
                    <a:schemeClr val="tx1"/>
                  </a:solidFill>
                  <a:latin typeface="+mj-lt"/>
                </a:rPr>
                <a:t>曽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(karyo_so_za@toyotec-jp.com)</a:t>
              </a:r>
              <a:endParaRPr kumimoji="1" lang="en-US" altLang="ja-JP" sz="80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87" name="テキスト ボックス 1186">
              <a:extLst>
                <a:ext uri="{FF2B5EF4-FFF2-40B4-BE49-F238E27FC236}">
                  <a16:creationId xmlns:a16="http://schemas.microsoft.com/office/drawing/2014/main" id="{5E4CFCB9-40E4-1D2E-004A-FF3784EBE6EB}"/>
                </a:ext>
              </a:extLst>
            </p:cNvPr>
            <p:cNvSpPr txBox="1"/>
            <p:nvPr/>
          </p:nvSpPr>
          <p:spPr>
            <a:xfrm>
              <a:off x="4594987" y="4764536"/>
              <a:ext cx="554276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WebApp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94" name="テキスト ボックス 1193">
              <a:extLst>
                <a:ext uri="{FF2B5EF4-FFF2-40B4-BE49-F238E27FC236}">
                  <a16:creationId xmlns:a16="http://schemas.microsoft.com/office/drawing/2014/main" id="{2C84F0AD-5C34-0C1D-5E23-BE327204B11B}"/>
                </a:ext>
              </a:extLst>
            </p:cNvPr>
            <p:cNvSpPr txBox="1"/>
            <p:nvPr/>
          </p:nvSpPr>
          <p:spPr>
            <a:xfrm>
              <a:off x="4615023" y="2775257"/>
              <a:ext cx="514489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CDP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95" name="テキスト ボックス 1194">
              <a:extLst>
                <a:ext uri="{FF2B5EF4-FFF2-40B4-BE49-F238E27FC236}">
                  <a16:creationId xmlns:a16="http://schemas.microsoft.com/office/drawing/2014/main" id="{4FAD8522-0B87-91BC-2CB8-94E68A2A3E79}"/>
                </a:ext>
              </a:extLst>
            </p:cNvPr>
            <p:cNvSpPr txBox="1"/>
            <p:nvPr/>
          </p:nvSpPr>
          <p:spPr>
            <a:xfrm>
              <a:off x="4677412" y="5634472"/>
              <a:ext cx="665247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Azure NW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E83E714C-8E14-8D89-AFA5-A43065AAE259}"/>
                </a:ext>
              </a:extLst>
            </p:cNvPr>
            <p:cNvSpPr txBox="1"/>
            <p:nvPr/>
          </p:nvSpPr>
          <p:spPr>
            <a:xfrm>
              <a:off x="4615023" y="3688751"/>
              <a:ext cx="514489" cy="16421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067">
                  <a:latin typeface="Meiryo UI" panose="020B0604030504040204" pitchFamily="50" charset="-128"/>
                  <a:ea typeface="Meiryo UI" panose="020B0604030504040204" pitchFamily="50" charset="-128"/>
                </a:rPr>
                <a:t>OCI</a:t>
              </a:r>
              <a:endParaRPr lang="ja-JP" altLang="en-US" sz="1067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C6F35585-14EE-1633-0250-6CAA4C89395A}"/>
                </a:ext>
              </a:extLst>
            </p:cNvPr>
            <p:cNvSpPr/>
            <p:nvPr/>
          </p:nvSpPr>
          <p:spPr>
            <a:xfrm>
              <a:off x="4650918" y="3041449"/>
              <a:ext cx="2724901" cy="584432"/>
            </a:xfrm>
            <a:prstGeom prst="roundRect">
              <a:avLst>
                <a:gd name="adj" fmla="val 5858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肖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(xiao_haobo_za@toyotec-jp.com)</a:t>
              </a:r>
            </a:p>
            <a:p>
              <a:r>
                <a:rPr lang="ja-JP" altLang="en-US" sz="1400">
                  <a:solidFill>
                    <a:schemeClr val="tx1"/>
                  </a:solidFill>
                  <a:latin typeface="+mj-lt"/>
                </a:rPr>
                <a:t>松浦</a:t>
              </a:r>
              <a:r>
                <a:rPr lang="en-US" altLang="ja-JP" sz="800">
                  <a:solidFill>
                    <a:schemeClr val="tx1"/>
                  </a:solidFill>
                  <a:latin typeface="+mj-lt"/>
                </a:rPr>
                <a:t>(satoshi_matsuura_za@toyotec-jp.com)</a:t>
              </a:r>
              <a:endParaRPr kumimoji="1" lang="en-US" altLang="ja-JP" sz="800">
                <a:solidFill>
                  <a:schemeClr val="tx1"/>
                </a:solidFill>
                <a:latin typeface="+mj-lt"/>
              </a:endParaRPr>
            </a:p>
          </p:txBody>
        </p:sp>
      </p:grpSp>
      <p:pic>
        <p:nvPicPr>
          <p:cNvPr id="23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2CBC442E-4851-32BE-2D74-F9B19F143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916" y="2834495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D3C034C-9953-D1E1-63F2-1EA19AE5E73A}"/>
              </a:ext>
            </a:extLst>
          </p:cNvPr>
          <p:cNvSpPr txBox="1"/>
          <p:nvPr/>
        </p:nvSpPr>
        <p:spPr>
          <a:xfrm>
            <a:off x="1614694" y="3200578"/>
            <a:ext cx="797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50FA547-3913-775C-1116-353B567A6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086" y="3050261"/>
            <a:ext cx="311699" cy="247343"/>
          </a:xfrm>
          <a:prstGeom prst="rect">
            <a:avLst/>
          </a:prstGeom>
        </p:spPr>
      </p:pic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3C2FF687-F22A-F88C-B87B-442A151FAEA1}"/>
              </a:ext>
            </a:extLst>
          </p:cNvPr>
          <p:cNvSpPr/>
          <p:nvPr/>
        </p:nvSpPr>
        <p:spPr bwMode="gray">
          <a:xfrm>
            <a:off x="3072094" y="2702246"/>
            <a:ext cx="2484946" cy="22178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ja-JP" altLang="en-US" sz="800"/>
              <a:t>11_OCIアラート共有 - TEC_U-SLIM（基盤検証） </a:t>
            </a:r>
            <a:r>
              <a:rPr lang="ja-JP" altLang="en-US" sz="800">
                <a:hlinkClick r:id="rId7"/>
              </a:rPr>
              <a:t>424d87e6.tatgroup.onmicrosoft.com@jp.teams.ms</a:t>
            </a:r>
            <a:endParaRPr lang="en-US" altLang="ja-JP" sz="800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7782320-C857-B088-AB76-732C3A537FED}"/>
              </a:ext>
            </a:extLst>
          </p:cNvPr>
          <p:cNvSpPr/>
          <p:nvPr/>
        </p:nvSpPr>
        <p:spPr bwMode="gray">
          <a:xfrm>
            <a:off x="3072094" y="3563854"/>
            <a:ext cx="2513981" cy="26904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800"/>
              <a:t>12_CDP</a:t>
            </a:r>
            <a:r>
              <a:rPr lang="ja-JP" altLang="en-US" sz="800"/>
              <a:t>アラート共有 </a:t>
            </a:r>
            <a:r>
              <a:rPr lang="en-US" altLang="ja-JP" sz="800"/>
              <a:t>- TEC_U-SLIM</a:t>
            </a:r>
            <a:r>
              <a:rPr lang="ja-JP" altLang="en-US" sz="800"/>
              <a:t>（基盤検証） </a:t>
            </a:r>
            <a:r>
              <a:rPr lang="en-US" altLang="ja-JP" sz="800">
                <a:hlinkClick r:id="rId8"/>
              </a:rPr>
              <a:t>c31c0289.tatgroup.onmicrosoft.com@jp.teams.ms</a:t>
            </a:r>
            <a:endParaRPr lang="en-US" altLang="ja-JP" sz="8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CAD6911-3C1B-49D0-0BE2-70C1800CABE1}"/>
              </a:ext>
            </a:extLst>
          </p:cNvPr>
          <p:cNvSpPr/>
          <p:nvPr/>
        </p:nvSpPr>
        <p:spPr bwMode="gray">
          <a:xfrm>
            <a:off x="3016066" y="4589009"/>
            <a:ext cx="2597001" cy="33180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800"/>
              <a:t>13_WebApp</a:t>
            </a:r>
            <a:r>
              <a:rPr lang="ja-JP" altLang="en-US" sz="800"/>
              <a:t>アラート共有 </a:t>
            </a:r>
            <a:r>
              <a:rPr lang="en-US" altLang="ja-JP" sz="800"/>
              <a:t>- TEC_U-SLIM</a:t>
            </a:r>
            <a:r>
              <a:rPr lang="ja-JP" altLang="en-US" sz="800"/>
              <a:t>（基盤検証） </a:t>
            </a:r>
            <a:r>
              <a:rPr lang="en-US" altLang="ja-JP" sz="800">
                <a:hlinkClick r:id="rId9"/>
              </a:rPr>
              <a:t>f88b021c.tatgroup.onmicrosoft.com@jp.teams.ms</a:t>
            </a:r>
            <a:endParaRPr lang="en-US" altLang="ja-JP" sz="800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56ED3AA5-2A3E-9DF7-4104-BB92699803A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585732" y="3528661"/>
            <a:ext cx="902750" cy="164303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6B161C90-DA29-7382-5005-67C478375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029" y="3761023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95514897-6A0F-699C-F40A-717748AEF323}"/>
              </a:ext>
            </a:extLst>
          </p:cNvPr>
          <p:cNvSpPr txBox="1"/>
          <p:nvPr/>
        </p:nvSpPr>
        <p:spPr>
          <a:xfrm>
            <a:off x="1629807" y="4127106"/>
            <a:ext cx="797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pic>
        <p:nvPicPr>
          <p:cNvPr id="1026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A5C98626-8652-67E0-CCCA-1A96C032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417" y="4864505"/>
            <a:ext cx="616208" cy="34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8106CCF1-2D7E-0DEC-FDD8-BCAA633B2CD6}"/>
              </a:ext>
            </a:extLst>
          </p:cNvPr>
          <p:cNvSpPr txBox="1"/>
          <p:nvPr/>
        </p:nvSpPr>
        <p:spPr>
          <a:xfrm>
            <a:off x="1601195" y="5230588"/>
            <a:ext cx="79767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WebApp</a:t>
            </a:r>
            <a:br>
              <a:rPr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共有チャネル</a:t>
            </a: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ED4A7BF7-E761-3316-6ABB-57CDAD3A74B4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1585732" y="2779470"/>
            <a:ext cx="902750" cy="749191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62C34433-025D-2A21-C09E-064C2BFEEC1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585732" y="3528661"/>
            <a:ext cx="881801" cy="124008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フローチャート: 判断 1028">
            <a:extLst>
              <a:ext uri="{FF2B5EF4-FFF2-40B4-BE49-F238E27FC236}">
                <a16:creationId xmlns:a16="http://schemas.microsoft.com/office/drawing/2014/main" id="{E5A1DFEE-C3AD-29F2-7F4C-810B61B324E4}"/>
              </a:ext>
            </a:extLst>
          </p:cNvPr>
          <p:cNvSpPr/>
          <p:nvPr/>
        </p:nvSpPr>
        <p:spPr>
          <a:xfrm>
            <a:off x="6031065" y="4186399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テキスト ボックス 1029">
            <a:extLst>
              <a:ext uri="{FF2B5EF4-FFF2-40B4-BE49-F238E27FC236}">
                <a16:creationId xmlns:a16="http://schemas.microsoft.com/office/drawing/2014/main" id="{C0773AAC-CC2C-E41C-6228-95B21297DDC4}"/>
              </a:ext>
            </a:extLst>
          </p:cNvPr>
          <p:cNvSpPr txBox="1"/>
          <p:nvPr/>
        </p:nvSpPr>
        <p:spPr>
          <a:xfrm>
            <a:off x="6195003" y="4252391"/>
            <a:ext cx="9967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900">
                <a:latin typeface="+mn-ea"/>
              </a:rPr>
              <a:t>ai21</a:t>
            </a:r>
            <a:r>
              <a:rPr lang="ja-JP" altLang="en-US" sz="900">
                <a:latin typeface="+mn-ea"/>
              </a:rPr>
              <a:t>へ影響</a:t>
            </a:r>
            <a:endParaRPr lang="en-US" altLang="ja-JP" sz="900">
              <a:latin typeface="+mn-ea"/>
            </a:endParaRPr>
          </a:p>
          <a:p>
            <a:pPr algn="ctr"/>
            <a:r>
              <a:rPr lang="ja-JP" altLang="en-US" sz="900">
                <a:latin typeface="+mn-ea"/>
              </a:rPr>
              <a:t>を及ぼすアラート有無</a:t>
            </a:r>
          </a:p>
        </p:txBody>
      </p:sp>
      <p:sp>
        <p:nvSpPr>
          <p:cNvPr id="1031" name="フローチャート: 和接合 1030">
            <a:extLst>
              <a:ext uri="{FF2B5EF4-FFF2-40B4-BE49-F238E27FC236}">
                <a16:creationId xmlns:a16="http://schemas.microsoft.com/office/drawing/2014/main" id="{D83F544E-1DB3-EE1E-94AD-5D4C0394ED77}"/>
              </a:ext>
            </a:extLst>
          </p:cNvPr>
          <p:cNvSpPr/>
          <p:nvPr/>
        </p:nvSpPr>
        <p:spPr>
          <a:xfrm>
            <a:off x="6574639" y="5090057"/>
            <a:ext cx="233033" cy="223677"/>
          </a:xfrm>
          <a:prstGeom prst="flowChartSummingJunction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3A769A00-718A-E9E7-AE5E-AE2BB3EFA1E2}"/>
              </a:ext>
            </a:extLst>
          </p:cNvPr>
          <p:cNvSpPr txBox="1"/>
          <p:nvPr/>
        </p:nvSpPr>
        <p:spPr>
          <a:xfrm>
            <a:off x="6645675" y="4795157"/>
            <a:ext cx="3751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800">
                <a:latin typeface="Meiryo UI" panose="020B0604030504040204" pitchFamily="50" charset="-128"/>
                <a:ea typeface="Meiryo UI" panose="020B0604030504040204" pitchFamily="50" charset="-128"/>
              </a:rPr>
              <a:t>無</a:t>
            </a:r>
          </a:p>
        </p:txBody>
      </p:sp>
      <p:cxnSp>
        <p:nvCxnSpPr>
          <p:cNvPr id="1035" name="コネクタ: カギ線 1034">
            <a:extLst>
              <a:ext uri="{FF2B5EF4-FFF2-40B4-BE49-F238E27FC236}">
                <a16:creationId xmlns:a16="http://schemas.microsoft.com/office/drawing/2014/main" id="{5F853703-AF1B-77E8-D2BF-404068E88DCC}"/>
              </a:ext>
            </a:extLst>
          </p:cNvPr>
          <p:cNvCxnSpPr>
            <a:cxnSpLocks/>
            <a:endCxn id="1029" idx="1"/>
          </p:cNvCxnSpPr>
          <p:nvPr/>
        </p:nvCxnSpPr>
        <p:spPr>
          <a:xfrm>
            <a:off x="5375041" y="3255772"/>
            <a:ext cx="656024" cy="122781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コネクタ: カギ線 1042">
            <a:extLst>
              <a:ext uri="{FF2B5EF4-FFF2-40B4-BE49-F238E27FC236}">
                <a16:creationId xmlns:a16="http://schemas.microsoft.com/office/drawing/2014/main" id="{188D9984-DC9A-8FD2-FCCC-4697A6C9D697}"/>
              </a:ext>
            </a:extLst>
          </p:cNvPr>
          <p:cNvCxnSpPr>
            <a:cxnSpLocks/>
            <a:endCxn id="1029" idx="1"/>
          </p:cNvCxnSpPr>
          <p:nvPr/>
        </p:nvCxnSpPr>
        <p:spPr>
          <a:xfrm>
            <a:off x="5364934" y="4207142"/>
            <a:ext cx="666131" cy="27644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コネクタ: カギ線 1045">
            <a:extLst>
              <a:ext uri="{FF2B5EF4-FFF2-40B4-BE49-F238E27FC236}">
                <a16:creationId xmlns:a16="http://schemas.microsoft.com/office/drawing/2014/main" id="{49004923-375F-20D1-CA82-092684FFD07A}"/>
              </a:ext>
            </a:extLst>
          </p:cNvPr>
          <p:cNvCxnSpPr>
            <a:cxnSpLocks/>
            <a:endCxn id="1029" idx="1"/>
          </p:cNvCxnSpPr>
          <p:nvPr/>
        </p:nvCxnSpPr>
        <p:spPr>
          <a:xfrm flipV="1">
            <a:off x="5364933" y="4483588"/>
            <a:ext cx="666132" cy="761182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コネクタ: カギ線 1051">
            <a:extLst>
              <a:ext uri="{FF2B5EF4-FFF2-40B4-BE49-F238E27FC236}">
                <a16:creationId xmlns:a16="http://schemas.microsoft.com/office/drawing/2014/main" id="{090894D5-8DEF-BE98-C8E7-64560AF6E846}"/>
              </a:ext>
            </a:extLst>
          </p:cNvPr>
          <p:cNvCxnSpPr>
            <a:cxnSpLocks/>
            <a:endCxn id="1029" idx="1"/>
          </p:cNvCxnSpPr>
          <p:nvPr/>
        </p:nvCxnSpPr>
        <p:spPr>
          <a:xfrm flipV="1">
            <a:off x="5364933" y="4483588"/>
            <a:ext cx="666132" cy="1541612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四角形: 角を丸くする 1057">
            <a:extLst>
              <a:ext uri="{FF2B5EF4-FFF2-40B4-BE49-F238E27FC236}">
                <a16:creationId xmlns:a16="http://schemas.microsoft.com/office/drawing/2014/main" id="{D935B5B1-EEF8-18E3-6AC4-362E4830B8A2}"/>
              </a:ext>
            </a:extLst>
          </p:cNvPr>
          <p:cNvSpPr/>
          <p:nvPr/>
        </p:nvSpPr>
        <p:spPr>
          <a:xfrm>
            <a:off x="8124550" y="1592764"/>
            <a:ext cx="3940929" cy="51349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アラート窓口指示の基、担当者が対応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</a:rPr>
              <a:t>（体制維持：</a:t>
            </a:r>
            <a:r>
              <a:rPr lang="en-US" altLang="ja-JP" sz="1400">
                <a:solidFill>
                  <a:schemeClr val="tx1"/>
                </a:solidFill>
              </a:rPr>
              <a:t>9-17</a:t>
            </a:r>
            <a:r>
              <a:rPr lang="ja-JP" altLang="en-US" sz="1400">
                <a:solidFill>
                  <a:schemeClr val="tx1"/>
                </a:solidFill>
              </a:rPr>
              <a:t>）</a:t>
            </a:r>
            <a:r>
              <a:rPr lang="en-US" altLang="ja-JP" sz="1100">
                <a:solidFill>
                  <a:schemeClr val="tx1"/>
                </a:solidFill>
              </a:rPr>
              <a:t>※</a:t>
            </a:r>
            <a:r>
              <a:rPr lang="ja-JP" altLang="en-US" sz="1100">
                <a:solidFill>
                  <a:schemeClr val="tx1"/>
                </a:solidFill>
              </a:rPr>
              <a:t>必要に応じて</a:t>
            </a:r>
            <a:r>
              <a:rPr lang="en-US" altLang="ja-JP" sz="1100">
                <a:solidFill>
                  <a:schemeClr val="tx1"/>
                </a:solidFill>
              </a:rPr>
              <a:t>17:00</a:t>
            </a:r>
            <a:r>
              <a:rPr lang="ja-JP" altLang="en-US" sz="1100">
                <a:solidFill>
                  <a:schemeClr val="tx1"/>
                </a:solidFill>
              </a:rPr>
              <a:t>以降も対応</a:t>
            </a:r>
            <a:endParaRPr lang="en-US" altLang="ja-JP" sz="1100">
              <a:solidFill>
                <a:schemeClr val="tx1"/>
              </a:solidFill>
            </a:endParaRPr>
          </a:p>
        </p:txBody>
      </p:sp>
      <p:cxnSp>
        <p:nvCxnSpPr>
          <p:cNvPr id="1071" name="コネクタ: カギ線 1070">
            <a:extLst>
              <a:ext uri="{FF2B5EF4-FFF2-40B4-BE49-F238E27FC236}">
                <a16:creationId xmlns:a16="http://schemas.microsoft.com/office/drawing/2014/main" id="{6E5B0692-6194-0E72-63B5-EA064FDE266C}"/>
              </a:ext>
            </a:extLst>
          </p:cNvPr>
          <p:cNvCxnSpPr>
            <a:cxnSpLocks/>
            <a:stCxn id="1029" idx="3"/>
            <a:endCxn id="1200" idx="1"/>
          </p:cNvCxnSpPr>
          <p:nvPr/>
        </p:nvCxnSpPr>
        <p:spPr>
          <a:xfrm>
            <a:off x="7355687" y="4483588"/>
            <a:ext cx="258770" cy="1119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C2025683-5B81-636C-85AB-4053CEBCE21A}"/>
              </a:ext>
            </a:extLst>
          </p:cNvPr>
          <p:cNvSpPr/>
          <p:nvPr/>
        </p:nvSpPr>
        <p:spPr>
          <a:xfrm>
            <a:off x="8861560" y="2391178"/>
            <a:ext cx="1322401" cy="41506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アラート対応</a:t>
            </a:r>
          </a:p>
        </p:txBody>
      </p:sp>
      <p:sp>
        <p:nvSpPr>
          <p:cNvPr id="1080" name="四角形: 角を丸くする 1079">
            <a:extLst>
              <a:ext uri="{FF2B5EF4-FFF2-40B4-BE49-F238E27FC236}">
                <a16:creationId xmlns:a16="http://schemas.microsoft.com/office/drawing/2014/main" id="{2575D732-7C01-7446-49EB-6F7863959625}"/>
              </a:ext>
            </a:extLst>
          </p:cNvPr>
          <p:cNvSpPr/>
          <p:nvPr/>
        </p:nvSpPr>
        <p:spPr>
          <a:xfrm>
            <a:off x="8949763" y="3895013"/>
            <a:ext cx="1072480" cy="70718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王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唐</a:t>
            </a:r>
            <a:endParaRPr lang="en-US" altLang="ja-JP" sz="800">
              <a:solidFill>
                <a:schemeClr val="tx1"/>
              </a:solidFill>
            </a:endParaRPr>
          </a:p>
        </p:txBody>
      </p:sp>
      <p:sp>
        <p:nvSpPr>
          <p:cNvPr id="1081" name="四角形: 角を丸くする 1080">
            <a:extLst>
              <a:ext uri="{FF2B5EF4-FFF2-40B4-BE49-F238E27FC236}">
                <a16:creationId xmlns:a16="http://schemas.microsoft.com/office/drawing/2014/main" id="{EE327857-BF2A-F540-4C8D-39AF855F3032}"/>
              </a:ext>
            </a:extLst>
          </p:cNvPr>
          <p:cNvSpPr/>
          <p:nvPr/>
        </p:nvSpPr>
        <p:spPr>
          <a:xfrm>
            <a:off x="8977025" y="5803893"/>
            <a:ext cx="1072480" cy="525544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楊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大森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82" name="四角形: 角を丸くする 1081">
            <a:extLst>
              <a:ext uri="{FF2B5EF4-FFF2-40B4-BE49-F238E27FC236}">
                <a16:creationId xmlns:a16="http://schemas.microsoft.com/office/drawing/2014/main" id="{52DC5AF3-C81E-DF75-510F-E5433A2C5FA5}"/>
              </a:ext>
            </a:extLst>
          </p:cNvPr>
          <p:cNvSpPr/>
          <p:nvPr/>
        </p:nvSpPr>
        <p:spPr>
          <a:xfrm>
            <a:off x="8966919" y="5018227"/>
            <a:ext cx="1072480" cy="536016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金崎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曽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83" name="テキスト ボックス 1082">
            <a:extLst>
              <a:ext uri="{FF2B5EF4-FFF2-40B4-BE49-F238E27FC236}">
                <a16:creationId xmlns:a16="http://schemas.microsoft.com/office/drawing/2014/main" id="{FCCBB17F-5C4D-B256-B7C0-9D80CFA7FD05}"/>
              </a:ext>
            </a:extLst>
          </p:cNvPr>
          <p:cNvSpPr txBox="1"/>
          <p:nvPr/>
        </p:nvSpPr>
        <p:spPr>
          <a:xfrm>
            <a:off x="8915880" y="4728108"/>
            <a:ext cx="326825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4" name="テキスト ボックス 1083">
            <a:extLst>
              <a:ext uri="{FF2B5EF4-FFF2-40B4-BE49-F238E27FC236}">
                <a16:creationId xmlns:a16="http://schemas.microsoft.com/office/drawing/2014/main" id="{2852E49C-7A11-2624-E214-51550F4D6A92}"/>
              </a:ext>
            </a:extLst>
          </p:cNvPr>
          <p:cNvSpPr txBox="1"/>
          <p:nvPr/>
        </p:nvSpPr>
        <p:spPr>
          <a:xfrm>
            <a:off x="8911793" y="2738829"/>
            <a:ext cx="537925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5" name="テキスト ボックス 1084">
            <a:extLst>
              <a:ext uri="{FF2B5EF4-FFF2-40B4-BE49-F238E27FC236}">
                <a16:creationId xmlns:a16="http://schemas.microsoft.com/office/drawing/2014/main" id="{2D39B6EF-347F-646B-74E3-C9B0231FA5B3}"/>
              </a:ext>
            </a:extLst>
          </p:cNvPr>
          <p:cNvSpPr txBox="1"/>
          <p:nvPr/>
        </p:nvSpPr>
        <p:spPr>
          <a:xfrm>
            <a:off x="8910520" y="5598044"/>
            <a:ext cx="69555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6" name="テキスト ボックス 1085">
            <a:extLst>
              <a:ext uri="{FF2B5EF4-FFF2-40B4-BE49-F238E27FC236}">
                <a16:creationId xmlns:a16="http://schemas.microsoft.com/office/drawing/2014/main" id="{6DEA2BAA-A477-56D4-B6CA-8857179E7820}"/>
              </a:ext>
            </a:extLst>
          </p:cNvPr>
          <p:cNvSpPr txBox="1"/>
          <p:nvPr/>
        </p:nvSpPr>
        <p:spPr>
          <a:xfrm>
            <a:off x="8911793" y="3652323"/>
            <a:ext cx="537925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7" name="四角形: 角を丸くする 1086">
            <a:extLst>
              <a:ext uri="{FF2B5EF4-FFF2-40B4-BE49-F238E27FC236}">
                <a16:creationId xmlns:a16="http://schemas.microsoft.com/office/drawing/2014/main" id="{D4BB132B-11C0-B2FD-0195-22FC14B648BE}"/>
              </a:ext>
            </a:extLst>
          </p:cNvPr>
          <p:cNvSpPr/>
          <p:nvPr/>
        </p:nvSpPr>
        <p:spPr>
          <a:xfrm>
            <a:off x="8949323" y="3005021"/>
            <a:ext cx="1073588" cy="584432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松浦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1" name="四角形: 角を丸くする 1090">
            <a:extLst>
              <a:ext uri="{FF2B5EF4-FFF2-40B4-BE49-F238E27FC236}">
                <a16:creationId xmlns:a16="http://schemas.microsoft.com/office/drawing/2014/main" id="{70B31415-A214-9062-13E5-16A46460F2D3}"/>
              </a:ext>
            </a:extLst>
          </p:cNvPr>
          <p:cNvSpPr/>
          <p:nvPr/>
        </p:nvSpPr>
        <p:spPr>
          <a:xfrm>
            <a:off x="7726393" y="3382335"/>
            <a:ext cx="561584" cy="29265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川上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2" name="テキスト ボックス 1091">
            <a:extLst>
              <a:ext uri="{FF2B5EF4-FFF2-40B4-BE49-F238E27FC236}">
                <a16:creationId xmlns:a16="http://schemas.microsoft.com/office/drawing/2014/main" id="{362312CB-D43A-B37F-EA90-8E00992A7FDC}"/>
              </a:ext>
            </a:extLst>
          </p:cNvPr>
          <p:cNvSpPr txBox="1"/>
          <p:nvPr/>
        </p:nvSpPr>
        <p:spPr>
          <a:xfrm>
            <a:off x="7926894" y="3767320"/>
            <a:ext cx="69041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意思決定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E917E2F5-FA70-9E55-E580-338FCE96148C}"/>
              </a:ext>
            </a:extLst>
          </p:cNvPr>
          <p:cNvSpPr/>
          <p:nvPr/>
        </p:nvSpPr>
        <p:spPr>
          <a:xfrm>
            <a:off x="7228119" y="2334069"/>
            <a:ext cx="1389188" cy="386048"/>
          </a:xfrm>
          <a:prstGeom prst="wedgeRoundRectCallout">
            <a:avLst>
              <a:gd name="adj1" fmla="val 17777"/>
              <a:gd name="adj2" fmla="val 9662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必要に応じて方針意思決定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95" name="コネクタ: カギ線 1094">
            <a:extLst>
              <a:ext uri="{FF2B5EF4-FFF2-40B4-BE49-F238E27FC236}">
                <a16:creationId xmlns:a16="http://schemas.microsoft.com/office/drawing/2014/main" id="{BA4FAD72-F502-1D6B-86C5-7D6672C83AAC}"/>
              </a:ext>
            </a:extLst>
          </p:cNvPr>
          <p:cNvCxnSpPr>
            <a:cxnSpLocks/>
            <a:stCxn id="1091" idx="2"/>
            <a:endCxn id="1200" idx="0"/>
          </p:cNvCxnSpPr>
          <p:nvPr/>
        </p:nvCxnSpPr>
        <p:spPr>
          <a:xfrm rot="16200000" flipH="1">
            <a:off x="7725959" y="3956214"/>
            <a:ext cx="577915" cy="15462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コネクタ: カギ線 1101">
            <a:extLst>
              <a:ext uri="{FF2B5EF4-FFF2-40B4-BE49-F238E27FC236}">
                <a16:creationId xmlns:a16="http://schemas.microsoft.com/office/drawing/2014/main" id="{7EAA46BA-564B-FD47-D80E-A0A1AA46B8A4}"/>
              </a:ext>
            </a:extLst>
          </p:cNvPr>
          <p:cNvCxnSpPr>
            <a:cxnSpLocks/>
            <a:stCxn id="1200" idx="3"/>
            <a:endCxn id="1087" idx="1"/>
          </p:cNvCxnSpPr>
          <p:nvPr/>
        </p:nvCxnSpPr>
        <p:spPr>
          <a:xfrm flipV="1">
            <a:off x="8430836" y="3297237"/>
            <a:ext cx="518487" cy="119754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コネクタ: カギ線 1104">
            <a:extLst>
              <a:ext uri="{FF2B5EF4-FFF2-40B4-BE49-F238E27FC236}">
                <a16:creationId xmlns:a16="http://schemas.microsoft.com/office/drawing/2014/main" id="{BCDA9C8A-0E5F-37FC-36FE-C152DC2AC033}"/>
              </a:ext>
            </a:extLst>
          </p:cNvPr>
          <p:cNvCxnSpPr>
            <a:cxnSpLocks/>
            <a:stCxn id="1200" idx="3"/>
            <a:endCxn id="1080" idx="1"/>
          </p:cNvCxnSpPr>
          <p:nvPr/>
        </p:nvCxnSpPr>
        <p:spPr>
          <a:xfrm flipV="1">
            <a:off x="8430836" y="4248607"/>
            <a:ext cx="518927" cy="246176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コネクタ: カギ線 1109">
            <a:extLst>
              <a:ext uri="{FF2B5EF4-FFF2-40B4-BE49-F238E27FC236}">
                <a16:creationId xmlns:a16="http://schemas.microsoft.com/office/drawing/2014/main" id="{206FDD5A-84DF-1B76-9E10-249CF1B5AE28}"/>
              </a:ext>
            </a:extLst>
          </p:cNvPr>
          <p:cNvCxnSpPr>
            <a:cxnSpLocks/>
            <a:stCxn id="1200" idx="3"/>
            <a:endCxn id="1082" idx="1"/>
          </p:cNvCxnSpPr>
          <p:nvPr/>
        </p:nvCxnSpPr>
        <p:spPr>
          <a:xfrm>
            <a:off x="8430836" y="4494783"/>
            <a:ext cx="536083" cy="791452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コネクタ: カギ線 1112">
            <a:extLst>
              <a:ext uri="{FF2B5EF4-FFF2-40B4-BE49-F238E27FC236}">
                <a16:creationId xmlns:a16="http://schemas.microsoft.com/office/drawing/2014/main" id="{2ADE135D-5109-E7A1-17CD-665185E6E1E6}"/>
              </a:ext>
            </a:extLst>
          </p:cNvPr>
          <p:cNvCxnSpPr>
            <a:cxnSpLocks/>
            <a:stCxn id="1200" idx="3"/>
            <a:endCxn id="1081" idx="1"/>
          </p:cNvCxnSpPr>
          <p:nvPr/>
        </p:nvCxnSpPr>
        <p:spPr>
          <a:xfrm>
            <a:off x="8430836" y="4494783"/>
            <a:ext cx="546189" cy="1571882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2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D20B78B5-58F4-5269-D2C9-DF6DB03E0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557" y="426150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3" name="テキスト ボックス 1122">
            <a:extLst>
              <a:ext uri="{FF2B5EF4-FFF2-40B4-BE49-F238E27FC236}">
                <a16:creationId xmlns:a16="http://schemas.microsoft.com/office/drawing/2014/main" id="{E7FA7B85-DFC8-2ACC-26C8-B07EDAB092CF}"/>
              </a:ext>
            </a:extLst>
          </p:cNvPr>
          <p:cNvSpPr txBox="1"/>
          <p:nvPr/>
        </p:nvSpPr>
        <p:spPr>
          <a:xfrm>
            <a:off x="11138728" y="4789852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1126" name="テキスト ボックス 1125">
            <a:extLst>
              <a:ext uri="{FF2B5EF4-FFF2-40B4-BE49-F238E27FC236}">
                <a16:creationId xmlns:a16="http://schemas.microsoft.com/office/drawing/2014/main" id="{03DD583E-4290-49DD-0794-F6FF3B83AABC}"/>
              </a:ext>
            </a:extLst>
          </p:cNvPr>
          <p:cNvSpPr txBox="1"/>
          <p:nvPr/>
        </p:nvSpPr>
        <p:spPr>
          <a:xfrm>
            <a:off x="7260179" y="5109300"/>
            <a:ext cx="1468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lang="en-US" altLang="ja-JP" sz="800">
                <a:solidFill>
                  <a:schemeClr val="tx1"/>
                </a:solidFill>
                <a:latin typeface="+mj-lt"/>
                <a:hlinkClick r:id="rId10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27" name="コネクタ: カギ線 1126">
            <a:extLst>
              <a:ext uri="{FF2B5EF4-FFF2-40B4-BE49-F238E27FC236}">
                <a16:creationId xmlns:a16="http://schemas.microsoft.com/office/drawing/2014/main" id="{73AD5129-6199-45D2-DC45-C14427FDF27B}"/>
              </a:ext>
            </a:extLst>
          </p:cNvPr>
          <p:cNvCxnSpPr>
            <a:cxnSpLocks/>
            <a:stCxn id="1087" idx="3"/>
            <a:endCxn id="1122" idx="1"/>
          </p:cNvCxnSpPr>
          <p:nvPr/>
        </p:nvCxnSpPr>
        <p:spPr>
          <a:xfrm>
            <a:off x="10022911" y="3297237"/>
            <a:ext cx="1084646" cy="120614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コネクタ: カギ線 1135">
            <a:extLst>
              <a:ext uri="{FF2B5EF4-FFF2-40B4-BE49-F238E27FC236}">
                <a16:creationId xmlns:a16="http://schemas.microsoft.com/office/drawing/2014/main" id="{2167BFCD-0873-FFED-BEAD-6C9E41AAC89B}"/>
              </a:ext>
            </a:extLst>
          </p:cNvPr>
          <p:cNvCxnSpPr>
            <a:cxnSpLocks/>
            <a:stCxn id="1080" idx="3"/>
            <a:endCxn id="1122" idx="1"/>
          </p:cNvCxnSpPr>
          <p:nvPr/>
        </p:nvCxnSpPr>
        <p:spPr>
          <a:xfrm>
            <a:off x="10022243" y="4248607"/>
            <a:ext cx="1085314" cy="25477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コネクタ: カギ線 1138">
            <a:extLst>
              <a:ext uri="{FF2B5EF4-FFF2-40B4-BE49-F238E27FC236}">
                <a16:creationId xmlns:a16="http://schemas.microsoft.com/office/drawing/2014/main" id="{9FDA55C6-2952-C7B8-914D-507F6BEE0ED0}"/>
              </a:ext>
            </a:extLst>
          </p:cNvPr>
          <p:cNvCxnSpPr>
            <a:cxnSpLocks/>
            <a:stCxn id="1082" idx="3"/>
            <a:endCxn id="1122" idx="1"/>
          </p:cNvCxnSpPr>
          <p:nvPr/>
        </p:nvCxnSpPr>
        <p:spPr>
          <a:xfrm flipV="1">
            <a:off x="10039399" y="4503385"/>
            <a:ext cx="1068158" cy="78285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コネクタ: カギ線 1142">
            <a:extLst>
              <a:ext uri="{FF2B5EF4-FFF2-40B4-BE49-F238E27FC236}">
                <a16:creationId xmlns:a16="http://schemas.microsoft.com/office/drawing/2014/main" id="{83F599F0-020B-3D70-609B-7FCE896F679A}"/>
              </a:ext>
            </a:extLst>
          </p:cNvPr>
          <p:cNvCxnSpPr>
            <a:cxnSpLocks/>
            <a:stCxn id="1081" idx="3"/>
            <a:endCxn id="1122" idx="1"/>
          </p:cNvCxnSpPr>
          <p:nvPr/>
        </p:nvCxnSpPr>
        <p:spPr>
          <a:xfrm flipV="1">
            <a:off x="10049505" y="4503385"/>
            <a:ext cx="1058052" cy="156328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4" name="吹き出し: 角を丸めた四角形 1123">
            <a:extLst>
              <a:ext uri="{FF2B5EF4-FFF2-40B4-BE49-F238E27FC236}">
                <a16:creationId xmlns:a16="http://schemas.microsoft.com/office/drawing/2014/main" id="{85CCC2CB-4D0F-FFCE-72F5-D29C66F3EB1D}"/>
              </a:ext>
            </a:extLst>
          </p:cNvPr>
          <p:cNvSpPr/>
          <p:nvPr/>
        </p:nvSpPr>
        <p:spPr>
          <a:xfrm>
            <a:off x="10896137" y="5381862"/>
            <a:ext cx="1169342" cy="483759"/>
          </a:xfrm>
          <a:prstGeom prst="wedgeRoundRectCallout">
            <a:avLst>
              <a:gd name="adj1" fmla="val 9807"/>
              <a:gd name="adj2" fmla="val -9064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窓口から対応状況報告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9" name="四角形: 角を丸くする 1148">
            <a:extLst>
              <a:ext uri="{FF2B5EF4-FFF2-40B4-BE49-F238E27FC236}">
                <a16:creationId xmlns:a16="http://schemas.microsoft.com/office/drawing/2014/main" id="{20430E43-C7AF-5695-C07A-32DE0171832A}"/>
              </a:ext>
            </a:extLst>
          </p:cNvPr>
          <p:cNvSpPr/>
          <p:nvPr/>
        </p:nvSpPr>
        <p:spPr>
          <a:xfrm>
            <a:off x="6316154" y="3383280"/>
            <a:ext cx="634014" cy="292653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>
                <a:solidFill>
                  <a:schemeClr val="tx1"/>
                </a:solidFill>
                <a:latin typeface="+mj-lt"/>
              </a:rPr>
              <a:t>TMC</a:t>
            </a:r>
          </a:p>
        </p:txBody>
      </p:sp>
      <p:cxnSp>
        <p:nvCxnSpPr>
          <p:cNvPr id="1150" name="コネクタ: カギ線 1149">
            <a:extLst>
              <a:ext uri="{FF2B5EF4-FFF2-40B4-BE49-F238E27FC236}">
                <a16:creationId xmlns:a16="http://schemas.microsoft.com/office/drawing/2014/main" id="{68F1CCC0-C4EE-205B-9D53-2470F509E6DC}"/>
              </a:ext>
            </a:extLst>
          </p:cNvPr>
          <p:cNvCxnSpPr>
            <a:cxnSpLocks/>
            <a:stCxn id="1091" idx="1"/>
            <a:endCxn id="1149" idx="3"/>
          </p:cNvCxnSpPr>
          <p:nvPr/>
        </p:nvCxnSpPr>
        <p:spPr>
          <a:xfrm rot="10800000" flipV="1">
            <a:off x="6950169" y="3528661"/>
            <a:ext cx="776225" cy="945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5" name="吹き出し: 角を丸めた四角形 1154">
            <a:extLst>
              <a:ext uri="{FF2B5EF4-FFF2-40B4-BE49-F238E27FC236}">
                <a16:creationId xmlns:a16="http://schemas.microsoft.com/office/drawing/2014/main" id="{5C35084E-83C3-EDA8-DD38-8DB91A0DF730}"/>
              </a:ext>
            </a:extLst>
          </p:cNvPr>
          <p:cNvSpPr/>
          <p:nvPr/>
        </p:nvSpPr>
        <p:spPr>
          <a:xfrm>
            <a:off x="5863943" y="2877140"/>
            <a:ext cx="1507426" cy="386048"/>
          </a:xfrm>
          <a:prstGeom prst="wedgeRoundRectCallout">
            <a:avLst>
              <a:gd name="adj1" fmla="val 34872"/>
              <a:gd name="adj2" fmla="val 10523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</a:rPr>
              <a:t>TMC</a:t>
            </a:r>
            <a:r>
              <a:rPr kumimoji="1" lang="ja-JP" altLang="en-US" sz="1200">
                <a:solidFill>
                  <a:schemeClr val="tx1"/>
                </a:solidFill>
              </a:rPr>
              <a:t>にアナウンス必要と判断した場合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56" name="テキスト ボックス 1155">
            <a:extLst>
              <a:ext uri="{FF2B5EF4-FFF2-40B4-BE49-F238E27FC236}">
                <a16:creationId xmlns:a16="http://schemas.microsoft.com/office/drawing/2014/main" id="{C6F495C6-6D3D-C2DF-E890-E7A1E2F4BB16}"/>
              </a:ext>
            </a:extLst>
          </p:cNvPr>
          <p:cNvSpPr txBox="1"/>
          <p:nvPr/>
        </p:nvSpPr>
        <p:spPr>
          <a:xfrm>
            <a:off x="2553714" y="6555981"/>
            <a:ext cx="1296136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100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輪番体制は次頁</a:t>
            </a:r>
          </a:p>
        </p:txBody>
      </p:sp>
      <p:sp>
        <p:nvSpPr>
          <p:cNvPr id="1157" name="テキスト ボックス 1156">
            <a:extLst>
              <a:ext uri="{FF2B5EF4-FFF2-40B4-BE49-F238E27FC236}">
                <a16:creationId xmlns:a16="http://schemas.microsoft.com/office/drawing/2014/main" id="{A04C0EAB-6B10-A67A-1B63-867EEE48E5A9}"/>
              </a:ext>
            </a:extLst>
          </p:cNvPr>
          <p:cNvSpPr txBox="1"/>
          <p:nvPr/>
        </p:nvSpPr>
        <p:spPr>
          <a:xfrm>
            <a:off x="8958003" y="6591836"/>
            <a:ext cx="1296136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100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000">
                <a:latin typeface="Meiryo UI" panose="020B0604030504040204" pitchFamily="50" charset="-128"/>
                <a:ea typeface="Meiryo UI" panose="020B0604030504040204" pitchFamily="50" charset="-128"/>
              </a:rPr>
              <a:t>輪番体制は次頁</a:t>
            </a:r>
          </a:p>
        </p:txBody>
      </p:sp>
    </p:spTree>
    <p:extLst>
      <p:ext uri="{BB962C8B-B14F-4D97-AF65-F5344CB8AC3E}">
        <p14:creationId xmlns:p14="http://schemas.microsoft.com/office/powerpoint/2010/main" val="12136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DE56-A35F-C9F0-083A-D68F687B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正方形/長方形 1107">
            <a:extLst>
              <a:ext uri="{FF2B5EF4-FFF2-40B4-BE49-F238E27FC236}">
                <a16:creationId xmlns:a16="http://schemas.microsoft.com/office/drawing/2014/main" id="{40258EE2-C7B8-723B-8A0F-02AB1652117C}"/>
              </a:ext>
            </a:extLst>
          </p:cNvPr>
          <p:cNvSpPr/>
          <p:nvPr/>
        </p:nvSpPr>
        <p:spPr>
          <a:xfrm>
            <a:off x="8037420" y="1653651"/>
            <a:ext cx="2978001" cy="48819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アラート窓口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0DC4570-9CC7-B162-4A11-01BCED19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運用体制：障害監視（</a:t>
            </a:r>
            <a:r>
              <a:rPr lang="en-US" altLang="ja-JP" sz="1867">
                <a:latin typeface="+mn-ea"/>
              </a:rPr>
              <a:t>7/22</a:t>
            </a:r>
            <a:r>
              <a:rPr lang="ja-JP" altLang="en-US" sz="1867">
                <a:latin typeface="+mn-ea"/>
              </a:rPr>
              <a:t>時点）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80E7DA-D2F8-4592-DC4E-753953AA1D67}"/>
              </a:ext>
            </a:extLst>
          </p:cNvPr>
          <p:cNvSpPr/>
          <p:nvPr/>
        </p:nvSpPr>
        <p:spPr bwMode="gray">
          <a:xfrm>
            <a:off x="188860" y="1181899"/>
            <a:ext cx="2900348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52FA5E-D612-A952-8D4F-9AAC376E3631}"/>
              </a:ext>
            </a:extLst>
          </p:cNvPr>
          <p:cNvSpPr/>
          <p:nvPr/>
        </p:nvSpPr>
        <p:spPr bwMode="gray">
          <a:xfrm>
            <a:off x="7614458" y="1186937"/>
            <a:ext cx="4451021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A0930B-2CFA-FE08-E546-86FCAA6DB1BF}"/>
              </a:ext>
            </a:extLst>
          </p:cNvPr>
          <p:cNvSpPr/>
          <p:nvPr/>
        </p:nvSpPr>
        <p:spPr bwMode="gray">
          <a:xfrm>
            <a:off x="188863" y="1760865"/>
            <a:ext cx="497722" cy="44903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eaVert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3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システム監視</a:t>
            </a:r>
            <a:endParaRPr lang="en-US" altLang="ja-JP" sz="13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330C5EF-B503-9A2B-737F-B1C9F02127C1}"/>
              </a:ext>
            </a:extLst>
          </p:cNvPr>
          <p:cNvSpPr/>
          <p:nvPr/>
        </p:nvSpPr>
        <p:spPr bwMode="gray">
          <a:xfrm>
            <a:off x="1579366" y="3470587"/>
            <a:ext cx="1509842" cy="14254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アラート専用窓口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toyotecdap-alert@toyotec-jp.com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41D3697A-DF79-E97D-5F61-342A2A9F6CA2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55008" y="4183308"/>
            <a:ext cx="1024358" cy="68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23AC07-680F-CBC2-8FCD-AE54EC999F52}"/>
              </a:ext>
            </a:extLst>
          </p:cNvPr>
          <p:cNvSpPr txBox="1"/>
          <p:nvPr/>
        </p:nvSpPr>
        <p:spPr>
          <a:xfrm>
            <a:off x="815538" y="3671964"/>
            <a:ext cx="67807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アラート通知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D208EAD4-8E2F-B822-11B4-E72EB77E8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25" y="3886411"/>
            <a:ext cx="311699" cy="247343"/>
          </a:xfrm>
          <a:prstGeom prst="rect">
            <a:avLst/>
          </a:prstGeom>
        </p:spPr>
      </p:pic>
      <p:sp>
        <p:nvSpPr>
          <p:cNvPr id="14" name="爆発: 14 pt 13">
            <a:extLst>
              <a:ext uri="{FF2B5EF4-FFF2-40B4-BE49-F238E27FC236}">
                <a16:creationId xmlns:a16="http://schemas.microsoft.com/office/drawing/2014/main" id="{E6E36629-078E-55A1-17EC-E8C4DE573451}"/>
              </a:ext>
            </a:extLst>
          </p:cNvPr>
          <p:cNvSpPr/>
          <p:nvPr/>
        </p:nvSpPr>
        <p:spPr>
          <a:xfrm>
            <a:off x="514731" y="3977702"/>
            <a:ext cx="476172" cy="369854"/>
          </a:xfrm>
          <a:prstGeom prst="irregularSeal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30D9784-A460-0FA2-1CA4-C5181A517A19}"/>
              </a:ext>
            </a:extLst>
          </p:cNvPr>
          <p:cNvSpPr txBox="1"/>
          <p:nvPr/>
        </p:nvSpPr>
        <p:spPr>
          <a:xfrm>
            <a:off x="807626" y="4297571"/>
            <a:ext cx="54502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異常検知</a:t>
            </a:r>
          </a:p>
        </p:txBody>
      </p:sp>
      <p:sp>
        <p:nvSpPr>
          <p:cNvPr id="31" name="サブタイトル 2">
            <a:extLst>
              <a:ext uri="{FF2B5EF4-FFF2-40B4-BE49-F238E27FC236}">
                <a16:creationId xmlns:a16="http://schemas.microsoft.com/office/drawing/2014/main" id="{019DC3ED-2B3B-9929-FD4A-3381285400FC}"/>
              </a:ext>
            </a:extLst>
          </p:cNvPr>
          <p:cNvSpPr txBox="1">
            <a:spLocks/>
          </p:cNvSpPr>
          <p:nvPr/>
        </p:nvSpPr>
        <p:spPr>
          <a:xfrm>
            <a:off x="5640447" y="4497820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連休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766E988-7F89-2A7A-63D5-893FB4719B22}"/>
              </a:ext>
            </a:extLst>
          </p:cNvPr>
          <p:cNvSpPr/>
          <p:nvPr/>
        </p:nvSpPr>
        <p:spPr>
          <a:xfrm>
            <a:off x="3284381" y="3672121"/>
            <a:ext cx="1605693" cy="106066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u="sng">
                <a:solidFill>
                  <a:schemeClr val="tx1"/>
                </a:solidFill>
                <a:latin typeface="+mj-lt"/>
              </a:rPr>
              <a:t>アラート窓口</a:t>
            </a:r>
            <a:endParaRPr kumimoji="1" lang="en-US" altLang="ja-JP" sz="1400" u="sng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9-17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050">
                <a:solidFill>
                  <a:schemeClr val="tx1"/>
                </a:solidFill>
                <a:latin typeface="+mj-lt"/>
              </a:rPr>
              <a:t>アラートチェック</a:t>
            </a:r>
            <a:br>
              <a:rPr kumimoji="1" lang="en-US" altLang="ja-JP" sz="1050">
                <a:solidFill>
                  <a:schemeClr val="tx1"/>
                </a:solidFill>
                <a:latin typeface="+mj-lt"/>
              </a:rPr>
            </a:br>
            <a:r>
              <a:rPr kumimoji="1" lang="en-US" altLang="ja-JP" sz="1050">
                <a:solidFill>
                  <a:schemeClr val="tx1"/>
                </a:solidFill>
                <a:latin typeface="+mj-lt"/>
              </a:rPr>
              <a:t>9:00,13:00,17:00</a:t>
            </a:r>
            <a:endParaRPr kumimoji="1" lang="ja-JP" altLang="en-US" sz="105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88C703CA-9BF7-0275-F2AC-48DFF19FFE2B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3089208" y="4183308"/>
            <a:ext cx="195173" cy="19144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AFCF60A6-3217-F7BC-A315-12AF83676A35}"/>
              </a:ext>
            </a:extLst>
          </p:cNvPr>
          <p:cNvCxnSpPr>
            <a:cxnSpLocks/>
            <a:stCxn id="1140" idx="3"/>
            <a:endCxn id="1108" idx="1"/>
          </p:cNvCxnSpPr>
          <p:nvPr/>
        </p:nvCxnSpPr>
        <p:spPr>
          <a:xfrm flipV="1">
            <a:off x="6407705" y="4094603"/>
            <a:ext cx="1629715" cy="9197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2B5609FD-571C-1391-0063-BE433029FB41}"/>
              </a:ext>
            </a:extLst>
          </p:cNvPr>
          <p:cNvSpPr/>
          <p:nvPr/>
        </p:nvSpPr>
        <p:spPr bwMode="gray">
          <a:xfrm>
            <a:off x="3284381" y="1181897"/>
            <a:ext cx="4255263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39" name="四角形: 角を丸くする 1038">
            <a:extLst>
              <a:ext uri="{FF2B5EF4-FFF2-40B4-BE49-F238E27FC236}">
                <a16:creationId xmlns:a16="http://schemas.microsoft.com/office/drawing/2014/main" id="{9A1CF6F6-54C6-5A6B-54C8-5DDFB5F96D5F}"/>
              </a:ext>
            </a:extLst>
          </p:cNvPr>
          <p:cNvSpPr/>
          <p:nvPr/>
        </p:nvSpPr>
        <p:spPr>
          <a:xfrm>
            <a:off x="8121780" y="3157487"/>
            <a:ext cx="2692709" cy="70718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王</a:t>
            </a:r>
            <a:r>
              <a:rPr kumimoji="1" lang="en-US" altLang="ja-JP" sz="800">
                <a:solidFill>
                  <a:srgbClr val="FF000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ja-JP" sz="800">
                <a:solidFill>
                  <a:srgbClr val="FF000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wang_zhong_za@toyotec-jp.com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平井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4"/>
              </a:rPr>
              <a:t>kimito_hirai_za@toyotec-jp.com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)</a:t>
            </a:r>
          </a:p>
          <a:p>
            <a:r>
              <a:rPr lang="ja-JP" altLang="en-US" sz="1400">
                <a:solidFill>
                  <a:schemeClr val="tx1"/>
                </a:solidFill>
              </a:rPr>
              <a:t>唐</a:t>
            </a:r>
            <a:r>
              <a:rPr lang="en-US" altLang="ja-JP" sz="800">
                <a:solidFill>
                  <a:schemeClr val="tx1"/>
                </a:solidFill>
              </a:rPr>
              <a:t>(</a:t>
            </a:r>
            <a:r>
              <a:rPr lang="en-US" altLang="ja-JP" sz="800">
                <a:solidFill>
                  <a:schemeClr val="tx1"/>
                </a:solidFill>
                <a:hlinkClick r:id="rId5"/>
              </a:rPr>
              <a:t>chunfeng_tang_za@toyotec-jp.com</a:t>
            </a:r>
            <a:r>
              <a:rPr lang="en-US" altLang="ja-JP" sz="800">
                <a:solidFill>
                  <a:schemeClr val="tx1"/>
                </a:solidFill>
              </a:rPr>
              <a:t>)</a:t>
            </a:r>
          </a:p>
          <a:p>
            <a:endParaRPr lang="en-US" altLang="ja-JP" sz="800">
              <a:solidFill>
                <a:schemeClr val="tx1"/>
              </a:solidFill>
            </a:endParaRPr>
          </a:p>
        </p:txBody>
      </p:sp>
      <p:sp>
        <p:nvSpPr>
          <p:cNvPr id="1060" name="テキスト ボックス 1059">
            <a:extLst>
              <a:ext uri="{FF2B5EF4-FFF2-40B4-BE49-F238E27FC236}">
                <a16:creationId xmlns:a16="http://schemas.microsoft.com/office/drawing/2014/main" id="{BA3BA050-8FBC-5DDA-B644-61A64F79F853}"/>
              </a:ext>
            </a:extLst>
          </p:cNvPr>
          <p:cNvSpPr txBox="1"/>
          <p:nvPr/>
        </p:nvSpPr>
        <p:spPr>
          <a:xfrm>
            <a:off x="7152635" y="3768466"/>
            <a:ext cx="81753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対応確認依頼</a:t>
            </a:r>
          </a:p>
        </p:txBody>
      </p:sp>
      <p:sp>
        <p:nvSpPr>
          <p:cNvPr id="1063" name="フローチャート: 判断 1062">
            <a:extLst>
              <a:ext uri="{FF2B5EF4-FFF2-40B4-BE49-F238E27FC236}">
                <a16:creationId xmlns:a16="http://schemas.microsoft.com/office/drawing/2014/main" id="{565DDDAF-4C57-4371-BE9A-09B32D4C8F17}"/>
              </a:ext>
            </a:extLst>
          </p:cNvPr>
          <p:cNvSpPr/>
          <p:nvPr/>
        </p:nvSpPr>
        <p:spPr>
          <a:xfrm>
            <a:off x="6090766" y="4785928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4" name="コネクタ: カギ線 1063">
            <a:extLst>
              <a:ext uri="{FF2B5EF4-FFF2-40B4-BE49-F238E27FC236}">
                <a16:creationId xmlns:a16="http://schemas.microsoft.com/office/drawing/2014/main" id="{3201D73C-5AE5-70F4-CE46-B8F1B0ECEA4A}"/>
              </a:ext>
            </a:extLst>
          </p:cNvPr>
          <p:cNvCxnSpPr>
            <a:cxnSpLocks/>
            <a:stCxn id="1140" idx="2"/>
            <a:endCxn id="1063" idx="1"/>
          </p:cNvCxnSpPr>
          <p:nvPr/>
        </p:nvCxnSpPr>
        <p:spPr>
          <a:xfrm rot="16200000" flipH="1">
            <a:off x="5618407" y="4610757"/>
            <a:ext cx="599347" cy="345372"/>
          </a:xfrm>
          <a:prstGeom prst="bentConnector2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テキスト ボックス 1066">
            <a:extLst>
              <a:ext uri="{FF2B5EF4-FFF2-40B4-BE49-F238E27FC236}">
                <a16:creationId xmlns:a16="http://schemas.microsoft.com/office/drawing/2014/main" id="{B619EF29-F65B-D06F-5892-DC879A100DF3}"/>
              </a:ext>
            </a:extLst>
          </p:cNvPr>
          <p:cNvSpPr txBox="1"/>
          <p:nvPr/>
        </p:nvSpPr>
        <p:spPr>
          <a:xfrm>
            <a:off x="6254704" y="4868223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>
                <a:latin typeface="+mj-lt"/>
              </a:rPr>
              <a:t>ai21</a:t>
            </a:r>
            <a:r>
              <a:rPr kumimoji="1" lang="ja-JP" altLang="en-US" sz="1200">
                <a:latin typeface="+mj-lt"/>
              </a:rPr>
              <a:t>へ影響</a:t>
            </a:r>
            <a:endParaRPr kumimoji="1" lang="en-US" altLang="ja-JP" sz="1200">
              <a:latin typeface="+mj-lt"/>
            </a:endParaRPr>
          </a:p>
          <a:p>
            <a:pPr algn="ctr"/>
            <a:r>
              <a:rPr kumimoji="1" lang="ja-JP" altLang="en-US" sz="1200">
                <a:latin typeface="+mj-lt"/>
              </a:rPr>
              <a:t>を及ぼす</a:t>
            </a:r>
          </a:p>
        </p:txBody>
      </p:sp>
      <p:cxnSp>
        <p:nvCxnSpPr>
          <p:cNvPr id="1069" name="コネクタ: カギ線 1068">
            <a:extLst>
              <a:ext uri="{FF2B5EF4-FFF2-40B4-BE49-F238E27FC236}">
                <a16:creationId xmlns:a16="http://schemas.microsoft.com/office/drawing/2014/main" id="{5191757A-3B79-2F9F-0EEC-8E9854C8F412}"/>
              </a:ext>
            </a:extLst>
          </p:cNvPr>
          <p:cNvCxnSpPr>
            <a:cxnSpLocks/>
            <a:stCxn id="1063" idx="3"/>
            <a:endCxn id="1108" idx="1"/>
          </p:cNvCxnSpPr>
          <p:nvPr/>
        </p:nvCxnSpPr>
        <p:spPr>
          <a:xfrm flipV="1">
            <a:off x="7415388" y="4094603"/>
            <a:ext cx="622032" cy="98851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テキスト ボックス 1071">
            <a:extLst>
              <a:ext uri="{FF2B5EF4-FFF2-40B4-BE49-F238E27FC236}">
                <a16:creationId xmlns:a16="http://schemas.microsoft.com/office/drawing/2014/main" id="{69E15070-370D-C379-C5B3-ACECB644AEDF}"/>
              </a:ext>
            </a:extLst>
          </p:cNvPr>
          <p:cNvSpPr txBox="1"/>
          <p:nvPr/>
        </p:nvSpPr>
        <p:spPr>
          <a:xfrm>
            <a:off x="7217579" y="4734677"/>
            <a:ext cx="2580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YES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3" name="テキスト ボックス 1072">
            <a:extLst>
              <a:ext uri="{FF2B5EF4-FFF2-40B4-BE49-F238E27FC236}">
                <a16:creationId xmlns:a16="http://schemas.microsoft.com/office/drawing/2014/main" id="{52BF8F81-0ECA-8826-C865-BB2DC5651521}"/>
              </a:ext>
            </a:extLst>
          </p:cNvPr>
          <p:cNvSpPr txBox="1"/>
          <p:nvPr/>
        </p:nvSpPr>
        <p:spPr>
          <a:xfrm>
            <a:off x="6908919" y="5590609"/>
            <a:ext cx="2051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NO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09" name="コネクタ: カギ線 1108">
            <a:extLst>
              <a:ext uri="{FF2B5EF4-FFF2-40B4-BE49-F238E27FC236}">
                <a16:creationId xmlns:a16="http://schemas.microsoft.com/office/drawing/2014/main" id="{5885B6DF-46E3-515D-68FB-07E76BDD99A6}"/>
              </a:ext>
            </a:extLst>
          </p:cNvPr>
          <p:cNvCxnSpPr>
            <a:cxnSpLocks/>
            <a:stCxn id="1063" idx="2"/>
            <a:endCxn id="38" idx="2"/>
          </p:cNvCxnSpPr>
          <p:nvPr/>
        </p:nvCxnSpPr>
        <p:spPr>
          <a:xfrm rot="5400000" flipH="1">
            <a:off x="5096391" y="3723621"/>
            <a:ext cx="647523" cy="2665849"/>
          </a:xfrm>
          <a:prstGeom prst="bentConnector3">
            <a:avLst>
              <a:gd name="adj1" fmla="val -35304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" name="サブタイトル 2">
            <a:extLst>
              <a:ext uri="{FF2B5EF4-FFF2-40B4-BE49-F238E27FC236}">
                <a16:creationId xmlns:a16="http://schemas.microsoft.com/office/drawing/2014/main" id="{7E15EB46-0D93-207B-0D28-A67415F3A1C5}"/>
              </a:ext>
            </a:extLst>
          </p:cNvPr>
          <p:cNvSpPr txBox="1">
            <a:spLocks/>
          </p:cNvSpPr>
          <p:nvPr/>
        </p:nvSpPr>
        <p:spPr>
          <a:xfrm>
            <a:off x="3976529" y="5232192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営業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40" name="フローチャート: 判断 1139">
            <a:extLst>
              <a:ext uri="{FF2B5EF4-FFF2-40B4-BE49-F238E27FC236}">
                <a16:creationId xmlns:a16="http://schemas.microsoft.com/office/drawing/2014/main" id="{BED92EE5-A74D-0196-C6D8-E6ADC9C2B26D}"/>
              </a:ext>
            </a:extLst>
          </p:cNvPr>
          <p:cNvSpPr/>
          <p:nvPr/>
        </p:nvSpPr>
        <p:spPr>
          <a:xfrm>
            <a:off x="5083083" y="3889392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45" name="コネクタ: カギ線 1144">
            <a:extLst>
              <a:ext uri="{FF2B5EF4-FFF2-40B4-BE49-F238E27FC236}">
                <a16:creationId xmlns:a16="http://schemas.microsoft.com/office/drawing/2014/main" id="{F4DBDBF6-A8FA-3FCE-1652-6CBC04B73352}"/>
              </a:ext>
            </a:extLst>
          </p:cNvPr>
          <p:cNvCxnSpPr>
            <a:cxnSpLocks/>
            <a:stCxn id="38" idx="3"/>
            <a:endCxn id="1140" idx="1"/>
          </p:cNvCxnSpPr>
          <p:nvPr/>
        </p:nvCxnSpPr>
        <p:spPr>
          <a:xfrm flipV="1">
            <a:off x="4890074" y="4186581"/>
            <a:ext cx="193009" cy="1587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8" name="テキスト ボックス 1147">
            <a:extLst>
              <a:ext uri="{FF2B5EF4-FFF2-40B4-BE49-F238E27FC236}">
                <a16:creationId xmlns:a16="http://schemas.microsoft.com/office/drawing/2014/main" id="{09611319-6C59-F046-62FB-F541BC7AF998}"/>
              </a:ext>
            </a:extLst>
          </p:cNvPr>
          <p:cNvSpPr txBox="1"/>
          <p:nvPr/>
        </p:nvSpPr>
        <p:spPr>
          <a:xfrm>
            <a:off x="5260503" y="4051356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>
                <a:latin typeface="+mj-lt"/>
              </a:rPr>
              <a:t>長期連休*か</a:t>
            </a:r>
          </a:p>
        </p:txBody>
      </p:sp>
      <p:sp>
        <p:nvSpPr>
          <p:cNvPr id="1151" name="サブタイトル 2">
            <a:extLst>
              <a:ext uri="{FF2B5EF4-FFF2-40B4-BE49-F238E27FC236}">
                <a16:creationId xmlns:a16="http://schemas.microsoft.com/office/drawing/2014/main" id="{C6A2BA7D-B43C-941E-C62D-2B0A4763D7E7}"/>
              </a:ext>
            </a:extLst>
          </p:cNvPr>
          <p:cNvSpPr txBox="1">
            <a:spLocks/>
          </p:cNvSpPr>
          <p:nvPr/>
        </p:nvSpPr>
        <p:spPr>
          <a:xfrm>
            <a:off x="6090766" y="3836374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以外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59" name="四角形: 角を丸くする 1158">
            <a:extLst>
              <a:ext uri="{FF2B5EF4-FFF2-40B4-BE49-F238E27FC236}">
                <a16:creationId xmlns:a16="http://schemas.microsoft.com/office/drawing/2014/main" id="{F7187BA3-907E-3175-7575-472BBD1FC419}"/>
              </a:ext>
            </a:extLst>
          </p:cNvPr>
          <p:cNvSpPr/>
          <p:nvPr/>
        </p:nvSpPr>
        <p:spPr>
          <a:xfrm>
            <a:off x="6297159" y="6355063"/>
            <a:ext cx="1699619" cy="358511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Oracle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：鈴木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60" name="四角形: 角を丸くする 1159">
            <a:extLst>
              <a:ext uri="{FF2B5EF4-FFF2-40B4-BE49-F238E27FC236}">
                <a16:creationId xmlns:a16="http://schemas.microsoft.com/office/drawing/2014/main" id="{FD37DEFD-0728-62B5-24A7-47AA1A9E3A84}"/>
              </a:ext>
            </a:extLst>
          </p:cNvPr>
          <p:cNvSpPr/>
          <p:nvPr/>
        </p:nvSpPr>
        <p:spPr>
          <a:xfrm>
            <a:off x="6297159" y="6036724"/>
            <a:ext cx="1699619" cy="26800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Ai21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レプリカ：突元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6" name="四角形: 角を丸くする 1175">
            <a:extLst>
              <a:ext uri="{FF2B5EF4-FFF2-40B4-BE49-F238E27FC236}">
                <a16:creationId xmlns:a16="http://schemas.microsoft.com/office/drawing/2014/main" id="{3AE4FF9B-E0E5-E457-24FB-B9A8595A29FB}"/>
              </a:ext>
            </a:extLst>
          </p:cNvPr>
          <p:cNvSpPr/>
          <p:nvPr/>
        </p:nvSpPr>
        <p:spPr>
          <a:xfrm>
            <a:off x="8147853" y="5123795"/>
            <a:ext cx="2657540" cy="525544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？？？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大森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(nobuyuki_omori@toyotec-jp.com)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81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CB972053-10CC-836C-6FE8-6844FCC6A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27" y="3425395"/>
            <a:ext cx="561746" cy="31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2" name="四角形: 角を丸くする 1181">
            <a:extLst>
              <a:ext uri="{FF2B5EF4-FFF2-40B4-BE49-F238E27FC236}">
                <a16:creationId xmlns:a16="http://schemas.microsoft.com/office/drawing/2014/main" id="{4EC2044C-3F43-10DA-3B52-7DBD6CA79271}"/>
              </a:ext>
            </a:extLst>
          </p:cNvPr>
          <p:cNvSpPr/>
          <p:nvPr/>
        </p:nvSpPr>
        <p:spPr>
          <a:xfrm>
            <a:off x="8145501" y="4244385"/>
            <a:ext cx="2659892" cy="536016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金崎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(kouji_kanezaki_za@toyotec-jp.com)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曽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(karyo_so_za@toyotec-jp.com)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87" name="テキスト ボックス 1186">
            <a:extLst>
              <a:ext uri="{FF2B5EF4-FFF2-40B4-BE49-F238E27FC236}">
                <a16:creationId xmlns:a16="http://schemas.microsoft.com/office/drawing/2014/main" id="{DFC92097-EB7E-CD2F-3004-30886625F06F}"/>
              </a:ext>
            </a:extLst>
          </p:cNvPr>
          <p:cNvSpPr txBox="1"/>
          <p:nvPr/>
        </p:nvSpPr>
        <p:spPr>
          <a:xfrm>
            <a:off x="8225544" y="3994621"/>
            <a:ext cx="312586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9" name="吹き出し: 角を丸めた四角形 1188">
            <a:extLst>
              <a:ext uri="{FF2B5EF4-FFF2-40B4-BE49-F238E27FC236}">
                <a16:creationId xmlns:a16="http://schemas.microsoft.com/office/drawing/2014/main" id="{106F5E7E-851C-2E13-49C4-B4C27C92C27F}"/>
              </a:ext>
            </a:extLst>
          </p:cNvPr>
          <p:cNvSpPr/>
          <p:nvPr/>
        </p:nvSpPr>
        <p:spPr>
          <a:xfrm>
            <a:off x="3483689" y="2604667"/>
            <a:ext cx="2917580" cy="1001951"/>
          </a:xfrm>
          <a:prstGeom prst="wedgeRoundRectCallout">
            <a:avLst>
              <a:gd name="adj1" fmla="val -40336"/>
              <a:gd name="adj2" fmla="val 6975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+mj-lt"/>
              </a:rPr>
              <a:t>アラート用チャネルに自動転送</a:t>
            </a:r>
            <a:endParaRPr kumimoji="1" lang="en-US" altLang="ja-JP" sz="1200">
              <a:solidFill>
                <a:schemeClr val="tx1"/>
              </a:solidFill>
              <a:latin typeface="+mj-lt"/>
            </a:endParaRPr>
          </a:p>
          <a:p>
            <a:r>
              <a:rPr lang="ja-JP" altLang="en-US" sz="800">
                <a:solidFill>
                  <a:schemeClr val="tx1"/>
                </a:solidFill>
                <a:latin typeface="+mj-lt"/>
              </a:rPr>
              <a:t>11_OCIアラート共有 - TEC_U-SLIM（基盤検証） </a:t>
            </a:r>
            <a:r>
              <a:rPr lang="ja-JP" altLang="en-US" sz="800">
                <a:solidFill>
                  <a:schemeClr val="tx1"/>
                </a:solidFill>
                <a:latin typeface="+mj-lt"/>
                <a:hlinkClick r:id="rId7"/>
              </a:rPr>
              <a:t>424d87e6.tatgroup.onmicrosoft.com@jp.teams.ms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12_CDP</a:t>
            </a:r>
            <a:r>
              <a:rPr kumimoji="1" lang="ja-JP" altLang="en-US" sz="8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  <a:hlinkClick r:id="rId8"/>
              </a:rPr>
              <a:t>c31c0289.tatgroup.onmicrosoft.com@jp.teams.ms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13_WebApp</a:t>
            </a:r>
            <a:r>
              <a:rPr kumimoji="1" lang="ja-JP" altLang="en-US" sz="8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  <a:hlinkClick r:id="rId9"/>
              </a:rPr>
              <a:t>f88b021c.tatgroup.onmicrosoft.com@jp.teams.ms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94" name="テキスト ボックス 1193">
            <a:extLst>
              <a:ext uri="{FF2B5EF4-FFF2-40B4-BE49-F238E27FC236}">
                <a16:creationId xmlns:a16="http://schemas.microsoft.com/office/drawing/2014/main" id="{D2066C77-8D55-C68E-D1C6-F605A26EBFFA}"/>
              </a:ext>
            </a:extLst>
          </p:cNvPr>
          <p:cNvSpPr txBox="1"/>
          <p:nvPr/>
        </p:nvSpPr>
        <p:spPr>
          <a:xfrm>
            <a:off x="8085464" y="2001303"/>
            <a:ext cx="514489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5" name="テキスト ボックス 1194">
            <a:extLst>
              <a:ext uri="{FF2B5EF4-FFF2-40B4-BE49-F238E27FC236}">
                <a16:creationId xmlns:a16="http://schemas.microsoft.com/office/drawing/2014/main" id="{2EAA43A9-E562-CBED-EE33-073A860B8219}"/>
              </a:ext>
            </a:extLst>
          </p:cNvPr>
          <p:cNvSpPr txBox="1"/>
          <p:nvPr/>
        </p:nvSpPr>
        <p:spPr>
          <a:xfrm>
            <a:off x="8172816" y="4918289"/>
            <a:ext cx="665247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6" name="テキスト ボックス 1195">
            <a:extLst>
              <a:ext uri="{FF2B5EF4-FFF2-40B4-BE49-F238E27FC236}">
                <a16:creationId xmlns:a16="http://schemas.microsoft.com/office/drawing/2014/main" id="{863452BE-372F-2CF7-636B-2464FF9C0433}"/>
              </a:ext>
            </a:extLst>
          </p:cNvPr>
          <p:cNvSpPr txBox="1"/>
          <p:nvPr/>
        </p:nvSpPr>
        <p:spPr>
          <a:xfrm>
            <a:off x="6311160" y="5754821"/>
            <a:ext cx="43281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サポート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9" name="矢印: 折線 1198">
            <a:extLst>
              <a:ext uri="{FF2B5EF4-FFF2-40B4-BE49-F238E27FC236}">
                <a16:creationId xmlns:a16="http://schemas.microsoft.com/office/drawing/2014/main" id="{6135E8C6-EB93-898F-49BD-05009D13C6D9}"/>
              </a:ext>
            </a:extLst>
          </p:cNvPr>
          <p:cNvSpPr/>
          <p:nvPr/>
        </p:nvSpPr>
        <p:spPr>
          <a:xfrm>
            <a:off x="2318321" y="2903652"/>
            <a:ext cx="1158932" cy="547347"/>
          </a:xfrm>
          <a:prstGeom prst="bentArrow">
            <a:avLst>
              <a:gd name="adj1" fmla="val 31565"/>
              <a:gd name="adj2" fmla="val 25156"/>
              <a:gd name="adj3" fmla="val 26696"/>
              <a:gd name="adj4" fmla="val 3767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B831B8BC-C7D2-1AEF-C1A7-69587A10B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019" y="295136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BA71D4FB-1E14-AFD0-C9D9-29C2AAB0A02B}"/>
              </a:ext>
            </a:extLst>
          </p:cNvPr>
          <p:cNvCxnSpPr>
            <a:cxnSpLocks/>
            <a:stCxn id="1108" idx="3"/>
            <a:endCxn id="1200" idx="1"/>
          </p:cNvCxnSpPr>
          <p:nvPr/>
        </p:nvCxnSpPr>
        <p:spPr>
          <a:xfrm flipV="1">
            <a:off x="11015421" y="3193245"/>
            <a:ext cx="291598" cy="901358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BD46F217-013C-E1AC-C842-6004F3D34BA6}"/>
              </a:ext>
            </a:extLst>
          </p:cNvPr>
          <p:cNvSpPr txBox="1"/>
          <p:nvPr/>
        </p:nvSpPr>
        <p:spPr>
          <a:xfrm>
            <a:off x="11338190" y="3479712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F8571857-E25E-F836-9CEC-EE05D6DE9FAE}"/>
              </a:ext>
            </a:extLst>
          </p:cNvPr>
          <p:cNvSpPr/>
          <p:nvPr/>
        </p:nvSpPr>
        <p:spPr>
          <a:xfrm>
            <a:off x="5210616" y="1904609"/>
            <a:ext cx="2759549" cy="591911"/>
          </a:xfrm>
          <a:prstGeom prst="wedgeRoundRectCallout">
            <a:avLst>
              <a:gd name="adj1" fmla="val 34132"/>
              <a:gd name="adj2" fmla="val 19500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+mj-lt"/>
              </a:rPr>
              <a:t>アラート監視共有チャネルで対応依頼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10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7258F809-0A91-7C9D-56AF-3580F186CC4F}"/>
              </a:ext>
            </a:extLst>
          </p:cNvPr>
          <p:cNvSpPr/>
          <p:nvPr/>
        </p:nvSpPr>
        <p:spPr>
          <a:xfrm>
            <a:off x="11082675" y="4183308"/>
            <a:ext cx="1084362" cy="1507221"/>
          </a:xfrm>
          <a:prstGeom prst="wedgeRoundRectCallout">
            <a:avLst>
              <a:gd name="adj1" fmla="val 9628"/>
              <a:gd name="adj2" fmla="val -7387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担当者が対応と報告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10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DA3E1F-F571-A1C9-EE2A-5899DD86DF4E}"/>
              </a:ext>
            </a:extLst>
          </p:cNvPr>
          <p:cNvSpPr txBox="1"/>
          <p:nvPr/>
        </p:nvSpPr>
        <p:spPr>
          <a:xfrm>
            <a:off x="8229096" y="2922601"/>
            <a:ext cx="514489" cy="16421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F355A1C-47F7-CD13-C580-6B8C00B50FF5}"/>
              </a:ext>
            </a:extLst>
          </p:cNvPr>
          <p:cNvSpPr/>
          <p:nvPr/>
        </p:nvSpPr>
        <p:spPr>
          <a:xfrm>
            <a:off x="8103186" y="2217228"/>
            <a:ext cx="2724901" cy="584432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肖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(xiao_haobo_za@toyotec-jp.com)</a:t>
            </a:r>
          </a:p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松浦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(satoshi_matsuura_za@toyotec-jp.com)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3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DB15ABA2-F90B-EAC4-B107-E169FB444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027" y="5271061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ED0E63D-CAE0-4EF0-189A-61F629FA75B3}"/>
              </a:ext>
            </a:extLst>
          </p:cNvPr>
          <p:cNvSpPr txBox="1"/>
          <p:nvPr/>
        </p:nvSpPr>
        <p:spPr>
          <a:xfrm>
            <a:off x="4933027" y="5834765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8BF9809A-786C-A5DE-C00B-7554534503CB}"/>
              </a:ext>
            </a:extLst>
          </p:cNvPr>
          <p:cNvSpPr/>
          <p:nvPr/>
        </p:nvSpPr>
        <p:spPr>
          <a:xfrm>
            <a:off x="2318321" y="6243132"/>
            <a:ext cx="2892296" cy="505059"/>
          </a:xfrm>
          <a:prstGeom prst="wedgeRoundRectCallout">
            <a:avLst>
              <a:gd name="adj1" fmla="val 37918"/>
              <a:gd name="adj2" fmla="val -8928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担当者が状況報告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10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吹き出し: 角を丸めた四角形 33">
            <a:extLst>
              <a:ext uri="{FF2B5EF4-FFF2-40B4-BE49-F238E27FC236}">
                <a16:creationId xmlns:a16="http://schemas.microsoft.com/office/drawing/2014/main" id="{3532ED5B-7F62-0EBA-14F7-38D103AC2EE6}"/>
              </a:ext>
            </a:extLst>
          </p:cNvPr>
          <p:cNvSpPr/>
          <p:nvPr/>
        </p:nvSpPr>
        <p:spPr>
          <a:xfrm>
            <a:off x="8838063" y="5919033"/>
            <a:ext cx="1465432" cy="436030"/>
          </a:xfrm>
          <a:prstGeom prst="wedgeRoundRectCallout">
            <a:avLst>
              <a:gd name="adj1" fmla="val -34043"/>
              <a:gd name="adj2" fmla="val -84019"/>
              <a:gd name="adj3" fmla="val 1666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大井さん入れる？</a:t>
            </a:r>
          </a:p>
        </p:txBody>
      </p:sp>
      <p:sp>
        <p:nvSpPr>
          <p:cNvPr id="2" name="サブタイトル 2">
            <a:extLst>
              <a:ext uri="{FF2B5EF4-FFF2-40B4-BE49-F238E27FC236}">
                <a16:creationId xmlns:a16="http://schemas.microsoft.com/office/drawing/2014/main" id="{466288DB-4309-5D71-3533-2E36D7D633F9}"/>
              </a:ext>
            </a:extLst>
          </p:cNvPr>
          <p:cNvSpPr txBox="1">
            <a:spLocks/>
          </p:cNvSpPr>
          <p:nvPr/>
        </p:nvSpPr>
        <p:spPr>
          <a:xfrm>
            <a:off x="8486340" y="754279"/>
            <a:ext cx="3377171" cy="3789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*長期連休：土曜を含む連続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4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日以上の休日が重なる場合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6872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CAE69-613D-CCCF-4E7F-6306C667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748571-5DAB-5338-D438-7CFCF4B890A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en-US" altLang="ja-JP"/>
              <a:t>2025</a:t>
            </a:r>
            <a:r>
              <a:rPr kumimoji="1" lang="ja-JP" altLang="en-US"/>
              <a:t>年度夏季休暇体制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11C2BC-8AAF-827D-082D-7B9F7B1C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15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F96186E4-C300-0C7F-7D00-ECD61C5E2214}"/>
              </a:ext>
            </a:extLst>
          </p:cNvPr>
          <p:cNvGraphicFramePr>
            <a:graphicFrameLocks noGrp="1"/>
          </p:cNvGraphicFramePr>
          <p:nvPr/>
        </p:nvGraphicFramePr>
        <p:xfrm>
          <a:off x="1416098" y="1104314"/>
          <a:ext cx="9359793" cy="270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62">
                  <a:extLst>
                    <a:ext uri="{9D8B030D-6E8A-4147-A177-3AD203B41FA5}">
                      <a16:colId xmlns:a16="http://schemas.microsoft.com/office/drawing/2014/main" val="1301179436"/>
                    </a:ext>
                  </a:extLst>
                </a:gridCol>
                <a:gridCol w="541421">
                  <a:extLst>
                    <a:ext uri="{9D8B030D-6E8A-4147-A177-3AD203B41FA5}">
                      <a16:colId xmlns:a16="http://schemas.microsoft.com/office/drawing/2014/main" val="1684122932"/>
                    </a:ext>
                  </a:extLst>
                </a:gridCol>
                <a:gridCol w="881614">
                  <a:extLst>
                    <a:ext uri="{9D8B030D-6E8A-4147-A177-3AD203B41FA5}">
                      <a16:colId xmlns:a16="http://schemas.microsoft.com/office/drawing/2014/main" val="105864171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val="3635948449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val="2118028620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val="2458838299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val="4265056242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val="652584557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val="1429374823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val="3082463893"/>
                    </a:ext>
                  </a:extLst>
                </a:gridCol>
                <a:gridCol w="881862">
                  <a:extLst>
                    <a:ext uri="{9D8B030D-6E8A-4147-A177-3AD203B41FA5}">
                      <a16:colId xmlns:a16="http://schemas.microsoft.com/office/drawing/2014/main" val="3363223913"/>
                    </a:ext>
                  </a:extLst>
                </a:gridCol>
              </a:tblGrid>
              <a:tr h="34436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夏季休暇体制</a:t>
                      </a: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8/9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8/10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8/11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8/12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8/13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8/14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8/15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8/16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8/17</a:t>
                      </a:r>
                      <a:endParaRPr lang="ja-JP" altLang="en-US" sz="1100" b="0" i="0" u="none" strike="noStrike">
                        <a:solidFill>
                          <a:schemeClr val="bg1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684008"/>
                  </a:ext>
                </a:extLst>
              </a:tr>
              <a:tr h="73276">
                <a:tc gridSpan="2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Yu Gothic" panose="020B0400000000000000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土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日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月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火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水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木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金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土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Yu Gothic" panose="020B0400000000000000" pitchFamily="50" charset="-128"/>
                        </a:rPr>
                        <a:t>日</a:t>
                      </a:r>
                    </a:p>
                  </a:txBody>
                  <a:tcPr marL="0" marR="0" marT="0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48644"/>
                  </a:ext>
                </a:extLst>
              </a:tr>
              <a:tr h="204169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CDP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範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範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</a:rPr>
                        <a:t>楊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+mn-ea"/>
                        </a:rPr>
                        <a:t>楊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6040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松浦</a:t>
                      </a:r>
                      <a:r>
                        <a:rPr kumimoji="1" lang="en-US" altLang="ja-JP" sz="1050">
                          <a:latin typeface="+mj-lt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楊/</a:t>
                      </a:r>
                      <a:r>
                        <a:rPr kumimoji="1" lang="ja-JP" altLang="en-US" sz="1050">
                          <a:latin typeface="+mj-lt"/>
                        </a:rPr>
                        <a:t>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Meiryo UI"/>
                          <a:cs typeface="+mn-cs"/>
                        </a:rPr>
                        <a:t>楊/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Meiryo UI"/>
                          <a:cs typeface="+mn-cs"/>
                        </a:rPr>
                        <a:t>楊/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Meiryo UI"/>
                          <a:cs typeface="+mn-cs"/>
                        </a:rPr>
                        <a:t>楊/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Meiryo UI"/>
                          <a:cs typeface="+mn-cs"/>
                        </a:rPr>
                        <a:t>楊/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Meiryo UI"/>
                          <a:cs typeface="+mn-cs"/>
                        </a:rPr>
                        <a:t>楊/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Meiryo UI"/>
                          <a:cs typeface="+mn-cs"/>
                        </a:rPr>
                        <a:t>楊/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Meiryo UI"/>
                          <a:cs typeface="+mn-cs"/>
                        </a:rPr>
                        <a:t>楊/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松浦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Meiryo UI"/>
                          <a:cs typeface="+mn-cs"/>
                        </a:rPr>
                        <a:t>楊/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229782"/>
                  </a:ext>
                </a:extLst>
              </a:tr>
              <a:tr h="199089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OCI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05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王</a:t>
                      </a:r>
                      <a:endParaRPr kumimoji="1" lang="ja-JP" altLang="en-US" sz="1050" kern="120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6849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+mj-lt"/>
                        </a:rPr>
                        <a:t>王</a:t>
                      </a:r>
                      <a:r>
                        <a:rPr kumimoji="1" lang="en-US" altLang="ja-JP" sz="1050">
                          <a:latin typeface="+mj-lt"/>
                        </a:rPr>
                        <a:t>/</a:t>
                      </a:r>
                      <a:r>
                        <a:rPr kumimoji="1" lang="ja-JP" altLang="en-US" sz="1050">
                          <a:latin typeface="+mj-lt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王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6210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+mj-lt"/>
                        </a:rPr>
                        <a:t>WebApp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金崎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金崎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金崎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金崎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金崎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金崎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金崎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曽</a:t>
                      </a:r>
                      <a:endParaRPr kumimoji="1" lang="ja-JP" altLang="en-US" sz="105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693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金崎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金崎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杉浦</a:t>
                      </a:r>
                      <a:endParaRPr kumimoji="1" lang="ja-JP" alt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杉浦</a:t>
                      </a:r>
                      <a:endParaRPr kumimoji="1" lang="en-US" altLang="ja-JP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eiryo UI"/>
                        <a:ea typeface="Meiryo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金崎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金崎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金崎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金崎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金崎</a:t>
                      </a:r>
                      <a:endParaRPr kumimoji="1" lang="en-US" alt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74887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r>
                        <a:rPr kumimoji="1" lang="en-US" altLang="ja-JP" sz="1200" err="1">
                          <a:latin typeface="+mj-lt"/>
                        </a:rPr>
                        <a:t>AzureNW</a:t>
                      </a:r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+mj-lt"/>
                        </a:rPr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楊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松浦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松浦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松浦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松浦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松浦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kumimoji="1"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楊</a:t>
                      </a:r>
                      <a:endParaRPr kumimoji="1" lang="en-US" alt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kumimoji="1" lang="ja-JP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</a:rPr>
                        <a:t>楊</a:t>
                      </a:r>
                      <a:endParaRPr kumimoji="1" lang="en-US" alt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0798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+mj-lt"/>
                        </a:rPr>
                        <a:t>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大森</a:t>
                      </a: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/</a:t>
                      </a:r>
                      <a:r>
                        <a:rPr kumimoji="1" lang="ja-JP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24516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8E9B37-B747-CD1D-D318-9CA70EC511F9}"/>
              </a:ext>
            </a:extLst>
          </p:cNvPr>
          <p:cNvSpPr txBox="1"/>
          <p:nvPr/>
        </p:nvSpPr>
        <p:spPr>
          <a:xfrm>
            <a:off x="781672" y="4160912"/>
            <a:ext cx="773914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j-lt"/>
              </a:rPr>
              <a:t>夏季休暇期間は、各環境の</a:t>
            </a:r>
            <a:r>
              <a:rPr lang="ja-JP" altLang="en-US">
                <a:latin typeface="+mj-lt"/>
              </a:rPr>
              <a:t>アラート窓口が定期チェックを実施</a:t>
            </a:r>
            <a:endParaRPr kumimoji="1" lang="ja-JP" altLang="en-US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j-lt"/>
              </a:rPr>
              <a:t>確認者：</a:t>
            </a:r>
            <a:r>
              <a:rPr kumimoji="1" lang="en-US" altLang="ja-JP">
                <a:latin typeface="+mj-lt"/>
              </a:rPr>
              <a:t>Teams</a:t>
            </a:r>
            <a:r>
              <a:rPr lang="ja-JP" altLang="en-US">
                <a:latin typeface="+mj-lt"/>
              </a:rPr>
              <a:t>チャネルに参加している</a:t>
            </a:r>
            <a:r>
              <a:rPr kumimoji="1" lang="ja-JP" altLang="en-US">
                <a:latin typeface="+mj-lt"/>
              </a:rPr>
              <a:t>窓口担当</a:t>
            </a:r>
            <a:endParaRPr kumimoji="1" lang="en-US" altLang="ja-JP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j-lt"/>
              </a:rPr>
              <a:t>アラートチェック：</a:t>
            </a:r>
            <a:r>
              <a:rPr lang="ja-JP" altLang="en-US">
                <a:latin typeface="+mj-lt"/>
              </a:rPr>
              <a:t>9</a:t>
            </a:r>
            <a:r>
              <a:rPr lang="en-US" altLang="ja-JP">
                <a:latin typeface="+mj-lt"/>
              </a:rPr>
              <a:t>:00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latin typeface="+mj-lt"/>
              </a:rPr>
              <a:t>報告手段：</a:t>
            </a:r>
            <a:r>
              <a:rPr kumimoji="1" lang="en-US" altLang="ja-JP">
                <a:latin typeface="+mj-lt"/>
              </a:rPr>
              <a:t>Teams</a:t>
            </a:r>
            <a:r>
              <a:rPr kumimoji="1" lang="ja-JP" altLang="en-US">
                <a:latin typeface="+mj-lt"/>
              </a:rPr>
              <a:t>チャネル投稿</a:t>
            </a:r>
            <a:r>
              <a:rPr kumimoji="1" lang="ja-JP" altLang="en-US" sz="1200">
                <a:latin typeface="+mj-lt"/>
              </a:rPr>
              <a:t>　</a:t>
            </a:r>
            <a:r>
              <a:rPr kumimoji="1" lang="en-US" altLang="ja-JP" sz="1200">
                <a:latin typeface="+mj-lt"/>
              </a:rPr>
              <a:t>10_</a:t>
            </a:r>
            <a:r>
              <a:rPr kumimoji="1" lang="ja-JP" altLang="en-US" sz="1200">
                <a:latin typeface="+mj-lt"/>
              </a:rPr>
              <a:t>アラート監視共有 </a:t>
            </a:r>
            <a:r>
              <a:rPr kumimoji="1" lang="en-US" altLang="ja-JP" sz="1200">
                <a:latin typeface="+mj-lt"/>
              </a:rPr>
              <a:t>- TEC_U-SLIM</a:t>
            </a:r>
            <a:r>
              <a:rPr kumimoji="1" lang="ja-JP" altLang="en-US" sz="1200">
                <a:latin typeface="+mj-lt"/>
              </a:rPr>
              <a:t>（基盤検証）</a:t>
            </a:r>
            <a:endParaRPr kumimoji="1" lang="en-US" altLang="ja-JP" sz="12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j-lt"/>
              </a:rPr>
              <a:t>アラート対応時は窓口担当経由で対応者に指示</a:t>
            </a:r>
            <a:endParaRPr lang="en-US" altLang="ja-JP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+mj-lt"/>
              </a:rPr>
              <a:t>体制維持：</a:t>
            </a:r>
            <a:r>
              <a:rPr lang="en-US" altLang="ja-JP">
                <a:latin typeface="+mj-lt"/>
              </a:rPr>
              <a:t>9:00-17:00</a:t>
            </a:r>
            <a:r>
              <a:rPr lang="ja-JP" altLang="en-US" sz="1200">
                <a:latin typeface="+mj-lt"/>
              </a:rPr>
              <a:t> </a:t>
            </a:r>
            <a:r>
              <a:rPr lang="en-US" altLang="ja-JP" sz="1200">
                <a:latin typeface="+mj-lt"/>
              </a:rPr>
              <a:t>※17:00</a:t>
            </a:r>
            <a:r>
              <a:rPr lang="ja-JP" altLang="en-US" sz="1200">
                <a:latin typeface="+mj-lt"/>
              </a:rPr>
              <a:t>以降も対応が必要な場合は除く</a:t>
            </a:r>
          </a:p>
        </p:txBody>
      </p:sp>
    </p:spTree>
    <p:extLst>
      <p:ext uri="{BB962C8B-B14F-4D97-AF65-F5344CB8AC3E}">
        <p14:creationId xmlns:p14="http://schemas.microsoft.com/office/powerpoint/2010/main" val="184577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A68209-3629-6884-5C4D-2E820EFF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正方形/長方形 1107">
            <a:extLst>
              <a:ext uri="{FF2B5EF4-FFF2-40B4-BE49-F238E27FC236}">
                <a16:creationId xmlns:a16="http://schemas.microsoft.com/office/drawing/2014/main" id="{43BB4851-8345-32C0-C1D8-2C243855652F}"/>
              </a:ext>
            </a:extLst>
          </p:cNvPr>
          <p:cNvSpPr/>
          <p:nvPr/>
        </p:nvSpPr>
        <p:spPr>
          <a:xfrm>
            <a:off x="8037421" y="1653652"/>
            <a:ext cx="2892296" cy="30791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600" b="1" u="sng">
                <a:solidFill>
                  <a:schemeClr val="accent1">
                    <a:lumMod val="75000"/>
                  </a:schemeClr>
                </a:solidFill>
              </a:rPr>
              <a:t>インフラ担当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45C8CE6-E33F-B07F-0293-BA6976CF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sz="1867">
                <a:latin typeface="+mn-ea"/>
              </a:rPr>
              <a:t>運用体制：障害監視（</a:t>
            </a:r>
            <a:r>
              <a:rPr lang="en-US" altLang="ja-JP" sz="1867">
                <a:latin typeface="+mn-ea"/>
              </a:rPr>
              <a:t>4/21</a:t>
            </a:r>
            <a:r>
              <a:rPr lang="ja-JP" altLang="en-US" sz="1867">
                <a:latin typeface="+mn-ea"/>
              </a:rPr>
              <a:t>時点）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A9EA0BB-149C-9E3B-2793-1446FCB6071F}"/>
              </a:ext>
            </a:extLst>
          </p:cNvPr>
          <p:cNvSpPr/>
          <p:nvPr/>
        </p:nvSpPr>
        <p:spPr bwMode="gray">
          <a:xfrm>
            <a:off x="188860" y="1181899"/>
            <a:ext cx="2900348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77C9326-4A8C-5A0A-FDC8-1E4B3D2BAF07}"/>
              </a:ext>
            </a:extLst>
          </p:cNvPr>
          <p:cNvSpPr/>
          <p:nvPr/>
        </p:nvSpPr>
        <p:spPr bwMode="gray">
          <a:xfrm>
            <a:off x="7614458" y="1186937"/>
            <a:ext cx="4451021" cy="3318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TEC2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67A0A64-6291-4FDF-801F-ABE88655F4A6}"/>
              </a:ext>
            </a:extLst>
          </p:cNvPr>
          <p:cNvSpPr/>
          <p:nvPr/>
        </p:nvSpPr>
        <p:spPr bwMode="gray">
          <a:xfrm>
            <a:off x="188863" y="1760865"/>
            <a:ext cx="497722" cy="44903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eaVert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ja-JP" altLang="en-US" sz="13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システム監視</a:t>
            </a:r>
            <a:endParaRPr lang="en-US" altLang="ja-JP" sz="1333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94E5E9-504C-ED81-AE74-42406AAF3C2D}"/>
              </a:ext>
            </a:extLst>
          </p:cNvPr>
          <p:cNvSpPr/>
          <p:nvPr/>
        </p:nvSpPr>
        <p:spPr bwMode="gray">
          <a:xfrm>
            <a:off x="1579366" y="3470587"/>
            <a:ext cx="1509842" cy="14254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lnSpc>
                <a:spcPts val="1600"/>
              </a:lnSpc>
            </a:pPr>
            <a:r>
              <a:rPr lang="ja-JP" altLang="en-US" sz="1200" b="1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アラート専用窓口</a:t>
            </a:r>
            <a:endParaRPr lang="en-US" altLang="ja-JP" sz="1200" b="1" kern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algn="ctr">
              <a:lnSpc>
                <a:spcPts val="1600"/>
              </a:lnSpc>
            </a:pPr>
            <a:r>
              <a:rPr lang="en-US" altLang="ja-JP" sz="933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[Mali] toyotecdap-alert@toyotec-jp.com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09BB0294-40CC-7705-041C-8FC94A59B99D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55008" y="4183308"/>
            <a:ext cx="1024358" cy="68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967C044-A0F9-6E8B-1C29-CC2D508A1CFE}"/>
              </a:ext>
            </a:extLst>
          </p:cNvPr>
          <p:cNvSpPr txBox="1"/>
          <p:nvPr/>
        </p:nvSpPr>
        <p:spPr>
          <a:xfrm>
            <a:off x="815538" y="3671964"/>
            <a:ext cx="67807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アラート通知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ACB4EB89-8EED-474A-FEF1-69774E7C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25" y="3886411"/>
            <a:ext cx="311699" cy="247343"/>
          </a:xfrm>
          <a:prstGeom prst="rect">
            <a:avLst/>
          </a:prstGeom>
        </p:spPr>
      </p:pic>
      <p:sp>
        <p:nvSpPr>
          <p:cNvPr id="14" name="爆発: 14 pt 13">
            <a:extLst>
              <a:ext uri="{FF2B5EF4-FFF2-40B4-BE49-F238E27FC236}">
                <a16:creationId xmlns:a16="http://schemas.microsoft.com/office/drawing/2014/main" id="{6D23A266-9746-03B8-998F-66D7F3243DD6}"/>
              </a:ext>
            </a:extLst>
          </p:cNvPr>
          <p:cNvSpPr/>
          <p:nvPr/>
        </p:nvSpPr>
        <p:spPr>
          <a:xfrm>
            <a:off x="514731" y="3977702"/>
            <a:ext cx="476172" cy="369854"/>
          </a:xfrm>
          <a:prstGeom prst="irregularSeal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FDCAB17-0965-EEEE-6172-DCB950F105E1}"/>
              </a:ext>
            </a:extLst>
          </p:cNvPr>
          <p:cNvSpPr txBox="1"/>
          <p:nvPr/>
        </p:nvSpPr>
        <p:spPr>
          <a:xfrm>
            <a:off x="807626" y="4297571"/>
            <a:ext cx="54502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異常検知</a:t>
            </a:r>
          </a:p>
        </p:txBody>
      </p:sp>
      <p:sp>
        <p:nvSpPr>
          <p:cNvPr id="31" name="サブタイトル 2">
            <a:extLst>
              <a:ext uri="{FF2B5EF4-FFF2-40B4-BE49-F238E27FC236}">
                <a16:creationId xmlns:a16="http://schemas.microsoft.com/office/drawing/2014/main" id="{C85DD596-50B0-5CF3-F76D-A7876F0B9A6E}"/>
              </a:ext>
            </a:extLst>
          </p:cNvPr>
          <p:cNvSpPr txBox="1">
            <a:spLocks/>
          </p:cNvSpPr>
          <p:nvPr/>
        </p:nvSpPr>
        <p:spPr>
          <a:xfrm>
            <a:off x="5640447" y="4497820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連休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3" name="サブタイトル 2">
            <a:extLst>
              <a:ext uri="{FF2B5EF4-FFF2-40B4-BE49-F238E27FC236}">
                <a16:creationId xmlns:a16="http://schemas.microsoft.com/office/drawing/2014/main" id="{5A093B91-15CC-A6FA-0FBB-4928DFC81BA2}"/>
              </a:ext>
            </a:extLst>
          </p:cNvPr>
          <p:cNvSpPr txBox="1">
            <a:spLocks/>
          </p:cNvSpPr>
          <p:nvPr/>
        </p:nvSpPr>
        <p:spPr>
          <a:xfrm>
            <a:off x="8342709" y="785372"/>
            <a:ext cx="3377171" cy="3789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長期連休：土を含む連続</a:t>
            </a:r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4</a:t>
            </a:r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以上の休が重なる場合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AE1618AB-5F31-D004-BB08-7C7C0766AD90}"/>
              </a:ext>
            </a:extLst>
          </p:cNvPr>
          <p:cNvSpPr/>
          <p:nvPr/>
        </p:nvSpPr>
        <p:spPr>
          <a:xfrm>
            <a:off x="3284381" y="3672121"/>
            <a:ext cx="1605693" cy="106066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u="sng">
                <a:solidFill>
                  <a:schemeClr val="tx1"/>
                </a:solidFill>
                <a:latin typeface="+mj-lt"/>
              </a:rPr>
              <a:t>システム関係者</a:t>
            </a:r>
            <a:endParaRPr kumimoji="1" lang="en-US" altLang="ja-JP" sz="1400" u="sng">
              <a:solidFill>
                <a:schemeClr val="tx1"/>
              </a:solidFill>
              <a:latin typeface="+mj-lt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アラート内容確認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ja-JP" altLang="en-US" sz="1400">
                <a:solidFill>
                  <a:schemeClr val="tx1"/>
                </a:solidFill>
                <a:latin typeface="+mj-lt"/>
              </a:rPr>
              <a:t>（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9-17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）</a:t>
            </a:r>
            <a:endParaRPr kumimoji="1" lang="ja-JP" altLang="en-US" sz="14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751364BF-1A9D-0C92-67D4-8F8C0278AF56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3089208" y="4183308"/>
            <a:ext cx="195173" cy="19144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EE907652-D319-A890-74A5-2929C10520C0}"/>
              </a:ext>
            </a:extLst>
          </p:cNvPr>
          <p:cNvCxnSpPr>
            <a:cxnSpLocks/>
            <a:stCxn id="1140" idx="3"/>
            <a:endCxn id="1108" idx="1"/>
          </p:cNvCxnSpPr>
          <p:nvPr/>
        </p:nvCxnSpPr>
        <p:spPr>
          <a:xfrm flipV="1">
            <a:off x="6407705" y="3193218"/>
            <a:ext cx="1629716" cy="993363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EC8F2E45-1774-48AE-FCE4-E4F1B89C9506}"/>
              </a:ext>
            </a:extLst>
          </p:cNvPr>
          <p:cNvSpPr/>
          <p:nvPr/>
        </p:nvSpPr>
        <p:spPr bwMode="gray">
          <a:xfrm>
            <a:off x="3284381" y="1181897"/>
            <a:ext cx="4255263" cy="3408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6000" tIns="96000" rIns="96000" bIns="9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1219170">
              <a:spcAft>
                <a:spcPts val="400"/>
              </a:spcAft>
            </a:pPr>
            <a:r>
              <a:rPr lang="en-US" altLang="ja-JP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TEC1</a:t>
            </a:r>
            <a:r>
              <a:rPr lang="ja-JP" altLang="en-US" sz="1600" kern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次窓口</a:t>
            </a:r>
          </a:p>
        </p:txBody>
      </p:sp>
      <p:sp>
        <p:nvSpPr>
          <p:cNvPr id="1039" name="四角形: 角を丸くする 1038">
            <a:extLst>
              <a:ext uri="{FF2B5EF4-FFF2-40B4-BE49-F238E27FC236}">
                <a16:creationId xmlns:a16="http://schemas.microsoft.com/office/drawing/2014/main" id="{73C308FB-C651-F8B5-061B-B464D375ACE3}"/>
              </a:ext>
            </a:extLst>
          </p:cNvPr>
          <p:cNvSpPr/>
          <p:nvPr/>
        </p:nvSpPr>
        <p:spPr>
          <a:xfrm>
            <a:off x="8103187" y="2014778"/>
            <a:ext cx="1245798" cy="70718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華智：肖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()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　　　　 王</a:t>
            </a:r>
            <a:r>
              <a:rPr kumimoji="1" lang="en-US" altLang="ja-JP" sz="1400">
                <a:solidFill>
                  <a:schemeClr val="tx1"/>
                </a:solidFill>
                <a:latin typeface="+mj-lt"/>
              </a:rPr>
              <a:t>()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　　　　 唐</a:t>
            </a:r>
            <a:r>
              <a:rPr kumimoji="1" lang="en-US" altLang="ja-JP" sz="1400">
                <a:solidFill>
                  <a:schemeClr val="tx1"/>
                </a:solidFill>
                <a:latin typeface="+mj-lt"/>
              </a:rPr>
              <a:t>()</a:t>
            </a:r>
          </a:p>
        </p:txBody>
      </p:sp>
      <p:sp>
        <p:nvSpPr>
          <p:cNvPr id="1060" name="テキスト ボックス 1059">
            <a:extLst>
              <a:ext uri="{FF2B5EF4-FFF2-40B4-BE49-F238E27FC236}">
                <a16:creationId xmlns:a16="http://schemas.microsoft.com/office/drawing/2014/main" id="{74F92C45-2D65-DF51-DC49-63B3D4EE23C0}"/>
              </a:ext>
            </a:extLst>
          </p:cNvPr>
          <p:cNvSpPr txBox="1"/>
          <p:nvPr/>
        </p:nvSpPr>
        <p:spPr>
          <a:xfrm>
            <a:off x="7146969" y="2951365"/>
            <a:ext cx="81753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対応確認依頼</a:t>
            </a:r>
          </a:p>
        </p:txBody>
      </p:sp>
      <p:sp>
        <p:nvSpPr>
          <p:cNvPr id="1063" name="フローチャート: 判断 1062">
            <a:extLst>
              <a:ext uri="{FF2B5EF4-FFF2-40B4-BE49-F238E27FC236}">
                <a16:creationId xmlns:a16="http://schemas.microsoft.com/office/drawing/2014/main" id="{ADA61C36-B1BC-0D01-74AB-236C65E511FA}"/>
              </a:ext>
            </a:extLst>
          </p:cNvPr>
          <p:cNvSpPr/>
          <p:nvPr/>
        </p:nvSpPr>
        <p:spPr>
          <a:xfrm>
            <a:off x="6090766" y="4785928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4" name="コネクタ: カギ線 1063">
            <a:extLst>
              <a:ext uri="{FF2B5EF4-FFF2-40B4-BE49-F238E27FC236}">
                <a16:creationId xmlns:a16="http://schemas.microsoft.com/office/drawing/2014/main" id="{9127A80E-21DC-A86D-99F5-5084637B8588}"/>
              </a:ext>
            </a:extLst>
          </p:cNvPr>
          <p:cNvCxnSpPr>
            <a:cxnSpLocks/>
            <a:stCxn id="1140" idx="2"/>
            <a:endCxn id="1063" idx="1"/>
          </p:cNvCxnSpPr>
          <p:nvPr/>
        </p:nvCxnSpPr>
        <p:spPr>
          <a:xfrm rot="16200000" flipH="1">
            <a:off x="5618407" y="4610757"/>
            <a:ext cx="599347" cy="345372"/>
          </a:xfrm>
          <a:prstGeom prst="bentConnector2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テキスト ボックス 1066">
            <a:extLst>
              <a:ext uri="{FF2B5EF4-FFF2-40B4-BE49-F238E27FC236}">
                <a16:creationId xmlns:a16="http://schemas.microsoft.com/office/drawing/2014/main" id="{53CF6EB5-53D8-2711-3BAC-43061C7B5835}"/>
              </a:ext>
            </a:extLst>
          </p:cNvPr>
          <p:cNvSpPr txBox="1"/>
          <p:nvPr/>
        </p:nvSpPr>
        <p:spPr>
          <a:xfrm>
            <a:off x="6254704" y="4868223"/>
            <a:ext cx="99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>
                <a:latin typeface="+mj-lt"/>
              </a:rPr>
              <a:t>ai21</a:t>
            </a:r>
            <a:r>
              <a:rPr kumimoji="1" lang="ja-JP" altLang="en-US" sz="1200">
                <a:latin typeface="+mj-lt"/>
              </a:rPr>
              <a:t>へ影響</a:t>
            </a:r>
            <a:endParaRPr kumimoji="1" lang="en-US" altLang="ja-JP" sz="1200">
              <a:latin typeface="+mj-lt"/>
            </a:endParaRPr>
          </a:p>
          <a:p>
            <a:pPr algn="ctr"/>
            <a:r>
              <a:rPr kumimoji="1" lang="ja-JP" altLang="en-US" sz="1200">
                <a:latin typeface="+mj-lt"/>
              </a:rPr>
              <a:t>を及ぼす</a:t>
            </a:r>
          </a:p>
        </p:txBody>
      </p:sp>
      <p:cxnSp>
        <p:nvCxnSpPr>
          <p:cNvPr id="1069" name="コネクタ: カギ線 1068">
            <a:extLst>
              <a:ext uri="{FF2B5EF4-FFF2-40B4-BE49-F238E27FC236}">
                <a16:creationId xmlns:a16="http://schemas.microsoft.com/office/drawing/2014/main" id="{D9D45F36-DC12-6470-96F7-9C4FDEE0D78D}"/>
              </a:ext>
            </a:extLst>
          </p:cNvPr>
          <p:cNvCxnSpPr>
            <a:cxnSpLocks/>
            <a:stCxn id="1063" idx="3"/>
            <a:endCxn id="1108" idx="1"/>
          </p:cNvCxnSpPr>
          <p:nvPr/>
        </p:nvCxnSpPr>
        <p:spPr>
          <a:xfrm flipV="1">
            <a:off x="7415388" y="3193218"/>
            <a:ext cx="622033" cy="1889899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2" name="テキスト ボックス 1071">
            <a:extLst>
              <a:ext uri="{FF2B5EF4-FFF2-40B4-BE49-F238E27FC236}">
                <a16:creationId xmlns:a16="http://schemas.microsoft.com/office/drawing/2014/main" id="{CA39E267-5E90-EE45-4D5B-7368A452F57D}"/>
              </a:ext>
            </a:extLst>
          </p:cNvPr>
          <p:cNvSpPr txBox="1"/>
          <p:nvPr/>
        </p:nvSpPr>
        <p:spPr>
          <a:xfrm>
            <a:off x="7217579" y="4734677"/>
            <a:ext cx="2580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YES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3" name="テキスト ボックス 1072">
            <a:extLst>
              <a:ext uri="{FF2B5EF4-FFF2-40B4-BE49-F238E27FC236}">
                <a16:creationId xmlns:a16="http://schemas.microsoft.com/office/drawing/2014/main" id="{109467B1-2AC9-132A-2B79-4C91478C6082}"/>
              </a:ext>
            </a:extLst>
          </p:cNvPr>
          <p:cNvSpPr txBox="1"/>
          <p:nvPr/>
        </p:nvSpPr>
        <p:spPr>
          <a:xfrm>
            <a:off x="6908919" y="5590609"/>
            <a:ext cx="205184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NO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09" name="コネクタ: カギ線 1108">
            <a:extLst>
              <a:ext uri="{FF2B5EF4-FFF2-40B4-BE49-F238E27FC236}">
                <a16:creationId xmlns:a16="http://schemas.microsoft.com/office/drawing/2014/main" id="{9889ED6F-88CB-4FBD-9D40-74FD5DA5F682}"/>
              </a:ext>
            </a:extLst>
          </p:cNvPr>
          <p:cNvCxnSpPr>
            <a:cxnSpLocks/>
            <a:stCxn id="1063" idx="2"/>
            <a:endCxn id="38" idx="2"/>
          </p:cNvCxnSpPr>
          <p:nvPr/>
        </p:nvCxnSpPr>
        <p:spPr>
          <a:xfrm rot="5400000" flipH="1">
            <a:off x="5096391" y="3723621"/>
            <a:ext cx="647523" cy="2665849"/>
          </a:xfrm>
          <a:prstGeom prst="bentConnector3">
            <a:avLst>
              <a:gd name="adj1" fmla="val -35304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" name="サブタイトル 2">
            <a:extLst>
              <a:ext uri="{FF2B5EF4-FFF2-40B4-BE49-F238E27FC236}">
                <a16:creationId xmlns:a16="http://schemas.microsoft.com/office/drawing/2014/main" id="{CED84CBF-F737-722C-28F3-DC09AAB1F958}"/>
              </a:ext>
            </a:extLst>
          </p:cNvPr>
          <p:cNvSpPr txBox="1">
            <a:spLocks/>
          </p:cNvSpPr>
          <p:nvPr/>
        </p:nvSpPr>
        <p:spPr>
          <a:xfrm>
            <a:off x="3976529" y="5232192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営業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40" name="フローチャート: 判断 1139">
            <a:extLst>
              <a:ext uri="{FF2B5EF4-FFF2-40B4-BE49-F238E27FC236}">
                <a16:creationId xmlns:a16="http://schemas.microsoft.com/office/drawing/2014/main" id="{4D226C06-AAB0-B5A7-D82E-732735AD8FC4}"/>
              </a:ext>
            </a:extLst>
          </p:cNvPr>
          <p:cNvSpPr/>
          <p:nvPr/>
        </p:nvSpPr>
        <p:spPr>
          <a:xfrm>
            <a:off x="5083083" y="3889392"/>
            <a:ext cx="1324622" cy="594378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45" name="コネクタ: カギ線 1144">
            <a:extLst>
              <a:ext uri="{FF2B5EF4-FFF2-40B4-BE49-F238E27FC236}">
                <a16:creationId xmlns:a16="http://schemas.microsoft.com/office/drawing/2014/main" id="{CB333228-47EF-503B-33D2-E628826F3F85}"/>
              </a:ext>
            </a:extLst>
          </p:cNvPr>
          <p:cNvCxnSpPr>
            <a:cxnSpLocks/>
            <a:stCxn id="38" idx="3"/>
            <a:endCxn id="1140" idx="1"/>
          </p:cNvCxnSpPr>
          <p:nvPr/>
        </p:nvCxnSpPr>
        <p:spPr>
          <a:xfrm flipV="1">
            <a:off x="4890074" y="4186581"/>
            <a:ext cx="193009" cy="15871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8" name="テキスト ボックス 1147">
            <a:extLst>
              <a:ext uri="{FF2B5EF4-FFF2-40B4-BE49-F238E27FC236}">
                <a16:creationId xmlns:a16="http://schemas.microsoft.com/office/drawing/2014/main" id="{E8E056CE-91F4-E661-21B4-0F790280C342}"/>
              </a:ext>
            </a:extLst>
          </p:cNvPr>
          <p:cNvSpPr txBox="1"/>
          <p:nvPr/>
        </p:nvSpPr>
        <p:spPr>
          <a:xfrm>
            <a:off x="5260503" y="4051356"/>
            <a:ext cx="99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>
                <a:latin typeface="+mj-lt"/>
              </a:rPr>
              <a:t>長期連休か</a:t>
            </a:r>
          </a:p>
        </p:txBody>
      </p:sp>
      <p:sp>
        <p:nvSpPr>
          <p:cNvPr id="1151" name="サブタイトル 2">
            <a:extLst>
              <a:ext uri="{FF2B5EF4-FFF2-40B4-BE49-F238E27FC236}">
                <a16:creationId xmlns:a16="http://schemas.microsoft.com/office/drawing/2014/main" id="{C4842FA0-E684-1FEE-BBC6-17BA13FE87FC}"/>
              </a:ext>
            </a:extLst>
          </p:cNvPr>
          <p:cNvSpPr txBox="1">
            <a:spLocks/>
          </p:cNvSpPr>
          <p:nvPr/>
        </p:nvSpPr>
        <p:spPr>
          <a:xfrm>
            <a:off x="6090766" y="3836374"/>
            <a:ext cx="1077964" cy="2958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85344" rIns="0" bIns="85344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u="sng"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以外</a:t>
            </a:r>
            <a:endParaRPr lang="en-US" altLang="ja-JP" sz="1400" u="sng"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59" name="四角形: 角を丸くする 1158">
            <a:extLst>
              <a:ext uri="{FF2B5EF4-FFF2-40B4-BE49-F238E27FC236}">
                <a16:creationId xmlns:a16="http://schemas.microsoft.com/office/drawing/2014/main" id="{0E1404E8-BF3B-D8D9-C644-F9713841FF58}"/>
              </a:ext>
            </a:extLst>
          </p:cNvPr>
          <p:cNvSpPr/>
          <p:nvPr/>
        </p:nvSpPr>
        <p:spPr>
          <a:xfrm>
            <a:off x="8089186" y="5815641"/>
            <a:ext cx="1699619" cy="358511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Oracle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：鈴木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()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  <a:p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60" name="四角形: 角を丸くする 1159">
            <a:extLst>
              <a:ext uri="{FF2B5EF4-FFF2-40B4-BE49-F238E27FC236}">
                <a16:creationId xmlns:a16="http://schemas.microsoft.com/office/drawing/2014/main" id="{2324080F-AD69-3B33-02E7-E051BC593D1C}"/>
              </a:ext>
            </a:extLst>
          </p:cNvPr>
          <p:cNvSpPr/>
          <p:nvPr/>
        </p:nvSpPr>
        <p:spPr>
          <a:xfrm>
            <a:off x="8089186" y="5497302"/>
            <a:ext cx="1699619" cy="268008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Ai21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レプリカ：突元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6" name="四角形: 角を丸くする 1175">
            <a:extLst>
              <a:ext uri="{FF2B5EF4-FFF2-40B4-BE49-F238E27FC236}">
                <a16:creationId xmlns:a16="http://schemas.microsoft.com/office/drawing/2014/main" id="{5ACBB43C-AFC8-E632-1C19-CEE3CD5926D2}"/>
              </a:ext>
            </a:extLst>
          </p:cNvPr>
          <p:cNvSpPr/>
          <p:nvPr/>
        </p:nvSpPr>
        <p:spPr>
          <a:xfrm>
            <a:off x="8113638" y="3427947"/>
            <a:ext cx="1917657" cy="525544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1400">
                <a:solidFill>
                  <a:schemeClr val="tx1"/>
                </a:solidFill>
                <a:latin typeface="+mj-lt"/>
              </a:rPr>
              <a:t>JBS/NS</a:t>
            </a:r>
            <a:r>
              <a:rPr lang="ja-JP" altLang="en-US" sz="1400">
                <a:solidFill>
                  <a:schemeClr val="tx1"/>
                </a:solidFill>
                <a:latin typeface="+mj-lt"/>
              </a:rPr>
              <a:t>：赤沼</a:t>
            </a:r>
            <a:endParaRPr lang="en-US" altLang="ja-JP" sz="14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1400">
                <a:solidFill>
                  <a:schemeClr val="tx1"/>
                </a:solidFill>
                <a:latin typeface="+mj-lt"/>
              </a:rPr>
              <a:t>TEC</a:t>
            </a:r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：大森</a:t>
            </a:r>
            <a:endParaRPr kumimoji="1" lang="en-US" altLang="ja-JP" sz="14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81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8C181F73-4C8F-2338-9833-C3FE74EE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861" y="2608294"/>
            <a:ext cx="561746" cy="31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2" name="四角形: 角を丸くする 1181">
            <a:extLst>
              <a:ext uri="{FF2B5EF4-FFF2-40B4-BE49-F238E27FC236}">
                <a16:creationId xmlns:a16="http://schemas.microsoft.com/office/drawing/2014/main" id="{8969BB17-27BF-5FC8-075A-99762B41F604}"/>
              </a:ext>
            </a:extLst>
          </p:cNvPr>
          <p:cNvSpPr/>
          <p:nvPr/>
        </p:nvSpPr>
        <p:spPr>
          <a:xfrm>
            <a:off x="8113638" y="2809915"/>
            <a:ext cx="1624026" cy="536016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>
                <a:solidFill>
                  <a:schemeClr val="tx1"/>
                </a:solidFill>
                <a:latin typeface="+mj-lt"/>
              </a:rPr>
              <a:t>華智：松浦</a:t>
            </a:r>
            <a:r>
              <a:rPr lang="en-US" altLang="ja-JP" sz="1400">
                <a:solidFill>
                  <a:schemeClr val="tx1"/>
                </a:solidFill>
                <a:latin typeface="+mj-lt"/>
              </a:rPr>
              <a:t>()</a:t>
            </a:r>
          </a:p>
          <a:p>
            <a:r>
              <a:rPr kumimoji="1" lang="ja-JP" altLang="en-US" sz="1400">
                <a:solidFill>
                  <a:schemeClr val="tx1"/>
                </a:solidFill>
                <a:latin typeface="+mj-lt"/>
              </a:rPr>
              <a:t>　　　　 曽</a:t>
            </a:r>
            <a:r>
              <a:rPr kumimoji="1" lang="en-US" altLang="ja-JP" sz="1400">
                <a:solidFill>
                  <a:schemeClr val="tx1"/>
                </a:solidFill>
                <a:latin typeface="+mj-lt"/>
              </a:rPr>
              <a:t>()</a:t>
            </a:r>
          </a:p>
        </p:txBody>
      </p:sp>
      <p:sp>
        <p:nvSpPr>
          <p:cNvPr id="1187" name="テキスト ボックス 1186">
            <a:extLst>
              <a:ext uri="{FF2B5EF4-FFF2-40B4-BE49-F238E27FC236}">
                <a16:creationId xmlns:a16="http://schemas.microsoft.com/office/drawing/2014/main" id="{1D41E51E-1130-6C8B-AAFE-98512158444E}"/>
              </a:ext>
            </a:extLst>
          </p:cNvPr>
          <p:cNvSpPr txBox="1"/>
          <p:nvPr/>
        </p:nvSpPr>
        <p:spPr>
          <a:xfrm>
            <a:off x="9788805" y="2800135"/>
            <a:ext cx="312586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89" name="吹き出し: 角を丸めた四角形 1188">
            <a:extLst>
              <a:ext uri="{FF2B5EF4-FFF2-40B4-BE49-F238E27FC236}">
                <a16:creationId xmlns:a16="http://schemas.microsoft.com/office/drawing/2014/main" id="{F0EFF36E-189B-A0EC-F2A0-107777EAE9C7}"/>
              </a:ext>
            </a:extLst>
          </p:cNvPr>
          <p:cNvSpPr/>
          <p:nvPr/>
        </p:nvSpPr>
        <p:spPr>
          <a:xfrm>
            <a:off x="3483689" y="2604667"/>
            <a:ext cx="2917580" cy="1001951"/>
          </a:xfrm>
          <a:prstGeom prst="wedgeRoundRectCallout">
            <a:avLst>
              <a:gd name="adj1" fmla="val -40336"/>
              <a:gd name="adj2" fmla="val 6975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+mj-lt"/>
              </a:rPr>
              <a:t>アラート用チャネルに自動転送</a:t>
            </a:r>
            <a:endParaRPr kumimoji="1" lang="en-US" altLang="ja-JP" sz="1200">
              <a:solidFill>
                <a:schemeClr val="tx1"/>
              </a:solidFill>
              <a:latin typeface="+mj-lt"/>
            </a:endParaRPr>
          </a:p>
          <a:p>
            <a:r>
              <a:rPr lang="ja-JP" altLang="en-US" sz="800">
                <a:solidFill>
                  <a:schemeClr val="tx1"/>
                </a:solidFill>
                <a:latin typeface="+mj-lt"/>
              </a:rPr>
              <a:t>11_OCIアラート共有 - TEC_U-SLIM（基盤検証） </a:t>
            </a:r>
            <a:r>
              <a:rPr lang="ja-JP" altLang="en-US" sz="800">
                <a:solidFill>
                  <a:schemeClr val="tx1"/>
                </a:solidFill>
                <a:latin typeface="+mj-lt"/>
                <a:hlinkClick r:id="rId4"/>
              </a:rPr>
              <a:t>424d87e6.tatgroup.onmicrosoft.com@jp.teams.ms</a:t>
            </a:r>
            <a:endParaRPr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12_CDP</a:t>
            </a:r>
            <a:r>
              <a:rPr kumimoji="1" lang="ja-JP" altLang="en-US" sz="8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  <a:hlinkClick r:id="rId5"/>
              </a:rPr>
              <a:t>c31c0289.tatgroup.onmicrosoft.com@jp.teams.ms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  <a:p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13_WebApp</a:t>
            </a:r>
            <a:r>
              <a:rPr kumimoji="1" lang="ja-JP" altLang="en-US" sz="800">
                <a:solidFill>
                  <a:schemeClr val="tx1"/>
                </a:solidFill>
                <a:latin typeface="+mj-lt"/>
              </a:rPr>
              <a:t>アラート共有 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kumimoji="1"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kumimoji="1" lang="en-US" altLang="ja-JP" sz="800">
                <a:solidFill>
                  <a:schemeClr val="tx1"/>
                </a:solidFill>
                <a:latin typeface="+mj-lt"/>
                <a:hlinkClick r:id="rId6"/>
              </a:rPr>
              <a:t>f88b021c.tatgroup.onmicrosoft.com@jp.teams.ms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94" name="テキスト ボックス 1193">
            <a:extLst>
              <a:ext uri="{FF2B5EF4-FFF2-40B4-BE49-F238E27FC236}">
                <a16:creationId xmlns:a16="http://schemas.microsoft.com/office/drawing/2014/main" id="{26DC217A-C3AA-B5B8-1550-F285960A7318}"/>
              </a:ext>
            </a:extLst>
          </p:cNvPr>
          <p:cNvSpPr txBox="1"/>
          <p:nvPr/>
        </p:nvSpPr>
        <p:spPr>
          <a:xfrm>
            <a:off x="9371850" y="2014778"/>
            <a:ext cx="514489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CDP</a:t>
            </a:r>
          </a:p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5" name="テキスト ボックス 1194">
            <a:extLst>
              <a:ext uri="{FF2B5EF4-FFF2-40B4-BE49-F238E27FC236}">
                <a16:creationId xmlns:a16="http://schemas.microsoft.com/office/drawing/2014/main" id="{232D9C57-0930-3B20-32A6-5E80CC5A41C7}"/>
              </a:ext>
            </a:extLst>
          </p:cNvPr>
          <p:cNvSpPr txBox="1"/>
          <p:nvPr/>
        </p:nvSpPr>
        <p:spPr>
          <a:xfrm>
            <a:off x="10078198" y="3427947"/>
            <a:ext cx="665247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67">
                <a:latin typeface="Meiryo UI" panose="020B0604030504040204" pitchFamily="50" charset="-128"/>
                <a:ea typeface="Meiryo UI" panose="020B0604030504040204" pitchFamily="50" charset="-128"/>
              </a:rPr>
              <a:t>Azure NW</a:t>
            </a:r>
            <a:endParaRPr lang="ja-JP" altLang="en-US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6" name="テキスト ボックス 1195">
            <a:extLst>
              <a:ext uri="{FF2B5EF4-FFF2-40B4-BE49-F238E27FC236}">
                <a16:creationId xmlns:a16="http://schemas.microsoft.com/office/drawing/2014/main" id="{F5231701-0889-8EF1-078F-FE03B139B5B3}"/>
              </a:ext>
            </a:extLst>
          </p:cNvPr>
          <p:cNvSpPr txBox="1"/>
          <p:nvPr/>
        </p:nvSpPr>
        <p:spPr>
          <a:xfrm>
            <a:off x="8103187" y="5215399"/>
            <a:ext cx="432811" cy="16421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サポート</a:t>
            </a:r>
            <a:endParaRPr lang="en-US" altLang="ja-JP" sz="1067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9" name="矢印: 折線 1198">
            <a:extLst>
              <a:ext uri="{FF2B5EF4-FFF2-40B4-BE49-F238E27FC236}">
                <a16:creationId xmlns:a16="http://schemas.microsoft.com/office/drawing/2014/main" id="{6591A6CD-7052-56A7-FCCC-433A178A257B}"/>
              </a:ext>
            </a:extLst>
          </p:cNvPr>
          <p:cNvSpPr/>
          <p:nvPr/>
        </p:nvSpPr>
        <p:spPr>
          <a:xfrm>
            <a:off x="2318321" y="2903652"/>
            <a:ext cx="1158932" cy="547347"/>
          </a:xfrm>
          <a:prstGeom prst="bentArrow">
            <a:avLst>
              <a:gd name="adj1" fmla="val 31565"/>
              <a:gd name="adj2" fmla="val 25156"/>
              <a:gd name="adj3" fmla="val 26696"/>
              <a:gd name="adj4" fmla="val 3767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200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D8D631F5-DE88-6AE8-93A4-9B85E2DB9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7260" y="2951365"/>
            <a:ext cx="860018" cy="4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1" name="コネクタ: カギ線 1200">
            <a:extLst>
              <a:ext uri="{FF2B5EF4-FFF2-40B4-BE49-F238E27FC236}">
                <a16:creationId xmlns:a16="http://schemas.microsoft.com/office/drawing/2014/main" id="{5FE6DB11-787A-5208-89D8-27E86CEAA01A}"/>
              </a:ext>
            </a:extLst>
          </p:cNvPr>
          <p:cNvCxnSpPr>
            <a:cxnSpLocks/>
            <a:stCxn id="1108" idx="3"/>
            <a:endCxn id="1200" idx="1"/>
          </p:cNvCxnSpPr>
          <p:nvPr/>
        </p:nvCxnSpPr>
        <p:spPr>
          <a:xfrm>
            <a:off x="10929717" y="3193218"/>
            <a:ext cx="317543" cy="2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46E5715D-F964-EB69-AF75-9BCA77AE74EB}"/>
              </a:ext>
            </a:extLst>
          </p:cNvPr>
          <p:cNvSpPr txBox="1"/>
          <p:nvPr/>
        </p:nvSpPr>
        <p:spPr>
          <a:xfrm>
            <a:off x="11247260" y="3515069"/>
            <a:ext cx="797676" cy="328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067">
                <a:latin typeface="Meiryo UI" panose="020B0604030504040204" pitchFamily="50" charset="-128"/>
                <a:ea typeface="Meiryo UI" panose="020B0604030504040204" pitchFamily="50" charset="-128"/>
              </a:rPr>
              <a:t>アラート監視共有チャネル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BEEF82BE-920B-BD39-9999-19DAE9E845F6}"/>
              </a:ext>
            </a:extLst>
          </p:cNvPr>
          <p:cNvSpPr/>
          <p:nvPr/>
        </p:nvSpPr>
        <p:spPr>
          <a:xfrm>
            <a:off x="4986578" y="1895274"/>
            <a:ext cx="2917580" cy="591911"/>
          </a:xfrm>
          <a:prstGeom prst="wedgeRoundRectCallout">
            <a:avLst>
              <a:gd name="adj1" fmla="val 35452"/>
              <a:gd name="adj2" fmla="val 7141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+mj-lt"/>
              </a:rPr>
              <a:t>アラート監視共有チャネルで対応依頼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7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F4CA4DE5-F063-F4A4-A6F0-80E6751B70A0}"/>
              </a:ext>
            </a:extLst>
          </p:cNvPr>
          <p:cNvSpPr/>
          <p:nvPr/>
        </p:nvSpPr>
        <p:spPr>
          <a:xfrm>
            <a:off x="9371850" y="4797830"/>
            <a:ext cx="2773074" cy="591911"/>
          </a:xfrm>
          <a:prstGeom prst="wedgeRoundRectCallout">
            <a:avLst>
              <a:gd name="adj1" fmla="val 30655"/>
              <a:gd name="adj2" fmla="val -202442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担当者が対応と報告</a:t>
            </a:r>
          </a:p>
          <a:p>
            <a:r>
              <a:rPr lang="en-US" altLang="ja-JP" sz="800">
                <a:solidFill>
                  <a:schemeClr val="tx1"/>
                </a:solidFill>
                <a:latin typeface="+mj-lt"/>
              </a:rPr>
              <a:t>10_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アラート監視共有 </a:t>
            </a:r>
            <a:r>
              <a:rPr lang="en-US" altLang="ja-JP" sz="800">
                <a:solidFill>
                  <a:schemeClr val="tx1"/>
                </a:solidFill>
                <a:latin typeface="+mj-lt"/>
              </a:rPr>
              <a:t>- TEC_U-SLIM</a:t>
            </a:r>
            <a:r>
              <a:rPr lang="ja-JP" altLang="en-US" sz="800">
                <a:solidFill>
                  <a:schemeClr val="tx1"/>
                </a:solidFill>
                <a:latin typeface="+mj-lt"/>
              </a:rPr>
              <a:t>（基盤検証） </a:t>
            </a:r>
            <a:r>
              <a:rPr lang="en-US" altLang="ja-JP" sz="800">
                <a:solidFill>
                  <a:schemeClr val="tx1"/>
                </a:solidFill>
                <a:latin typeface="+mj-lt"/>
                <a:hlinkClick r:id="rId7"/>
              </a:rPr>
              <a:t>1059631f.tatgroup.onmicrosoft.com@jp.teams.ms</a:t>
            </a:r>
            <a:endParaRPr kumimoji="1" lang="en-US" altLang="ja-JP" sz="8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8824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1C7C40-B46D-75F5-B373-ACD36D99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6491762-5A0F-72DA-839D-A35757FF2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ja-JP" sz="1867">
                <a:latin typeface="Meiryo UI"/>
                <a:ea typeface="Meiryo UI"/>
              </a:rPr>
              <a:t>3</a:t>
            </a:r>
            <a:r>
              <a:rPr lang="ja-JP" altLang="en-US" sz="1867">
                <a:latin typeface="Meiryo UI"/>
                <a:ea typeface="Meiryo UI"/>
              </a:rPr>
              <a:t>．</a:t>
            </a:r>
            <a:r>
              <a:rPr lang="ja-JP" altLang="en-US" sz="1867">
                <a:latin typeface="ＭＳ Ｐゴシック"/>
                <a:ea typeface="Meiryo UI"/>
              </a:rPr>
              <a:t>問い合わせエスカレ方法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28A0271-9CF9-4E37-D35E-4F5BE4FE6AB3}"/>
              </a:ext>
            </a:extLst>
          </p:cNvPr>
          <p:cNvGraphicFramePr>
            <a:graphicFrameLocks noGrp="1"/>
          </p:cNvGraphicFramePr>
          <p:nvPr/>
        </p:nvGraphicFramePr>
        <p:xfrm>
          <a:off x="793631" y="1412368"/>
          <a:ext cx="10972801" cy="459851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64583">
                  <a:extLst>
                    <a:ext uri="{9D8B030D-6E8A-4147-A177-3AD203B41FA5}">
                      <a16:colId xmlns:a16="http://schemas.microsoft.com/office/drawing/2014/main" val="1793720536"/>
                    </a:ext>
                  </a:extLst>
                </a:gridCol>
                <a:gridCol w="4271927">
                  <a:extLst>
                    <a:ext uri="{9D8B030D-6E8A-4147-A177-3AD203B41FA5}">
                      <a16:colId xmlns:a16="http://schemas.microsoft.com/office/drawing/2014/main" val="3279107952"/>
                    </a:ext>
                  </a:extLst>
                </a:gridCol>
                <a:gridCol w="4536291">
                  <a:extLst>
                    <a:ext uri="{9D8B030D-6E8A-4147-A177-3AD203B41FA5}">
                      <a16:colId xmlns:a16="http://schemas.microsoft.com/office/drawing/2014/main" val="2688627833"/>
                    </a:ext>
                  </a:extLst>
                </a:gridCol>
              </a:tblGrid>
              <a:tr h="63340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窓口名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U-SLIM</a:t>
                      </a:r>
                      <a:r>
                        <a:rPr kumimoji="1" lang="ja-JP" altLang="en-US" sz="1200" b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プロジェクト　</a:t>
                      </a:r>
                      <a:r>
                        <a:rPr kumimoji="1" lang="en-US" altLang="ja-JP" sz="1200" b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ATSC</a:t>
                      </a:r>
                      <a:r>
                        <a:rPr kumimoji="1" lang="ja-JP" altLang="en-US" sz="1200" b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専用窓口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0" i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U-SLIM</a:t>
                      </a:r>
                      <a:r>
                        <a:rPr lang="ja-JP" altLang="en-US" sz="1200" b="0" i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プロジェクト事務局</a:t>
                      </a:r>
                      <a:endParaRPr lang="en-US" altLang="ja-JP" sz="1200" b="0" i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58741"/>
                  </a:ext>
                </a:extLst>
              </a:tr>
              <a:tr h="431864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メールアドレス</a:t>
                      </a:r>
                    </a:p>
                  </a:txBody>
                  <a:tcPr marL="48000" marR="5905" marT="590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200" kern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0"/>
                        </a:rPr>
                        <a:t>ad-uslim-atsc@mail.toyota.co.jp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200" kern="0">
                          <a:solidFill>
                            <a:sysClr val="windowText" lastClr="0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itchFamily="34" charset="0"/>
                        </a:rPr>
                        <a:t>ad-uslim-jimukyoku@mail.toyota.co.jp</a:t>
                      </a:r>
                      <a:endParaRPr kumimoji="1" lang="ja-JP" altLang="en-US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53022"/>
                  </a:ext>
                </a:extLst>
              </a:tr>
              <a:tr h="1113809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連携内容</a:t>
                      </a:r>
                    </a:p>
                  </a:txBody>
                  <a:tcPr marL="48000" marR="5905" marT="590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・新規申請</a:t>
                      </a:r>
                      <a:endParaRPr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indent="0" algn="l">
                        <a:buFont typeface="+mj-lt"/>
                        <a:buNone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・利用者追加・削除依頼</a:t>
                      </a:r>
                      <a:endParaRPr kumimoji="1"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・サービス概要</a:t>
                      </a:r>
                      <a:endParaRPr kumimoji="1"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・システム操作方法</a:t>
                      </a:r>
                      <a:endParaRPr kumimoji="1"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indent="0" algn="l">
                        <a:buFont typeface="+mj-lt"/>
                        <a:buNone/>
                      </a:pPr>
                      <a:r>
                        <a:rPr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・システムトラブル</a:t>
                      </a:r>
                      <a:r>
                        <a:rPr lang="en-US" altLang="ja-JP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不具合</a:t>
                      </a:r>
                      <a:endParaRPr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indent="0" algn="l">
                        <a:buFont typeface="+mj-lt"/>
                        <a:buNone/>
                      </a:pPr>
                      <a:r>
                        <a:rPr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・改善要望</a:t>
                      </a:r>
                      <a:endParaRPr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U-SLIM</a:t>
                      </a:r>
                      <a:r>
                        <a:rPr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利用促進（好事例の連携）</a:t>
                      </a:r>
                      <a:endParaRPr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83920"/>
                  </a:ext>
                </a:extLst>
              </a:tr>
              <a:tr h="576521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エスカレ先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8000" marR="5905" marT="590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TEC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TMC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kumimoji="1" lang="zh-TW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本販売事業本部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（改善要望・イレギュラー判断・苦情）</a:t>
                      </a:r>
                      <a:endParaRPr kumimoji="1" lang="en-US" altLang="ja-JP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TEC</a:t>
                      </a: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（システム操作・不具合）</a:t>
                      </a:r>
                      <a:endParaRPr kumimoji="1" lang="en-US" altLang="ja-JP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694401"/>
                  </a:ext>
                </a:extLst>
              </a:tr>
              <a:tr h="633228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連携方法（～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年４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8000" marR="5905" marT="590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・メール（手動振り分け）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・メール（手動振り分け）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+Backlog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  <a:hlinkClick r:id="rId2"/>
                        </a:rPr>
                        <a:t>https://tc-cc.backlog.com/projects/U_SLIM</a:t>
                      </a:r>
                      <a:endParaRPr kumimoji="1" lang="en-US" altLang="ja-JP" sz="12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789808"/>
                  </a:ext>
                </a:extLst>
              </a:tr>
              <a:tr h="6143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連携方法（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年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5/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以降）</a:t>
                      </a:r>
                    </a:p>
                  </a:txBody>
                  <a:tcPr marL="48000" marR="5905" marT="590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Zendesk or Backlog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2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Zendesk or Backlog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235743"/>
                  </a:ext>
                </a:extLst>
              </a:tr>
              <a:tr h="59536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担当者</a:t>
                      </a:r>
                    </a:p>
                  </a:txBody>
                  <a:tcPr marL="48000" marR="5905" marT="590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TEC</a:t>
                      </a:r>
                      <a:r>
                        <a:rPr kumimoji="1"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メーリングリスト</a:t>
                      </a:r>
                      <a:endParaRPr kumimoji="1"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u-slim-system@toyotec-jp.com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TMC</a:t>
                      </a:r>
                      <a:r>
                        <a:rPr kumimoji="1"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kumimoji="1" lang="zh-TW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本販売事業本部　</a:t>
                      </a:r>
                      <a:r>
                        <a:rPr kumimoji="1"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池田様、神戸様</a:t>
                      </a:r>
                      <a:endParaRPr kumimoji="1"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TEC</a:t>
                      </a:r>
                      <a:r>
                        <a:rPr kumimoji="1" lang="ja-JP" altLang="en-US" sz="12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担当者（割り当て表参照）</a:t>
                      </a:r>
                      <a:endParaRPr kumimoji="1" lang="en-US" altLang="ja-JP" sz="120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196458"/>
                  </a:ext>
                </a:extLst>
              </a:tr>
            </a:tbl>
          </a:graphicData>
        </a:graphic>
      </p:graphicFrame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F74E43C-EA6A-B7E5-F0E5-8FAF83AEEBB5}"/>
              </a:ext>
            </a:extLst>
          </p:cNvPr>
          <p:cNvSpPr txBox="1"/>
          <p:nvPr/>
        </p:nvSpPr>
        <p:spPr>
          <a:xfrm>
            <a:off x="661358" y="963972"/>
            <a:ext cx="10869284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333">
                <a:latin typeface="Meiryo UI" panose="020B0604030504040204" pitchFamily="50" charset="-128"/>
                <a:ea typeface="Meiryo UI" panose="020B0604030504040204" pitchFamily="50" charset="-128"/>
              </a:rPr>
              <a:t>販売店からの問合せに対し、</a:t>
            </a:r>
            <a:r>
              <a:rPr lang="en-US" altLang="ja-JP" sz="1333">
                <a:latin typeface="Meiryo UI" panose="020B0604030504040204" pitchFamily="50" charset="-128"/>
                <a:ea typeface="Meiryo UI" panose="020B0604030504040204" pitchFamily="50" charset="-128"/>
              </a:rPr>
              <a:t>U-SLIM</a:t>
            </a:r>
            <a:r>
              <a:rPr lang="ja-JP" altLang="en-US" sz="1333">
                <a:latin typeface="Meiryo UI" panose="020B0604030504040204" pitchFamily="50" charset="-128"/>
                <a:ea typeface="Meiryo UI" panose="020B0604030504040204" pitchFamily="50" charset="-128"/>
              </a:rPr>
              <a:t>プロジェクト事務局での調査にて、回答が判明しなかった事案については、対応相談、回答確認を実施します。</a:t>
            </a:r>
          </a:p>
        </p:txBody>
      </p:sp>
    </p:spTree>
    <p:extLst>
      <p:ext uri="{BB962C8B-B14F-4D97-AF65-F5344CB8AC3E}">
        <p14:creationId xmlns:p14="http://schemas.microsoft.com/office/powerpoint/2010/main" val="3322514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トヨテック標準テンプレ">
      <a:dk1>
        <a:sysClr val="windowText" lastClr="000000"/>
      </a:dk1>
      <a:lt1>
        <a:sysClr val="window" lastClr="FFFFFF"/>
      </a:lt1>
      <a:dk2>
        <a:srgbClr val="FF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C00000"/>
      </a:folHlink>
    </a:clrScheme>
    <a:fontScheme name="トヨテック標準テンプレ">
      <a:majorFont>
        <a:latin typeface="Meiryo UI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3F1E4B07BBC341A8F6905F09A2526F" ma:contentTypeVersion="17" ma:contentTypeDescription="新しいドキュメントを作成します。" ma:contentTypeScope="" ma:versionID="1437aaece15ac943c27d84c7bd287707">
  <xsd:schema xmlns:xsd="http://www.w3.org/2001/XMLSchema" xmlns:xs="http://www.w3.org/2001/XMLSchema" xmlns:p="http://schemas.microsoft.com/office/2006/metadata/properties" xmlns:ns2="879ce5c7-7ac0-470a-8fb0-80b8dfe33f1c" xmlns:ns3="00dc9add-bb5d-4974-938e-6de906df2254" targetNamespace="http://schemas.microsoft.com/office/2006/metadata/properties" ma:root="true" ma:fieldsID="a41d73b5ccc80413fe00e27c354e6c45" ns2:_="" ns3:_="">
    <xsd:import namespace="879ce5c7-7ac0-470a-8fb0-80b8dfe33f1c"/>
    <xsd:import namespace="00dc9add-bb5d-4974-938e-6de906df22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NTENTS" minOccurs="0"/>
                <xsd:element ref="ns2:_x8cc7__x6599__x8aac__x660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ce5c7-7ac0-470a-8fb0-80b8dfe33f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def91d17-8bee-472f-b8e3-30905430c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NTENTS" ma:index="22" nillable="true" ma:displayName="CONTENTS" ma:format="Dropdown" ma:internalName="CONTENTS">
      <xsd:simpleType>
        <xsd:restriction base="dms:Text">
          <xsd:maxLength value="255"/>
        </xsd:restriction>
      </xsd:simpleType>
    </xsd:element>
    <xsd:element name="_x8cc7__x6599__x8aac__x660e_" ma:index="23" nillable="true" ma:displayName="資料説明" ma:format="Dropdown" ma:internalName="_x8cc7__x6599__x8aac__x660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c9add-bb5d-4974-938e-6de906df22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5f91764-4324-4dd1-9de8-4bb0ffe7790b}" ma:internalName="TaxCatchAll" ma:showField="CatchAllData" ma:web="00dc9add-bb5d-4974-938e-6de906df22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dc9add-bb5d-4974-938e-6de906df2254" xsi:nil="true"/>
    <lcf76f155ced4ddcb4097134ff3c332f xmlns="879ce5c7-7ac0-470a-8fb0-80b8dfe33f1c">
      <Terms xmlns="http://schemas.microsoft.com/office/infopath/2007/PartnerControls"/>
    </lcf76f155ced4ddcb4097134ff3c332f>
    <CONTENTS xmlns="879ce5c7-7ac0-470a-8fb0-80b8dfe33f1c" xsi:nil="true"/>
    <_x8cc7__x6599__x8aac__x660e_ xmlns="879ce5c7-7ac0-470a-8fb0-80b8dfe33f1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77FE04-E388-4780-829C-84B9334A4352}">
  <ds:schemaRefs>
    <ds:schemaRef ds:uri="00dc9add-bb5d-4974-938e-6de906df2254"/>
    <ds:schemaRef ds:uri="879ce5c7-7ac0-470a-8fb0-80b8dfe33f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537E21-3738-4E64-89CE-DE8804F28B96}">
  <ds:schemaRefs>
    <ds:schemaRef ds:uri="00dc9add-bb5d-4974-938e-6de906df2254"/>
    <ds:schemaRef ds:uri="879ce5c7-7ac0-470a-8fb0-80b8dfe33f1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6C7B1FE-A507-40CC-B61C-87DFE75307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​​テーマ</vt:lpstr>
      <vt:lpstr>障害監視</vt:lpstr>
      <vt:lpstr>運用体制：障害監視（2607月時点）</vt:lpstr>
      <vt:lpstr>関係者体制（TMCレプリカ）</vt:lpstr>
      <vt:lpstr>2026年夏季休暇体制</vt:lpstr>
      <vt:lpstr>障害監視</vt:lpstr>
      <vt:lpstr>運用体制：障害監視（１２月時点）</vt:lpstr>
      <vt:lpstr>関係者体制（TMCレプリカ）</vt:lpstr>
      <vt:lpstr>2026年GW休暇体制</vt:lpstr>
      <vt:lpstr>障害監視</vt:lpstr>
      <vt:lpstr>運用体制：障害監視（１２月時点）</vt:lpstr>
      <vt:lpstr>関係者体制（TMCレプリカ）</vt:lpstr>
      <vt:lpstr>2025年末年始休暇体制</vt:lpstr>
      <vt:lpstr>障害監視</vt:lpstr>
      <vt:lpstr>運用体制：障害監視（7/22時点）</vt:lpstr>
      <vt:lpstr>2025年度夏季休暇体制</vt:lpstr>
      <vt:lpstr>運用体制：障害監視（4/21時点）</vt:lpstr>
      <vt:lpstr>3．問い合わせエスカレ方法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画面表示用テンプレート</dc:title>
  <cp:revision>2</cp:revision>
  <dcterms:created xsi:type="dcterms:W3CDTF">2019-07-30T06:41:28Z</dcterms:created>
  <dcterms:modified xsi:type="dcterms:W3CDTF">2026-08-04T00:50:19Z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0x010100D23F1E4B07BBC341A8F6905F09A2526F</vt:lpwstr>
  </property>
  <property fmtid="{D5CDD505-2E9C-101B-9397-08002B2CF9AE}" pid="3" name="MediaServiceImageTags">
    <vt:lpwstr/>
  </property>
  <property fmtid="{D5CDD505-2E9C-101B-9397-08002B2CF9AE}" pid="4" name="Order">
    <vt:r8>490500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