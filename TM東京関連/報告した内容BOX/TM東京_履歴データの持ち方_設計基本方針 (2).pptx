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61" r:id="rId5"/>
    <p:sldId id="288" r:id="rId6"/>
    <p:sldId id="289" r:id="rId7"/>
    <p:sldId id="290" r:id="rId8"/>
    <p:sldId id="291" r:id="rId9"/>
    <p:sldId id="299" r:id="rId10"/>
    <p:sldId id="300" r:id="rId11"/>
    <p:sldId id="293" r:id="rId12"/>
    <p:sldId id="294" r:id="rId13"/>
    <p:sldId id="295" r:id="rId14"/>
    <p:sldId id="296" r:id="rId15"/>
    <p:sldId id="298" r:id="rId16"/>
    <p:sldId id="297" r:id="rId17"/>
    <p:sldId id="292" r:id="rId18"/>
    <p:sldId id="286"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03AA86-2CC2-913D-C07C-E5142F9550DA}" v="6" dt="2026-06-24T01:18:40.895"/>
    <p1510:client id="{A6C61B5A-2778-961F-72DD-B1F986E51884}" v="235" dt="2026-06-24T00:44:49.27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E0218B-124D-4A76-B344-1F3DAEC5F124}" type="datetimeFigureOut">
              <a:rPr kumimoji="1" lang="ja-JP" altLang="en-US" smtClean="0"/>
              <a:t>2026/6/23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06E9E4-2193-4241-8B3F-FE50668689C9}" type="slidenum">
              <a:rPr kumimoji="1" lang="ja-JP" altLang="en-US" smtClean="0"/>
              <a:t>‹#›</a:t>
            </a:fld>
            <a:endParaRPr kumimoji="1" lang="ja-JP" altLang="en-US"/>
          </a:p>
        </p:txBody>
      </p:sp>
    </p:spTree>
    <p:extLst>
      <p:ext uri="{BB962C8B-B14F-4D97-AF65-F5344CB8AC3E}">
        <p14:creationId xmlns:p14="http://schemas.microsoft.com/office/powerpoint/2010/main" val="17585727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9700" y="766763"/>
            <a:ext cx="6823075" cy="38385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8EB0F4D-A90A-4FA7-98EC-EBE1CC717674}" type="slidenum">
              <a:rPr kumimoji="1" lang="ja-JP" altLang="en-US" sz="1300" b="0" i="0" u="none" strike="noStrike" kern="1200" cap="none" spc="0" normalizeH="0" baseline="0" noProof="0" smtClean="0">
                <a:ln>
                  <a:noFill/>
                </a:ln>
                <a:solidFill>
                  <a:prstClr val="black"/>
                </a:solidFill>
                <a:effectLst/>
                <a:uLnTx/>
                <a:uFillTx/>
                <a:latin typeface="Verdana" pitchFamily="34"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1" lang="ja-JP" altLang="en-US" sz="1300" b="0" i="0" u="none" strike="noStrike" kern="1200" cap="none" spc="0" normalizeH="0" baseline="0" noProof="0">
              <a:ln>
                <a:noFill/>
              </a:ln>
              <a:solidFill>
                <a:prstClr val="black"/>
              </a:solidFill>
              <a:effectLst/>
              <a:uLnTx/>
              <a:uFillTx/>
              <a:latin typeface="Verdana" pitchFamily="34" charset="0"/>
              <a:ea typeface="ＭＳ Ｐゴシック" pitchFamily="50" charset="-128"/>
              <a:cs typeface="+mn-cs"/>
            </a:endParaRPr>
          </a:p>
        </p:txBody>
      </p:sp>
    </p:spTree>
    <p:extLst>
      <p:ext uri="{BB962C8B-B14F-4D97-AF65-F5344CB8AC3E}">
        <p14:creationId xmlns:p14="http://schemas.microsoft.com/office/powerpoint/2010/main" val="2434582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游ゴシック"/>
                <a:ea typeface="游ゴシック"/>
                <a:cs typeface="Calibri"/>
              </a:rPr>
              <a:t>すべてのデータは同じ方式で履歴化するのではなく、データの性質に応じて方式を選択する。</a:t>
            </a:r>
          </a:p>
          <a:p>
            <a:r>
              <a:rPr lang="ja-JP" altLang="en-US">
                <a:latin typeface="游ゴシック"/>
                <a:ea typeface="游ゴシック"/>
                <a:cs typeface="Calibri"/>
              </a:rPr>
              <a:t>マスタ系は、属性変更前の状態も確認できるようにする。</a:t>
            </a:r>
          </a:p>
          <a:p>
            <a:r>
              <a:rPr lang="ja-JP" altLang="en-US">
                <a:latin typeface="游ゴシック"/>
                <a:ea typeface="游ゴシック"/>
                <a:cs typeface="Calibri"/>
              </a:rPr>
              <a:t>受注や車両進捗などの状態変化系は、現在の状態と状態が変わった経緯を分けて管理する。</a:t>
            </a:r>
          </a:p>
          <a:p>
            <a:r>
              <a:rPr lang="ja-JP" altLang="en-US">
                <a:latin typeface="游ゴシック"/>
                <a:ea typeface="游ゴシック"/>
                <a:cs typeface="Calibri"/>
              </a:rPr>
              <a:t>入庫歴や整備歴などの発生事実は原則として上書きせず追加する。</a:t>
            </a:r>
          </a:p>
          <a:p>
            <a:r>
              <a:rPr lang="ja-JP" altLang="en-US">
                <a:latin typeface="游ゴシック"/>
                <a:ea typeface="游ゴシック"/>
                <a:cs typeface="Calibri"/>
              </a:rPr>
              <a:t>一時・検証バックアップ用テーブルは、利用実態を確認したうえで原則対象外とする。</a:t>
            </a:r>
          </a:p>
        </p:txBody>
      </p:sp>
      <p:sp>
        <p:nvSpPr>
          <p:cNvPr id="4" name="Slide Number Placeholder 3"/>
          <p:cNvSpPr>
            <a:spLocks noGrp="1"/>
          </p:cNvSpPr>
          <p:nvPr>
            <p:ph type="sldNum" sz="quarter" idx="5"/>
          </p:nvPr>
        </p:nvSpPr>
        <p:spPr/>
        <p:txBody>
          <a:bodyPr/>
          <a:lstStyle/>
          <a:p>
            <a:fld id="{BE06E9E4-2193-4241-8B3F-FE50668689C9}" type="slidenum">
              <a:rPr kumimoji="1" lang="ja-JP" altLang="en-US" smtClean="0"/>
              <a:t>4</a:t>
            </a:fld>
            <a:endParaRPr kumimoji="1" lang="ja-JP" altLang="en-US"/>
          </a:p>
        </p:txBody>
      </p:sp>
    </p:spTree>
    <p:extLst>
      <p:ext uri="{BB962C8B-B14F-4D97-AF65-F5344CB8AC3E}">
        <p14:creationId xmlns:p14="http://schemas.microsoft.com/office/powerpoint/2010/main" val="295614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Calibri"/>
                <a:ea typeface="游ゴシック"/>
                <a:cs typeface="Calibri"/>
              </a:rPr>
              <a:t>向いているデータと適用条件</a:t>
            </a:r>
            <a:endParaRPr lang="en-US" altLang="ja-JP">
              <a:latin typeface="Calibri"/>
              <a:ea typeface="Calibri"/>
              <a:cs typeface="Calibri"/>
            </a:endParaRPr>
          </a:p>
          <a:p>
            <a:r>
              <a:rPr lang="ja-JP" altLang="en-US">
                <a:latin typeface="Calibri"/>
                <a:ea typeface="游ゴシック"/>
                <a:cs typeface="Calibri"/>
              </a:rPr>
              <a:t>変更前：</a:t>
            </a:r>
          </a:p>
          <a:p>
            <a:r>
              <a:rPr lang="ja-JP" altLang="en-US">
                <a:latin typeface="Calibri"/>
                <a:ea typeface="游ゴシック"/>
                <a:cs typeface="Calibri"/>
              </a:rPr>
              <a:t>・車両基本情報</a:t>
            </a:r>
          </a:p>
          <a:p>
            <a:r>
              <a:rPr lang="ja-JP" altLang="en-US">
                <a:latin typeface="Calibri"/>
                <a:ea typeface="游ゴシック"/>
                <a:cs typeface="Calibri"/>
              </a:rPr>
              <a:t>・顧客属性</a:t>
            </a:r>
          </a:p>
          <a:p>
            <a:r>
              <a:rPr lang="ja-JP" altLang="en-US">
                <a:latin typeface="Calibri"/>
                <a:ea typeface="游ゴシック"/>
                <a:cs typeface="Calibri"/>
              </a:rPr>
              <a:t>・店舗情報</a:t>
            </a:r>
          </a:p>
          <a:p>
            <a:r>
              <a:rPr lang="ja-JP" altLang="en-US">
                <a:latin typeface="Calibri"/>
                <a:ea typeface="游ゴシック"/>
                <a:cs typeface="Calibri"/>
              </a:rPr>
              <a:t>・社員・担当者情報</a:t>
            </a:r>
          </a:p>
          <a:p>
            <a:r>
              <a:rPr lang="ja-JP" altLang="en-US">
                <a:latin typeface="Calibri"/>
                <a:ea typeface="游ゴシック"/>
                <a:cs typeface="Calibri"/>
              </a:rPr>
              <a:t>・過去時点の状態を確認したいマスタ</a:t>
            </a:r>
          </a:p>
          <a:p>
            <a:endParaRPr lang="ja-JP" altLang="en-US">
              <a:latin typeface="Calibri"/>
              <a:ea typeface="游ゴシック"/>
              <a:cs typeface="Calibri"/>
            </a:endParaRPr>
          </a:p>
          <a:p>
            <a:r>
              <a:rPr lang="ja-JP" altLang="en-US">
                <a:latin typeface="Calibri"/>
                <a:ea typeface="游ゴシック"/>
                <a:cs typeface="Calibri"/>
              </a:rPr>
              <a:t>変更後：</a:t>
            </a:r>
          </a:p>
          <a:p>
            <a:r>
              <a:rPr lang="ja-JP" altLang="en-US">
                <a:latin typeface="Calibri"/>
                <a:ea typeface="游ゴシック"/>
                <a:cs typeface="Calibri"/>
              </a:rPr>
              <a:t>・同じデータを識別する業務キーがある</a:t>
            </a:r>
          </a:p>
          <a:p>
            <a:r>
              <a:rPr lang="ja-JP" altLang="en-US">
                <a:latin typeface="Calibri"/>
                <a:ea typeface="游ゴシック"/>
                <a:cs typeface="Calibri"/>
              </a:rPr>
              <a:t>・変更されたことを判定できる</a:t>
            </a:r>
          </a:p>
          <a:p>
            <a:r>
              <a:rPr lang="ja-JP" altLang="en-US">
                <a:latin typeface="Calibri"/>
                <a:ea typeface="游ゴシック"/>
                <a:cs typeface="Calibri"/>
              </a:rPr>
              <a:t>・履歴として残す対象項目が決まっている</a:t>
            </a:r>
          </a:p>
          <a:p>
            <a:r>
              <a:rPr lang="ja-JP" altLang="en-US">
                <a:latin typeface="Calibri"/>
                <a:ea typeface="游ゴシック"/>
                <a:cs typeface="Calibri"/>
              </a:rPr>
              <a:t>・過去時点の状態を確認する必要がある。</a:t>
            </a:r>
          </a:p>
        </p:txBody>
      </p:sp>
      <p:sp>
        <p:nvSpPr>
          <p:cNvPr id="4" name="Slide Number Placeholder 3"/>
          <p:cNvSpPr>
            <a:spLocks noGrp="1"/>
          </p:cNvSpPr>
          <p:nvPr>
            <p:ph type="sldNum" sz="quarter" idx="5"/>
          </p:nvPr>
        </p:nvSpPr>
        <p:spPr/>
        <p:txBody>
          <a:bodyPr/>
          <a:lstStyle/>
          <a:p>
            <a:fld id="{BE06E9E4-2193-4241-8B3F-FE50668689C9}" type="slidenum">
              <a:rPr kumimoji="1" lang="ja-JP" altLang="en-US" smtClean="0"/>
              <a:t>10</a:t>
            </a:fld>
            <a:endParaRPr kumimoji="1" lang="ja-JP" altLang="en-US"/>
          </a:p>
        </p:txBody>
      </p:sp>
    </p:spTree>
    <p:extLst>
      <p:ext uri="{BB962C8B-B14F-4D97-AF65-F5344CB8AC3E}">
        <p14:creationId xmlns:p14="http://schemas.microsoft.com/office/powerpoint/2010/main" val="163668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Calibri"/>
                <a:ea typeface="游ゴシック"/>
                <a:cs typeface="Calibri"/>
              </a:rPr>
              <a:t>想定される対象</a:t>
            </a:r>
            <a:endParaRPr lang="en-US" altLang="ja-JP">
              <a:latin typeface="游ゴシック"/>
              <a:ea typeface="游ゴシック"/>
              <a:cs typeface="Calibri"/>
            </a:endParaRPr>
          </a:p>
          <a:p>
            <a:r>
              <a:rPr lang="ja-JP" altLang="en-US">
                <a:latin typeface="Calibri"/>
                <a:ea typeface="游ゴシック"/>
                <a:cs typeface="Calibri"/>
              </a:rPr>
              <a:t>・新車・中古車の受注状況</a:t>
            </a:r>
          </a:p>
          <a:p>
            <a:r>
              <a:rPr lang="ja-JP" altLang="en-US">
                <a:latin typeface="Calibri"/>
                <a:ea typeface="游ゴシック"/>
                <a:cs typeface="Calibri"/>
              </a:rPr>
              <a:t>・車両の進捗状況</a:t>
            </a:r>
          </a:p>
          <a:p>
            <a:r>
              <a:rPr lang="ja-JP" altLang="en-US">
                <a:latin typeface="Calibri"/>
                <a:ea typeface="游ゴシック"/>
                <a:cs typeface="Calibri"/>
              </a:rPr>
              <a:t>・輸送計画、輸送状況</a:t>
            </a:r>
          </a:p>
          <a:p>
            <a:r>
              <a:rPr lang="ja-JP" altLang="en-US">
                <a:latin typeface="Calibri"/>
                <a:ea typeface="游ゴシック"/>
                <a:cs typeface="Calibri"/>
              </a:rPr>
              <a:t>・入庫、整備の進捗</a:t>
            </a:r>
          </a:p>
          <a:p>
            <a:r>
              <a:rPr lang="ja-JP" altLang="en-US">
                <a:latin typeface="Calibri"/>
                <a:ea typeface="游ゴシック"/>
                <a:cs typeface="Calibri"/>
              </a:rPr>
              <a:t>・リクエストや予約の処理状況</a:t>
            </a:r>
          </a:p>
        </p:txBody>
      </p:sp>
      <p:sp>
        <p:nvSpPr>
          <p:cNvPr id="4" name="Slide Number Placeholder 3"/>
          <p:cNvSpPr>
            <a:spLocks noGrp="1"/>
          </p:cNvSpPr>
          <p:nvPr>
            <p:ph type="sldNum" sz="quarter" idx="5"/>
          </p:nvPr>
        </p:nvSpPr>
        <p:spPr/>
        <p:txBody>
          <a:bodyPr/>
          <a:lstStyle/>
          <a:p>
            <a:fld id="{BE06E9E4-2193-4241-8B3F-FE50668689C9}" type="slidenum">
              <a:rPr kumimoji="1" lang="ja-JP" altLang="en-US" smtClean="0"/>
              <a:t>12</a:t>
            </a:fld>
            <a:endParaRPr kumimoji="1" lang="ja-JP" altLang="en-US"/>
          </a:p>
        </p:txBody>
      </p:sp>
    </p:spTree>
    <p:extLst>
      <p:ext uri="{BB962C8B-B14F-4D97-AF65-F5344CB8AC3E}">
        <p14:creationId xmlns:p14="http://schemas.microsoft.com/office/powerpoint/2010/main" val="1471436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Calibri"/>
                <a:cs typeface="Calibri"/>
              </a:rPr>
              <a:t>向いているデータ</a:t>
            </a:r>
          </a:p>
          <a:p>
            <a:r>
              <a:rPr lang="ja-JP" altLang="en-US">
                <a:latin typeface="Calibri"/>
                <a:ea typeface="Calibri"/>
                <a:cs typeface="Calibri"/>
              </a:rPr>
              <a:t>・入庫履歴</a:t>
            </a:r>
          </a:p>
          <a:p>
            <a:r>
              <a:rPr lang="ja-JP" altLang="en-US">
                <a:latin typeface="Calibri"/>
                <a:ea typeface="Calibri"/>
                <a:cs typeface="Calibri"/>
              </a:rPr>
              <a:t>・整備履歴</a:t>
            </a:r>
          </a:p>
          <a:p>
            <a:r>
              <a:rPr lang="ja-JP" altLang="en-US">
                <a:latin typeface="Calibri"/>
                <a:ea typeface="Calibri"/>
                <a:cs typeface="Calibri"/>
              </a:rPr>
              <a:t>・操作、通知履歴</a:t>
            </a:r>
          </a:p>
          <a:p>
            <a:r>
              <a:rPr lang="ja-JP" altLang="en-US">
                <a:latin typeface="Calibri"/>
                <a:ea typeface="Calibri"/>
                <a:cs typeface="Calibri"/>
              </a:rPr>
              <a:t>・アクセスログ</a:t>
            </a:r>
          </a:p>
          <a:p>
            <a:r>
              <a:rPr lang="ja-JP" altLang="en-US">
                <a:latin typeface="Calibri"/>
                <a:ea typeface="Calibri"/>
                <a:cs typeface="Calibri"/>
              </a:rPr>
              <a:t>・メール行動ログ</a:t>
            </a:r>
          </a:p>
          <a:p>
            <a:r>
              <a:rPr lang="ja-JP" altLang="en-US">
                <a:latin typeface="Calibri"/>
                <a:ea typeface="Calibri"/>
                <a:cs typeface="Calibri"/>
              </a:rPr>
              <a:t>・処理実績</a:t>
            </a:r>
          </a:p>
        </p:txBody>
      </p:sp>
      <p:sp>
        <p:nvSpPr>
          <p:cNvPr id="4" name="Slide Number Placeholder 3"/>
          <p:cNvSpPr>
            <a:spLocks noGrp="1"/>
          </p:cNvSpPr>
          <p:nvPr>
            <p:ph type="sldNum" sz="quarter" idx="5"/>
          </p:nvPr>
        </p:nvSpPr>
        <p:spPr/>
        <p:txBody>
          <a:bodyPr/>
          <a:lstStyle/>
          <a:p>
            <a:fld id="{BE06E9E4-2193-4241-8B3F-FE50668689C9}" type="slidenum">
              <a:rPr kumimoji="1" lang="ja-JP" altLang="en-US" smtClean="0"/>
              <a:t>13</a:t>
            </a:fld>
            <a:endParaRPr kumimoji="1" lang="ja-JP" altLang="en-US"/>
          </a:p>
        </p:txBody>
      </p:sp>
    </p:spTree>
    <p:extLst>
      <p:ext uri="{BB962C8B-B14F-4D97-AF65-F5344CB8AC3E}">
        <p14:creationId xmlns:p14="http://schemas.microsoft.com/office/powerpoint/2010/main" val="3772457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8EB0F4D-A90A-4FA7-98EC-EBE1CC717674}" type="slidenum">
              <a:rPr kumimoji="1" lang="ja-JP" altLang="en-US" sz="1300" b="0" i="0" u="none" strike="noStrike" kern="1200" cap="none" spc="0" normalizeH="0" baseline="0" noProof="0" smtClean="0">
                <a:ln>
                  <a:noFill/>
                </a:ln>
                <a:solidFill>
                  <a:prstClr val="black"/>
                </a:solidFill>
                <a:effectLst/>
                <a:uLnTx/>
                <a:uFillTx/>
                <a:latin typeface="Verdana" pitchFamily="34"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1" lang="ja-JP" altLang="en-US" sz="1300" b="0" i="0" u="none" strike="noStrike" kern="1200" cap="none" spc="0" normalizeH="0" baseline="0" noProof="0">
              <a:ln>
                <a:noFill/>
              </a:ln>
              <a:solidFill>
                <a:prstClr val="black"/>
              </a:solidFill>
              <a:effectLst/>
              <a:uLnTx/>
              <a:uFillTx/>
              <a:latin typeface="Verdana" pitchFamily="34" charset="0"/>
              <a:ea typeface="ＭＳ Ｐゴシック" pitchFamily="50" charset="-128"/>
              <a:cs typeface="+mn-cs"/>
            </a:endParaRPr>
          </a:p>
        </p:txBody>
      </p:sp>
    </p:spTree>
    <p:extLst>
      <p:ext uri="{BB962C8B-B14F-4D97-AF65-F5344CB8AC3E}">
        <p14:creationId xmlns:p14="http://schemas.microsoft.com/office/powerpoint/2010/main" val="5629145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7376" y="1566810"/>
            <a:ext cx="10389334" cy="2033644"/>
          </a:xfrm>
        </p:spPr>
        <p:txBody>
          <a:bodyPr>
            <a:noAutofit/>
          </a:bodyPr>
          <a:lstStyle>
            <a:lvl1pPr>
              <a:defRPr sz="7200" b="1">
                <a:solidFill>
                  <a:schemeClr val="tx1">
                    <a:lumMod val="75000"/>
                    <a:lumOff val="25000"/>
                  </a:schemeClr>
                </a:solidFill>
                <a:effectLst/>
                <a:latin typeface="+mj-lt"/>
              </a:defRPr>
            </a:lvl1pPr>
          </a:lstStyle>
          <a:p>
            <a:r>
              <a:rPr kumimoji="1"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normAutofit/>
          </a:bodyPr>
          <a:lstStyle>
            <a:lvl1pPr marL="0" indent="0" algn="ctr">
              <a:buNone/>
              <a:defRPr sz="3200" b="1">
                <a:solidFill>
                  <a:schemeClr val="tx1">
                    <a:lumMod val="75000"/>
                    <a:lumOff val="2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609600" y="6356352"/>
            <a:ext cx="2844800" cy="365125"/>
          </a:xfrm>
          <a:prstGeom prst="rect">
            <a:avLst/>
          </a:prstGeom>
        </p:spPr>
        <p:txBody>
          <a:bodyPr/>
          <a:lstStyle/>
          <a:p>
            <a:fld id="{A3994021-8396-4567-B779-C53974172756}" type="datetimeFigureOut">
              <a:rPr kumimoji="1" lang="ja-JP" altLang="en-US" smtClean="0"/>
              <a:t>2026/6/23</a:t>
            </a:fld>
            <a:endParaRPr kumimoji="1" lang="ja-JP" altLang="en-US"/>
          </a:p>
        </p:txBody>
      </p:sp>
      <p:sp>
        <p:nvSpPr>
          <p:cNvPr id="5" name="フッター プレースホルダー 4"/>
          <p:cNvSpPr>
            <a:spLocks noGrp="1"/>
          </p:cNvSpPr>
          <p:nvPr>
            <p:ph type="ftr" sz="quarter" idx="11"/>
          </p:nvPr>
        </p:nvSpPr>
        <p:spPr>
          <a:xfrm>
            <a:off x="4165600" y="6356352"/>
            <a:ext cx="3860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737600" y="6356352"/>
            <a:ext cx="2844800" cy="365125"/>
          </a:xfrm>
          <a:prstGeom prst="rect">
            <a:avLst/>
          </a:prstGeom>
        </p:spPr>
        <p:txBody>
          <a:bodyPr/>
          <a:lstStyle/>
          <a:p>
            <a:fld id="{F5233568-4E8E-4861-A63D-40C4C93A94BD}" type="slidenum">
              <a:rPr kumimoji="1" lang="ja-JP" altLang="en-US" smtClean="0"/>
              <a:t>‹#›</a:t>
            </a:fld>
            <a:endParaRPr kumimoji="1" lang="ja-JP" altLang="en-US"/>
          </a:p>
        </p:txBody>
      </p:sp>
      <p:sp>
        <p:nvSpPr>
          <p:cNvPr id="7" name="正方形/長方形 6"/>
          <p:cNvSpPr/>
          <p:nvPr userDrawn="1"/>
        </p:nvSpPr>
        <p:spPr>
          <a:xfrm>
            <a:off x="0" y="6781800"/>
            <a:ext cx="12192000" cy="10358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403" tIns="47703" rIns="95403" bIns="47703" rtlCol="0" anchor="ctr"/>
          <a:lstStyle/>
          <a:p>
            <a:pPr algn="ctr"/>
            <a:endParaRPr kumimoji="1" lang="ja-JP" altLang="en-US" sz="2400"/>
          </a:p>
        </p:txBody>
      </p:sp>
      <p:pic>
        <p:nvPicPr>
          <p:cNvPr id="9" name="Picture 7"/>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4920736" y="6201068"/>
            <a:ext cx="2350528" cy="375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2948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25491" y="20622"/>
            <a:ext cx="10657184" cy="733657"/>
          </a:xfrm>
          <a:noFill/>
        </p:spPr>
        <p:txBody>
          <a:bodyPr>
            <a:noAutofit/>
          </a:bodyPr>
          <a:lstStyle>
            <a:lvl1pPr algn="l">
              <a:defRPr sz="3200" b="1">
                <a:solidFill>
                  <a:schemeClr val="tx1">
                    <a:lumMod val="75000"/>
                    <a:lumOff val="25000"/>
                  </a:schemeClr>
                </a:solidFill>
                <a:effectLst/>
              </a:defRPr>
            </a:lvl1pPr>
          </a:lstStyle>
          <a:p>
            <a:r>
              <a:rPr kumimoji="1" lang="ja-JP" altLang="en-US"/>
              <a:t>マスター タイトルの書式設定</a:t>
            </a:r>
          </a:p>
        </p:txBody>
      </p:sp>
      <p:sp>
        <p:nvSpPr>
          <p:cNvPr id="3" name="コンテンツ プレースホルダー 2"/>
          <p:cNvSpPr>
            <a:spLocks noGrp="1"/>
          </p:cNvSpPr>
          <p:nvPr>
            <p:ph idx="1"/>
          </p:nvPr>
        </p:nvSpPr>
        <p:spPr>
          <a:xfrm>
            <a:off x="425491" y="919261"/>
            <a:ext cx="11151029" cy="3421840"/>
          </a:xfrm>
        </p:spPr>
        <p:txBody>
          <a:bodyPr/>
          <a:lstStyle>
            <a:lvl1pPr>
              <a:defRPr b="1">
                <a:solidFill>
                  <a:schemeClr val="tx1">
                    <a:lumMod val="75000"/>
                    <a:lumOff val="25000"/>
                  </a:schemeClr>
                </a:solidFill>
              </a:defRPr>
            </a:lvl1pPr>
            <a:lvl2pPr>
              <a:defRPr b="1">
                <a:solidFill>
                  <a:schemeClr val="tx1">
                    <a:lumMod val="75000"/>
                    <a:lumOff val="25000"/>
                  </a:schemeClr>
                </a:solidFill>
              </a:defRPr>
            </a:lvl2pPr>
            <a:lvl3pPr>
              <a:defRPr b="1">
                <a:solidFill>
                  <a:schemeClr val="tx1">
                    <a:lumMod val="75000"/>
                    <a:lumOff val="25000"/>
                  </a:schemeClr>
                </a:solidFill>
              </a:defRPr>
            </a:lvl3pPr>
            <a:lvl4pPr>
              <a:defRPr b="1">
                <a:solidFill>
                  <a:schemeClr val="tx1">
                    <a:lumMod val="75000"/>
                    <a:lumOff val="25000"/>
                  </a:schemeClr>
                </a:solidFill>
              </a:defRPr>
            </a:lvl4pPr>
            <a:lvl5pPr>
              <a:defRPr b="1">
                <a:solidFill>
                  <a:schemeClr val="tx1">
                    <a:lumMod val="75000"/>
                    <a:lumOff val="25000"/>
                  </a:schemeClr>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正方形/長方形 6"/>
          <p:cNvSpPr/>
          <p:nvPr userDrawn="1"/>
        </p:nvSpPr>
        <p:spPr>
          <a:xfrm flipH="1" flipV="1">
            <a:off x="0" y="668408"/>
            <a:ext cx="12192000" cy="45719"/>
          </a:xfrm>
          <a:prstGeom prst="rect">
            <a:avLst/>
          </a:prstGeom>
          <a:gradFill flip="none" rotWithShape="1">
            <a:gsLst>
              <a:gs pos="100000">
                <a:srgbClr val="FF0000"/>
              </a:gs>
              <a:gs pos="86000">
                <a:srgbClr val="FF0000"/>
              </a:gs>
              <a:gs pos="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5403" tIns="47703" rIns="95403" bIns="47703" rtlCol="0" anchor="ctr"/>
          <a:lstStyle/>
          <a:p>
            <a:pPr algn="ctr"/>
            <a:endParaRPr kumimoji="1" lang="ja-JP" altLang="en-US" sz="2400"/>
          </a:p>
        </p:txBody>
      </p:sp>
      <p:pic>
        <p:nvPicPr>
          <p:cNvPr id="8"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7269" b="22490"/>
          <a:stretch/>
        </p:blipFill>
        <p:spPr bwMode="auto">
          <a:xfrm>
            <a:off x="10908100" y="133678"/>
            <a:ext cx="1283900" cy="441960"/>
          </a:xfrm>
          <a:prstGeom prst="rect">
            <a:avLst/>
          </a:prstGeom>
          <a:noFill/>
          <a:extLst>
            <a:ext uri="{909E8E84-426E-40DD-AFC4-6F175D3DCCD1}">
              <a14:hiddenFill xmlns:a14="http://schemas.microsoft.com/office/drawing/2010/main">
                <a:solidFill>
                  <a:srgbClr val="FFFFFF"/>
                </a:solidFill>
              </a14:hiddenFill>
            </a:ext>
          </a:extLst>
        </p:spPr>
      </p:pic>
      <p:sp>
        <p:nvSpPr>
          <p:cNvPr id="11" name="スライド番号プレースホルダー 1"/>
          <p:cNvSpPr>
            <a:spLocks noGrp="1"/>
          </p:cNvSpPr>
          <p:nvPr>
            <p:ph type="sldNum" sz="quarter" idx="12"/>
          </p:nvPr>
        </p:nvSpPr>
        <p:spPr bwMode="auto">
          <a:xfrm>
            <a:off x="10533409" y="6468467"/>
            <a:ext cx="165926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kumimoji="1" sz="4267">
                <a:solidFill>
                  <a:schemeClr val="tx1">
                    <a:lumMod val="50000"/>
                    <a:lumOff val="50000"/>
                  </a:schemeClr>
                </a:solidFill>
                <a:latin typeface="Verdana" pitchFamily="34" charset="0"/>
                <a:ea typeface="ＭＳ Ｐゴシック" charset="-128"/>
              </a:defRPr>
            </a:lvl1pPr>
            <a:lvl2pPr>
              <a:defRPr kumimoji="1" sz="3733">
                <a:solidFill>
                  <a:schemeClr val="tx1"/>
                </a:solidFill>
                <a:latin typeface="Verdana" pitchFamily="34" charset="0"/>
                <a:ea typeface="ＭＳ Ｐゴシック" charset="-128"/>
              </a:defRPr>
            </a:lvl2pPr>
            <a:lvl3pPr>
              <a:defRPr kumimoji="1" sz="3200">
                <a:solidFill>
                  <a:schemeClr val="tx1"/>
                </a:solidFill>
                <a:latin typeface="Verdana" pitchFamily="34" charset="0"/>
                <a:ea typeface="ＭＳ Ｐゴシック" charset="-128"/>
              </a:defRPr>
            </a:lvl3pPr>
            <a:lvl4pPr>
              <a:defRPr kumimoji="1" sz="2667">
                <a:solidFill>
                  <a:schemeClr val="tx1"/>
                </a:solidFill>
                <a:latin typeface="Verdana" pitchFamily="34" charset="0"/>
                <a:ea typeface="ＭＳ Ｐゴシック" charset="-128"/>
              </a:defRPr>
            </a:lvl4pPr>
            <a:lvl5pPr>
              <a:defRPr kumimoji="1" sz="2667">
                <a:solidFill>
                  <a:schemeClr val="tx1"/>
                </a:solidFill>
                <a:latin typeface="Verdana" pitchFamily="34" charset="0"/>
                <a:ea typeface="ＭＳ Ｐゴシック" charset="-128"/>
              </a:defRPr>
            </a:lvl5pPr>
            <a:lvl6pPr eaLnBrk="0" hangingPunct="0">
              <a:defRPr kumimoji="1" sz="2667">
                <a:solidFill>
                  <a:schemeClr val="tx1"/>
                </a:solidFill>
                <a:latin typeface="Verdana" pitchFamily="34" charset="0"/>
                <a:ea typeface="ＭＳ Ｐゴシック" charset="-128"/>
              </a:defRPr>
            </a:lvl6pPr>
            <a:lvl7pPr eaLnBrk="0" hangingPunct="0">
              <a:defRPr kumimoji="1" sz="2667">
                <a:solidFill>
                  <a:schemeClr val="tx1"/>
                </a:solidFill>
                <a:latin typeface="Verdana" pitchFamily="34" charset="0"/>
                <a:ea typeface="ＭＳ Ｐゴシック" charset="-128"/>
              </a:defRPr>
            </a:lvl7pPr>
            <a:lvl8pPr eaLnBrk="0" hangingPunct="0">
              <a:defRPr kumimoji="1" sz="2667">
                <a:solidFill>
                  <a:schemeClr val="tx1"/>
                </a:solidFill>
                <a:latin typeface="Verdana" pitchFamily="34" charset="0"/>
                <a:ea typeface="ＭＳ Ｐゴシック" charset="-128"/>
              </a:defRPr>
            </a:lvl8pPr>
            <a:lvl9pPr eaLnBrk="0" hangingPunct="0">
              <a:defRPr kumimoji="1" sz="2667">
                <a:solidFill>
                  <a:schemeClr val="tx1"/>
                </a:solidFill>
                <a:latin typeface="Verdana" pitchFamily="34" charset="0"/>
                <a:ea typeface="ＭＳ Ｐゴシック" charset="-128"/>
              </a:defRPr>
            </a:lvl9pPr>
          </a:lstStyle>
          <a:p>
            <a:pPr algn="r"/>
            <a:fld id="{5AEFF336-1E2B-43B1-AB2F-00EB3EDF84C9}" type="slidenum">
              <a:rPr lang="en-US" altLang="ja-JP" sz="2133" smtClean="0">
                <a:latin typeface="Arial Black" pitchFamily="34" charset="0"/>
              </a:rPr>
              <a:pPr algn="r"/>
              <a:t>‹#›</a:t>
            </a:fld>
            <a:endParaRPr lang="en-US" altLang="ja-JP" sz="2133">
              <a:latin typeface="Arial Black" pitchFamily="34" charset="0"/>
            </a:endParaRPr>
          </a:p>
        </p:txBody>
      </p:sp>
      <p:sp>
        <p:nvSpPr>
          <p:cNvPr id="10" name="正方形/長方形 9">
            <a:extLst>
              <a:ext uri="{FF2B5EF4-FFF2-40B4-BE49-F238E27FC236}">
                <a16:creationId xmlns:a16="http://schemas.microsoft.com/office/drawing/2014/main" id="{6DBED8AD-E255-4F9F-8126-0AA68CC45291}"/>
              </a:ext>
            </a:extLst>
          </p:cNvPr>
          <p:cNvSpPr/>
          <p:nvPr userDrawn="1"/>
        </p:nvSpPr>
        <p:spPr>
          <a:xfrm>
            <a:off x="0" y="6781800"/>
            <a:ext cx="12192000" cy="10358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403" tIns="47703" rIns="95403" bIns="47703" rtlCol="0" anchor="ctr"/>
          <a:lstStyle/>
          <a:p>
            <a:pPr algn="ctr"/>
            <a:endParaRPr kumimoji="1" lang="ja-JP" altLang="en-US" sz="2400"/>
          </a:p>
        </p:txBody>
      </p:sp>
    </p:spTree>
    <p:extLst>
      <p:ext uri="{BB962C8B-B14F-4D97-AF65-F5344CB8AC3E}">
        <p14:creationId xmlns:p14="http://schemas.microsoft.com/office/powerpoint/2010/main" val="4192086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ja" smtClean="0"/>
              <a:pPr algn="r"/>
              <a:t>‹#›</a:t>
            </a:fld>
            <a:endParaRPr lang="ja" altLang="en-US"/>
          </a:p>
        </p:txBody>
      </p:sp>
    </p:spTree>
    <p:extLst>
      <p:ext uri="{BB962C8B-B14F-4D97-AF65-F5344CB8AC3E}">
        <p14:creationId xmlns:p14="http://schemas.microsoft.com/office/powerpoint/2010/main" val="3699862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219877" y="-13393"/>
            <a:ext cx="10972800" cy="56207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868422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ctr" defTabSz="1219170" rtl="0" eaLnBrk="1" latinLnBrk="0" hangingPunct="1">
        <a:spcBef>
          <a:spcPct val="0"/>
        </a:spcBef>
        <a:buNone/>
        <a:defRPr kumimoji="1"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anose="020B0604020202020204" pitchFamily="34" charset="0"/>
        <a:buChar char="•"/>
        <a:defRPr kumimoji="1" sz="4267" kern="1200">
          <a:solidFill>
            <a:schemeClr val="tx1"/>
          </a:solidFill>
          <a:latin typeface="+mn-lt"/>
          <a:ea typeface="+mn-ea"/>
          <a:cs typeface="+mn-cs"/>
        </a:defRPr>
      </a:lvl1pPr>
      <a:lvl2pPr marL="990575" indent="-380990" algn="l" defTabSz="1219170" rtl="0" eaLnBrk="1" latinLnBrk="0" hangingPunct="1">
        <a:spcBef>
          <a:spcPct val="20000"/>
        </a:spcBef>
        <a:buFont typeface="Arial" panose="020B0604020202020204" pitchFamily="34" charset="0"/>
        <a:buChar char="–"/>
        <a:defRPr kumimoji="1"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anose="020B0604020202020204" pitchFamily="34" charset="0"/>
        <a:buChar char="–"/>
        <a:defRPr kumimoji="1"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anose="020B0604020202020204" pitchFamily="34" charset="0"/>
        <a:buChar char="»"/>
        <a:defRPr kumimoji="1"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kumimoji="1"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kumimoji="1"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kumimoji="1"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kumimoji="1" sz="2667" kern="1200">
          <a:solidFill>
            <a:schemeClr val="tx1"/>
          </a:solidFill>
          <a:latin typeface="+mn-lt"/>
          <a:ea typeface="+mn-ea"/>
          <a:cs typeface="+mn-cs"/>
        </a:defRPr>
      </a:lvl9pPr>
    </p:bodyStyle>
    <p:otherStyle>
      <a:defPPr>
        <a:defRPr lang="ja-JP"/>
      </a:defPPr>
      <a:lvl1pPr marL="0" algn="l" defTabSz="1219170" rtl="0" eaLnBrk="1" latinLnBrk="0" hangingPunct="1">
        <a:defRPr kumimoji="1" sz="2400" kern="1200">
          <a:solidFill>
            <a:schemeClr val="tx1"/>
          </a:solidFill>
          <a:latin typeface="+mn-lt"/>
          <a:ea typeface="+mn-ea"/>
          <a:cs typeface="+mn-cs"/>
        </a:defRPr>
      </a:lvl1pPr>
      <a:lvl2pPr marL="609585" algn="l" defTabSz="1219170" rtl="0" eaLnBrk="1" latinLnBrk="0" hangingPunct="1">
        <a:defRPr kumimoji="1" sz="2400" kern="1200">
          <a:solidFill>
            <a:schemeClr val="tx1"/>
          </a:solidFill>
          <a:latin typeface="+mn-lt"/>
          <a:ea typeface="+mn-ea"/>
          <a:cs typeface="+mn-cs"/>
        </a:defRPr>
      </a:lvl2pPr>
      <a:lvl3pPr marL="1219170" algn="l" defTabSz="1219170" rtl="0" eaLnBrk="1" latinLnBrk="0" hangingPunct="1">
        <a:defRPr kumimoji="1" sz="2400" kern="1200">
          <a:solidFill>
            <a:schemeClr val="tx1"/>
          </a:solidFill>
          <a:latin typeface="+mn-lt"/>
          <a:ea typeface="+mn-ea"/>
          <a:cs typeface="+mn-cs"/>
        </a:defRPr>
      </a:lvl3pPr>
      <a:lvl4pPr marL="1828754" algn="l" defTabSz="1219170" rtl="0" eaLnBrk="1" latinLnBrk="0" hangingPunct="1">
        <a:defRPr kumimoji="1" sz="2400" kern="1200">
          <a:solidFill>
            <a:schemeClr val="tx1"/>
          </a:solidFill>
          <a:latin typeface="+mn-lt"/>
          <a:ea typeface="+mn-ea"/>
          <a:cs typeface="+mn-cs"/>
        </a:defRPr>
      </a:lvl4pPr>
      <a:lvl5pPr marL="2438339" algn="l" defTabSz="1219170" rtl="0" eaLnBrk="1" latinLnBrk="0" hangingPunct="1">
        <a:defRPr kumimoji="1" sz="2400" kern="1200">
          <a:solidFill>
            <a:schemeClr val="tx1"/>
          </a:solidFill>
          <a:latin typeface="+mn-lt"/>
          <a:ea typeface="+mn-ea"/>
          <a:cs typeface="+mn-cs"/>
        </a:defRPr>
      </a:lvl5pPr>
      <a:lvl6pPr marL="3047924" algn="l" defTabSz="1219170" rtl="0" eaLnBrk="1" latinLnBrk="0" hangingPunct="1">
        <a:defRPr kumimoji="1" sz="2400" kern="1200">
          <a:solidFill>
            <a:schemeClr val="tx1"/>
          </a:solidFill>
          <a:latin typeface="+mn-lt"/>
          <a:ea typeface="+mn-ea"/>
          <a:cs typeface="+mn-cs"/>
        </a:defRPr>
      </a:lvl6pPr>
      <a:lvl7pPr marL="3657509" algn="l" defTabSz="1219170" rtl="0" eaLnBrk="1" latinLnBrk="0" hangingPunct="1">
        <a:defRPr kumimoji="1" sz="2400" kern="1200">
          <a:solidFill>
            <a:schemeClr val="tx1"/>
          </a:solidFill>
          <a:latin typeface="+mn-lt"/>
          <a:ea typeface="+mn-ea"/>
          <a:cs typeface="+mn-cs"/>
        </a:defRPr>
      </a:lvl7pPr>
      <a:lvl8pPr marL="4267093" algn="l" defTabSz="1219170" rtl="0" eaLnBrk="1" latinLnBrk="0" hangingPunct="1">
        <a:defRPr kumimoji="1" sz="2400" kern="1200">
          <a:solidFill>
            <a:schemeClr val="tx1"/>
          </a:solidFill>
          <a:latin typeface="+mn-lt"/>
          <a:ea typeface="+mn-ea"/>
          <a:cs typeface="+mn-cs"/>
        </a:defRPr>
      </a:lvl8pPr>
      <a:lvl9pPr marL="4876678" algn="l" defTabSz="1219170"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4"/>
          <p:cNvSpPr txBox="1">
            <a:spLocks/>
          </p:cNvSpPr>
          <p:nvPr/>
        </p:nvSpPr>
        <p:spPr>
          <a:xfrm>
            <a:off x="4434960" y="5578324"/>
            <a:ext cx="3322080" cy="346051"/>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kumimoji="1" sz="4400" kern="1200">
                <a:solidFill>
                  <a:schemeClr val="tx1"/>
                </a:solidFill>
                <a:latin typeface="+mj-lt"/>
                <a:ea typeface="+mj-ea"/>
                <a:cs typeface="+mj-cs"/>
              </a:defRPr>
            </a:lvl1pPr>
          </a:lstStyle>
          <a:p>
            <a:pPr defTabSz="1219170"/>
            <a:r>
              <a:rPr lang="en-US" altLang="ja-JP" sz="1333">
                <a:solidFill>
                  <a:prstClr val="black">
                    <a:lumMod val="75000"/>
                    <a:lumOff val="25000"/>
                  </a:prstClr>
                </a:solidFill>
                <a:latin typeface="Meiryo UI"/>
                <a:ea typeface="Meiryo UI" panose="020B0604030504040204" pitchFamily="50" charset="-128"/>
                <a:cs typeface="Arial Unicode MS" panose="020B0604020202020204" pitchFamily="50" charset="-128"/>
              </a:rPr>
              <a:t>2026</a:t>
            </a:r>
            <a:r>
              <a:rPr lang="ja-JP" altLang="en-US" sz="1333">
                <a:solidFill>
                  <a:prstClr val="black">
                    <a:lumMod val="75000"/>
                    <a:lumOff val="25000"/>
                  </a:prstClr>
                </a:solidFill>
                <a:latin typeface="Meiryo UI"/>
                <a:ea typeface="Meiryo UI" panose="020B0604030504040204" pitchFamily="50" charset="-128"/>
                <a:cs typeface="Arial Unicode MS" panose="020B0604020202020204" pitchFamily="50" charset="-128"/>
              </a:rPr>
              <a:t>年　　</a:t>
            </a:r>
            <a:r>
              <a:rPr lang="en-US" altLang="ja-JP" sz="1333">
                <a:solidFill>
                  <a:prstClr val="black">
                    <a:lumMod val="75000"/>
                    <a:lumOff val="25000"/>
                  </a:prstClr>
                </a:solidFill>
                <a:latin typeface="Meiryo UI"/>
                <a:ea typeface="Meiryo UI" panose="020B0604030504040204" pitchFamily="50" charset="-128"/>
                <a:cs typeface="Arial Unicode MS" panose="020B0604020202020204" pitchFamily="50" charset="-128"/>
              </a:rPr>
              <a:t>6</a:t>
            </a:r>
            <a:r>
              <a:rPr lang="ja-JP" altLang="en-US" sz="1333">
                <a:solidFill>
                  <a:prstClr val="black">
                    <a:lumMod val="75000"/>
                    <a:lumOff val="25000"/>
                  </a:prstClr>
                </a:solidFill>
                <a:latin typeface="Meiryo UI"/>
                <a:ea typeface="Meiryo UI" panose="020B0604030504040204" pitchFamily="50" charset="-128"/>
                <a:cs typeface="Arial Unicode MS" panose="020B0604020202020204" pitchFamily="50" charset="-128"/>
              </a:rPr>
              <a:t>月　　</a:t>
            </a:r>
            <a:r>
              <a:rPr lang="en-US" altLang="ja-JP" sz="1333">
                <a:solidFill>
                  <a:prstClr val="black">
                    <a:lumMod val="75000"/>
                    <a:lumOff val="25000"/>
                  </a:prstClr>
                </a:solidFill>
                <a:latin typeface="Meiryo UI"/>
                <a:ea typeface="Meiryo UI" panose="020B0604030504040204" pitchFamily="50" charset="-128"/>
                <a:cs typeface="Arial Unicode MS" panose="020B0604020202020204" pitchFamily="50" charset="-128"/>
              </a:rPr>
              <a:t>10</a:t>
            </a:r>
            <a:r>
              <a:rPr lang="ja-JP" altLang="en-US" sz="1333">
                <a:solidFill>
                  <a:prstClr val="black">
                    <a:lumMod val="75000"/>
                    <a:lumOff val="25000"/>
                  </a:prstClr>
                </a:solidFill>
                <a:latin typeface="Meiryo UI"/>
                <a:ea typeface="Meiryo UI" panose="020B0604030504040204" pitchFamily="50" charset="-128"/>
                <a:cs typeface="Arial Unicode MS" panose="020B0604020202020204" pitchFamily="50" charset="-128"/>
              </a:rPr>
              <a:t>日</a:t>
            </a:r>
          </a:p>
        </p:txBody>
      </p:sp>
      <p:sp>
        <p:nvSpPr>
          <p:cNvPr id="11" name="Rectangle 2">
            <a:extLst>
              <a:ext uri="{FF2B5EF4-FFF2-40B4-BE49-F238E27FC236}">
                <a16:creationId xmlns:a16="http://schemas.microsoft.com/office/drawing/2014/main" id="{FB8CB22C-C17A-4064-990E-0010378DF8B2}"/>
              </a:ext>
            </a:extLst>
          </p:cNvPr>
          <p:cNvSpPr txBox="1">
            <a:spLocks noChangeArrowheads="1"/>
          </p:cNvSpPr>
          <p:nvPr/>
        </p:nvSpPr>
        <p:spPr bwMode="auto">
          <a:xfrm>
            <a:off x="914400" y="4896772"/>
            <a:ext cx="10363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algn="ctr" rtl="0" eaLnBrk="0" fontAlgn="base" hangingPunct="0">
              <a:spcBef>
                <a:spcPct val="0"/>
              </a:spcBef>
              <a:spcAft>
                <a:spcPct val="0"/>
              </a:spcAft>
              <a:defRPr kumimoji="1" sz="5400" b="1">
                <a:solidFill>
                  <a:schemeClr val="bg2">
                    <a:lumMod val="75000"/>
                  </a:schemeClr>
                </a:solidFill>
                <a:effectLst/>
                <a:latin typeface="HGP創英角ｺﾞｼｯｸUB" panose="020B0900000000000000" pitchFamily="50" charset="-128"/>
                <a:ea typeface="HGP創英角ｺﾞｼｯｸUB" panose="020B0900000000000000" pitchFamily="50" charset="-128"/>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charset="0"/>
                <a:ea typeface="ＭＳ Ｐゴシック" pitchFamily="50" charset="-128"/>
              </a:defRPr>
            </a:lvl9pPr>
          </a:lstStyle>
          <a:p>
            <a:pPr defTabSz="1219170" eaLnBrk="1" hangingPunct="1"/>
            <a:r>
              <a:rPr lang="en-US" altLang="ja-JP" sz="2000" b="0" kern="0">
                <a:solidFill>
                  <a:prstClr val="black">
                    <a:lumMod val="75000"/>
                    <a:lumOff val="25000"/>
                  </a:prstClr>
                </a:solidFill>
                <a:latin typeface="+mj-ea"/>
                <a:ea typeface="+mj-ea"/>
              </a:rPr>
              <a:t>DX</a:t>
            </a:r>
            <a:r>
              <a:rPr lang="ja-JP" altLang="en-US" sz="2000" b="0" kern="0">
                <a:solidFill>
                  <a:prstClr val="black">
                    <a:lumMod val="75000"/>
                    <a:lumOff val="25000"/>
                  </a:prstClr>
                </a:solidFill>
                <a:latin typeface="+mj-ea"/>
                <a:ea typeface="+mj-ea"/>
              </a:rPr>
              <a:t>推進プロジェクト　データ基盤チーム</a:t>
            </a:r>
          </a:p>
        </p:txBody>
      </p:sp>
      <p:sp>
        <p:nvSpPr>
          <p:cNvPr id="3" name="タイトル 2">
            <a:extLst>
              <a:ext uri="{FF2B5EF4-FFF2-40B4-BE49-F238E27FC236}">
                <a16:creationId xmlns:a16="http://schemas.microsoft.com/office/drawing/2014/main" id="{BCC1AADC-E2D3-E0AF-DEC2-FFE2E4534344}"/>
              </a:ext>
            </a:extLst>
          </p:cNvPr>
          <p:cNvSpPr>
            <a:spLocks noGrp="1"/>
          </p:cNvSpPr>
          <p:nvPr>
            <p:ph type="ctrTitle"/>
          </p:nvPr>
        </p:nvSpPr>
        <p:spPr/>
        <p:txBody>
          <a:bodyPr/>
          <a:lstStyle/>
          <a:p>
            <a:r>
              <a:rPr lang="en-US" altLang="ja-JP" sz="3600"/>
              <a:t>TM</a:t>
            </a:r>
            <a:r>
              <a:rPr lang="ja-JP" altLang="en-US" sz="3600"/>
              <a:t>東京履歴データの持ち方</a:t>
            </a:r>
            <a:br>
              <a:rPr lang="en-US" altLang="ja-JP" sz="3600"/>
            </a:br>
            <a:r>
              <a:rPr lang="ja-JP" altLang="en-US" sz="3600"/>
              <a:t>設計基本方針</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1677DCE1-9BB7-0E5F-4F20-45985AF3E899}"/>
              </a:ext>
            </a:extLst>
          </p:cNvPr>
          <p:cNvSpPr/>
          <p:nvPr/>
        </p:nvSpPr>
        <p:spPr>
          <a:xfrm>
            <a:off x="734149" y="1061012"/>
            <a:ext cx="10756355" cy="5243341"/>
          </a:xfrm>
          <a:prstGeom prst="roundRect">
            <a:avLst>
              <a:gd name="adj" fmla="val 399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5EA4F98-BFB1-0C9E-C8ED-7181645ECF78}"/>
              </a:ext>
            </a:extLst>
          </p:cNvPr>
          <p:cNvSpPr>
            <a:spLocks noGrp="1"/>
          </p:cNvSpPr>
          <p:nvPr>
            <p:ph type="title"/>
          </p:nvPr>
        </p:nvSpPr>
        <p:spPr/>
        <p:txBody>
          <a:bodyPr/>
          <a:lstStyle/>
          <a:p>
            <a:r>
              <a:rPr lang="ja-JP" altLang="en-US"/>
              <a:t>今回</a:t>
            </a:r>
            <a:r>
              <a:rPr lang="en-US" altLang="ja-JP"/>
              <a:t>TM</a:t>
            </a:r>
            <a:r>
              <a:rPr lang="ja-JP" altLang="en-US"/>
              <a:t>東京の経営</a:t>
            </a:r>
            <a:r>
              <a:rPr lang="en-US" altLang="ja-JP"/>
              <a:t>SLIM</a:t>
            </a:r>
            <a:r>
              <a:rPr lang="ja-JP" altLang="en-US"/>
              <a:t>としてやりたいこと</a:t>
            </a:r>
            <a:endParaRPr kumimoji="1" lang="ja-JP" altLang="en-US"/>
          </a:p>
        </p:txBody>
      </p:sp>
      <p:sp>
        <p:nvSpPr>
          <p:cNvPr id="4" name="スライド番号プレースホルダー 3">
            <a:extLst>
              <a:ext uri="{FF2B5EF4-FFF2-40B4-BE49-F238E27FC236}">
                <a16:creationId xmlns:a16="http://schemas.microsoft.com/office/drawing/2014/main" id="{6891905C-3FA7-C32B-56BC-28023B7B35A6}"/>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2</a:t>
            </a:fld>
            <a:endParaRPr lang="en-US" altLang="ja-JP" sz="2133">
              <a:latin typeface="Arial Black" pitchFamily="34" charset="0"/>
            </a:endParaRPr>
          </a:p>
        </p:txBody>
      </p:sp>
      <p:sp>
        <p:nvSpPr>
          <p:cNvPr id="6" name="テキスト ボックス 5">
            <a:extLst>
              <a:ext uri="{FF2B5EF4-FFF2-40B4-BE49-F238E27FC236}">
                <a16:creationId xmlns:a16="http://schemas.microsoft.com/office/drawing/2014/main" id="{0511869A-3BF2-7553-96EF-85931C84E6E9}"/>
              </a:ext>
            </a:extLst>
          </p:cNvPr>
          <p:cNvSpPr txBox="1"/>
          <p:nvPr/>
        </p:nvSpPr>
        <p:spPr>
          <a:xfrm>
            <a:off x="1021465" y="1380074"/>
            <a:ext cx="7867892"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b="1" u="sng"/>
              <a:t>目的</a:t>
            </a:r>
            <a:endParaRPr lang="en-US" altLang="ja-JP" sz="2000" b="1" u="sng"/>
          </a:p>
          <a:p>
            <a:pPr marL="742950" lvl="1" indent="-285750">
              <a:buFont typeface="Arial" panose="020B0604020202020204" pitchFamily="34" charset="0"/>
              <a:buChar char="•"/>
            </a:pPr>
            <a:r>
              <a:rPr lang="ja-JP" altLang="en-US" sz="2000"/>
              <a:t>特定の車が製造・販売されて廃棄されるまでのライフサイクルにおいて</a:t>
            </a:r>
            <a:br>
              <a:rPr lang="en-US" altLang="ja-JP" sz="2000"/>
            </a:br>
            <a:r>
              <a:rPr lang="ja-JP" altLang="en-US" sz="2000"/>
              <a:t>どの段階でどれだけ利益が出たかを追跡したい</a:t>
            </a:r>
          </a:p>
        </p:txBody>
      </p:sp>
      <p:sp>
        <p:nvSpPr>
          <p:cNvPr id="12" name="テキスト ボックス 11">
            <a:extLst>
              <a:ext uri="{FF2B5EF4-FFF2-40B4-BE49-F238E27FC236}">
                <a16:creationId xmlns:a16="http://schemas.microsoft.com/office/drawing/2014/main" id="{14BD125B-4150-3E59-81A1-65F2F618CB2F}"/>
              </a:ext>
            </a:extLst>
          </p:cNvPr>
          <p:cNvSpPr txBox="1"/>
          <p:nvPr/>
        </p:nvSpPr>
        <p:spPr>
          <a:xfrm>
            <a:off x="1021465" y="2918453"/>
            <a:ext cx="9457482" cy="1015663"/>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ja-JP" altLang="en-US" sz="2000" b="1" u="sng"/>
              <a:t>課題</a:t>
            </a:r>
            <a:endParaRPr lang="en-US" altLang="ja-JP" sz="2000" b="1" u="sng"/>
          </a:p>
          <a:p>
            <a:pPr marL="742950" lvl="1" indent="-285750">
              <a:buFont typeface="Arial" panose="020B0604020202020204" pitchFamily="34" charset="0"/>
              <a:buChar char="•"/>
            </a:pPr>
            <a:r>
              <a:rPr lang="ja-JP" altLang="en-US" sz="2000"/>
              <a:t>履歴データの蓄積についてのノウハウがなく、</a:t>
            </a:r>
            <a:br>
              <a:rPr lang="ja-JP" altLang="en-US" sz="2000"/>
            </a:br>
            <a:r>
              <a:rPr lang="ja-JP" altLang="en-US" sz="2000"/>
              <a:t>TM東京チームだけでは進行ができず阻害となっている。</a:t>
            </a:r>
            <a:endParaRPr lang="ja-JP"/>
          </a:p>
        </p:txBody>
      </p:sp>
      <p:sp>
        <p:nvSpPr>
          <p:cNvPr id="3" name="テキスト ボックス 11">
            <a:extLst>
              <a:ext uri="{FF2B5EF4-FFF2-40B4-BE49-F238E27FC236}">
                <a16:creationId xmlns:a16="http://schemas.microsoft.com/office/drawing/2014/main" id="{F0D2F902-0969-10FE-FB7B-E0E626B79F02}"/>
              </a:ext>
            </a:extLst>
          </p:cNvPr>
          <p:cNvSpPr txBox="1"/>
          <p:nvPr/>
        </p:nvSpPr>
        <p:spPr>
          <a:xfrm>
            <a:off x="1021464" y="4338920"/>
            <a:ext cx="9457482" cy="1631216"/>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ja-JP" altLang="en-US" sz="2000" b="1" u="sng"/>
              <a:t>対策</a:t>
            </a:r>
            <a:endParaRPr lang="en-US" altLang="ja-JP" sz="2000" b="1" u="sng"/>
          </a:p>
          <a:p>
            <a:pPr marL="742950" lvl="1" indent="-285750">
              <a:buFont typeface="Arial" panose="020B0604020202020204" pitchFamily="34" charset="0"/>
              <a:buChar char="•"/>
            </a:pPr>
            <a:r>
              <a:rPr lang="ja-JP" altLang="en-US" sz="2000"/>
              <a:t>データ基盤チームとしてデータ蓄積の設計方針を示し拠り所とすることで、</a:t>
            </a:r>
            <a:br>
              <a:rPr lang="ja-JP" altLang="en-US" sz="2000"/>
            </a:br>
            <a:r>
              <a:rPr lang="ja-JP" altLang="en-US" sz="2000"/>
              <a:t>TM東京チームが目的を達成できる支援を行う。</a:t>
            </a:r>
            <a:br>
              <a:rPr lang="ja-JP" altLang="en-US" sz="2000">
                <a:cs typeface="Arial"/>
              </a:rPr>
            </a:br>
            <a:br>
              <a:rPr lang="ja-JP" altLang="en-US" sz="2000">
                <a:cs typeface="Arial"/>
              </a:rPr>
            </a:br>
            <a:r>
              <a:rPr lang="ja-JP" altLang="en-US" sz="2000">
                <a:cs typeface="Arial"/>
              </a:rPr>
              <a:t>※副次的な効能としてデータ活用基盤にもデータ蓄積のノウハウを獲得したい。</a:t>
            </a:r>
          </a:p>
        </p:txBody>
      </p:sp>
    </p:spTree>
    <p:extLst>
      <p:ext uri="{BB962C8B-B14F-4D97-AF65-F5344CB8AC3E}">
        <p14:creationId xmlns:p14="http://schemas.microsoft.com/office/powerpoint/2010/main" val="188311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12">
            <a:extLst>
              <a:ext uri="{FF2B5EF4-FFF2-40B4-BE49-F238E27FC236}">
                <a16:creationId xmlns:a16="http://schemas.microsoft.com/office/drawing/2014/main" id="{4E837461-65DB-D3F7-24E7-C106197A56DB}"/>
              </a:ext>
            </a:extLst>
          </p:cNvPr>
          <p:cNvSpPr/>
          <p:nvPr/>
        </p:nvSpPr>
        <p:spPr>
          <a:xfrm>
            <a:off x="464964" y="1131414"/>
            <a:ext cx="6855247" cy="1495461"/>
          </a:xfrm>
          <a:prstGeom prst="roundRect">
            <a:avLst>
              <a:gd name="adj" fmla="val 399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39984BF0-1C09-1013-CCE7-FBD1B510B7A0}"/>
              </a:ext>
            </a:extLst>
          </p:cNvPr>
          <p:cNvSpPr>
            <a:spLocks noGrp="1"/>
          </p:cNvSpPr>
          <p:nvPr>
            <p:ph type="title"/>
          </p:nvPr>
        </p:nvSpPr>
        <p:spPr/>
        <p:txBody>
          <a:bodyPr/>
          <a:lstStyle/>
          <a:p>
            <a:r>
              <a:rPr lang="ja" altLang="ja-JP"/>
              <a:t>設計のポイント</a:t>
            </a:r>
            <a:endParaRPr kumimoji="1" lang="ja-JP" altLang="en-US"/>
          </a:p>
        </p:txBody>
      </p:sp>
      <p:sp>
        <p:nvSpPr>
          <p:cNvPr id="4" name="スライド番号プレースホルダー 3">
            <a:extLst>
              <a:ext uri="{FF2B5EF4-FFF2-40B4-BE49-F238E27FC236}">
                <a16:creationId xmlns:a16="http://schemas.microsoft.com/office/drawing/2014/main" id="{E9CE1A44-A48F-4C6E-DFE9-A78F4247BA37}"/>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3</a:t>
            </a:fld>
            <a:endParaRPr lang="en-US" altLang="ja-JP" sz="2133">
              <a:latin typeface="Arial Black" pitchFamily="34" charset="0"/>
            </a:endParaRPr>
          </a:p>
        </p:txBody>
      </p:sp>
      <p:sp>
        <p:nvSpPr>
          <p:cNvPr id="6" name="テキスト ボックス 5">
            <a:extLst>
              <a:ext uri="{FF2B5EF4-FFF2-40B4-BE49-F238E27FC236}">
                <a16:creationId xmlns:a16="http://schemas.microsoft.com/office/drawing/2014/main" id="{0A6E2F52-BCFE-C9F8-6702-03D367FFD298}"/>
              </a:ext>
            </a:extLst>
          </p:cNvPr>
          <p:cNvSpPr txBox="1"/>
          <p:nvPr/>
        </p:nvSpPr>
        <p:spPr>
          <a:xfrm>
            <a:off x="466910" y="3427848"/>
            <a:ext cx="8705798" cy="1036181"/>
          </a:xfrm>
          <a:prstGeom prst="rect">
            <a:avLst/>
          </a:prstGeom>
          <a:noFill/>
        </p:spPr>
        <p:txBody>
          <a:bodyPr wrap="square" lIns="91440" tIns="45720" rIns="91440" bIns="45720" anchor="t">
            <a:spAutoFit/>
          </a:bodyPr>
          <a:lstStyle/>
          <a:p>
            <a:pPr marL="342900" indent="-342900">
              <a:buAutoNum type="arabicPeriod"/>
            </a:pPr>
            <a:r>
              <a:rPr lang="ja-JP" altLang="en-US" sz="2400" b="1">
                <a:latin typeface="Meiryo UI"/>
                <a:ea typeface="Meiryo UI"/>
              </a:rPr>
              <a:t>データの種類に応じて履歴データの持ち方を分離</a:t>
            </a:r>
            <a:endParaRPr lang="en-US" altLang="ja-JP" sz="2400" b="1">
              <a:latin typeface="Meiryo UI"/>
              <a:ea typeface="Meiryo UI"/>
              <a:cs typeface="Arial"/>
            </a:endParaRPr>
          </a:p>
          <a:p>
            <a:pPr marL="342900" indent="-342900">
              <a:spcBef>
                <a:spcPts val="1600"/>
              </a:spcBef>
              <a:spcAft>
                <a:spcPts val="1600"/>
              </a:spcAft>
              <a:buAutoNum type="arabicPeriod"/>
            </a:pPr>
            <a:r>
              <a:rPr lang="ja-JP" altLang="en-US" sz="2400" b="1">
                <a:latin typeface="Meiryo UI"/>
                <a:ea typeface="Meiryo UI"/>
              </a:rPr>
              <a:t>正規化による車両IDの再定義</a:t>
            </a:r>
          </a:p>
        </p:txBody>
      </p:sp>
      <p:sp>
        <p:nvSpPr>
          <p:cNvPr id="8" name="テキスト ボックス 7">
            <a:extLst>
              <a:ext uri="{FF2B5EF4-FFF2-40B4-BE49-F238E27FC236}">
                <a16:creationId xmlns:a16="http://schemas.microsoft.com/office/drawing/2014/main" id="{91437C3A-EB34-18C1-F650-CDE2487A3535}"/>
              </a:ext>
            </a:extLst>
          </p:cNvPr>
          <p:cNvSpPr txBox="1"/>
          <p:nvPr/>
        </p:nvSpPr>
        <p:spPr>
          <a:xfrm>
            <a:off x="745339" y="1444051"/>
            <a:ext cx="6300864" cy="870751"/>
          </a:xfrm>
          <a:prstGeom prst="rect">
            <a:avLst/>
          </a:prstGeom>
          <a:noFill/>
        </p:spPr>
        <p:txBody>
          <a:bodyPr wrap="square" lIns="91440" tIns="45720" rIns="91440" bIns="45720" anchor="t">
            <a:spAutoFit/>
          </a:bodyPr>
          <a:lstStyle/>
          <a:p>
            <a:pPr>
              <a:lnSpc>
                <a:spcPct val="150000"/>
              </a:lnSpc>
              <a:spcAft>
                <a:spcPts val="1600"/>
              </a:spcAft>
            </a:pPr>
            <a:r>
              <a:rPr lang="ja-JP" altLang="en-US"/>
              <a:t>車両が</a:t>
            </a:r>
            <a:r>
              <a:rPr lang="ja-JP" altLang="en-US">
                <a:solidFill>
                  <a:srgbClr val="FF0000"/>
                </a:solidFill>
              </a:rPr>
              <a:t>いつ</a:t>
            </a:r>
            <a:r>
              <a:rPr lang="ja-JP" altLang="en-US"/>
              <a:t>、</a:t>
            </a:r>
            <a:r>
              <a:rPr lang="ja-JP" altLang="en-US">
                <a:solidFill>
                  <a:srgbClr val="FF0000"/>
                </a:solidFill>
              </a:rPr>
              <a:t>どのライフサイクル</a:t>
            </a:r>
            <a:r>
              <a:rPr lang="ja-JP" altLang="en-US"/>
              <a:t>で</a:t>
            </a:r>
            <a:r>
              <a:rPr lang="ja-JP" altLang="en-US">
                <a:solidFill>
                  <a:srgbClr val="FF0000"/>
                </a:solidFill>
              </a:rPr>
              <a:t>どんな受注</a:t>
            </a:r>
            <a:r>
              <a:rPr lang="ja-JP" altLang="en-US"/>
              <a:t>を受けたかがわかる</a:t>
            </a:r>
            <a:br>
              <a:rPr lang="en-US" altLang="ja-JP"/>
            </a:br>
            <a:r>
              <a:rPr lang="ja-JP" altLang="en-US"/>
              <a:t>データ蓄積とテーブル設計を行う</a:t>
            </a:r>
            <a:endParaRPr lang="ja-JP">
              <a:cs typeface="Arial"/>
            </a:endParaRPr>
          </a:p>
        </p:txBody>
      </p:sp>
      <p:sp>
        <p:nvSpPr>
          <p:cNvPr id="10" name="テキスト ボックス 9">
            <a:extLst>
              <a:ext uri="{FF2B5EF4-FFF2-40B4-BE49-F238E27FC236}">
                <a16:creationId xmlns:a16="http://schemas.microsoft.com/office/drawing/2014/main" id="{9CEEB483-CE99-FEDE-3552-5D6677FA54BC}"/>
              </a:ext>
            </a:extLst>
          </p:cNvPr>
          <p:cNvSpPr txBox="1"/>
          <p:nvPr/>
        </p:nvSpPr>
        <p:spPr>
          <a:xfrm>
            <a:off x="7906253" y="1166524"/>
            <a:ext cx="3899798" cy="1569660"/>
          </a:xfrm>
          <a:prstGeom prst="rect">
            <a:avLst/>
          </a:prstGeom>
          <a:noFill/>
        </p:spPr>
        <p:txBody>
          <a:bodyPr wrap="square" lIns="91440" tIns="45720" rIns="91440" bIns="45720" anchor="t">
            <a:spAutoFit/>
          </a:bodyPr>
          <a:lstStyle/>
          <a:p>
            <a:r>
              <a:rPr lang="ja-JP" altLang="en-US" sz="1600"/>
              <a:t>（参考）車のライフサイクル</a:t>
            </a:r>
            <a:endParaRPr lang="en-US" altLang="ja-JP" sz="1600">
              <a:cs typeface="Arial"/>
            </a:endParaRPr>
          </a:p>
          <a:p>
            <a:pPr marL="742950" lvl="1" indent="-285750">
              <a:buFont typeface="Arial" panose="020B0604020202020204" pitchFamily="34" charset="0"/>
              <a:buChar char="•"/>
            </a:pPr>
            <a:r>
              <a:rPr lang="ja-JP" altLang="en-US" sz="1600"/>
              <a:t>新車販売</a:t>
            </a:r>
            <a:endParaRPr lang="en-US" altLang="ja-JP" sz="1600">
              <a:cs typeface="Arial"/>
            </a:endParaRPr>
          </a:p>
          <a:p>
            <a:pPr marL="742950" lvl="1" indent="-285750">
              <a:buFont typeface="Arial" panose="020B0604020202020204" pitchFamily="34" charset="0"/>
              <a:buChar char="•"/>
            </a:pPr>
            <a:r>
              <a:rPr lang="ja-JP" altLang="en-US" sz="1600"/>
              <a:t>サービス入庫（車検）</a:t>
            </a:r>
            <a:endParaRPr lang="en-US" altLang="ja-JP" sz="1600">
              <a:cs typeface="Arial"/>
            </a:endParaRPr>
          </a:p>
          <a:p>
            <a:pPr marL="742950" lvl="1" indent="-285750">
              <a:buFont typeface="Arial" panose="020B0604020202020204" pitchFamily="34" charset="0"/>
              <a:buChar char="•"/>
            </a:pPr>
            <a:r>
              <a:rPr lang="ja-JP" altLang="en-US" sz="1600"/>
              <a:t>下取り車として仕入れ</a:t>
            </a:r>
            <a:endParaRPr lang="en-US" altLang="ja-JP" sz="1600"/>
          </a:p>
          <a:p>
            <a:pPr marL="742950" lvl="1" indent="-285750">
              <a:buFont typeface="Arial" panose="020B0604020202020204" pitchFamily="34" charset="0"/>
              <a:buChar char="•"/>
            </a:pPr>
            <a:r>
              <a:rPr lang="en-US" altLang="ja-JP" sz="1600"/>
              <a:t>U-Car</a:t>
            </a:r>
            <a:r>
              <a:rPr lang="ja-JP" altLang="en-US" sz="1600"/>
              <a:t>として販売</a:t>
            </a:r>
            <a:endParaRPr lang="en-US" altLang="ja-JP" sz="1600"/>
          </a:p>
          <a:p>
            <a:pPr marL="742950" lvl="1" indent="-285750">
              <a:buFont typeface="Arial" panose="020B0604020202020204" pitchFamily="34" charset="0"/>
              <a:buChar char="•"/>
            </a:pPr>
            <a:r>
              <a:rPr lang="ja-JP" altLang="en-US" sz="1600"/>
              <a:t>卸・スクラップ</a:t>
            </a:r>
          </a:p>
        </p:txBody>
      </p:sp>
      <p:sp>
        <p:nvSpPr>
          <p:cNvPr id="3" name="テキスト ボックス 9">
            <a:extLst>
              <a:ext uri="{FF2B5EF4-FFF2-40B4-BE49-F238E27FC236}">
                <a16:creationId xmlns:a16="http://schemas.microsoft.com/office/drawing/2014/main" id="{6F15DA50-C578-53F7-EFDD-4A133F70A388}"/>
              </a:ext>
            </a:extLst>
          </p:cNvPr>
          <p:cNvSpPr txBox="1"/>
          <p:nvPr/>
        </p:nvSpPr>
        <p:spPr>
          <a:xfrm>
            <a:off x="575446" y="4958162"/>
            <a:ext cx="7494051" cy="1077218"/>
          </a:xfrm>
          <a:prstGeom prst="rect">
            <a:avLst/>
          </a:prstGeom>
          <a:noFill/>
        </p:spPr>
        <p:txBody>
          <a:bodyPr wrap="square" lIns="91440" tIns="45720" rIns="91440" bIns="45720" anchor="t">
            <a:spAutoFit/>
          </a:bodyPr>
          <a:lstStyle/>
          <a:p>
            <a:r>
              <a:rPr lang="ja-JP" altLang="en-US" sz="1600" u="sng">
                <a:cs typeface="Arial"/>
              </a:rPr>
              <a:t>◎現状課題になっていること</a:t>
            </a:r>
          </a:p>
          <a:p>
            <a:r>
              <a:rPr lang="ja-JP" altLang="en-US" sz="1600">
                <a:ea typeface="+mn-lt"/>
                <a:cs typeface="+mn-lt"/>
              </a:rPr>
              <a:t>　</a:t>
            </a:r>
            <a:r>
              <a:rPr lang="ja-JP" sz="1600">
                <a:ea typeface="+mn-lt"/>
                <a:cs typeface="+mn-lt"/>
              </a:rPr>
              <a:t>車両IDの定義として車体Noを使用しているが、 </a:t>
            </a:r>
            <a:endParaRPr lang="ja-JP">
              <a:ea typeface="+mn-lt"/>
              <a:cs typeface="+mn-lt"/>
            </a:endParaRPr>
          </a:p>
          <a:p>
            <a:r>
              <a:rPr lang="ja-JP" sz="1600">
                <a:ea typeface="+mn-lt"/>
                <a:cs typeface="+mn-lt"/>
              </a:rPr>
              <a:t>　名義変更時に販売店で抹消処理がされないとデータが重複する懸念があり、 </a:t>
            </a:r>
            <a:endParaRPr lang="ja-JP">
              <a:ea typeface="+mn-lt"/>
              <a:cs typeface="+mn-lt"/>
            </a:endParaRPr>
          </a:p>
          <a:p>
            <a:r>
              <a:rPr lang="ja-JP" sz="1600">
                <a:ea typeface="+mn-lt"/>
                <a:cs typeface="+mn-lt"/>
              </a:rPr>
              <a:t>　定義を変更する必要がある。</a:t>
            </a:r>
            <a:endParaRPr lang="ja-JP">
              <a:ea typeface="+mn-lt"/>
              <a:cs typeface="+mn-lt"/>
            </a:endParaRPr>
          </a:p>
        </p:txBody>
      </p:sp>
    </p:spTree>
    <p:extLst>
      <p:ext uri="{BB962C8B-B14F-4D97-AF65-F5344CB8AC3E}">
        <p14:creationId xmlns:p14="http://schemas.microsoft.com/office/powerpoint/2010/main" val="2591243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2E1841-271C-DEB3-0B39-804D4255E1D1}"/>
              </a:ext>
            </a:extLst>
          </p:cNvPr>
          <p:cNvSpPr>
            <a:spLocks noGrp="1"/>
          </p:cNvSpPr>
          <p:nvPr>
            <p:ph type="title"/>
          </p:nvPr>
        </p:nvSpPr>
        <p:spPr/>
        <p:txBody>
          <a:bodyPr/>
          <a:lstStyle/>
          <a:p>
            <a:r>
              <a:rPr lang="ja">
                <a:ea typeface="+mj-lt"/>
                <a:cs typeface="+mj-lt"/>
              </a:rPr>
              <a:t>データの種類に応じて履歴データの持ち方を分離</a:t>
            </a:r>
            <a:endParaRPr lang="en-US" altLang="ja"/>
          </a:p>
        </p:txBody>
      </p:sp>
      <p:sp>
        <p:nvSpPr>
          <p:cNvPr id="4" name="スライド番号プレースホルダー 3">
            <a:extLst>
              <a:ext uri="{FF2B5EF4-FFF2-40B4-BE49-F238E27FC236}">
                <a16:creationId xmlns:a16="http://schemas.microsoft.com/office/drawing/2014/main" id="{153B57D9-CD16-429F-1A17-3868F4847AD9}"/>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4</a:t>
            </a:fld>
            <a:endParaRPr lang="en-US" altLang="ja-JP" sz="2133">
              <a:latin typeface="Arial Black" pitchFamily="34" charset="0"/>
            </a:endParaRPr>
          </a:p>
        </p:txBody>
      </p:sp>
      <p:graphicFrame>
        <p:nvGraphicFramePr>
          <p:cNvPr id="6" name="Google Shape;74;p16">
            <a:extLst>
              <a:ext uri="{FF2B5EF4-FFF2-40B4-BE49-F238E27FC236}">
                <a16:creationId xmlns:a16="http://schemas.microsoft.com/office/drawing/2014/main" id="{D88E1DEC-5000-627C-20B7-4798090DB7F0}"/>
              </a:ext>
            </a:extLst>
          </p:cNvPr>
          <p:cNvGraphicFramePr/>
          <p:nvPr>
            <p:extLst>
              <p:ext uri="{D42A27DB-BD31-4B8C-83A1-F6EECF244321}">
                <p14:modId xmlns:p14="http://schemas.microsoft.com/office/powerpoint/2010/main" val="735012752"/>
              </p:ext>
            </p:extLst>
          </p:nvPr>
        </p:nvGraphicFramePr>
        <p:xfrm>
          <a:off x="504478" y="977080"/>
          <a:ext cx="10971882" cy="3342108"/>
        </p:xfrm>
        <a:graphic>
          <a:graphicData uri="http://schemas.openxmlformats.org/drawingml/2006/table">
            <a:tbl>
              <a:tblPr>
                <a:noFill/>
              </a:tblPr>
              <a:tblGrid>
                <a:gridCol w="2675081">
                  <a:extLst>
                    <a:ext uri="{9D8B030D-6E8A-4147-A177-3AD203B41FA5}">
                      <a16:colId xmlns:a16="http://schemas.microsoft.com/office/drawing/2014/main" val="20000"/>
                    </a:ext>
                  </a:extLst>
                </a:gridCol>
                <a:gridCol w="3112265">
                  <a:extLst>
                    <a:ext uri="{9D8B030D-6E8A-4147-A177-3AD203B41FA5}">
                      <a16:colId xmlns:a16="http://schemas.microsoft.com/office/drawing/2014/main" val="20001"/>
                    </a:ext>
                  </a:extLst>
                </a:gridCol>
                <a:gridCol w="5184536">
                  <a:extLst>
                    <a:ext uri="{9D8B030D-6E8A-4147-A177-3AD203B41FA5}">
                      <a16:colId xmlns:a16="http://schemas.microsoft.com/office/drawing/2014/main" val="20002"/>
                    </a:ext>
                  </a:extLst>
                </a:gridCol>
              </a:tblGrid>
              <a:tr h="667897">
                <a:tc>
                  <a:txBody>
                    <a:bodyPr/>
                    <a:lstStyle/>
                    <a:p>
                      <a:pPr marL="0" lvl="0" indent="0" algn="ctr" rtl="0">
                        <a:lnSpc>
                          <a:spcPct val="115000"/>
                        </a:lnSpc>
                        <a:spcBef>
                          <a:spcPts val="0"/>
                        </a:spcBef>
                        <a:spcAft>
                          <a:spcPts val="0"/>
                        </a:spcAft>
                        <a:buNone/>
                      </a:pPr>
                      <a:r>
                        <a:rPr lang="ja" sz="1400" b="1"/>
                        <a:t>データ種別</a:t>
                      </a:r>
                      <a:endParaRPr sz="1400" b="1"/>
                    </a:p>
                  </a:txBody>
                  <a:tcPr marL="121900" marR="121900" marT="121900" marB="121900" anchor="ctr">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marL="0" lvl="0" indent="0" algn="ctr" rtl="0">
                        <a:lnSpc>
                          <a:spcPct val="115000"/>
                        </a:lnSpc>
                        <a:spcBef>
                          <a:spcPts val="0"/>
                        </a:spcBef>
                        <a:spcAft>
                          <a:spcPts val="0"/>
                        </a:spcAft>
                        <a:buNone/>
                      </a:pPr>
                      <a:r>
                        <a:rPr lang="ja" sz="1400" b="1"/>
                        <a:t>推奨方式</a:t>
                      </a:r>
                      <a:endParaRPr sz="1400" b="1"/>
                    </a:p>
                  </a:txBody>
                  <a:tcPr marL="121900" marR="121900" marT="121900" marB="121900" anchor="ctr">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tc>
                  <a:txBody>
                    <a:bodyPr/>
                    <a:lstStyle/>
                    <a:p>
                      <a:pPr marL="0" lvl="0" indent="0" algn="ctr" rtl="0">
                        <a:spcBef>
                          <a:spcPts val="0"/>
                        </a:spcBef>
                        <a:spcAft>
                          <a:spcPts val="0"/>
                        </a:spcAft>
                        <a:buNone/>
                      </a:pPr>
                      <a:r>
                        <a:rPr lang="ja" sz="1400" b="1"/>
                        <a:t>例</a:t>
                      </a:r>
                      <a:endParaRPr sz="1400" b="1"/>
                    </a:p>
                  </a:txBody>
                  <a:tcPr marL="121900" marR="121900" marT="121900" marB="121900" anchor="ctr">
                    <a:lnL w="12700">
                      <a:solidFill>
                        <a:schemeClr val="tx1"/>
                      </a:solidFill>
                    </a:lnL>
                    <a:lnR w="12700">
                      <a:solidFill>
                        <a:schemeClr val="tx1"/>
                      </a:solidFill>
                    </a:lnR>
                    <a:lnT w="12700">
                      <a:solidFill>
                        <a:schemeClr val="tx1"/>
                      </a:solidFill>
                    </a:lnT>
                    <a:lnB w="12700">
                      <a:solidFill>
                        <a:schemeClr val="tx1"/>
                      </a:solidFill>
                    </a:lnB>
                    <a:solidFill>
                      <a:schemeClr val="bg1">
                        <a:lumMod val="85000"/>
                      </a:schemeClr>
                    </a:solidFill>
                  </a:tcPr>
                </a:tc>
                <a:extLst>
                  <a:ext uri="{0D108BD9-81ED-4DB2-BD59-A6C34878D82A}">
                    <a16:rowId xmlns:a16="http://schemas.microsoft.com/office/drawing/2014/main" val="10000"/>
                  </a:ext>
                </a:extLst>
              </a:tr>
              <a:tr h="667897">
                <a:tc>
                  <a:txBody>
                    <a:bodyPr/>
                    <a:lstStyle/>
                    <a:p>
                      <a:pPr marL="0" lvl="0" indent="0" algn="l" rtl="0">
                        <a:spcBef>
                          <a:spcPts val="0"/>
                        </a:spcBef>
                        <a:spcAft>
                          <a:spcPts val="0"/>
                        </a:spcAft>
                        <a:buNone/>
                      </a:pPr>
                      <a:r>
                        <a:rPr lang="ja" sz="1400"/>
                        <a:t>マスタ系</a:t>
                      </a:r>
                      <a:endParaRPr sz="1400"/>
                    </a:p>
                  </a:txBody>
                  <a:tcPr marL="121900" marR="121900" marT="121900" marB="12190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lvl="0" indent="0" algn="l" rtl="0">
                        <a:spcBef>
                          <a:spcPts val="0"/>
                        </a:spcBef>
                        <a:spcAft>
                          <a:spcPts val="0"/>
                        </a:spcAft>
                        <a:buNone/>
                      </a:pPr>
                      <a:r>
                        <a:rPr lang="ja" sz="1400"/>
                        <a:t>SCD Type2</a:t>
                      </a:r>
                      <a:endParaRPr sz="1400"/>
                    </a:p>
                    <a:p>
                      <a:pPr marL="0" lvl="0" indent="0" algn="l" rtl="0">
                        <a:spcBef>
                          <a:spcPts val="0"/>
                        </a:spcBef>
                        <a:spcAft>
                          <a:spcPts val="0"/>
                        </a:spcAft>
                        <a:buNone/>
                      </a:pPr>
                      <a:r>
                        <a:rPr lang="ja" sz="1400"/>
                        <a:t>または最新 + 履歴テーブル分離</a:t>
                      </a:r>
                      <a:endParaRPr sz="1400"/>
                    </a:p>
                  </a:txBody>
                  <a:tcPr marL="121900" marR="121900" marT="121900" marB="12190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lvl="0" indent="0" algn="l" rtl="0">
                        <a:spcBef>
                          <a:spcPts val="0"/>
                        </a:spcBef>
                        <a:spcAft>
                          <a:spcPts val="0"/>
                        </a:spcAft>
                        <a:buClr>
                          <a:schemeClr val="dk1"/>
                        </a:buClr>
                        <a:buSzPts val="1100"/>
                        <a:buFont typeface="Arial"/>
                        <a:buNone/>
                      </a:pPr>
                      <a:r>
                        <a:rPr lang="ja" sz="1400">
                          <a:solidFill>
                            <a:schemeClr val="dk1"/>
                          </a:solidFill>
                        </a:rPr>
                        <a:t>顧客基本DB、車両基本DB、店舗情報DB</a:t>
                      </a:r>
                      <a:endParaRPr sz="1400"/>
                    </a:p>
                  </a:txBody>
                  <a:tcPr marL="121900" marR="121900" marT="121900" marB="12190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667897">
                <a:tc>
                  <a:txBody>
                    <a:bodyPr/>
                    <a:lstStyle/>
                    <a:p>
                      <a:pPr marL="0" lvl="0" indent="0" algn="l" rtl="0">
                        <a:spcBef>
                          <a:spcPts val="0"/>
                        </a:spcBef>
                        <a:spcAft>
                          <a:spcPts val="0"/>
                        </a:spcAft>
                        <a:buNone/>
                      </a:pPr>
                      <a:r>
                        <a:rPr lang="ja" sz="1400"/>
                        <a:t>状態変化系</a:t>
                      </a:r>
                      <a:endParaRPr sz="1400"/>
                    </a:p>
                  </a:txBody>
                  <a:tcPr marL="121900" marR="121900" marT="121900" marB="121900">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ja" sz="1400"/>
                        <a:t>最新テーブル + 状態遷移履歴</a:t>
                      </a:r>
                      <a:endParaRPr sz="1400"/>
                    </a:p>
                  </a:txBody>
                  <a:tcPr marL="121900" marR="121900" marT="121900" marB="121900">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ja" sz="1400"/>
                        <a:t>新車受注基本情報DB、中古車受注基本情報DB</a:t>
                      </a:r>
                      <a:endParaRPr sz="1400"/>
                    </a:p>
                  </a:txBody>
                  <a:tcPr marL="121900" marR="121900" marT="121900" marB="12190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2"/>
                  </a:ext>
                </a:extLst>
              </a:tr>
              <a:tr h="667897">
                <a:tc>
                  <a:txBody>
                    <a:bodyPr/>
                    <a:lstStyle/>
                    <a:p>
                      <a:pPr marL="0" lvl="0" indent="0" algn="l" rtl="0">
                        <a:spcBef>
                          <a:spcPts val="0"/>
                        </a:spcBef>
                        <a:spcAft>
                          <a:spcPts val="0"/>
                        </a:spcAft>
                        <a:buNone/>
                      </a:pPr>
                      <a:r>
                        <a:rPr lang="ja" sz="1400"/>
                        <a:t>ログ/イベント系</a:t>
                      </a:r>
                      <a:endParaRPr sz="1400"/>
                    </a:p>
                  </a:txBody>
                  <a:tcPr marL="121900" marR="121900" marT="121900" marB="121900">
                    <a:lnL w="12700" cap="flat" cmpd="sng">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ja" sz="1400"/>
                        <a:t>追記型</a:t>
                      </a:r>
                      <a:endParaRPr sz="1400"/>
                    </a:p>
                  </a:txBody>
                  <a:tcPr marL="121900" marR="121900" marT="121900" marB="1219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Clr>
                          <a:schemeClr val="dk1"/>
                        </a:buClr>
                        <a:buSzPts val="1100"/>
                        <a:buFont typeface="Arial"/>
                        <a:buNone/>
                      </a:pPr>
                      <a:r>
                        <a:rPr lang="ja" sz="1400">
                          <a:solidFill>
                            <a:schemeClr val="dk1"/>
                          </a:solidFill>
                        </a:rPr>
                        <a:t>入庫歴DB、整備歴DB</a:t>
                      </a:r>
                      <a:endParaRPr sz="1400"/>
                    </a:p>
                  </a:txBody>
                  <a:tcPr marL="121900" marR="121900" marT="121900" marB="121900">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3"/>
                  </a:ext>
                </a:extLst>
              </a:tr>
              <a:tr h="667897">
                <a:tc>
                  <a:txBody>
                    <a:bodyPr/>
                    <a:lstStyle/>
                    <a:p>
                      <a:pPr marL="0" lvl="0" indent="0" algn="l" rtl="0">
                        <a:spcBef>
                          <a:spcPts val="0"/>
                        </a:spcBef>
                        <a:spcAft>
                          <a:spcPts val="0"/>
                        </a:spcAft>
                        <a:buNone/>
                      </a:pPr>
                      <a:r>
                        <a:rPr lang="ja" sz="1400"/>
                        <a:t>一時/検証/バックアップ系</a:t>
                      </a:r>
                      <a:endParaRPr sz="1400"/>
                    </a:p>
                  </a:txBody>
                  <a:tcPr marL="121900" marR="121900" marT="121900" marB="121900">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tcPr>
                </a:tc>
                <a:tc>
                  <a:txBody>
                    <a:bodyPr/>
                    <a:lstStyle/>
                    <a:p>
                      <a:pPr marL="0" lvl="0" indent="0" algn="l" rtl="0">
                        <a:spcBef>
                          <a:spcPts val="0"/>
                        </a:spcBef>
                        <a:spcAft>
                          <a:spcPts val="0"/>
                        </a:spcAft>
                        <a:buNone/>
                      </a:pPr>
                      <a:r>
                        <a:rPr lang="ja" sz="1400" b="0"/>
                        <a:t>原則対象外</a:t>
                      </a:r>
                      <a:endParaRPr sz="1400" b="0"/>
                    </a:p>
                  </a:txBody>
                  <a:tcPr marL="121900" marR="121900" marT="121900" marB="121900">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tcPr>
                </a:tc>
                <a:tc>
                  <a:txBody>
                    <a:bodyPr/>
                    <a:lstStyle/>
                    <a:p>
                      <a:pPr marL="0" lvl="0" indent="0" algn="l" rtl="0">
                        <a:spcBef>
                          <a:spcPts val="0"/>
                        </a:spcBef>
                        <a:spcAft>
                          <a:spcPts val="0"/>
                        </a:spcAft>
                        <a:buNone/>
                      </a:pPr>
                      <a:r>
                        <a:rPr lang="ja" sz="1400"/>
                        <a:t>-</a:t>
                      </a:r>
                      <a:endParaRPr sz="1400"/>
                    </a:p>
                  </a:txBody>
                  <a:tcPr marL="121900" marR="121900" marT="121900" marB="12190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4"/>
                  </a:ext>
                </a:extLst>
              </a:tr>
            </a:tbl>
          </a:graphicData>
        </a:graphic>
      </p:graphicFrame>
      <p:sp>
        <p:nvSpPr>
          <p:cNvPr id="8" name="Google Shape;75;p16">
            <a:extLst>
              <a:ext uri="{FF2B5EF4-FFF2-40B4-BE49-F238E27FC236}">
                <a16:creationId xmlns:a16="http://schemas.microsoft.com/office/drawing/2014/main" id="{67AFA5B5-A266-E601-835B-97615575B963}"/>
              </a:ext>
            </a:extLst>
          </p:cNvPr>
          <p:cNvSpPr txBox="1"/>
          <p:nvPr/>
        </p:nvSpPr>
        <p:spPr>
          <a:xfrm>
            <a:off x="580911" y="4659865"/>
            <a:ext cx="10765485" cy="677068"/>
          </a:xfrm>
          <a:prstGeom prst="rect">
            <a:avLst/>
          </a:prstGeom>
          <a:noFill/>
          <a:ln>
            <a:noFill/>
          </a:ln>
        </p:spPr>
        <p:txBody>
          <a:bodyPr spcFirstLastPara="1" wrap="square" lIns="121900" tIns="121900" rIns="121900" bIns="121900" anchor="t" anchorCtr="0">
            <a:spAutoFit/>
          </a:bodyPr>
          <a:lstStyle/>
          <a:p>
            <a:r>
              <a:rPr lang="en-US" altLang="ja" sz="1400"/>
              <a:t>※1.SCD Type2：</a:t>
            </a:r>
            <a:r>
              <a:rPr lang="ja" altLang="en-US" sz="1400"/>
              <a:t>変更が発生したときに既存レコードを上書きせず、古いレコードの有効終了日を更新し、新しいレコードを追加する方式</a:t>
            </a:r>
          </a:p>
          <a:p>
            <a:r>
              <a:rPr lang="ja" altLang="en-US" sz="1400">
                <a:cs typeface="Arial"/>
              </a:rPr>
              <a:t>※2.状態変化系：普段使う最新データと調査用の過去データを別々に管理する方式</a:t>
            </a:r>
          </a:p>
        </p:txBody>
      </p:sp>
    </p:spTree>
    <p:extLst>
      <p:ext uri="{BB962C8B-B14F-4D97-AF65-F5344CB8AC3E}">
        <p14:creationId xmlns:p14="http://schemas.microsoft.com/office/powerpoint/2010/main" val="318967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C28843-730D-5435-B14C-3D7A1EB2A0A4}"/>
              </a:ext>
            </a:extLst>
          </p:cNvPr>
          <p:cNvSpPr>
            <a:spLocks noGrp="1"/>
          </p:cNvSpPr>
          <p:nvPr>
            <p:ph type="title"/>
          </p:nvPr>
        </p:nvSpPr>
        <p:spPr/>
        <p:txBody>
          <a:bodyPr/>
          <a:lstStyle/>
          <a:p>
            <a:r>
              <a:rPr lang="ja-JP">
                <a:ea typeface="+mj-lt"/>
                <a:cs typeface="+mj-lt"/>
              </a:rPr>
              <a:t>正規化による車両IDの再定義</a:t>
            </a:r>
            <a:endParaRPr lang="en-US"/>
          </a:p>
        </p:txBody>
      </p:sp>
      <p:sp>
        <p:nvSpPr>
          <p:cNvPr id="3" name="コンテンツ プレースホルダー 2">
            <a:extLst>
              <a:ext uri="{FF2B5EF4-FFF2-40B4-BE49-F238E27FC236}">
                <a16:creationId xmlns:a16="http://schemas.microsoft.com/office/drawing/2014/main" id="{3F6DC164-2525-A814-605D-0C8668584C20}"/>
              </a:ext>
            </a:extLst>
          </p:cNvPr>
          <p:cNvSpPr>
            <a:spLocks noGrp="1"/>
          </p:cNvSpPr>
          <p:nvPr>
            <p:ph idx="1"/>
          </p:nvPr>
        </p:nvSpPr>
        <p:spPr>
          <a:xfrm>
            <a:off x="425491" y="919261"/>
            <a:ext cx="11151029" cy="2516671"/>
          </a:xfrm>
        </p:spPr>
        <p:txBody>
          <a:bodyPr vert="horz" lIns="91440" tIns="45720" rIns="91440" bIns="45720" rtlCol="0" anchor="t">
            <a:normAutofit/>
          </a:bodyPr>
          <a:lstStyle/>
          <a:p>
            <a:pPr marL="0" indent="0">
              <a:buNone/>
            </a:pPr>
            <a:r>
              <a:rPr lang="ja-JP" altLang="en-US" sz="2800"/>
              <a:t>変更前：車体</a:t>
            </a:r>
            <a:r>
              <a:rPr lang="en-US" altLang="ja-JP" sz="2800"/>
              <a:t>No = </a:t>
            </a:r>
            <a:r>
              <a:rPr lang="ja-JP" altLang="en-US" sz="2800"/>
              <a:t>車両型式 </a:t>
            </a:r>
            <a:r>
              <a:rPr lang="en-US" altLang="ja-JP" sz="2800"/>
              <a:t>+ </a:t>
            </a:r>
            <a:r>
              <a:rPr lang="ja-JP" altLang="en-US" sz="2800"/>
              <a:t>フレーム</a:t>
            </a:r>
            <a:r>
              <a:rPr lang="en-US" altLang="ja-JP" sz="2800"/>
              <a:t>No</a:t>
            </a:r>
            <a:endParaRPr lang="ja-JP" altLang="en-US" sz="2800">
              <a:cs typeface="Arial"/>
            </a:endParaRPr>
          </a:p>
          <a:p>
            <a:pPr marL="0" indent="0">
              <a:buNone/>
            </a:pPr>
            <a:r>
              <a:rPr lang="ja-JP" altLang="en-US" sz="2800">
                <a:solidFill>
                  <a:srgbClr val="404040"/>
                </a:solidFill>
                <a:cs typeface="Arial"/>
              </a:rPr>
              <a:t>変更後：？？</a:t>
            </a:r>
            <a:endParaRPr lang="ja"/>
          </a:p>
          <a:p>
            <a:pPr marL="0" indent="0">
              <a:buNone/>
            </a:pPr>
            <a:endParaRPr lang="en-US" altLang="ja" sz="2800">
              <a:solidFill>
                <a:srgbClr val="404040"/>
              </a:solidFill>
              <a:cs typeface="Arial"/>
            </a:endParaRPr>
          </a:p>
          <a:p>
            <a:pPr marL="0" indent="0">
              <a:buNone/>
            </a:pPr>
            <a:r>
              <a:rPr lang="ja" altLang="en-US" sz="1800" b="0">
                <a:solidFill>
                  <a:srgbClr val="000000"/>
                </a:solidFill>
                <a:cs typeface="Arial"/>
              </a:rPr>
              <a:t>・元データの値はそのまま保持し、照合用に「空白、記号、全角、半角」などを統一した値を使用。</a:t>
            </a:r>
            <a:endParaRPr lang="ja"/>
          </a:p>
          <a:p>
            <a:pPr marL="0" indent="0">
              <a:buNone/>
            </a:pPr>
            <a:r>
              <a:rPr lang="ja" altLang="en-US" sz="1800" b="0">
                <a:solidFill>
                  <a:srgbClr val="000000"/>
                </a:solidFill>
                <a:cs typeface="Arial"/>
              </a:rPr>
              <a:t>→正規化した「車両型式＋フレームNo」から照合用の車両IDを作成する。</a:t>
            </a:r>
          </a:p>
          <a:p>
            <a:pPr marL="0" indent="0">
              <a:buNone/>
            </a:pPr>
            <a:r>
              <a:rPr lang="en-US" sz="1600" b="0">
                <a:solidFill>
                  <a:srgbClr val="000000"/>
                </a:solidFill>
                <a:cs typeface="Arial"/>
              </a:rPr>
              <a:t>※</a:t>
            </a:r>
            <a:r>
              <a:rPr lang="ja" sz="1600" b="0">
                <a:solidFill>
                  <a:srgbClr val="000000"/>
                </a:solidFill>
                <a:cs typeface="Arial"/>
              </a:rPr>
              <a:t>名義変更時に販売店で抹消処理がされないとデータが重複する懸念はある</a:t>
            </a:r>
            <a:endParaRPr lang="ja"/>
          </a:p>
          <a:p>
            <a:pPr marL="0" indent="0">
              <a:buNone/>
            </a:pPr>
            <a:endParaRPr lang="ja" sz="1600" b="0">
              <a:solidFill>
                <a:srgbClr val="000000"/>
              </a:solidFill>
              <a:cs typeface="Arial"/>
            </a:endParaRPr>
          </a:p>
          <a:p>
            <a:pPr marL="0" indent="0">
              <a:buNone/>
            </a:pPr>
            <a:endParaRPr lang="ja" sz="1600" b="0">
              <a:solidFill>
                <a:srgbClr val="000000"/>
              </a:solidFill>
              <a:cs typeface="Arial"/>
            </a:endParaRPr>
          </a:p>
          <a:p>
            <a:pPr marL="0" indent="0">
              <a:buNone/>
            </a:pPr>
            <a:endParaRPr lang="ja" altLang="en-US" sz="1800" b="0">
              <a:solidFill>
                <a:srgbClr val="000000"/>
              </a:solidFill>
              <a:cs typeface="Arial"/>
            </a:endParaRPr>
          </a:p>
          <a:p>
            <a:pPr marL="0" indent="0">
              <a:buNone/>
            </a:pPr>
            <a:endParaRPr lang="ja" altLang="en-US" sz="1800" b="0">
              <a:solidFill>
                <a:srgbClr val="000000"/>
              </a:solidFill>
              <a:cs typeface="Arial"/>
            </a:endParaRPr>
          </a:p>
        </p:txBody>
      </p:sp>
      <p:sp>
        <p:nvSpPr>
          <p:cNvPr id="4" name="スライド番号プレースホルダー 3">
            <a:extLst>
              <a:ext uri="{FF2B5EF4-FFF2-40B4-BE49-F238E27FC236}">
                <a16:creationId xmlns:a16="http://schemas.microsoft.com/office/drawing/2014/main" id="{0E5A446B-592F-7384-EC9F-29C63818625B}"/>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5</a:t>
            </a:fld>
            <a:endParaRPr lang="en-US" altLang="ja-JP" sz="2133">
              <a:latin typeface="Arial Black" pitchFamily="34" charset="0"/>
            </a:endParaRPr>
          </a:p>
        </p:txBody>
      </p:sp>
      <p:graphicFrame>
        <p:nvGraphicFramePr>
          <p:cNvPr id="5" name="Table 4">
            <a:extLst>
              <a:ext uri="{FF2B5EF4-FFF2-40B4-BE49-F238E27FC236}">
                <a16:creationId xmlns:a16="http://schemas.microsoft.com/office/drawing/2014/main" id="{D1F51AF5-4724-4B35-49DF-D0A67C9E2BBA}"/>
              </a:ext>
            </a:extLst>
          </p:cNvPr>
          <p:cNvGraphicFramePr>
            <a:graphicFrameLocks noGrp="1"/>
          </p:cNvGraphicFramePr>
          <p:nvPr>
            <p:extLst>
              <p:ext uri="{D42A27DB-BD31-4B8C-83A1-F6EECF244321}">
                <p14:modId xmlns:p14="http://schemas.microsoft.com/office/powerpoint/2010/main" val="1632018344"/>
              </p:ext>
            </p:extLst>
          </p:nvPr>
        </p:nvGraphicFramePr>
        <p:xfrm>
          <a:off x="497977" y="3855485"/>
          <a:ext cx="11207264" cy="2611780"/>
        </p:xfrm>
        <a:graphic>
          <a:graphicData uri="http://schemas.openxmlformats.org/drawingml/2006/table">
            <a:tbl>
              <a:tblPr firstRow="1" bandRow="1">
                <a:tableStyleId>{5C22544A-7EE6-4342-B048-85BDC9FD1C3A}</a:tableStyleId>
              </a:tblPr>
              <a:tblGrid>
                <a:gridCol w="1817781">
                  <a:extLst>
                    <a:ext uri="{9D8B030D-6E8A-4147-A177-3AD203B41FA5}">
                      <a16:colId xmlns:a16="http://schemas.microsoft.com/office/drawing/2014/main" val="1789871121"/>
                    </a:ext>
                  </a:extLst>
                </a:gridCol>
                <a:gridCol w="2093203">
                  <a:extLst>
                    <a:ext uri="{9D8B030D-6E8A-4147-A177-3AD203B41FA5}">
                      <a16:colId xmlns:a16="http://schemas.microsoft.com/office/drawing/2014/main" val="170184549"/>
                    </a:ext>
                  </a:extLst>
                </a:gridCol>
                <a:gridCol w="2368625">
                  <a:extLst>
                    <a:ext uri="{9D8B030D-6E8A-4147-A177-3AD203B41FA5}">
                      <a16:colId xmlns:a16="http://schemas.microsoft.com/office/drawing/2014/main" val="757898944"/>
                    </a:ext>
                  </a:extLst>
                </a:gridCol>
                <a:gridCol w="2471909">
                  <a:extLst>
                    <a:ext uri="{9D8B030D-6E8A-4147-A177-3AD203B41FA5}">
                      <a16:colId xmlns:a16="http://schemas.microsoft.com/office/drawing/2014/main" val="1613380738"/>
                    </a:ext>
                  </a:extLst>
                </a:gridCol>
                <a:gridCol w="2455746">
                  <a:extLst>
                    <a:ext uri="{9D8B030D-6E8A-4147-A177-3AD203B41FA5}">
                      <a16:colId xmlns:a16="http://schemas.microsoft.com/office/drawing/2014/main" val="4052135404"/>
                    </a:ext>
                  </a:extLst>
                </a:gridCol>
              </a:tblGrid>
              <a:tr h="522356">
                <a:tc>
                  <a:txBody>
                    <a:bodyPr/>
                    <a:lstStyle/>
                    <a:p>
                      <a:pPr algn="ctr"/>
                      <a:r>
                        <a:rPr lang="ja-JP" altLang="en-US" sz="1600"/>
                        <a:t>区分</a:t>
                      </a:r>
                      <a:endParaRPr lang="en-US" sz="1600"/>
                    </a:p>
                  </a:txBody>
                  <a:tcPr anchor="ctr"/>
                </a:tc>
                <a:tc>
                  <a:txBody>
                    <a:bodyPr/>
                    <a:lstStyle/>
                    <a:p>
                      <a:pPr algn="ctr"/>
                      <a:r>
                        <a:rPr lang="ja-JP" altLang="en-US" sz="1600"/>
                        <a:t>車両型式(元)</a:t>
                      </a:r>
                      <a:endParaRPr lang="en-US" sz="1600"/>
                    </a:p>
                  </a:txBody>
                  <a:tcPr anchor="ctr"/>
                </a:tc>
                <a:tc>
                  <a:txBody>
                    <a:bodyPr/>
                    <a:lstStyle/>
                    <a:p>
                      <a:pPr algn="ctr"/>
                      <a:r>
                        <a:rPr lang="ja-JP" altLang="en-US" sz="1600"/>
                        <a:t>フレームNo(元)</a:t>
                      </a:r>
                      <a:endParaRPr lang="en-US" sz="1600"/>
                    </a:p>
                  </a:txBody>
                  <a:tcPr anchor="ctr"/>
                </a:tc>
                <a:tc>
                  <a:txBody>
                    <a:bodyPr/>
                    <a:lstStyle/>
                    <a:p>
                      <a:pPr algn="ctr"/>
                      <a:r>
                        <a:rPr lang="ja-JP" altLang="en-US" sz="1600"/>
                        <a:t>正規化後の車両ID</a:t>
                      </a:r>
                      <a:endParaRPr lang="en-US" sz="1600"/>
                    </a:p>
                  </a:txBody>
                  <a:tcPr anchor="ctr"/>
                </a:tc>
                <a:tc>
                  <a:txBody>
                    <a:bodyPr/>
                    <a:lstStyle/>
                    <a:p>
                      <a:pPr algn="ctr"/>
                      <a:r>
                        <a:rPr lang="ja-JP" altLang="en-US" sz="1600"/>
                        <a:t>判定注意</a:t>
                      </a:r>
                      <a:endParaRPr lang="en-US" sz="1600"/>
                    </a:p>
                  </a:txBody>
                  <a:tcPr anchor="ctr"/>
                </a:tc>
                <a:extLst>
                  <a:ext uri="{0D108BD9-81ED-4DB2-BD59-A6C34878D82A}">
                    <a16:rowId xmlns:a16="http://schemas.microsoft.com/office/drawing/2014/main" val="3285310835"/>
                  </a:ext>
                </a:extLst>
              </a:tr>
              <a:tr h="522356">
                <a:tc>
                  <a:txBody>
                    <a:bodyPr/>
                    <a:lstStyle/>
                    <a:p>
                      <a:r>
                        <a:rPr lang="ja-JP" altLang="en-US" sz="1400"/>
                        <a:t>ノーマル</a:t>
                      </a:r>
                    </a:p>
                  </a:txBody>
                  <a:tcPr anchor="ctr"/>
                </a:tc>
                <a:tc>
                  <a:txBody>
                    <a:bodyPr/>
                    <a:lstStyle/>
                    <a:p>
                      <a:r>
                        <a:rPr lang="en-US" sz="1400"/>
                        <a:t>ABC-100</a:t>
                      </a:r>
                    </a:p>
                  </a:txBody>
                  <a:tcPr anchor="ctr"/>
                </a:tc>
                <a:tc>
                  <a:txBody>
                    <a:bodyPr/>
                    <a:lstStyle/>
                    <a:p>
                      <a:r>
                        <a:rPr lang="en-US" sz="1400"/>
                        <a:t>ABC100-0001234</a:t>
                      </a:r>
                    </a:p>
                  </a:txBody>
                  <a:tcPr anchor="ctr"/>
                </a:tc>
                <a:tc>
                  <a:txBody>
                    <a:bodyPr/>
                    <a:lstStyle/>
                    <a:p>
                      <a:r>
                        <a:rPr lang="en-US" sz="1400"/>
                        <a:t>ABC100_ABC1000001234</a:t>
                      </a:r>
                    </a:p>
                  </a:txBody>
                  <a:tcPr anchor="ctr"/>
                </a:tc>
                <a:tc>
                  <a:txBody>
                    <a:bodyPr/>
                    <a:lstStyle/>
                    <a:p>
                      <a:r>
                        <a:rPr lang="ja-JP" altLang="en-US" sz="1400"/>
                        <a:t>必要な情報がそろっている</a:t>
                      </a:r>
                      <a:endParaRPr lang="en-US" sz="1400"/>
                    </a:p>
                  </a:txBody>
                  <a:tcPr anchor="ctr"/>
                </a:tc>
                <a:extLst>
                  <a:ext uri="{0D108BD9-81ED-4DB2-BD59-A6C34878D82A}">
                    <a16:rowId xmlns:a16="http://schemas.microsoft.com/office/drawing/2014/main" val="1327097438"/>
                  </a:ext>
                </a:extLst>
              </a:tr>
              <a:tr h="522356">
                <a:tc>
                  <a:txBody>
                    <a:bodyPr/>
                    <a:lstStyle/>
                    <a:p>
                      <a:r>
                        <a:rPr lang="ja-JP" altLang="en-US" sz="1400"/>
                        <a:t>ノーマル</a:t>
                      </a:r>
                      <a:endParaRPr lang="en-US" sz="1400"/>
                    </a:p>
                  </a:txBody>
                  <a:tcPr anchor="ctr"/>
                </a:tc>
                <a:tc>
                  <a:txBody>
                    <a:bodyPr/>
                    <a:lstStyle/>
                    <a:p>
                      <a:r>
                        <a:rPr lang="en-US" sz="1400"/>
                        <a:t>ABC-100</a:t>
                      </a:r>
                    </a:p>
                  </a:txBody>
                  <a:tcPr anchor="ctr"/>
                </a:tc>
                <a:tc>
                  <a:txBody>
                    <a:bodyPr/>
                    <a:lstStyle/>
                    <a:p>
                      <a:r>
                        <a:rPr lang="en-US" sz="1400"/>
                        <a:t>ABC100-0005678</a:t>
                      </a:r>
                    </a:p>
                  </a:txBody>
                  <a:tcPr anchor="ctr"/>
                </a:tc>
                <a:tc>
                  <a:txBody>
                    <a:bodyPr/>
                    <a:lstStyle/>
                    <a:p>
                      <a:r>
                        <a:rPr lang="en-US" sz="1400"/>
                        <a:t>ABC100_ABC100000</a:t>
                      </a:r>
                      <a:r>
                        <a:rPr lang="en-US" sz="1400" b="0" i="0" u="none" strike="noStrike" noProof="0">
                          <a:solidFill>
                            <a:srgbClr val="000000"/>
                          </a:solidFill>
                          <a:latin typeface="Arial"/>
                          <a:cs typeface="Arial"/>
                        </a:rPr>
                        <a:t>5678</a:t>
                      </a:r>
                    </a:p>
                  </a:txBody>
                  <a:tcPr anchor="ctr"/>
                </a:tc>
                <a:tc>
                  <a:txBody>
                    <a:bodyPr/>
                    <a:lstStyle/>
                    <a:p>
                      <a:r>
                        <a:rPr lang="ja-JP" altLang="en-US" sz="1400"/>
                        <a:t>型式が同じでもフレームが異なるため別車両</a:t>
                      </a:r>
                    </a:p>
                  </a:txBody>
                  <a:tcPr anchor="ctr"/>
                </a:tc>
                <a:extLst>
                  <a:ext uri="{0D108BD9-81ED-4DB2-BD59-A6C34878D82A}">
                    <a16:rowId xmlns:a16="http://schemas.microsoft.com/office/drawing/2014/main" val="1696519229"/>
                  </a:ext>
                </a:extLst>
              </a:tr>
              <a:tr h="522356">
                <a:tc>
                  <a:txBody>
                    <a:bodyPr/>
                    <a:lstStyle/>
                    <a:p>
                      <a:r>
                        <a:rPr lang="ja-JP" altLang="en-US" sz="1400"/>
                        <a:t>イレギュラー</a:t>
                      </a:r>
                      <a:endParaRPr lang="en-US" sz="1400"/>
                    </a:p>
                  </a:txBody>
                  <a:tcPr anchor="ctr"/>
                </a:tc>
                <a:tc>
                  <a:txBody>
                    <a:bodyPr/>
                    <a:lstStyle/>
                    <a:p>
                      <a:pPr lvl="0">
                        <a:buNone/>
                      </a:pPr>
                      <a:r>
                        <a:rPr lang="en-US" sz="1400">
                          <a:solidFill>
                            <a:srgbClr val="FF0000"/>
                          </a:solidFill>
                        </a:rPr>
                        <a:t>a</a:t>
                      </a:r>
                      <a:r>
                        <a:rPr lang="en-US" sz="1400"/>
                        <a:t>B</a:t>
                      </a:r>
                      <a:r>
                        <a:rPr lang="en-US" sz="1400">
                          <a:solidFill>
                            <a:srgbClr val="FF0000"/>
                          </a:solidFill>
                        </a:rPr>
                        <a:t>Ｃ</a:t>
                      </a:r>
                      <a:r>
                        <a:rPr lang="en-US" sz="1400"/>
                        <a:t>-100</a:t>
                      </a:r>
                    </a:p>
                  </a:txBody>
                  <a:tcPr anchor="ctr"/>
                </a:tc>
                <a:tc>
                  <a:txBody>
                    <a:bodyPr/>
                    <a:lstStyle/>
                    <a:p>
                      <a:r>
                        <a:rPr lang="en-US" sz="1400"/>
                        <a:t>AB</a:t>
                      </a:r>
                      <a:r>
                        <a:rPr lang="en-US" sz="1400" u="sng">
                          <a:solidFill>
                            <a:srgbClr val="FF0000"/>
                          </a:solidFill>
                        </a:rPr>
                        <a:t> </a:t>
                      </a:r>
                      <a:r>
                        <a:rPr lang="en-US" sz="1400"/>
                        <a:t>C100</a:t>
                      </a:r>
                      <a:r>
                        <a:rPr lang="en-US" sz="1400">
                          <a:solidFill>
                            <a:srgbClr val="FF0000"/>
                          </a:solidFill>
                        </a:rPr>
                        <a:t>ー</a:t>
                      </a:r>
                      <a:r>
                        <a:rPr lang="en-US" sz="1400"/>
                        <a:t>0001234</a:t>
                      </a:r>
                    </a:p>
                  </a:txBody>
                  <a:tcPr anchor="ctr"/>
                </a:tc>
                <a:tc>
                  <a:txBody>
                    <a:bodyPr/>
                    <a:lstStyle/>
                    <a:p>
                      <a:r>
                        <a:rPr lang="en-US" sz="1400"/>
                        <a:t>ABC100_ABC1000001234</a:t>
                      </a:r>
                    </a:p>
                  </a:txBody>
                  <a:tcPr anchor="ctr"/>
                </a:tc>
                <a:tc>
                  <a:txBody>
                    <a:bodyPr/>
                    <a:lstStyle/>
                    <a:p>
                      <a:r>
                        <a:rPr lang="ja-JP" altLang="en-US" sz="1400"/>
                        <a:t>記号や文字種違い、大文字違いなど</a:t>
                      </a:r>
                      <a:endParaRPr lang="en-US" sz="1400"/>
                    </a:p>
                  </a:txBody>
                  <a:tcPr anchor="ctr"/>
                </a:tc>
                <a:extLst>
                  <a:ext uri="{0D108BD9-81ED-4DB2-BD59-A6C34878D82A}">
                    <a16:rowId xmlns:a16="http://schemas.microsoft.com/office/drawing/2014/main" val="3582162035"/>
                  </a:ext>
                </a:extLst>
              </a:tr>
              <a:tr h="522356">
                <a:tc>
                  <a:txBody>
                    <a:bodyPr/>
                    <a:lstStyle/>
                    <a:p>
                      <a:r>
                        <a:rPr lang="ja-JP" altLang="en-US" sz="1400"/>
                        <a:t>イレギュラー</a:t>
                      </a:r>
                      <a:endParaRPr lang="en-US" sz="1400"/>
                    </a:p>
                  </a:txBody>
                  <a:tcPr anchor="ctr"/>
                </a:tc>
                <a:tc>
                  <a:txBody>
                    <a:bodyPr/>
                    <a:lstStyle/>
                    <a:p>
                      <a:r>
                        <a:rPr lang="en-US" altLang="ja-JP" sz="1400"/>
                        <a:t>ABC-100</a:t>
                      </a:r>
                    </a:p>
                  </a:txBody>
                  <a:tcPr anchor="ctr"/>
                </a:tc>
                <a:tc>
                  <a:txBody>
                    <a:bodyPr/>
                    <a:lstStyle/>
                    <a:p>
                      <a:r>
                        <a:rPr lang="en-US" sz="1400"/>
                        <a:t>ABC100-0001234</a:t>
                      </a:r>
                    </a:p>
                  </a:txBody>
                  <a:tcPr anchor="ctr"/>
                </a:tc>
                <a:tc>
                  <a:txBody>
                    <a:bodyPr/>
                    <a:lstStyle/>
                    <a:p>
                      <a:pPr lvl="0">
                        <a:buNone/>
                      </a:pPr>
                      <a:r>
                        <a:rPr lang="en-US" sz="1400" b="0" i="0" u="none" strike="noStrike" noProof="0">
                          <a:solidFill>
                            <a:srgbClr val="000000"/>
                          </a:solidFill>
                          <a:latin typeface="Arial"/>
                          <a:cs typeface="Arial"/>
                        </a:rPr>
                        <a:t>ABC100_ABC1000001234</a:t>
                      </a:r>
                      <a:endParaRPr lang="en-US"/>
                    </a:p>
                  </a:txBody>
                  <a:tcPr anchor="ctr"/>
                </a:tc>
                <a:tc>
                  <a:txBody>
                    <a:bodyPr/>
                    <a:lstStyle/>
                    <a:p>
                      <a:r>
                        <a:rPr lang="ja-JP" altLang="en-US" sz="1100"/>
                        <a:t>重複：同一か誤登録かチェック</a:t>
                      </a:r>
                    </a:p>
                    <a:p>
                      <a:pPr lvl="0">
                        <a:buNone/>
                      </a:pPr>
                      <a:r>
                        <a:rPr lang="ja-JP" altLang="en-US" sz="1100"/>
                        <a:t>欠損：エラー対応で確認対象</a:t>
                      </a:r>
                    </a:p>
                  </a:txBody>
                  <a:tcPr anchor="ctr"/>
                </a:tc>
                <a:extLst>
                  <a:ext uri="{0D108BD9-81ED-4DB2-BD59-A6C34878D82A}">
                    <a16:rowId xmlns:a16="http://schemas.microsoft.com/office/drawing/2014/main" val="2715178367"/>
                  </a:ext>
                </a:extLst>
              </a:tr>
            </a:tbl>
          </a:graphicData>
        </a:graphic>
      </p:graphicFrame>
      <p:sp>
        <p:nvSpPr>
          <p:cNvPr id="6" name="TextBox 5">
            <a:extLst>
              <a:ext uri="{FF2B5EF4-FFF2-40B4-BE49-F238E27FC236}">
                <a16:creationId xmlns:a16="http://schemas.microsoft.com/office/drawing/2014/main" id="{A4F62347-BEB9-6EE7-453F-09896CB8346F}"/>
              </a:ext>
            </a:extLst>
          </p:cNvPr>
          <p:cNvSpPr txBox="1"/>
          <p:nvPr/>
        </p:nvSpPr>
        <p:spPr>
          <a:xfrm>
            <a:off x="500986" y="3568640"/>
            <a:ext cx="48186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cs typeface="Arial"/>
              </a:rPr>
              <a:t>例）車両IDが識別できる根拠</a:t>
            </a:r>
            <a:endParaRPr lang="en-US"/>
          </a:p>
        </p:txBody>
      </p:sp>
    </p:spTree>
    <p:extLst>
      <p:ext uri="{BB962C8B-B14F-4D97-AF65-F5344CB8AC3E}">
        <p14:creationId xmlns:p14="http://schemas.microsoft.com/office/powerpoint/2010/main" val="3740022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F0C6-E246-F588-1B8A-847122E72E7F}"/>
              </a:ext>
            </a:extLst>
          </p:cNvPr>
          <p:cNvSpPr>
            <a:spLocks noGrp="1"/>
          </p:cNvSpPr>
          <p:nvPr>
            <p:ph type="title"/>
          </p:nvPr>
        </p:nvSpPr>
        <p:spPr/>
        <p:txBody>
          <a:bodyPr/>
          <a:lstStyle/>
          <a:p>
            <a:r>
              <a:rPr lang="ja-JP" altLang="en-US"/>
              <a:t>今回の設計で前提としていること</a:t>
            </a:r>
          </a:p>
        </p:txBody>
      </p:sp>
      <p:sp>
        <p:nvSpPr>
          <p:cNvPr id="4" name="Slide Number Placeholder 3">
            <a:extLst>
              <a:ext uri="{FF2B5EF4-FFF2-40B4-BE49-F238E27FC236}">
                <a16:creationId xmlns:a16="http://schemas.microsoft.com/office/drawing/2014/main" id="{9B257E13-EB29-DC3C-E758-ACCBD0406819}"/>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6</a:t>
            </a:fld>
            <a:endParaRPr lang="en-US" altLang="ja-JP" sz="2133">
              <a:latin typeface="Arial Black" pitchFamily="34" charset="0"/>
            </a:endParaRPr>
          </a:p>
        </p:txBody>
      </p:sp>
      <p:graphicFrame>
        <p:nvGraphicFramePr>
          <p:cNvPr id="5" name="Table 4">
            <a:extLst>
              <a:ext uri="{FF2B5EF4-FFF2-40B4-BE49-F238E27FC236}">
                <a16:creationId xmlns:a16="http://schemas.microsoft.com/office/drawing/2014/main" id="{9A844A5C-E751-3FBD-D950-EA660E263163}"/>
              </a:ext>
            </a:extLst>
          </p:cNvPr>
          <p:cNvGraphicFramePr>
            <a:graphicFrameLocks noGrp="1"/>
          </p:cNvGraphicFramePr>
          <p:nvPr>
            <p:extLst>
              <p:ext uri="{D42A27DB-BD31-4B8C-83A1-F6EECF244321}">
                <p14:modId xmlns:p14="http://schemas.microsoft.com/office/powerpoint/2010/main" val="376376736"/>
              </p:ext>
            </p:extLst>
          </p:nvPr>
        </p:nvGraphicFramePr>
        <p:xfrm>
          <a:off x="662734" y="1123971"/>
          <a:ext cx="4782627" cy="2595880"/>
        </p:xfrm>
        <a:graphic>
          <a:graphicData uri="http://schemas.openxmlformats.org/drawingml/2006/table">
            <a:tbl>
              <a:tblPr firstRow="1" bandRow="1">
                <a:tableStyleId>{5C22544A-7EE6-4342-B048-85BDC9FD1C3A}</a:tableStyleId>
              </a:tblPr>
              <a:tblGrid>
                <a:gridCol w="4782627">
                  <a:extLst>
                    <a:ext uri="{9D8B030D-6E8A-4147-A177-3AD203B41FA5}">
                      <a16:colId xmlns:a16="http://schemas.microsoft.com/office/drawing/2014/main" val="3693091801"/>
                    </a:ext>
                  </a:extLst>
                </a:gridCol>
              </a:tblGrid>
              <a:tr h="370840">
                <a:tc>
                  <a:txBody>
                    <a:bodyPr/>
                    <a:lstStyle/>
                    <a:p>
                      <a:pPr algn="ctr"/>
                      <a:r>
                        <a:rPr lang="ja-JP" altLang="en-US" sz="1600"/>
                        <a:t>現時点で確認したもの</a:t>
                      </a:r>
                      <a:endParaRPr lang="en-US" sz="1600"/>
                    </a:p>
                  </a:txBody>
                  <a:tcPr anchor="ctr"/>
                </a:tc>
                <a:extLst>
                  <a:ext uri="{0D108BD9-81ED-4DB2-BD59-A6C34878D82A}">
                    <a16:rowId xmlns:a16="http://schemas.microsoft.com/office/drawing/2014/main" val="510196822"/>
                  </a:ext>
                </a:extLst>
              </a:tr>
              <a:tr h="370840">
                <a:tc>
                  <a:txBody>
                    <a:bodyPr/>
                    <a:lstStyle/>
                    <a:p>
                      <a:r>
                        <a:rPr lang="ja-JP" altLang="en-US" sz="1200"/>
                        <a:t>インフラ構成図</a:t>
                      </a:r>
                      <a:endParaRPr lang="en-US" sz="1200"/>
                    </a:p>
                  </a:txBody>
                  <a:tcPr anchor="ctr"/>
                </a:tc>
                <a:extLst>
                  <a:ext uri="{0D108BD9-81ED-4DB2-BD59-A6C34878D82A}">
                    <a16:rowId xmlns:a16="http://schemas.microsoft.com/office/drawing/2014/main" val="2928215898"/>
                  </a:ext>
                </a:extLst>
              </a:tr>
              <a:tr h="370840">
                <a:tc>
                  <a:txBody>
                    <a:bodyPr/>
                    <a:lstStyle/>
                    <a:p>
                      <a:r>
                        <a:rPr lang="en-US" sz="1200" err="1"/>
                        <a:t>AzurePowerBIDB</a:t>
                      </a:r>
                      <a:r>
                        <a:rPr lang="ja-JP" altLang="en-US" sz="1200"/>
                        <a:t>テーブル設計書</a:t>
                      </a:r>
                    </a:p>
                  </a:txBody>
                  <a:tcPr anchor="ctr"/>
                </a:tc>
                <a:extLst>
                  <a:ext uri="{0D108BD9-81ED-4DB2-BD59-A6C34878D82A}">
                    <a16:rowId xmlns:a16="http://schemas.microsoft.com/office/drawing/2014/main" val="3595142510"/>
                  </a:ext>
                </a:extLst>
              </a:tr>
              <a:tr h="370840">
                <a:tc>
                  <a:txBody>
                    <a:bodyPr/>
                    <a:lstStyle/>
                    <a:p>
                      <a:r>
                        <a:rPr lang="ja-JP" altLang="en-US" sz="1200"/>
                        <a:t>テーブル一覧・項目定義</a:t>
                      </a:r>
                    </a:p>
                  </a:txBody>
                  <a:tcPr anchor="ctr"/>
                </a:tc>
                <a:extLst>
                  <a:ext uri="{0D108BD9-81ED-4DB2-BD59-A6C34878D82A}">
                    <a16:rowId xmlns:a16="http://schemas.microsoft.com/office/drawing/2014/main" val="2196558188"/>
                  </a:ext>
                </a:extLst>
              </a:tr>
              <a:tr h="370840">
                <a:tc>
                  <a:txBody>
                    <a:bodyPr/>
                    <a:lstStyle/>
                    <a:p>
                      <a:r>
                        <a:rPr lang="en-US" sz="1200" err="1"/>
                        <a:t>Index</a:t>
                      </a:r>
                      <a:r>
                        <a:rPr lang="ja-JP" altLang="en-US" sz="1200" err="1"/>
                        <a:t>定義・レコード件数</a:t>
                      </a:r>
                    </a:p>
                  </a:txBody>
                  <a:tcPr anchor="ctr"/>
                </a:tc>
                <a:extLst>
                  <a:ext uri="{0D108BD9-81ED-4DB2-BD59-A6C34878D82A}">
                    <a16:rowId xmlns:a16="http://schemas.microsoft.com/office/drawing/2014/main" val="3209511975"/>
                  </a:ext>
                </a:extLst>
              </a:tr>
              <a:tr h="370840">
                <a:tc>
                  <a:txBody>
                    <a:bodyPr/>
                    <a:lstStyle/>
                    <a:p>
                      <a:r>
                        <a:rPr lang="ja-JP" altLang="en-US" sz="1200"/>
                        <a:t>複数種類のデータがAzurePowerBIDBに集約されている可能性</a:t>
                      </a:r>
                      <a:endParaRPr lang="en-US" sz="1200"/>
                    </a:p>
                  </a:txBody>
                  <a:tcPr anchor="ctr"/>
                </a:tc>
                <a:extLst>
                  <a:ext uri="{0D108BD9-81ED-4DB2-BD59-A6C34878D82A}">
                    <a16:rowId xmlns:a16="http://schemas.microsoft.com/office/drawing/2014/main" val="2664539453"/>
                  </a:ext>
                </a:extLst>
              </a:tr>
              <a:tr h="370840">
                <a:tc>
                  <a:txBody>
                    <a:bodyPr/>
                    <a:lstStyle/>
                    <a:p>
                      <a:r>
                        <a:rPr lang="en-US" sz="1200"/>
                        <a:t>Power BI</a:t>
                      </a:r>
                      <a:r>
                        <a:rPr lang="ja-JP" altLang="en-US" sz="1200"/>
                        <a:t>などで利活用されていると考えられること</a:t>
                      </a:r>
                      <a:endParaRPr lang="en-US" sz="1200"/>
                    </a:p>
                  </a:txBody>
                  <a:tcPr anchor="ctr"/>
                </a:tc>
                <a:extLst>
                  <a:ext uri="{0D108BD9-81ED-4DB2-BD59-A6C34878D82A}">
                    <a16:rowId xmlns:a16="http://schemas.microsoft.com/office/drawing/2014/main" val="3718423102"/>
                  </a:ext>
                </a:extLst>
              </a:tr>
            </a:tbl>
          </a:graphicData>
        </a:graphic>
      </p:graphicFrame>
      <p:graphicFrame>
        <p:nvGraphicFramePr>
          <p:cNvPr id="8" name="Table 7">
            <a:extLst>
              <a:ext uri="{FF2B5EF4-FFF2-40B4-BE49-F238E27FC236}">
                <a16:creationId xmlns:a16="http://schemas.microsoft.com/office/drawing/2014/main" id="{62792F44-CAAA-6219-0C83-F32B51933707}"/>
              </a:ext>
            </a:extLst>
          </p:cNvPr>
          <p:cNvGraphicFramePr>
            <a:graphicFrameLocks noGrp="1"/>
          </p:cNvGraphicFramePr>
          <p:nvPr>
            <p:extLst>
              <p:ext uri="{D42A27DB-BD31-4B8C-83A1-F6EECF244321}">
                <p14:modId xmlns:p14="http://schemas.microsoft.com/office/powerpoint/2010/main" val="1198686889"/>
              </p:ext>
            </p:extLst>
          </p:nvPr>
        </p:nvGraphicFramePr>
        <p:xfrm>
          <a:off x="5965842" y="1123971"/>
          <a:ext cx="4769741" cy="2642158"/>
        </p:xfrm>
        <a:graphic>
          <a:graphicData uri="http://schemas.openxmlformats.org/drawingml/2006/table">
            <a:tbl>
              <a:tblPr firstRow="1" bandRow="1">
                <a:tableStyleId>{1FECB4D8-DB02-4DC6-A0A2-4F2EBAE1DC90}</a:tableStyleId>
              </a:tblPr>
              <a:tblGrid>
                <a:gridCol w="4769741">
                  <a:extLst>
                    <a:ext uri="{9D8B030D-6E8A-4147-A177-3AD203B41FA5}">
                      <a16:colId xmlns:a16="http://schemas.microsoft.com/office/drawing/2014/main" val="197758707"/>
                    </a:ext>
                  </a:extLst>
                </a:gridCol>
              </a:tblGrid>
              <a:tr h="244811">
                <a:tc>
                  <a:txBody>
                    <a:bodyPr/>
                    <a:lstStyle/>
                    <a:p>
                      <a:pPr algn="ctr"/>
                      <a:r>
                        <a:rPr lang="ja-JP" altLang="en-US" sz="1600"/>
                        <a:t>今後確認or確定する必要なこと</a:t>
                      </a:r>
                      <a:endParaRPr lang="en-US" sz="1600"/>
                    </a:p>
                  </a:txBody>
                  <a:tcPr anchor="ctr"/>
                </a:tc>
                <a:extLst>
                  <a:ext uri="{0D108BD9-81ED-4DB2-BD59-A6C34878D82A}">
                    <a16:rowId xmlns:a16="http://schemas.microsoft.com/office/drawing/2014/main" val="931077612"/>
                  </a:ext>
                </a:extLst>
              </a:tr>
              <a:tr h="329554">
                <a:tc>
                  <a:txBody>
                    <a:bodyPr/>
                    <a:lstStyle/>
                    <a:p>
                      <a:pPr algn="l"/>
                      <a:r>
                        <a:rPr lang="ja-JP" altLang="en-US" sz="1400"/>
                        <a:t>各テーブルの正式な業務用途</a:t>
                      </a:r>
                    </a:p>
                  </a:txBody>
                  <a:tcPr anchor="ctr"/>
                </a:tc>
                <a:extLst>
                  <a:ext uri="{0D108BD9-81ED-4DB2-BD59-A6C34878D82A}">
                    <a16:rowId xmlns:a16="http://schemas.microsoft.com/office/drawing/2014/main" val="401866338"/>
                  </a:ext>
                </a:extLst>
              </a:tr>
              <a:tr h="329554">
                <a:tc>
                  <a:txBody>
                    <a:bodyPr/>
                    <a:lstStyle/>
                    <a:p>
                      <a:pPr algn="l"/>
                      <a:r>
                        <a:rPr lang="ja-JP" altLang="en-US" sz="1400"/>
                        <a:t>主キー・業務キー</a:t>
                      </a:r>
                      <a:endParaRPr lang="en-US" sz="1400"/>
                    </a:p>
                  </a:txBody>
                  <a:tcPr anchor="ctr"/>
                </a:tc>
                <a:extLst>
                  <a:ext uri="{0D108BD9-81ED-4DB2-BD59-A6C34878D82A}">
                    <a16:rowId xmlns:a16="http://schemas.microsoft.com/office/drawing/2014/main" val="1372984179"/>
                  </a:ext>
                </a:extLst>
              </a:tr>
              <a:tr h="329554">
                <a:tc>
                  <a:txBody>
                    <a:bodyPr/>
                    <a:lstStyle/>
                    <a:p>
                      <a:pPr algn="l"/>
                      <a:r>
                        <a:rPr lang="ja-JP" altLang="en-US" sz="1400"/>
                        <a:t>全量連携か差分連携か</a:t>
                      </a:r>
                      <a:endParaRPr lang="en-US" sz="1400"/>
                    </a:p>
                  </a:txBody>
                  <a:tcPr anchor="ctr"/>
                </a:tc>
                <a:extLst>
                  <a:ext uri="{0D108BD9-81ED-4DB2-BD59-A6C34878D82A}">
                    <a16:rowId xmlns:a16="http://schemas.microsoft.com/office/drawing/2014/main" val="3011785766"/>
                  </a:ext>
                </a:extLst>
              </a:tr>
              <a:tr h="329554">
                <a:tc>
                  <a:txBody>
                    <a:bodyPr/>
                    <a:lstStyle/>
                    <a:p>
                      <a:pPr algn="l"/>
                      <a:r>
                        <a:rPr lang="ja-JP" altLang="en-US" sz="1400"/>
                        <a:t>更新・削除・訂正データの扱い方</a:t>
                      </a:r>
                      <a:endParaRPr lang="en-US" sz="1400"/>
                    </a:p>
                  </a:txBody>
                  <a:tcPr anchor="ctr"/>
                </a:tc>
                <a:extLst>
                  <a:ext uri="{0D108BD9-81ED-4DB2-BD59-A6C34878D82A}">
                    <a16:rowId xmlns:a16="http://schemas.microsoft.com/office/drawing/2014/main" val="165548373"/>
                  </a:ext>
                </a:extLst>
              </a:tr>
              <a:tr h="329554">
                <a:tc>
                  <a:txBody>
                    <a:bodyPr/>
                    <a:lstStyle/>
                    <a:p>
                      <a:pPr algn="l"/>
                      <a:r>
                        <a:rPr lang="en-US" sz="1400" err="1"/>
                        <a:t>PowerBI</a:t>
                      </a:r>
                      <a:r>
                        <a:rPr lang="ja-JP" altLang="en-US" sz="1400"/>
                        <a:t>での参照状況</a:t>
                      </a:r>
                    </a:p>
                  </a:txBody>
                  <a:tcPr anchor="ctr"/>
                </a:tc>
                <a:extLst>
                  <a:ext uri="{0D108BD9-81ED-4DB2-BD59-A6C34878D82A}">
                    <a16:rowId xmlns:a16="http://schemas.microsoft.com/office/drawing/2014/main" val="3434428153"/>
                  </a:ext>
                </a:extLst>
              </a:tr>
              <a:tr h="329554">
                <a:tc>
                  <a:txBody>
                    <a:bodyPr/>
                    <a:lstStyle/>
                    <a:p>
                      <a:pPr algn="l"/>
                      <a:r>
                        <a:rPr lang="ja-JP" altLang="en-US" sz="1400"/>
                        <a:t>履歴の保持期間</a:t>
                      </a:r>
                      <a:endParaRPr lang="en-US" sz="1400"/>
                    </a:p>
                  </a:txBody>
                  <a:tcPr anchor="ctr"/>
                </a:tc>
                <a:extLst>
                  <a:ext uri="{0D108BD9-81ED-4DB2-BD59-A6C34878D82A}">
                    <a16:rowId xmlns:a16="http://schemas.microsoft.com/office/drawing/2014/main" val="909605960"/>
                  </a:ext>
                </a:extLst>
              </a:tr>
              <a:tr h="329554">
                <a:tc>
                  <a:txBody>
                    <a:bodyPr/>
                    <a:lstStyle/>
                    <a:p>
                      <a:pPr algn="l"/>
                      <a:r>
                        <a:rPr lang="ja-JP" altLang="en-US" sz="1400"/>
                        <a:t>障害発生時の再実行方法</a:t>
                      </a:r>
                      <a:endParaRPr lang="en-US" sz="1400"/>
                    </a:p>
                  </a:txBody>
                  <a:tcPr anchor="ctr"/>
                </a:tc>
                <a:extLst>
                  <a:ext uri="{0D108BD9-81ED-4DB2-BD59-A6C34878D82A}">
                    <a16:rowId xmlns:a16="http://schemas.microsoft.com/office/drawing/2014/main" val="543578663"/>
                  </a:ext>
                </a:extLst>
              </a:tr>
            </a:tbl>
          </a:graphicData>
        </a:graphic>
      </p:graphicFrame>
      <p:sp>
        <p:nvSpPr>
          <p:cNvPr id="9" name="TextBox 8">
            <a:extLst>
              <a:ext uri="{FF2B5EF4-FFF2-40B4-BE49-F238E27FC236}">
                <a16:creationId xmlns:a16="http://schemas.microsoft.com/office/drawing/2014/main" id="{7CA3EA55-C7F4-8ED3-B26D-6F9956C8CEF2}"/>
              </a:ext>
            </a:extLst>
          </p:cNvPr>
          <p:cNvSpPr txBox="1"/>
          <p:nvPr/>
        </p:nvSpPr>
        <p:spPr>
          <a:xfrm>
            <a:off x="682052" y="4645674"/>
            <a:ext cx="1043668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b="1">
                <a:cs typeface="Arial"/>
              </a:rPr>
              <a:t>本資料の位置づけ</a:t>
            </a:r>
            <a:br>
              <a:rPr lang="ja-JP" altLang="en-US" b="1">
                <a:cs typeface="Arial"/>
              </a:rPr>
            </a:br>
            <a:endParaRPr lang="ja-JP" altLang="en-US" b="1">
              <a:cs typeface="Arial"/>
            </a:endParaRPr>
          </a:p>
          <a:p>
            <a:r>
              <a:rPr lang="ja-JP" altLang="en-US" sz="1600">
                <a:cs typeface="Arial"/>
              </a:rPr>
              <a:t>本資料は、現時点確認できている資料を基に整理した基本方針になります。</a:t>
            </a:r>
          </a:p>
          <a:p>
            <a:r>
              <a:rPr lang="ja-JP" altLang="en-US" sz="1600">
                <a:cs typeface="Arial"/>
              </a:rPr>
              <a:t>テーブルごとの履歴方式や実装内容は未確認事項を確認したうえで確定するのをおすすめします。</a:t>
            </a:r>
            <a:r>
              <a:rPr lang="ja-JP" altLang="en-US" sz="1400">
                <a:cs typeface="Arial"/>
              </a:rPr>
              <a:t>​</a:t>
            </a:r>
          </a:p>
        </p:txBody>
      </p:sp>
    </p:spTree>
    <p:extLst>
      <p:ext uri="{BB962C8B-B14F-4D97-AF65-F5344CB8AC3E}">
        <p14:creationId xmlns:p14="http://schemas.microsoft.com/office/powerpoint/2010/main" val="634641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9261-0166-7E37-C7D9-B674FD8D3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71FA2-5FD7-8D0A-4971-B32615E0F1FE}"/>
              </a:ext>
            </a:extLst>
          </p:cNvPr>
          <p:cNvSpPr>
            <a:spLocks noGrp="1"/>
          </p:cNvSpPr>
          <p:nvPr>
            <p:ph type="title"/>
          </p:nvPr>
        </p:nvSpPr>
        <p:spPr/>
        <p:txBody>
          <a:bodyPr/>
          <a:lstStyle/>
          <a:p>
            <a:r>
              <a:rPr lang="ja-JP" altLang="en-US"/>
              <a:t>今後TM東京チームで検討いただきたいこと</a:t>
            </a:r>
            <a:endParaRPr lang="en-US"/>
          </a:p>
        </p:txBody>
      </p:sp>
      <p:graphicFrame>
        <p:nvGraphicFramePr>
          <p:cNvPr id="5" name="Content Placeholder 4">
            <a:extLst>
              <a:ext uri="{FF2B5EF4-FFF2-40B4-BE49-F238E27FC236}">
                <a16:creationId xmlns:a16="http://schemas.microsoft.com/office/drawing/2014/main" id="{89488A1B-FDCD-D36C-8B10-DD4B2159335F}"/>
              </a:ext>
            </a:extLst>
          </p:cNvPr>
          <p:cNvGraphicFramePr>
            <a:graphicFrameLocks noGrp="1"/>
          </p:cNvGraphicFramePr>
          <p:nvPr>
            <p:ph idx="1"/>
            <p:extLst>
              <p:ext uri="{D42A27DB-BD31-4B8C-83A1-F6EECF244321}">
                <p14:modId xmlns:p14="http://schemas.microsoft.com/office/powerpoint/2010/main" val="1041688760"/>
              </p:ext>
            </p:extLst>
          </p:nvPr>
        </p:nvGraphicFramePr>
        <p:xfrm>
          <a:off x="940315" y="1156000"/>
          <a:ext cx="4211278" cy="2573768"/>
        </p:xfrm>
        <a:graphic>
          <a:graphicData uri="http://schemas.openxmlformats.org/drawingml/2006/table">
            <a:tbl>
              <a:tblPr firstRow="1" bandRow="1">
                <a:tableStyleId>{5C22544A-7EE6-4342-B048-85BDC9FD1C3A}</a:tableStyleId>
              </a:tblPr>
              <a:tblGrid>
                <a:gridCol w="4211278">
                  <a:extLst>
                    <a:ext uri="{9D8B030D-6E8A-4147-A177-3AD203B41FA5}">
                      <a16:colId xmlns:a16="http://schemas.microsoft.com/office/drawing/2014/main" val="765132061"/>
                    </a:ext>
                  </a:extLst>
                </a:gridCol>
              </a:tblGrid>
              <a:tr h="568623">
                <a:tc>
                  <a:txBody>
                    <a:bodyPr/>
                    <a:lstStyle/>
                    <a:p>
                      <a:r>
                        <a:rPr lang="ja-JP" altLang="en-US" sz="1400"/>
                        <a:t>業務・分析要件</a:t>
                      </a:r>
                      <a:r>
                        <a:rPr lang="ja-JP" altLang="en-US" sz="1200"/>
                        <a:t>(どこまで確認・分析がしたいか)</a:t>
                      </a:r>
                      <a:endParaRPr lang="en-US" sz="1200"/>
                    </a:p>
                  </a:txBody>
                  <a:tcPr/>
                </a:tc>
                <a:extLst>
                  <a:ext uri="{0D108BD9-81ED-4DB2-BD59-A6C34878D82A}">
                    <a16:rowId xmlns:a16="http://schemas.microsoft.com/office/drawing/2014/main" val="1198245534"/>
                  </a:ext>
                </a:extLst>
              </a:tr>
              <a:tr h="433949">
                <a:tc>
                  <a:txBody>
                    <a:bodyPr/>
                    <a:lstStyle/>
                    <a:p>
                      <a:r>
                        <a:rPr lang="ja-JP" altLang="en-US" sz="1200"/>
                        <a:t>車両ライフサイクルをどこまで追跡するか</a:t>
                      </a:r>
                      <a:endParaRPr lang="en-US" sz="1200"/>
                    </a:p>
                  </a:txBody>
                  <a:tcPr/>
                </a:tc>
                <a:extLst>
                  <a:ext uri="{0D108BD9-81ED-4DB2-BD59-A6C34878D82A}">
                    <a16:rowId xmlns:a16="http://schemas.microsoft.com/office/drawing/2014/main" val="648988773"/>
                  </a:ext>
                </a:extLst>
              </a:tr>
              <a:tr h="523732">
                <a:tc>
                  <a:txBody>
                    <a:bodyPr/>
                    <a:lstStyle/>
                    <a:p>
                      <a:r>
                        <a:rPr lang="ja-JP" altLang="en-US" sz="1200"/>
                        <a:t>新車販売、整備、下取、U-Car販売など、対象とする段階はどこか</a:t>
                      </a:r>
                    </a:p>
                  </a:txBody>
                  <a:tcPr/>
                </a:tc>
                <a:extLst>
                  <a:ext uri="{0D108BD9-81ED-4DB2-BD59-A6C34878D82A}">
                    <a16:rowId xmlns:a16="http://schemas.microsoft.com/office/drawing/2014/main" val="1762097659"/>
                  </a:ext>
                </a:extLst>
              </a:tr>
              <a:tr h="523732">
                <a:tc>
                  <a:txBody>
                    <a:bodyPr/>
                    <a:lstStyle/>
                    <a:p>
                      <a:r>
                        <a:rPr lang="ja-JP" altLang="en-US" sz="1200"/>
                        <a:t>車両谷の利益算出に必要な売上、原価、費用の定義</a:t>
                      </a:r>
                      <a:endParaRPr lang="en-US" sz="1200"/>
                    </a:p>
                  </a:txBody>
                  <a:tcPr/>
                </a:tc>
                <a:extLst>
                  <a:ext uri="{0D108BD9-81ED-4DB2-BD59-A6C34878D82A}">
                    <a16:rowId xmlns:a16="http://schemas.microsoft.com/office/drawing/2014/main" val="1160438144"/>
                  </a:ext>
                </a:extLst>
              </a:tr>
              <a:tr h="523732">
                <a:tc>
                  <a:txBody>
                    <a:bodyPr/>
                    <a:lstStyle/>
                    <a:p>
                      <a:r>
                        <a:rPr lang="ja-JP" altLang="en-US" sz="1200"/>
                        <a:t>現在の状態だけでなく、過去お時点の状態も再現が必要か</a:t>
                      </a:r>
                    </a:p>
                  </a:txBody>
                  <a:tcPr/>
                </a:tc>
                <a:extLst>
                  <a:ext uri="{0D108BD9-81ED-4DB2-BD59-A6C34878D82A}">
                    <a16:rowId xmlns:a16="http://schemas.microsoft.com/office/drawing/2014/main" val="2945147107"/>
                  </a:ext>
                </a:extLst>
              </a:tr>
            </a:tbl>
          </a:graphicData>
        </a:graphic>
      </p:graphicFrame>
      <p:graphicFrame>
        <p:nvGraphicFramePr>
          <p:cNvPr id="9" name="Content Placeholder 4">
            <a:extLst>
              <a:ext uri="{FF2B5EF4-FFF2-40B4-BE49-F238E27FC236}">
                <a16:creationId xmlns:a16="http://schemas.microsoft.com/office/drawing/2014/main" id="{C7101393-E2FD-4577-0630-C47D2CEFA61F}"/>
              </a:ext>
            </a:extLst>
          </p:cNvPr>
          <p:cNvGraphicFramePr>
            <a:graphicFrameLocks/>
          </p:cNvGraphicFramePr>
          <p:nvPr>
            <p:extLst>
              <p:ext uri="{D42A27DB-BD31-4B8C-83A1-F6EECF244321}">
                <p14:modId xmlns:p14="http://schemas.microsoft.com/office/powerpoint/2010/main" val="2504858857"/>
              </p:ext>
            </p:extLst>
          </p:nvPr>
        </p:nvGraphicFramePr>
        <p:xfrm>
          <a:off x="6097201" y="1153941"/>
          <a:ext cx="4198403" cy="2560217"/>
        </p:xfrm>
        <a:graphic>
          <a:graphicData uri="http://schemas.openxmlformats.org/drawingml/2006/table">
            <a:tbl>
              <a:tblPr firstRow="1" bandRow="1">
                <a:tableStyleId>{9DCAF9ED-07DC-4A11-8D7F-57B35C25682E}</a:tableStyleId>
              </a:tblPr>
              <a:tblGrid>
                <a:gridCol w="4198403">
                  <a:extLst>
                    <a:ext uri="{9D8B030D-6E8A-4147-A177-3AD203B41FA5}">
                      <a16:colId xmlns:a16="http://schemas.microsoft.com/office/drawing/2014/main" val="765132061"/>
                    </a:ext>
                  </a:extLst>
                </a:gridCol>
              </a:tblGrid>
              <a:tr h="619841">
                <a:tc>
                  <a:txBody>
                    <a:bodyPr/>
                    <a:lstStyle/>
                    <a:p>
                      <a:r>
                        <a:rPr lang="ja-JP" altLang="en-US" sz="1400"/>
                        <a:t>データ・ID要件</a:t>
                      </a:r>
                      <a:r>
                        <a:rPr lang="ja-JP" altLang="en-US" sz="1100"/>
                        <a:t>(同じ車両・データをどう判別するかを明確にする)</a:t>
                      </a:r>
                      <a:endParaRPr lang="en-US" sz="1100"/>
                    </a:p>
                  </a:txBody>
                  <a:tcPr/>
                </a:tc>
                <a:extLst>
                  <a:ext uri="{0D108BD9-81ED-4DB2-BD59-A6C34878D82A}">
                    <a16:rowId xmlns:a16="http://schemas.microsoft.com/office/drawing/2014/main" val="1198245534"/>
                  </a:ext>
                </a:extLst>
              </a:tr>
              <a:tr h="485094">
                <a:tc>
                  <a:txBody>
                    <a:bodyPr/>
                    <a:lstStyle/>
                    <a:p>
                      <a:r>
                        <a:rPr lang="ja-JP" altLang="en-US" sz="1200"/>
                        <a:t>車両型式+フレームNoで車両を識別できるかどうか</a:t>
                      </a:r>
                      <a:endParaRPr lang="en-US" sz="1200"/>
                    </a:p>
                  </a:txBody>
                  <a:tcPr/>
                </a:tc>
                <a:extLst>
                  <a:ext uri="{0D108BD9-81ED-4DB2-BD59-A6C34878D82A}">
                    <a16:rowId xmlns:a16="http://schemas.microsoft.com/office/drawing/2014/main" val="648988773"/>
                  </a:ext>
                </a:extLst>
              </a:tr>
              <a:tr h="485094">
                <a:tc>
                  <a:txBody>
                    <a:bodyPr/>
                    <a:lstStyle/>
                    <a:p>
                      <a:r>
                        <a:rPr lang="ja-JP" altLang="en-US" sz="1200"/>
                        <a:t>各テーブルの主キー・業務キーはなにか</a:t>
                      </a:r>
                      <a:endParaRPr lang="en-US" sz="1200"/>
                    </a:p>
                  </a:txBody>
                  <a:tcPr/>
                </a:tc>
                <a:extLst>
                  <a:ext uri="{0D108BD9-81ED-4DB2-BD59-A6C34878D82A}">
                    <a16:rowId xmlns:a16="http://schemas.microsoft.com/office/drawing/2014/main" val="1762097659"/>
                  </a:ext>
                </a:extLst>
              </a:tr>
              <a:tr h="485094">
                <a:tc>
                  <a:txBody>
                    <a:bodyPr/>
                    <a:lstStyle/>
                    <a:p>
                      <a:r>
                        <a:rPr lang="ja-JP" altLang="en-US" sz="1200"/>
                        <a:t>複数システム間で車両をひもづけられるか</a:t>
                      </a:r>
                      <a:endParaRPr lang="en-US" sz="1200"/>
                    </a:p>
                  </a:txBody>
                  <a:tcPr/>
                </a:tc>
                <a:extLst>
                  <a:ext uri="{0D108BD9-81ED-4DB2-BD59-A6C34878D82A}">
                    <a16:rowId xmlns:a16="http://schemas.microsoft.com/office/drawing/2014/main" val="1160438144"/>
                  </a:ext>
                </a:extLst>
              </a:tr>
              <a:tr h="485094">
                <a:tc>
                  <a:txBody>
                    <a:bodyPr/>
                    <a:lstStyle/>
                    <a:p>
                      <a:r>
                        <a:rPr lang="ja-JP" altLang="en-US" sz="1200"/>
                        <a:t>全量連携、差分連携、新規追加のみのどれに該当するか</a:t>
                      </a:r>
                      <a:endParaRPr lang="en-US" sz="1200"/>
                    </a:p>
                  </a:txBody>
                  <a:tcPr/>
                </a:tc>
                <a:extLst>
                  <a:ext uri="{0D108BD9-81ED-4DB2-BD59-A6C34878D82A}">
                    <a16:rowId xmlns:a16="http://schemas.microsoft.com/office/drawing/2014/main" val="2945147107"/>
                  </a:ext>
                </a:extLst>
              </a:tr>
            </a:tbl>
          </a:graphicData>
        </a:graphic>
      </p:graphicFrame>
      <p:graphicFrame>
        <p:nvGraphicFramePr>
          <p:cNvPr id="14" name="Content Placeholder 4">
            <a:extLst>
              <a:ext uri="{FF2B5EF4-FFF2-40B4-BE49-F238E27FC236}">
                <a16:creationId xmlns:a16="http://schemas.microsoft.com/office/drawing/2014/main" id="{7F97EB88-AED2-701D-E123-87F2802EF6C1}"/>
              </a:ext>
            </a:extLst>
          </p:cNvPr>
          <p:cNvGraphicFramePr>
            <a:graphicFrameLocks/>
          </p:cNvGraphicFramePr>
          <p:nvPr>
            <p:extLst>
              <p:ext uri="{D42A27DB-BD31-4B8C-83A1-F6EECF244321}">
                <p14:modId xmlns:p14="http://schemas.microsoft.com/office/powerpoint/2010/main" val="345395372"/>
              </p:ext>
            </p:extLst>
          </p:nvPr>
        </p:nvGraphicFramePr>
        <p:xfrm>
          <a:off x="6097201" y="4098968"/>
          <a:ext cx="4198403" cy="2560216"/>
        </p:xfrm>
        <a:graphic>
          <a:graphicData uri="http://schemas.openxmlformats.org/drawingml/2006/table">
            <a:tbl>
              <a:tblPr firstRow="1" bandRow="1">
                <a:tableStyleId>{10A1B5D5-9B99-4C35-A422-299274C87663}</a:tableStyleId>
              </a:tblPr>
              <a:tblGrid>
                <a:gridCol w="4198403">
                  <a:extLst>
                    <a:ext uri="{9D8B030D-6E8A-4147-A177-3AD203B41FA5}">
                      <a16:colId xmlns:a16="http://schemas.microsoft.com/office/drawing/2014/main" val="765132061"/>
                    </a:ext>
                  </a:extLst>
                </a:gridCol>
              </a:tblGrid>
              <a:tr h="619841">
                <a:tc>
                  <a:txBody>
                    <a:bodyPr/>
                    <a:lstStyle/>
                    <a:p>
                      <a:r>
                        <a:rPr lang="ja-JP" altLang="en-US" sz="1400"/>
                        <a:t>利用・管理要件</a:t>
                      </a:r>
                      <a:r>
                        <a:rPr lang="ja-JP" altLang="en-US" sz="1100"/>
                        <a:t>(誰が、どのデータを利用できるかを明確にする)</a:t>
                      </a:r>
                      <a:endParaRPr lang="ja-JP"/>
                    </a:p>
                  </a:txBody>
                  <a:tcPr/>
                </a:tc>
                <a:extLst>
                  <a:ext uri="{0D108BD9-81ED-4DB2-BD59-A6C34878D82A}">
                    <a16:rowId xmlns:a16="http://schemas.microsoft.com/office/drawing/2014/main" val="1198245534"/>
                  </a:ext>
                </a:extLst>
              </a:tr>
              <a:tr h="485094">
                <a:tc>
                  <a:txBody>
                    <a:bodyPr/>
                    <a:lstStyle/>
                    <a:p>
                      <a:r>
                        <a:rPr lang="ja-JP" altLang="en-US" sz="1200"/>
                        <a:t>各画面？(PowerBiなど)で参照するテーブルと項目は何か</a:t>
                      </a:r>
                    </a:p>
                  </a:txBody>
                  <a:tcPr/>
                </a:tc>
                <a:extLst>
                  <a:ext uri="{0D108BD9-81ED-4DB2-BD59-A6C34878D82A}">
                    <a16:rowId xmlns:a16="http://schemas.microsoft.com/office/drawing/2014/main" val="648988773"/>
                  </a:ext>
                </a:extLst>
              </a:tr>
              <a:tr h="485094">
                <a:tc>
                  <a:txBody>
                    <a:bodyPr/>
                    <a:lstStyle/>
                    <a:p>
                      <a:r>
                        <a:rPr lang="ja-JP" altLang="en-US" sz="1200"/>
                        <a:t>各画面では最新状態と過去除隊のどちらを表示するのか</a:t>
                      </a:r>
                    </a:p>
                  </a:txBody>
                  <a:tcPr/>
                </a:tc>
                <a:extLst>
                  <a:ext uri="{0D108BD9-81ED-4DB2-BD59-A6C34878D82A}">
                    <a16:rowId xmlns:a16="http://schemas.microsoft.com/office/drawing/2014/main" val="1762097659"/>
                  </a:ext>
                </a:extLst>
              </a:tr>
              <a:tr h="485093">
                <a:tc>
                  <a:txBody>
                    <a:bodyPr/>
                    <a:lstStyle/>
                    <a:p>
                      <a:pPr lvl="0">
                        <a:buNone/>
                      </a:pPr>
                      <a:r>
                        <a:rPr lang="ja-JP" altLang="en-US" sz="1200"/>
                        <a:t>個人情報を含むデータを履歴として保持してよいか</a:t>
                      </a:r>
                    </a:p>
                  </a:txBody>
                  <a:tcPr/>
                </a:tc>
                <a:extLst>
                  <a:ext uri="{0D108BD9-81ED-4DB2-BD59-A6C34878D82A}">
                    <a16:rowId xmlns:a16="http://schemas.microsoft.com/office/drawing/2014/main" val="1160438144"/>
                  </a:ext>
                </a:extLst>
              </a:tr>
              <a:tr h="485094">
                <a:tc>
                  <a:txBody>
                    <a:bodyPr/>
                    <a:lstStyle/>
                    <a:p>
                      <a:r>
                        <a:rPr lang="ja-JP" altLang="en-US" sz="1200"/>
                        <a:t>履歴データの参照権限をどのように管理するのか</a:t>
                      </a:r>
                    </a:p>
                  </a:txBody>
                  <a:tcPr/>
                </a:tc>
                <a:extLst>
                  <a:ext uri="{0D108BD9-81ED-4DB2-BD59-A6C34878D82A}">
                    <a16:rowId xmlns:a16="http://schemas.microsoft.com/office/drawing/2014/main" val="2945147107"/>
                  </a:ext>
                </a:extLst>
              </a:tr>
            </a:tbl>
          </a:graphicData>
        </a:graphic>
      </p:graphicFrame>
      <p:graphicFrame>
        <p:nvGraphicFramePr>
          <p:cNvPr id="15" name="Content Placeholder 4">
            <a:extLst>
              <a:ext uri="{FF2B5EF4-FFF2-40B4-BE49-F238E27FC236}">
                <a16:creationId xmlns:a16="http://schemas.microsoft.com/office/drawing/2014/main" id="{1A0E61A2-5F98-D934-2ACC-D602552C10A0}"/>
              </a:ext>
            </a:extLst>
          </p:cNvPr>
          <p:cNvGraphicFramePr>
            <a:graphicFrameLocks/>
          </p:cNvGraphicFramePr>
          <p:nvPr>
            <p:extLst>
              <p:ext uri="{D42A27DB-BD31-4B8C-83A1-F6EECF244321}">
                <p14:modId xmlns:p14="http://schemas.microsoft.com/office/powerpoint/2010/main" val="3256133286"/>
              </p:ext>
            </p:extLst>
          </p:nvPr>
        </p:nvGraphicFramePr>
        <p:xfrm>
          <a:off x="948552" y="4098968"/>
          <a:ext cx="4198403" cy="2560215"/>
        </p:xfrm>
        <a:graphic>
          <a:graphicData uri="http://schemas.openxmlformats.org/drawingml/2006/table">
            <a:tbl>
              <a:tblPr firstRow="1" bandRow="1">
                <a:tableStyleId>{1E171933-4619-4E11-9A3F-F7608DF75F80}</a:tableStyleId>
              </a:tblPr>
              <a:tblGrid>
                <a:gridCol w="4198403">
                  <a:extLst>
                    <a:ext uri="{9D8B030D-6E8A-4147-A177-3AD203B41FA5}">
                      <a16:colId xmlns:a16="http://schemas.microsoft.com/office/drawing/2014/main" val="765132061"/>
                    </a:ext>
                  </a:extLst>
                </a:gridCol>
              </a:tblGrid>
              <a:tr h="619841">
                <a:tc>
                  <a:txBody>
                    <a:bodyPr/>
                    <a:lstStyle/>
                    <a:p>
                      <a:r>
                        <a:rPr lang="ja-JP" altLang="en-US" sz="1400"/>
                        <a:t>履歴・運用要件</a:t>
                      </a:r>
                      <a:r>
                        <a:rPr lang="ja-JP" altLang="en-US" sz="1100"/>
                        <a:t>(どのように履歴を残して、運用したいか)</a:t>
                      </a:r>
                    </a:p>
                  </a:txBody>
                  <a:tcPr/>
                </a:tc>
                <a:extLst>
                  <a:ext uri="{0D108BD9-81ED-4DB2-BD59-A6C34878D82A}">
                    <a16:rowId xmlns:a16="http://schemas.microsoft.com/office/drawing/2014/main" val="1198245534"/>
                  </a:ext>
                </a:extLst>
              </a:tr>
              <a:tr h="485094">
                <a:tc>
                  <a:txBody>
                    <a:bodyPr/>
                    <a:lstStyle/>
                    <a:p>
                      <a:r>
                        <a:rPr lang="ja-JP" altLang="en-US" sz="1200"/>
                        <a:t>更新、削除、過去データの訂正が発生するかどうか</a:t>
                      </a:r>
                    </a:p>
                  </a:txBody>
                  <a:tcPr/>
                </a:tc>
                <a:extLst>
                  <a:ext uri="{0D108BD9-81ED-4DB2-BD59-A6C34878D82A}">
                    <a16:rowId xmlns:a16="http://schemas.microsoft.com/office/drawing/2014/main" val="648988773"/>
                  </a:ext>
                </a:extLst>
              </a:tr>
              <a:tr h="485093">
                <a:tc>
                  <a:txBody>
                    <a:bodyPr/>
                    <a:lstStyle/>
                    <a:p>
                      <a:pPr lvl="0">
                        <a:buNone/>
                      </a:pPr>
                      <a:r>
                        <a:rPr lang="ja-JP" altLang="en-US" sz="1200"/>
                        <a:t>履歴データを何年分保持するか</a:t>
                      </a:r>
                    </a:p>
                  </a:txBody>
                  <a:tcPr/>
                </a:tc>
                <a:extLst>
                  <a:ext uri="{0D108BD9-81ED-4DB2-BD59-A6C34878D82A}">
                    <a16:rowId xmlns:a16="http://schemas.microsoft.com/office/drawing/2014/main" val="1762097659"/>
                  </a:ext>
                </a:extLst>
              </a:tr>
              <a:tr h="485093">
                <a:tc>
                  <a:txBody>
                    <a:bodyPr/>
                    <a:lstStyle/>
                    <a:p>
                      <a:pPr lvl="0">
                        <a:buNone/>
                      </a:pPr>
                      <a:r>
                        <a:rPr lang="ja-JP" altLang="en-US" sz="1200"/>
                        <a:t>一時・検証・バックアップ用テーブルを対象外としてよいか。</a:t>
                      </a:r>
                    </a:p>
                  </a:txBody>
                  <a:tcPr/>
                </a:tc>
                <a:extLst>
                  <a:ext uri="{0D108BD9-81ED-4DB2-BD59-A6C34878D82A}">
                    <a16:rowId xmlns:a16="http://schemas.microsoft.com/office/drawing/2014/main" val="1160438144"/>
                  </a:ext>
                </a:extLst>
              </a:tr>
              <a:tr h="485094">
                <a:tc>
                  <a:txBody>
                    <a:bodyPr/>
                    <a:lstStyle/>
                    <a:p>
                      <a:r>
                        <a:rPr lang="ja-JP" altLang="en-US" sz="1200"/>
                        <a:t>障害児にどの単位で再実行するか</a:t>
                      </a:r>
                    </a:p>
                  </a:txBody>
                  <a:tcPr/>
                </a:tc>
                <a:extLst>
                  <a:ext uri="{0D108BD9-81ED-4DB2-BD59-A6C34878D82A}">
                    <a16:rowId xmlns:a16="http://schemas.microsoft.com/office/drawing/2014/main" val="2945147107"/>
                  </a:ext>
                </a:extLst>
              </a:tr>
            </a:tbl>
          </a:graphicData>
        </a:graphic>
      </p:graphicFrame>
    </p:spTree>
    <p:extLst>
      <p:ext uri="{BB962C8B-B14F-4D97-AF65-F5344CB8AC3E}">
        <p14:creationId xmlns:p14="http://schemas.microsoft.com/office/powerpoint/2010/main" val="3051727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2AF2-F7CC-3BA7-F8B1-1CDB6B5C229F}"/>
              </a:ext>
            </a:extLst>
          </p:cNvPr>
          <p:cNvSpPr>
            <a:spLocks noGrp="1"/>
          </p:cNvSpPr>
          <p:nvPr>
            <p:ph type="title"/>
          </p:nvPr>
        </p:nvSpPr>
        <p:spPr/>
        <p:txBody>
          <a:bodyPr/>
          <a:lstStyle/>
          <a:p>
            <a:r>
              <a:rPr lang="ja-JP" altLang="en-US"/>
              <a:t>全テーブル共通の考え方</a:t>
            </a:r>
            <a:endParaRPr kumimoji="1" lang="en-US"/>
          </a:p>
        </p:txBody>
      </p:sp>
      <p:sp>
        <p:nvSpPr>
          <p:cNvPr id="3" name="Content Placeholder 2">
            <a:extLst>
              <a:ext uri="{FF2B5EF4-FFF2-40B4-BE49-F238E27FC236}">
                <a16:creationId xmlns:a16="http://schemas.microsoft.com/office/drawing/2014/main" id="{77D34779-12C6-C60C-06DF-7EAF092FB9CF}"/>
              </a:ext>
            </a:extLst>
          </p:cNvPr>
          <p:cNvSpPr>
            <a:spLocks noGrp="1"/>
          </p:cNvSpPr>
          <p:nvPr>
            <p:ph idx="1"/>
          </p:nvPr>
        </p:nvSpPr>
        <p:spPr>
          <a:xfrm>
            <a:off x="425491" y="738447"/>
            <a:ext cx="11151029" cy="497409"/>
          </a:xfrm>
        </p:spPr>
        <p:txBody>
          <a:bodyPr vert="horz" lIns="91440" tIns="45720" rIns="91440" bIns="45720" rtlCol="0" anchor="t">
            <a:normAutofit/>
          </a:bodyPr>
          <a:lstStyle/>
          <a:p>
            <a:pPr marL="456565" indent="-456565"/>
            <a:r>
              <a:rPr lang="ja-JP" altLang="en-US" sz="2400">
                <a:cs typeface="Arial"/>
              </a:rPr>
              <a:t>履歴管理では、取込元から利用までを一連で管理する</a:t>
            </a:r>
          </a:p>
          <a:p>
            <a:pPr marL="0" indent="0">
              <a:buNone/>
            </a:pPr>
            <a:endParaRPr lang="ja-JP" altLang="en-US" sz="2400">
              <a:cs typeface="Arial"/>
            </a:endParaRPr>
          </a:p>
        </p:txBody>
      </p:sp>
      <p:sp>
        <p:nvSpPr>
          <p:cNvPr id="4" name="Slide Number Placeholder 3">
            <a:extLst>
              <a:ext uri="{FF2B5EF4-FFF2-40B4-BE49-F238E27FC236}">
                <a16:creationId xmlns:a16="http://schemas.microsoft.com/office/drawing/2014/main" id="{3524F1AA-CE03-7A4E-3CE6-A2662FA766E0}"/>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8</a:t>
            </a:fld>
            <a:endParaRPr lang="en-US" altLang="ja-JP" sz="2133">
              <a:latin typeface="Arial Black" pitchFamily="34" charset="0"/>
            </a:endParaRPr>
          </a:p>
        </p:txBody>
      </p:sp>
      <p:sp>
        <p:nvSpPr>
          <p:cNvPr id="6" name="Rectangle: Rounded Corners 5">
            <a:extLst>
              <a:ext uri="{FF2B5EF4-FFF2-40B4-BE49-F238E27FC236}">
                <a16:creationId xmlns:a16="http://schemas.microsoft.com/office/drawing/2014/main" id="{E617FAF4-2AE6-AAC7-C56D-D93A7F47B15F}"/>
              </a:ext>
            </a:extLst>
          </p:cNvPr>
          <p:cNvSpPr/>
          <p:nvPr/>
        </p:nvSpPr>
        <p:spPr>
          <a:xfrm>
            <a:off x="731004" y="1241155"/>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cs typeface="Arial"/>
              </a:rPr>
              <a:t>発生元</a:t>
            </a:r>
          </a:p>
          <a:p>
            <a:pPr algn="ctr"/>
            <a:endParaRPr lang="ja-JP" altLang="en-US" sz="1200" b="1">
              <a:solidFill>
                <a:schemeClr val="tx1"/>
              </a:solidFill>
              <a:cs typeface="Arial"/>
            </a:endParaRPr>
          </a:p>
          <a:p>
            <a:pPr algn="ctr"/>
            <a:r>
              <a:rPr lang="ja-JP" altLang="en-US" sz="1200" b="1">
                <a:solidFill>
                  <a:schemeClr val="tx1"/>
                </a:solidFill>
                <a:cs typeface="Arial"/>
              </a:rPr>
              <a:t>どこから来たか</a:t>
            </a:r>
          </a:p>
          <a:p>
            <a:pPr algn="ctr"/>
            <a:r>
              <a:rPr lang="ja-JP" altLang="en-US" sz="1200" b="1">
                <a:solidFill>
                  <a:schemeClr val="tx1"/>
                </a:solidFill>
                <a:cs typeface="Arial"/>
              </a:rPr>
              <a:t>どのテーブル・ファイルから</a:t>
            </a:r>
          </a:p>
          <a:p>
            <a:pPr algn="ctr"/>
            <a:endParaRPr lang="ja-JP" altLang="en-US" sz="1200" b="1">
              <a:solidFill>
                <a:schemeClr val="tx1"/>
              </a:solidFill>
              <a:cs typeface="Arial"/>
            </a:endParaRPr>
          </a:p>
          <a:p>
            <a:pPr algn="ctr"/>
            <a:r>
              <a:rPr lang="ja-JP" altLang="en-US" sz="1200" b="1" u="sng">
                <a:solidFill>
                  <a:schemeClr val="tx1"/>
                </a:solidFill>
                <a:cs typeface="Arial"/>
              </a:rPr>
              <a:t>データの出どころを確認できるようにする。</a:t>
            </a:r>
          </a:p>
        </p:txBody>
      </p:sp>
      <p:sp>
        <p:nvSpPr>
          <p:cNvPr id="7" name="Rectangle: Rounded Corners 6">
            <a:extLst>
              <a:ext uri="{FF2B5EF4-FFF2-40B4-BE49-F238E27FC236}">
                <a16:creationId xmlns:a16="http://schemas.microsoft.com/office/drawing/2014/main" id="{05EB40AC-C6C9-3995-8C9A-6A0F909728D6}"/>
              </a:ext>
            </a:extLst>
          </p:cNvPr>
          <p:cNvSpPr/>
          <p:nvPr/>
        </p:nvSpPr>
        <p:spPr>
          <a:xfrm>
            <a:off x="2758698" y="3707968"/>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b="1">
                <a:solidFill>
                  <a:schemeClr val="tx1"/>
                </a:solidFill>
                <a:cs typeface="Arial"/>
              </a:rPr>
              <a:t>取込管理</a:t>
            </a:r>
          </a:p>
          <a:p>
            <a:pPr algn="ctr"/>
            <a:endParaRPr lang="ja-JP" altLang="en-US" sz="1200" b="1">
              <a:solidFill>
                <a:schemeClr val="tx1"/>
              </a:solidFill>
              <a:cs typeface="Arial"/>
            </a:endParaRPr>
          </a:p>
          <a:p>
            <a:pPr algn="ctr"/>
            <a:r>
              <a:rPr lang="ja-JP" altLang="en-US" sz="1200" b="1">
                <a:solidFill>
                  <a:schemeClr val="tx1"/>
                </a:solidFill>
                <a:cs typeface="Arial"/>
              </a:rPr>
              <a:t>いつDBへ取り込んだか</a:t>
            </a:r>
          </a:p>
          <a:p>
            <a:pPr algn="ctr"/>
            <a:r>
              <a:rPr lang="ja-JP" altLang="en-US" sz="1200" b="1">
                <a:solidFill>
                  <a:schemeClr val="tx1"/>
                </a:solidFill>
                <a:cs typeface="Arial"/>
              </a:rPr>
              <a:t>どのバッチで取り込んだか</a:t>
            </a:r>
          </a:p>
          <a:p>
            <a:pPr algn="ctr"/>
            <a:endParaRPr lang="ja-JP" altLang="en-US" sz="1200" b="1">
              <a:solidFill>
                <a:schemeClr val="tx1"/>
              </a:solidFill>
              <a:cs typeface="Arial"/>
            </a:endParaRPr>
          </a:p>
          <a:p>
            <a:pPr algn="ctr"/>
            <a:r>
              <a:rPr lang="ja-JP" altLang="en-US" sz="1200" b="1" u="sng">
                <a:solidFill>
                  <a:schemeClr val="tx1"/>
                </a:solidFill>
                <a:cs typeface="Arial"/>
              </a:rPr>
              <a:t>いつ・どの処理で取り込んだかを残す</a:t>
            </a:r>
          </a:p>
        </p:txBody>
      </p:sp>
      <p:sp>
        <p:nvSpPr>
          <p:cNvPr id="8" name="Rectangle: Rounded Corners 7">
            <a:extLst>
              <a:ext uri="{FF2B5EF4-FFF2-40B4-BE49-F238E27FC236}">
                <a16:creationId xmlns:a16="http://schemas.microsoft.com/office/drawing/2014/main" id="{1150047C-0A58-565E-DE37-DDCF262A1264}"/>
              </a:ext>
            </a:extLst>
          </p:cNvPr>
          <p:cNvSpPr/>
          <p:nvPr/>
        </p:nvSpPr>
        <p:spPr>
          <a:xfrm>
            <a:off x="6814087" y="3707968"/>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b="1">
                <a:solidFill>
                  <a:schemeClr val="tx1"/>
                </a:solidFill>
                <a:cs typeface="Arial"/>
              </a:rPr>
              <a:t>履歴反映</a:t>
            </a:r>
          </a:p>
          <a:p>
            <a:pPr algn="ctr"/>
            <a:endParaRPr lang="ja-JP" altLang="en-US" sz="1200" b="1">
              <a:solidFill>
                <a:schemeClr val="tx1"/>
              </a:solidFill>
              <a:cs typeface="Arial"/>
            </a:endParaRPr>
          </a:p>
          <a:p>
            <a:pPr algn="ctr"/>
            <a:r>
              <a:rPr lang="ja-JP" altLang="en-US" sz="1200" b="1">
                <a:solidFill>
                  <a:schemeClr val="tx1"/>
                </a:solidFill>
                <a:cs typeface="Arial"/>
              </a:rPr>
              <a:t>変更前と変更後を記録</a:t>
            </a:r>
          </a:p>
          <a:p>
            <a:pPr algn="ctr"/>
            <a:r>
              <a:rPr lang="ja-JP" altLang="en-US" sz="1200" b="1">
                <a:solidFill>
                  <a:schemeClr val="tx1"/>
                </a:solidFill>
                <a:cs typeface="Arial"/>
              </a:rPr>
              <a:t>現在有効なデータを識別</a:t>
            </a:r>
          </a:p>
          <a:p>
            <a:pPr algn="ctr"/>
            <a:endParaRPr lang="ja-JP" altLang="en-US" sz="1200" b="1" u="sng">
              <a:solidFill>
                <a:schemeClr val="tx1"/>
              </a:solidFill>
              <a:cs typeface="Arial"/>
            </a:endParaRPr>
          </a:p>
          <a:p>
            <a:pPr algn="ctr"/>
            <a:r>
              <a:rPr lang="ja-JP" altLang="en-US" sz="1200" b="1" u="sng">
                <a:solidFill>
                  <a:schemeClr val="tx1"/>
                </a:solidFill>
                <a:cs typeface="Arial"/>
              </a:rPr>
              <a:t>最新状態と過去の状態を正しく管理する</a:t>
            </a:r>
          </a:p>
        </p:txBody>
      </p:sp>
      <p:sp>
        <p:nvSpPr>
          <p:cNvPr id="9" name="Rectangle: Rounded Corners 8">
            <a:extLst>
              <a:ext uri="{FF2B5EF4-FFF2-40B4-BE49-F238E27FC236}">
                <a16:creationId xmlns:a16="http://schemas.microsoft.com/office/drawing/2014/main" id="{75B50D48-0EB0-0CDA-E8B3-9D10BA8F91A1}"/>
              </a:ext>
            </a:extLst>
          </p:cNvPr>
          <p:cNvSpPr/>
          <p:nvPr/>
        </p:nvSpPr>
        <p:spPr>
          <a:xfrm>
            <a:off x="4786393" y="1241155"/>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b="1">
                <a:solidFill>
                  <a:schemeClr val="tx1"/>
                </a:solidFill>
                <a:cs typeface="Arial"/>
              </a:rPr>
              <a:t>識別・比較</a:t>
            </a:r>
          </a:p>
          <a:p>
            <a:pPr algn="ctr"/>
            <a:endParaRPr lang="ja-JP" altLang="en-US" sz="1200" b="1">
              <a:solidFill>
                <a:schemeClr val="tx1"/>
              </a:solidFill>
              <a:cs typeface="Arial"/>
            </a:endParaRPr>
          </a:p>
          <a:p>
            <a:pPr algn="ctr"/>
            <a:r>
              <a:rPr lang="ja-JP" altLang="en-US" sz="1200" b="1">
                <a:solidFill>
                  <a:schemeClr val="tx1"/>
                </a:solidFill>
                <a:cs typeface="Arial"/>
              </a:rPr>
              <a:t>データの重複確認</a:t>
            </a:r>
          </a:p>
          <a:p>
            <a:pPr algn="ctr"/>
            <a:r>
              <a:rPr lang="ja-JP" altLang="en-US" sz="1200" b="1">
                <a:solidFill>
                  <a:schemeClr val="tx1"/>
                </a:solidFill>
                <a:cs typeface="Arial"/>
              </a:rPr>
              <a:t>前回から内容が変わったかを判定する</a:t>
            </a:r>
          </a:p>
          <a:p>
            <a:pPr algn="ctr"/>
            <a:endParaRPr lang="ja-JP" altLang="en-US" sz="1200" b="1">
              <a:solidFill>
                <a:schemeClr val="tx1"/>
              </a:solidFill>
              <a:cs typeface="Arial"/>
            </a:endParaRPr>
          </a:p>
          <a:p>
            <a:pPr algn="ctr"/>
            <a:r>
              <a:rPr lang="ja-JP" altLang="en-US" sz="1200" b="1" u="sng">
                <a:solidFill>
                  <a:schemeClr val="tx1"/>
                </a:solidFill>
                <a:cs typeface="Arial"/>
              </a:rPr>
              <a:t>同じデータか変更されたデータかを判定する</a:t>
            </a:r>
          </a:p>
        </p:txBody>
      </p:sp>
      <p:sp>
        <p:nvSpPr>
          <p:cNvPr id="10" name="Rectangle: Rounded Corners 9">
            <a:extLst>
              <a:ext uri="{FF2B5EF4-FFF2-40B4-BE49-F238E27FC236}">
                <a16:creationId xmlns:a16="http://schemas.microsoft.com/office/drawing/2014/main" id="{8DF6E581-49DA-24DD-5AEB-8E35B8334202}"/>
              </a:ext>
            </a:extLst>
          </p:cNvPr>
          <p:cNvSpPr/>
          <p:nvPr/>
        </p:nvSpPr>
        <p:spPr>
          <a:xfrm>
            <a:off x="8841782" y="1241154"/>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b="1">
                <a:solidFill>
                  <a:schemeClr val="tx1"/>
                </a:solidFill>
                <a:cs typeface="Arial"/>
              </a:rPr>
              <a:t>PowerBIに提供</a:t>
            </a:r>
          </a:p>
          <a:p>
            <a:pPr algn="ctr"/>
            <a:endParaRPr lang="ja-JP" altLang="en-US" sz="1200" b="1">
              <a:solidFill>
                <a:schemeClr val="tx1"/>
              </a:solidFill>
              <a:cs typeface="Arial"/>
            </a:endParaRPr>
          </a:p>
          <a:p>
            <a:pPr algn="ctr"/>
            <a:r>
              <a:rPr lang="ja-JP" altLang="en-US" sz="1200" b="1">
                <a:solidFill>
                  <a:schemeClr val="tx1"/>
                </a:solidFill>
                <a:cs typeface="Arial"/>
              </a:rPr>
              <a:t>安全な形で公開する</a:t>
            </a:r>
          </a:p>
          <a:p>
            <a:pPr algn="ctr"/>
            <a:r>
              <a:rPr lang="ja-JP" altLang="en-US" sz="1200" b="1">
                <a:solidFill>
                  <a:schemeClr val="tx1"/>
                </a:solidFill>
                <a:cs typeface="Arial"/>
              </a:rPr>
              <a:t>最新はCurrentから</a:t>
            </a:r>
          </a:p>
          <a:p>
            <a:pPr algn="ctr"/>
            <a:r>
              <a:rPr lang="ja-JP" altLang="en-US" sz="1200" b="1">
                <a:solidFill>
                  <a:schemeClr val="tx1"/>
                </a:solidFill>
                <a:cs typeface="Arial"/>
              </a:rPr>
              <a:t>大容量は集計してから</a:t>
            </a:r>
          </a:p>
          <a:p>
            <a:pPr algn="ctr"/>
            <a:r>
              <a:rPr lang="ja-JP" altLang="en-US" sz="1200" b="1">
                <a:solidFill>
                  <a:schemeClr val="tx1"/>
                </a:solidFill>
                <a:cs typeface="Arial"/>
              </a:rPr>
              <a:t>履歴による二重集計は×</a:t>
            </a:r>
          </a:p>
          <a:p>
            <a:pPr algn="ctr"/>
            <a:endParaRPr lang="ja-JP" altLang="en-US" sz="1200" b="1">
              <a:solidFill>
                <a:schemeClr val="tx1"/>
              </a:solidFill>
              <a:cs typeface="Arial"/>
            </a:endParaRPr>
          </a:p>
          <a:p>
            <a:pPr algn="ctr"/>
            <a:r>
              <a:rPr lang="ja-JP" altLang="en-US" sz="1200" b="1" u="sng">
                <a:solidFill>
                  <a:schemeClr val="tx1"/>
                </a:solidFill>
                <a:cs typeface="Arial"/>
              </a:rPr>
              <a:t>利用目的に合わせた安全な形で提供する</a:t>
            </a:r>
          </a:p>
        </p:txBody>
      </p:sp>
      <p:sp>
        <p:nvSpPr>
          <p:cNvPr id="12" name="Arrow: Down 11">
            <a:extLst>
              <a:ext uri="{FF2B5EF4-FFF2-40B4-BE49-F238E27FC236}">
                <a16:creationId xmlns:a16="http://schemas.microsoft.com/office/drawing/2014/main" id="{73D81FA8-D257-E09B-A86B-837D94C55884}"/>
              </a:ext>
            </a:extLst>
          </p:cNvPr>
          <p:cNvSpPr/>
          <p:nvPr/>
        </p:nvSpPr>
        <p:spPr>
          <a:xfrm rot="-2160000">
            <a:off x="2514735" y="3168882"/>
            <a:ext cx="484631" cy="6555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 name="Arrow: Down 12">
            <a:extLst>
              <a:ext uri="{FF2B5EF4-FFF2-40B4-BE49-F238E27FC236}">
                <a16:creationId xmlns:a16="http://schemas.microsoft.com/office/drawing/2014/main" id="{5B0261BE-EE9F-A658-703C-2F43B3F0AC6C}"/>
              </a:ext>
            </a:extLst>
          </p:cNvPr>
          <p:cNvSpPr/>
          <p:nvPr/>
        </p:nvSpPr>
        <p:spPr>
          <a:xfrm rot="13620000">
            <a:off x="4542429" y="3155966"/>
            <a:ext cx="484631" cy="6555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 name="Arrow: Down 13">
            <a:extLst>
              <a:ext uri="{FF2B5EF4-FFF2-40B4-BE49-F238E27FC236}">
                <a16:creationId xmlns:a16="http://schemas.microsoft.com/office/drawing/2014/main" id="{7B5FE1CC-6290-8B21-10D2-AF64C2E68F1B}"/>
              </a:ext>
            </a:extLst>
          </p:cNvPr>
          <p:cNvSpPr/>
          <p:nvPr/>
        </p:nvSpPr>
        <p:spPr>
          <a:xfrm rot="13620000">
            <a:off x="8597818" y="3155965"/>
            <a:ext cx="484631" cy="6555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5" name="Arrow: Down 14">
            <a:extLst>
              <a:ext uri="{FF2B5EF4-FFF2-40B4-BE49-F238E27FC236}">
                <a16:creationId xmlns:a16="http://schemas.microsoft.com/office/drawing/2014/main" id="{BC4CDFD3-4555-927A-90D1-E255C4B6DB46}"/>
              </a:ext>
            </a:extLst>
          </p:cNvPr>
          <p:cNvSpPr/>
          <p:nvPr/>
        </p:nvSpPr>
        <p:spPr>
          <a:xfrm rot="-2160000">
            <a:off x="6570124" y="3143051"/>
            <a:ext cx="484631" cy="65552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TextBox 15">
            <a:extLst>
              <a:ext uri="{FF2B5EF4-FFF2-40B4-BE49-F238E27FC236}">
                <a16:creationId xmlns:a16="http://schemas.microsoft.com/office/drawing/2014/main" id="{E9E2A276-E752-858F-D39D-411B238D9E85}"/>
              </a:ext>
            </a:extLst>
          </p:cNvPr>
          <p:cNvSpPr txBox="1"/>
          <p:nvPr/>
        </p:nvSpPr>
        <p:spPr>
          <a:xfrm>
            <a:off x="437542" y="5803875"/>
            <a:ext cx="111444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a:cs typeface="Arial"/>
              </a:rPr>
              <a:t>履歴管理で守る共通ルール</a:t>
            </a:r>
          </a:p>
          <a:p>
            <a:r>
              <a:rPr lang="ja-JP" altLang="en-US" sz="1100">
                <a:cs typeface="Arial"/>
              </a:rPr>
              <a:t>・同じ処理を再実行しても二重登録させない　・変更前と変更後を追跡できるようにする　・キーのNULL_重複を取込前に確認する　・削除データの扱いを事前に決める　・障害発生時に対象バッチだけ再実行できるようにする　・PowerBiで履歴が重複集計されないようにする。</a:t>
            </a:r>
          </a:p>
        </p:txBody>
      </p:sp>
    </p:spTree>
    <p:extLst>
      <p:ext uri="{BB962C8B-B14F-4D97-AF65-F5344CB8AC3E}">
        <p14:creationId xmlns:p14="http://schemas.microsoft.com/office/powerpoint/2010/main" val="4166344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2D06-7BCD-ECCD-C794-BC5358A6E671}"/>
              </a:ext>
            </a:extLst>
          </p:cNvPr>
          <p:cNvSpPr>
            <a:spLocks noGrp="1"/>
          </p:cNvSpPr>
          <p:nvPr>
            <p:ph type="title"/>
          </p:nvPr>
        </p:nvSpPr>
        <p:spPr/>
        <p:txBody>
          <a:bodyPr/>
          <a:lstStyle/>
          <a:p>
            <a:r>
              <a:rPr lang="ja-JP" altLang="en-US"/>
              <a:t>共通管理カラム</a:t>
            </a:r>
            <a:endParaRPr kumimoji="1" lang="en-US"/>
          </a:p>
        </p:txBody>
      </p:sp>
      <p:sp>
        <p:nvSpPr>
          <p:cNvPr id="4" name="Slide Number Placeholder 3">
            <a:extLst>
              <a:ext uri="{FF2B5EF4-FFF2-40B4-BE49-F238E27FC236}">
                <a16:creationId xmlns:a16="http://schemas.microsoft.com/office/drawing/2014/main" id="{E53ED046-B4C9-5831-70DC-BA92642B5C1A}"/>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9</a:t>
            </a:fld>
            <a:endParaRPr lang="en-US" altLang="ja-JP" sz="2133">
              <a:latin typeface="Arial Black" pitchFamily="34" charset="0"/>
            </a:endParaRPr>
          </a:p>
        </p:txBody>
      </p:sp>
      <p:sp>
        <p:nvSpPr>
          <p:cNvPr id="6" name="Content Placeholder 2">
            <a:extLst>
              <a:ext uri="{FF2B5EF4-FFF2-40B4-BE49-F238E27FC236}">
                <a16:creationId xmlns:a16="http://schemas.microsoft.com/office/drawing/2014/main" id="{DF199A2A-B722-2609-F96C-AFAB17CEA804}"/>
              </a:ext>
            </a:extLst>
          </p:cNvPr>
          <p:cNvSpPr>
            <a:spLocks noGrp="1"/>
          </p:cNvSpPr>
          <p:nvPr>
            <p:ph idx="1"/>
          </p:nvPr>
        </p:nvSpPr>
        <p:spPr>
          <a:xfrm>
            <a:off x="425491" y="738447"/>
            <a:ext cx="11151029" cy="497409"/>
          </a:xfrm>
        </p:spPr>
        <p:txBody>
          <a:bodyPr vert="horz" lIns="91440" tIns="45720" rIns="91440" bIns="45720" rtlCol="0" anchor="t">
            <a:normAutofit fontScale="85000" lnSpcReduction="10000"/>
          </a:bodyPr>
          <a:lstStyle/>
          <a:p>
            <a:pPr marL="456565" indent="-456565"/>
            <a:r>
              <a:rPr lang="ja-JP" altLang="en-US" sz="2400">
                <a:cs typeface="Arial"/>
              </a:rPr>
              <a:t>履歴データの出所、取込処理、変更状態を後から確認できるように、管理用のカラムを標準化する。</a:t>
            </a:r>
          </a:p>
          <a:p>
            <a:pPr marL="0" indent="0">
              <a:buNone/>
            </a:pPr>
            <a:endParaRPr lang="ja-JP" altLang="en-US" sz="2400">
              <a:cs typeface="Arial"/>
            </a:endParaRPr>
          </a:p>
        </p:txBody>
      </p:sp>
      <p:graphicFrame>
        <p:nvGraphicFramePr>
          <p:cNvPr id="7" name="Table 6">
            <a:extLst>
              <a:ext uri="{FF2B5EF4-FFF2-40B4-BE49-F238E27FC236}">
                <a16:creationId xmlns:a16="http://schemas.microsoft.com/office/drawing/2014/main" id="{99109201-08FD-B5E0-AE2B-3F06CFFAD57C}"/>
              </a:ext>
            </a:extLst>
          </p:cNvPr>
          <p:cNvGraphicFramePr>
            <a:graphicFrameLocks noGrp="1"/>
          </p:cNvGraphicFramePr>
          <p:nvPr>
            <p:extLst>
              <p:ext uri="{D42A27DB-BD31-4B8C-83A1-F6EECF244321}">
                <p14:modId xmlns:p14="http://schemas.microsoft.com/office/powerpoint/2010/main" val="752507302"/>
              </p:ext>
            </p:extLst>
          </p:nvPr>
        </p:nvGraphicFramePr>
        <p:xfrm>
          <a:off x="426203" y="1239864"/>
          <a:ext cx="4994021" cy="2613478"/>
        </p:xfrm>
        <a:graphic>
          <a:graphicData uri="http://schemas.openxmlformats.org/drawingml/2006/table">
            <a:tbl>
              <a:tblPr firstRow="1" bandRow="1">
                <a:tableStyleId>{5C22544A-7EE6-4342-B048-85BDC9FD1C3A}</a:tableStyleId>
              </a:tblPr>
              <a:tblGrid>
                <a:gridCol w="2348106">
                  <a:extLst>
                    <a:ext uri="{9D8B030D-6E8A-4147-A177-3AD203B41FA5}">
                      <a16:colId xmlns:a16="http://schemas.microsoft.com/office/drawing/2014/main" val="2610306218"/>
                    </a:ext>
                  </a:extLst>
                </a:gridCol>
                <a:gridCol w="2645915">
                  <a:extLst>
                    <a:ext uri="{9D8B030D-6E8A-4147-A177-3AD203B41FA5}">
                      <a16:colId xmlns:a16="http://schemas.microsoft.com/office/drawing/2014/main" val="1107432468"/>
                    </a:ext>
                  </a:extLst>
                </a:gridCol>
              </a:tblGrid>
              <a:tr h="281452">
                <a:tc>
                  <a:txBody>
                    <a:bodyPr/>
                    <a:lstStyle/>
                    <a:p>
                      <a:r>
                        <a:rPr lang="ja-JP" altLang="en-US" sz="1200"/>
                        <a:t>基本的に使用する管理カラム</a:t>
                      </a:r>
                      <a:endParaRPr lang="en-US" sz="1200"/>
                    </a:p>
                  </a:txBody>
                  <a:tcPr/>
                </a:tc>
                <a:tc>
                  <a:txBody>
                    <a:bodyPr/>
                    <a:lstStyle/>
                    <a:p>
                      <a:r>
                        <a:rPr lang="ja-JP" altLang="en-US" sz="1200"/>
                        <a:t>確認できること</a:t>
                      </a:r>
                      <a:endParaRPr lang="en-US" sz="1200"/>
                    </a:p>
                  </a:txBody>
                  <a:tcPr/>
                </a:tc>
                <a:extLst>
                  <a:ext uri="{0D108BD9-81ED-4DB2-BD59-A6C34878D82A}">
                    <a16:rowId xmlns:a16="http://schemas.microsoft.com/office/drawing/2014/main" val="1585000621"/>
                  </a:ext>
                </a:extLst>
              </a:tr>
              <a:tr h="388671">
                <a:tc>
                  <a:txBody>
                    <a:bodyPr/>
                    <a:lstStyle/>
                    <a:p>
                      <a:r>
                        <a:rPr lang="en-US" sz="1200" err="1"/>
                        <a:t>Load_batch_id</a:t>
                      </a:r>
                    </a:p>
                  </a:txBody>
                  <a:tcPr/>
                </a:tc>
                <a:tc>
                  <a:txBody>
                    <a:bodyPr/>
                    <a:lstStyle/>
                    <a:p>
                      <a:r>
                        <a:rPr lang="ja-JP" altLang="en-US" sz="1200"/>
                        <a:t>どの取込処理で登録されたか</a:t>
                      </a:r>
                      <a:endParaRPr lang="en-US" sz="1200"/>
                    </a:p>
                  </a:txBody>
                  <a:tcPr/>
                </a:tc>
                <a:extLst>
                  <a:ext uri="{0D108BD9-81ED-4DB2-BD59-A6C34878D82A}">
                    <a16:rowId xmlns:a16="http://schemas.microsoft.com/office/drawing/2014/main" val="897835562"/>
                  </a:ext>
                </a:extLst>
              </a:tr>
              <a:tr h="388671">
                <a:tc>
                  <a:txBody>
                    <a:bodyPr/>
                    <a:lstStyle/>
                    <a:p>
                      <a:r>
                        <a:rPr lang="en-US" sz="1200" err="1"/>
                        <a:t>Source_system</a:t>
                      </a:r>
                    </a:p>
                  </a:txBody>
                  <a:tcPr/>
                </a:tc>
                <a:tc>
                  <a:txBody>
                    <a:bodyPr/>
                    <a:lstStyle/>
                    <a:p>
                      <a:r>
                        <a:rPr lang="ja-JP" altLang="en-US" sz="1200"/>
                        <a:t>どのシステムから来たか</a:t>
                      </a:r>
                      <a:endParaRPr lang="en-US" sz="1200"/>
                    </a:p>
                  </a:txBody>
                  <a:tcPr/>
                </a:tc>
                <a:extLst>
                  <a:ext uri="{0D108BD9-81ED-4DB2-BD59-A6C34878D82A}">
                    <a16:rowId xmlns:a16="http://schemas.microsoft.com/office/drawing/2014/main" val="2379345905"/>
                  </a:ext>
                </a:extLst>
              </a:tr>
              <a:tr h="388671">
                <a:tc>
                  <a:txBody>
                    <a:bodyPr/>
                    <a:lstStyle/>
                    <a:p>
                      <a:r>
                        <a:rPr lang="en-US" sz="1200" err="1"/>
                        <a:t>Source_table</a:t>
                      </a:r>
                    </a:p>
                  </a:txBody>
                  <a:tcPr/>
                </a:tc>
                <a:tc>
                  <a:txBody>
                    <a:bodyPr/>
                    <a:lstStyle/>
                    <a:p>
                      <a:r>
                        <a:rPr lang="ja-JP" altLang="en-US" sz="1200"/>
                        <a:t>どのテーブル・ファイルから来たか</a:t>
                      </a:r>
                      <a:endParaRPr lang="en-US" sz="1200"/>
                    </a:p>
                  </a:txBody>
                  <a:tcPr/>
                </a:tc>
                <a:extLst>
                  <a:ext uri="{0D108BD9-81ED-4DB2-BD59-A6C34878D82A}">
                    <a16:rowId xmlns:a16="http://schemas.microsoft.com/office/drawing/2014/main" val="1099135207"/>
                  </a:ext>
                </a:extLst>
              </a:tr>
              <a:tr h="388671">
                <a:tc>
                  <a:txBody>
                    <a:bodyPr/>
                    <a:lstStyle/>
                    <a:p>
                      <a:r>
                        <a:rPr lang="en-US" sz="1200" err="1"/>
                        <a:t>Source_extracted_at</a:t>
                      </a:r>
                    </a:p>
                  </a:txBody>
                  <a:tcPr/>
                </a:tc>
                <a:tc>
                  <a:txBody>
                    <a:bodyPr/>
                    <a:lstStyle/>
                    <a:p>
                      <a:r>
                        <a:rPr lang="ja-JP" altLang="en-US" sz="1200"/>
                        <a:t>元データをいつ抽出したか</a:t>
                      </a:r>
                      <a:endParaRPr lang="en-US" sz="1200"/>
                    </a:p>
                  </a:txBody>
                  <a:tcPr/>
                </a:tc>
                <a:extLst>
                  <a:ext uri="{0D108BD9-81ED-4DB2-BD59-A6C34878D82A}">
                    <a16:rowId xmlns:a16="http://schemas.microsoft.com/office/drawing/2014/main" val="208262636"/>
                  </a:ext>
                </a:extLst>
              </a:tr>
              <a:tr h="388671">
                <a:tc>
                  <a:txBody>
                    <a:bodyPr/>
                    <a:lstStyle/>
                    <a:p>
                      <a:r>
                        <a:rPr lang="en-US" sz="1200" err="1"/>
                        <a:t>Loaded_at</a:t>
                      </a:r>
                    </a:p>
                  </a:txBody>
                  <a:tcPr/>
                </a:tc>
                <a:tc>
                  <a:txBody>
                    <a:bodyPr/>
                    <a:lstStyle/>
                    <a:p>
                      <a:r>
                        <a:rPr lang="en-US" sz="1200" err="1"/>
                        <a:t>DB</a:t>
                      </a:r>
                      <a:r>
                        <a:rPr lang="ja-JP" altLang="en-US" sz="1200" err="1"/>
                        <a:t>へいつ</a:t>
                      </a:r>
                      <a:r>
                        <a:rPr lang="ja-JP" altLang="en-US" sz="1200"/>
                        <a:t>取り込んだか</a:t>
                      </a:r>
                    </a:p>
                  </a:txBody>
                  <a:tcPr/>
                </a:tc>
                <a:extLst>
                  <a:ext uri="{0D108BD9-81ED-4DB2-BD59-A6C34878D82A}">
                    <a16:rowId xmlns:a16="http://schemas.microsoft.com/office/drawing/2014/main" val="2723183998"/>
                  </a:ext>
                </a:extLst>
              </a:tr>
              <a:tr h="388671">
                <a:tc>
                  <a:txBody>
                    <a:bodyPr/>
                    <a:lstStyle/>
                    <a:p>
                      <a:r>
                        <a:rPr lang="en-US" sz="1200" err="1"/>
                        <a:t>Record_hash</a:t>
                      </a:r>
                    </a:p>
                  </a:txBody>
                  <a:tcPr/>
                </a:tc>
                <a:tc>
                  <a:txBody>
                    <a:bodyPr/>
                    <a:lstStyle/>
                    <a:p>
                      <a:r>
                        <a:rPr lang="ja-JP" altLang="en-US" sz="1200"/>
                        <a:t>同じ内容化、変更された内化</a:t>
                      </a:r>
                      <a:endParaRPr lang="en-US" sz="1200"/>
                    </a:p>
                  </a:txBody>
                  <a:tcPr/>
                </a:tc>
                <a:extLst>
                  <a:ext uri="{0D108BD9-81ED-4DB2-BD59-A6C34878D82A}">
                    <a16:rowId xmlns:a16="http://schemas.microsoft.com/office/drawing/2014/main" val="857939734"/>
                  </a:ext>
                </a:extLst>
              </a:tr>
            </a:tbl>
          </a:graphicData>
        </a:graphic>
      </p:graphicFrame>
      <p:sp>
        <p:nvSpPr>
          <p:cNvPr id="8" name="TextBox 7">
            <a:extLst>
              <a:ext uri="{FF2B5EF4-FFF2-40B4-BE49-F238E27FC236}">
                <a16:creationId xmlns:a16="http://schemas.microsoft.com/office/drawing/2014/main" id="{98DDE69E-8E4F-6E7F-56A3-40585C1EDFBC}"/>
              </a:ext>
            </a:extLst>
          </p:cNvPr>
          <p:cNvSpPr txBox="1"/>
          <p:nvPr/>
        </p:nvSpPr>
        <p:spPr>
          <a:xfrm>
            <a:off x="424535" y="3989360"/>
            <a:ext cx="50058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200" b="1">
                <a:cs typeface="Arial"/>
              </a:rPr>
              <a:t>データの出所と取込状況を追跡するためのカラム</a:t>
            </a:r>
            <a:endParaRPr lang="en-US" altLang="ja-JP" sz="1200" b="1">
              <a:cs typeface="Arial"/>
            </a:endParaRPr>
          </a:p>
          <a:p>
            <a:r>
              <a:rPr lang="ja-JP" altLang="en-US" sz="1200">
                <a:cs typeface="Arial"/>
              </a:rPr>
              <a:t>※ここでは「すべてのテーブルで必須」と断定せずに、「履歴管理対象で基本的に検討するカラム」という位置づけで認識してください。</a:t>
            </a:r>
          </a:p>
        </p:txBody>
      </p:sp>
      <p:graphicFrame>
        <p:nvGraphicFramePr>
          <p:cNvPr id="9" name="Table 8">
            <a:extLst>
              <a:ext uri="{FF2B5EF4-FFF2-40B4-BE49-F238E27FC236}">
                <a16:creationId xmlns:a16="http://schemas.microsoft.com/office/drawing/2014/main" id="{3B624FE4-F2F7-241F-679A-A02ECD980512}"/>
              </a:ext>
            </a:extLst>
          </p:cNvPr>
          <p:cNvGraphicFramePr>
            <a:graphicFrameLocks noGrp="1"/>
          </p:cNvGraphicFramePr>
          <p:nvPr>
            <p:extLst>
              <p:ext uri="{D42A27DB-BD31-4B8C-83A1-F6EECF244321}">
                <p14:modId xmlns:p14="http://schemas.microsoft.com/office/powerpoint/2010/main" val="4009150136"/>
              </p:ext>
            </p:extLst>
          </p:nvPr>
        </p:nvGraphicFramePr>
        <p:xfrm>
          <a:off x="5992677" y="1239863"/>
          <a:ext cx="4994021" cy="3002148"/>
        </p:xfrm>
        <a:graphic>
          <a:graphicData uri="http://schemas.openxmlformats.org/drawingml/2006/table">
            <a:tbl>
              <a:tblPr firstRow="1" bandRow="1">
                <a:tableStyleId>{5C22544A-7EE6-4342-B048-85BDC9FD1C3A}</a:tableStyleId>
              </a:tblPr>
              <a:tblGrid>
                <a:gridCol w="2348106">
                  <a:extLst>
                    <a:ext uri="{9D8B030D-6E8A-4147-A177-3AD203B41FA5}">
                      <a16:colId xmlns:a16="http://schemas.microsoft.com/office/drawing/2014/main" val="2610306218"/>
                    </a:ext>
                  </a:extLst>
                </a:gridCol>
                <a:gridCol w="2645915">
                  <a:extLst>
                    <a:ext uri="{9D8B030D-6E8A-4147-A177-3AD203B41FA5}">
                      <a16:colId xmlns:a16="http://schemas.microsoft.com/office/drawing/2014/main" val="1107432468"/>
                    </a:ext>
                  </a:extLst>
                </a:gridCol>
              </a:tblGrid>
              <a:tr h="281452">
                <a:tc>
                  <a:txBody>
                    <a:bodyPr/>
                    <a:lstStyle/>
                    <a:p>
                      <a:r>
                        <a:rPr lang="ja-JP" altLang="en-US" sz="1200"/>
                        <a:t>必要応じて使用する管理カラム</a:t>
                      </a:r>
                    </a:p>
                  </a:txBody>
                  <a:tcPr/>
                </a:tc>
                <a:tc>
                  <a:txBody>
                    <a:bodyPr/>
                    <a:lstStyle/>
                    <a:p>
                      <a:r>
                        <a:rPr lang="ja-JP" altLang="en-US" sz="1200"/>
                        <a:t>確認できること</a:t>
                      </a:r>
                      <a:endParaRPr lang="en-US" sz="1200"/>
                    </a:p>
                  </a:txBody>
                  <a:tcPr/>
                </a:tc>
                <a:extLst>
                  <a:ext uri="{0D108BD9-81ED-4DB2-BD59-A6C34878D82A}">
                    <a16:rowId xmlns:a16="http://schemas.microsoft.com/office/drawing/2014/main" val="1585000621"/>
                  </a:ext>
                </a:extLst>
              </a:tr>
              <a:tr h="388671">
                <a:tc>
                  <a:txBody>
                    <a:bodyPr/>
                    <a:lstStyle/>
                    <a:p>
                      <a:r>
                        <a:rPr lang="en-US" sz="1200" err="1"/>
                        <a:t>Business_key_has</a:t>
                      </a:r>
                    </a:p>
                  </a:txBody>
                  <a:tcPr/>
                </a:tc>
                <a:tc>
                  <a:txBody>
                    <a:bodyPr/>
                    <a:lstStyle/>
                    <a:p>
                      <a:r>
                        <a:rPr lang="ja-JP" altLang="en-US" sz="1200"/>
                        <a:t>同じ車両・受注などの業務データか</a:t>
                      </a:r>
                    </a:p>
                  </a:txBody>
                  <a:tcPr/>
                </a:tc>
                <a:extLst>
                  <a:ext uri="{0D108BD9-81ED-4DB2-BD59-A6C34878D82A}">
                    <a16:rowId xmlns:a16="http://schemas.microsoft.com/office/drawing/2014/main" val="897835562"/>
                  </a:ext>
                </a:extLst>
              </a:tr>
              <a:tr h="388671">
                <a:tc>
                  <a:txBody>
                    <a:bodyPr/>
                    <a:lstStyle/>
                    <a:p>
                      <a:r>
                        <a:rPr lang="en-US" sz="1200" err="1"/>
                        <a:t>Source_updated_at</a:t>
                      </a:r>
                    </a:p>
                  </a:txBody>
                  <a:tcPr/>
                </a:tc>
                <a:tc>
                  <a:txBody>
                    <a:bodyPr/>
                    <a:lstStyle/>
                    <a:p>
                      <a:r>
                        <a:rPr lang="ja-JP" altLang="en-US" sz="1200"/>
                        <a:t>元システムでいつ更新されたか</a:t>
                      </a:r>
                    </a:p>
                  </a:txBody>
                  <a:tcPr/>
                </a:tc>
                <a:extLst>
                  <a:ext uri="{0D108BD9-81ED-4DB2-BD59-A6C34878D82A}">
                    <a16:rowId xmlns:a16="http://schemas.microsoft.com/office/drawing/2014/main" val="2379345905"/>
                  </a:ext>
                </a:extLst>
              </a:tr>
              <a:tr h="388671">
                <a:tc>
                  <a:txBody>
                    <a:bodyPr/>
                    <a:lstStyle/>
                    <a:p>
                      <a:r>
                        <a:rPr lang="en-US" sz="1200" err="1"/>
                        <a:t>Valid_from</a:t>
                      </a:r>
                    </a:p>
                  </a:txBody>
                  <a:tcPr/>
                </a:tc>
                <a:tc>
                  <a:txBody>
                    <a:bodyPr/>
                    <a:lstStyle/>
                    <a:p>
                      <a:pPr lvl="0">
                        <a:buNone/>
                      </a:pPr>
                      <a:r>
                        <a:rPr lang="ja-JP" altLang="en-US" sz="1200"/>
                        <a:t>その状態がいつから有効か</a:t>
                      </a:r>
                    </a:p>
                  </a:txBody>
                  <a:tcPr/>
                </a:tc>
                <a:extLst>
                  <a:ext uri="{0D108BD9-81ED-4DB2-BD59-A6C34878D82A}">
                    <a16:rowId xmlns:a16="http://schemas.microsoft.com/office/drawing/2014/main" val="1099135207"/>
                  </a:ext>
                </a:extLst>
              </a:tr>
              <a:tr h="388671">
                <a:tc>
                  <a:txBody>
                    <a:bodyPr/>
                    <a:lstStyle/>
                    <a:p>
                      <a:r>
                        <a:rPr lang="en-US" sz="1200" err="1"/>
                        <a:t>Valid_to</a:t>
                      </a:r>
                    </a:p>
                  </a:txBody>
                  <a:tcPr/>
                </a:tc>
                <a:tc>
                  <a:txBody>
                    <a:bodyPr/>
                    <a:lstStyle/>
                    <a:p>
                      <a:r>
                        <a:rPr lang="ja-JP" altLang="en-US" sz="1200"/>
                        <a:t>その除隊がいつまで有効か</a:t>
                      </a:r>
                    </a:p>
                  </a:txBody>
                  <a:tcPr/>
                </a:tc>
                <a:extLst>
                  <a:ext uri="{0D108BD9-81ED-4DB2-BD59-A6C34878D82A}">
                    <a16:rowId xmlns:a16="http://schemas.microsoft.com/office/drawing/2014/main" val="208262636"/>
                  </a:ext>
                </a:extLst>
              </a:tr>
              <a:tr h="388671">
                <a:tc>
                  <a:txBody>
                    <a:bodyPr/>
                    <a:lstStyle/>
                    <a:p>
                      <a:r>
                        <a:rPr lang="en-US" sz="1200" err="1"/>
                        <a:t>Is_current</a:t>
                      </a:r>
                    </a:p>
                  </a:txBody>
                  <a:tcPr/>
                </a:tc>
                <a:tc>
                  <a:txBody>
                    <a:bodyPr/>
                    <a:lstStyle/>
                    <a:p>
                      <a:r>
                        <a:rPr lang="ja-JP" altLang="en-US" sz="1200"/>
                        <a:t>現在有効なレコードか</a:t>
                      </a:r>
                    </a:p>
                  </a:txBody>
                  <a:tcPr/>
                </a:tc>
                <a:extLst>
                  <a:ext uri="{0D108BD9-81ED-4DB2-BD59-A6C34878D82A}">
                    <a16:rowId xmlns:a16="http://schemas.microsoft.com/office/drawing/2014/main" val="2723183998"/>
                  </a:ext>
                </a:extLst>
              </a:tr>
              <a:tr h="388671">
                <a:tc>
                  <a:txBody>
                    <a:bodyPr/>
                    <a:lstStyle/>
                    <a:p>
                      <a:r>
                        <a:rPr lang="en-US" sz="1200" err="1"/>
                        <a:t>Is_deleted</a:t>
                      </a:r>
                    </a:p>
                  </a:txBody>
                  <a:tcPr/>
                </a:tc>
                <a:tc>
                  <a:txBody>
                    <a:bodyPr/>
                    <a:lstStyle/>
                    <a:p>
                      <a:r>
                        <a:rPr lang="ja-JP" altLang="en-US" sz="1200"/>
                        <a:t>削除されたデータか</a:t>
                      </a:r>
                    </a:p>
                  </a:txBody>
                  <a:tcPr/>
                </a:tc>
                <a:extLst>
                  <a:ext uri="{0D108BD9-81ED-4DB2-BD59-A6C34878D82A}">
                    <a16:rowId xmlns:a16="http://schemas.microsoft.com/office/drawing/2014/main" val="857939734"/>
                  </a:ext>
                </a:extLst>
              </a:tr>
              <a:tr h="388670">
                <a:tc>
                  <a:txBody>
                    <a:bodyPr/>
                    <a:lstStyle/>
                    <a:p>
                      <a:pPr lvl="0">
                        <a:buNone/>
                      </a:pPr>
                      <a:r>
                        <a:rPr lang="en-US" sz="1200" err="1"/>
                        <a:t>Deleted_at</a:t>
                      </a:r>
                    </a:p>
                  </a:txBody>
                  <a:tcPr/>
                </a:tc>
                <a:tc>
                  <a:txBody>
                    <a:bodyPr/>
                    <a:lstStyle/>
                    <a:p>
                      <a:pPr lvl="0">
                        <a:buNone/>
                      </a:pPr>
                      <a:r>
                        <a:rPr lang="ja-JP" altLang="en-US" sz="1200"/>
                        <a:t>削除をいつ検知したか</a:t>
                      </a:r>
                    </a:p>
                  </a:txBody>
                  <a:tcPr/>
                </a:tc>
                <a:extLst>
                  <a:ext uri="{0D108BD9-81ED-4DB2-BD59-A6C34878D82A}">
                    <a16:rowId xmlns:a16="http://schemas.microsoft.com/office/drawing/2014/main" val="3283205390"/>
                  </a:ext>
                </a:extLst>
              </a:tr>
            </a:tbl>
          </a:graphicData>
        </a:graphic>
      </p:graphicFrame>
      <p:sp>
        <p:nvSpPr>
          <p:cNvPr id="12" name="TextBox 11">
            <a:extLst>
              <a:ext uri="{FF2B5EF4-FFF2-40B4-BE49-F238E27FC236}">
                <a16:creationId xmlns:a16="http://schemas.microsoft.com/office/drawing/2014/main" id="{0EDC9BC1-7E49-7AEF-B512-88938EC59091}"/>
              </a:ext>
            </a:extLst>
          </p:cNvPr>
          <p:cNvSpPr txBox="1"/>
          <p:nvPr/>
        </p:nvSpPr>
        <p:spPr>
          <a:xfrm>
            <a:off x="5991009" y="4415563"/>
            <a:ext cx="500586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200" b="1">
                <a:cs typeface="Arial"/>
              </a:rPr>
              <a:t>SCDType2や最新+履歴方式で、状態の変化を管理するためのカラム</a:t>
            </a:r>
          </a:p>
        </p:txBody>
      </p:sp>
      <p:sp>
        <p:nvSpPr>
          <p:cNvPr id="14" name="TextBox 13">
            <a:extLst>
              <a:ext uri="{FF2B5EF4-FFF2-40B4-BE49-F238E27FC236}">
                <a16:creationId xmlns:a16="http://schemas.microsoft.com/office/drawing/2014/main" id="{0C0C95ED-7B9A-3392-B773-FB087CEFBEBE}"/>
              </a:ext>
            </a:extLst>
          </p:cNvPr>
          <p:cNvSpPr txBox="1"/>
          <p:nvPr/>
        </p:nvSpPr>
        <p:spPr>
          <a:xfrm>
            <a:off x="411711" y="5080620"/>
            <a:ext cx="1114447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400">
                <a:cs typeface="Arial"/>
              </a:rPr>
              <a:t>注意点：</a:t>
            </a:r>
          </a:p>
          <a:p>
            <a:pPr algn="l"/>
            <a:r>
              <a:rPr lang="ja-JP" altLang="en-US" sz="1400">
                <a:cs typeface="Arial"/>
              </a:rPr>
              <a:t>すべてのテーブルに全カラムを追加するのではありません。ログ、マスタ、状態変化など、データの種類と採用する履歴方式に応じて必要なカラムを選択する。</a:t>
            </a:r>
          </a:p>
          <a:p>
            <a:endParaRPr lang="ja-JP" altLang="en-US" sz="1400">
              <a:cs typeface="Arial"/>
            </a:endParaRPr>
          </a:p>
          <a:p>
            <a:r>
              <a:rPr lang="ja-JP" altLang="en-US" sz="1400">
                <a:cs typeface="Arial"/>
              </a:rPr>
              <a:t>例：</a:t>
            </a:r>
          </a:p>
          <a:p>
            <a:r>
              <a:rPr lang="ja-JP" altLang="en-US" sz="1400">
                <a:cs typeface="Arial"/>
              </a:rPr>
              <a:t>ログ・イベント系：sorce_system, loaded_at, load_batch_id, record_hashなど</a:t>
            </a:r>
          </a:p>
          <a:p>
            <a:r>
              <a:rPr lang="ja-JP" altLang="en-US" sz="1400">
                <a:cs typeface="Arial"/>
              </a:rPr>
              <a:t>マスタ・状態変化系：上記に加えて valild_from, valid_to, is_currentなど</a:t>
            </a:r>
          </a:p>
        </p:txBody>
      </p:sp>
    </p:spTree>
    <p:extLst>
      <p:ext uri="{BB962C8B-B14F-4D97-AF65-F5344CB8AC3E}">
        <p14:creationId xmlns:p14="http://schemas.microsoft.com/office/powerpoint/2010/main" val="3142849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A26D-C788-E187-145C-25E6E085C0C2}"/>
              </a:ext>
            </a:extLst>
          </p:cNvPr>
          <p:cNvSpPr>
            <a:spLocks noGrp="1"/>
          </p:cNvSpPr>
          <p:nvPr>
            <p:ph type="title"/>
          </p:nvPr>
        </p:nvSpPr>
        <p:spPr/>
        <p:txBody>
          <a:bodyPr/>
          <a:lstStyle/>
          <a:p>
            <a:r>
              <a:rPr lang="en-US"/>
              <a:t>SCD Type2</a:t>
            </a:r>
            <a:r>
              <a:rPr lang="ja-JP" altLang="en-US"/>
              <a:t>履歴テーブル</a:t>
            </a:r>
            <a:endParaRPr kumimoji="1" lang="en-US"/>
          </a:p>
        </p:txBody>
      </p:sp>
      <p:sp>
        <p:nvSpPr>
          <p:cNvPr id="4" name="Slide Number Placeholder 3">
            <a:extLst>
              <a:ext uri="{FF2B5EF4-FFF2-40B4-BE49-F238E27FC236}">
                <a16:creationId xmlns:a16="http://schemas.microsoft.com/office/drawing/2014/main" id="{6ACF2B4C-5C3E-5323-EAA1-80CF2E4F0874}"/>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10</a:t>
            </a:fld>
            <a:endParaRPr lang="en-US" altLang="ja-JP" sz="2133">
              <a:latin typeface="Arial Black" pitchFamily="34" charset="0"/>
            </a:endParaRPr>
          </a:p>
        </p:txBody>
      </p:sp>
      <p:sp>
        <p:nvSpPr>
          <p:cNvPr id="6" name="Content Placeholder 2">
            <a:extLst>
              <a:ext uri="{FF2B5EF4-FFF2-40B4-BE49-F238E27FC236}">
                <a16:creationId xmlns:a16="http://schemas.microsoft.com/office/drawing/2014/main" id="{9507277E-D209-0E5F-AB2E-5C5223BC83D1}"/>
              </a:ext>
            </a:extLst>
          </p:cNvPr>
          <p:cNvSpPr>
            <a:spLocks noGrp="1"/>
          </p:cNvSpPr>
          <p:nvPr>
            <p:ph idx="1"/>
          </p:nvPr>
        </p:nvSpPr>
        <p:spPr>
          <a:xfrm>
            <a:off x="425491" y="738447"/>
            <a:ext cx="11151029" cy="497409"/>
          </a:xfrm>
        </p:spPr>
        <p:txBody>
          <a:bodyPr vert="horz" lIns="91440" tIns="45720" rIns="91440" bIns="45720" rtlCol="0" anchor="t">
            <a:normAutofit fontScale="85000" lnSpcReduction="10000"/>
          </a:bodyPr>
          <a:lstStyle/>
          <a:p>
            <a:pPr marL="456565" indent="-456565"/>
            <a:r>
              <a:rPr lang="ja-JP" altLang="en-US" sz="2400">
                <a:cs typeface="Arial"/>
              </a:rPr>
              <a:t>データが変更されたときに既存レコードを上書きせず、変更前の状態を残したまま、新しい状態を追加</a:t>
            </a:r>
          </a:p>
          <a:p>
            <a:pPr marL="0" indent="0">
              <a:buNone/>
            </a:pPr>
            <a:endParaRPr lang="ja-JP" altLang="en-US" sz="2400">
              <a:cs typeface="Arial"/>
            </a:endParaRPr>
          </a:p>
          <a:p>
            <a:pPr marL="0" indent="0">
              <a:buNone/>
            </a:pPr>
            <a:endParaRPr lang="ja-JP" altLang="en-US" sz="2400">
              <a:cs typeface="Arial"/>
            </a:endParaRPr>
          </a:p>
        </p:txBody>
      </p:sp>
      <p:sp>
        <p:nvSpPr>
          <p:cNvPr id="9" name="Rectangle: Rounded Corners 8">
            <a:extLst>
              <a:ext uri="{FF2B5EF4-FFF2-40B4-BE49-F238E27FC236}">
                <a16:creationId xmlns:a16="http://schemas.microsoft.com/office/drawing/2014/main" id="{CF56ED37-30F1-A169-F8C8-D3D0ABED9BC4}"/>
              </a:ext>
            </a:extLst>
          </p:cNvPr>
          <p:cNvSpPr/>
          <p:nvPr/>
        </p:nvSpPr>
        <p:spPr>
          <a:xfrm>
            <a:off x="2028463" y="1714830"/>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b="1">
                <a:solidFill>
                  <a:schemeClr val="tx1"/>
                </a:solidFill>
                <a:cs typeface="Arial"/>
              </a:rPr>
              <a:t>車両ID：V001</a:t>
            </a:r>
          </a:p>
          <a:p>
            <a:r>
              <a:rPr lang="ja-JP" altLang="en-US" b="1">
                <a:solidFill>
                  <a:schemeClr val="tx1"/>
                </a:solidFill>
                <a:cs typeface="Arial"/>
              </a:rPr>
              <a:t>店舗：A店</a:t>
            </a:r>
          </a:p>
          <a:p>
            <a:r>
              <a:rPr lang="ja-JP" altLang="en-US" b="1">
                <a:solidFill>
                  <a:schemeClr val="tx1"/>
                </a:solidFill>
                <a:cs typeface="Arial"/>
              </a:rPr>
              <a:t>現在：有効</a:t>
            </a:r>
          </a:p>
        </p:txBody>
      </p:sp>
      <p:sp>
        <p:nvSpPr>
          <p:cNvPr id="10" name="Rectangle: Rounded Corners 9">
            <a:extLst>
              <a:ext uri="{FF2B5EF4-FFF2-40B4-BE49-F238E27FC236}">
                <a16:creationId xmlns:a16="http://schemas.microsoft.com/office/drawing/2014/main" id="{EAAE2828-57D1-679D-9516-25BA0C5CB7A8}"/>
              </a:ext>
            </a:extLst>
          </p:cNvPr>
          <p:cNvSpPr/>
          <p:nvPr/>
        </p:nvSpPr>
        <p:spPr>
          <a:xfrm>
            <a:off x="8320112" y="1714830"/>
            <a:ext cx="2038026" cy="1999280"/>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b="1">
                <a:solidFill>
                  <a:schemeClr val="tx1"/>
                </a:solidFill>
                <a:cs typeface="Arial"/>
              </a:rPr>
              <a:t>車両ID：V001</a:t>
            </a:r>
          </a:p>
          <a:p>
            <a:r>
              <a:rPr lang="ja-JP" altLang="en-US" b="1">
                <a:solidFill>
                  <a:schemeClr val="tx1"/>
                </a:solidFill>
                <a:cs typeface="Arial"/>
              </a:rPr>
              <a:t>店舗：</a:t>
            </a:r>
            <a:r>
              <a:rPr lang="ja-JP" altLang="en-US" b="1">
                <a:solidFill>
                  <a:schemeClr val="tx2"/>
                </a:solidFill>
                <a:cs typeface="Arial"/>
              </a:rPr>
              <a:t>B</a:t>
            </a:r>
            <a:r>
              <a:rPr lang="ja-JP" altLang="en-US" b="1">
                <a:solidFill>
                  <a:schemeClr val="tx1"/>
                </a:solidFill>
                <a:cs typeface="Arial"/>
              </a:rPr>
              <a:t>店</a:t>
            </a:r>
          </a:p>
          <a:p>
            <a:r>
              <a:rPr lang="ja-JP" altLang="en-US" b="1">
                <a:solidFill>
                  <a:schemeClr val="tx1"/>
                </a:solidFill>
                <a:cs typeface="Arial"/>
              </a:rPr>
              <a:t>現在：有効</a:t>
            </a:r>
          </a:p>
        </p:txBody>
      </p:sp>
      <p:sp>
        <p:nvSpPr>
          <p:cNvPr id="11" name="Arrow: Right 10">
            <a:extLst>
              <a:ext uri="{FF2B5EF4-FFF2-40B4-BE49-F238E27FC236}">
                <a16:creationId xmlns:a16="http://schemas.microsoft.com/office/drawing/2014/main" id="{A1FB32A5-6C60-FDD8-6BA0-501FF861A4F0}"/>
              </a:ext>
            </a:extLst>
          </p:cNvPr>
          <p:cNvSpPr/>
          <p:nvPr/>
        </p:nvSpPr>
        <p:spPr>
          <a:xfrm>
            <a:off x="4062201" y="2465872"/>
            <a:ext cx="4242649" cy="484631"/>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 name="TextBox 11">
            <a:extLst>
              <a:ext uri="{FF2B5EF4-FFF2-40B4-BE49-F238E27FC236}">
                <a16:creationId xmlns:a16="http://schemas.microsoft.com/office/drawing/2014/main" id="{A8493CE9-C6E1-1917-30C2-B8CE661FE6C4}"/>
              </a:ext>
            </a:extLst>
          </p:cNvPr>
          <p:cNvSpPr txBox="1"/>
          <p:nvPr/>
        </p:nvSpPr>
        <p:spPr>
          <a:xfrm>
            <a:off x="2396197" y="1248283"/>
            <a:ext cx="1299759" cy="37319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tLang="en-US">
                <a:cs typeface="Arial"/>
              </a:rPr>
              <a:t>①変更前</a:t>
            </a:r>
            <a:endParaRPr lang="en-US">
              <a:cs typeface="Arial"/>
            </a:endParaRPr>
          </a:p>
        </p:txBody>
      </p:sp>
      <p:sp>
        <p:nvSpPr>
          <p:cNvPr id="13" name="TextBox 12">
            <a:extLst>
              <a:ext uri="{FF2B5EF4-FFF2-40B4-BE49-F238E27FC236}">
                <a16:creationId xmlns:a16="http://schemas.microsoft.com/office/drawing/2014/main" id="{04F9DAEC-516A-62AB-3497-CD461136DCA6}"/>
              </a:ext>
            </a:extLst>
          </p:cNvPr>
          <p:cNvSpPr txBox="1"/>
          <p:nvPr/>
        </p:nvSpPr>
        <p:spPr>
          <a:xfrm>
            <a:off x="8687846" y="1248283"/>
            <a:ext cx="1299759" cy="37319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tLang="en-US">
                <a:cs typeface="Arial"/>
              </a:rPr>
              <a:t>③変更後</a:t>
            </a:r>
          </a:p>
        </p:txBody>
      </p:sp>
      <p:sp>
        <p:nvSpPr>
          <p:cNvPr id="14" name="TextBox 13">
            <a:extLst>
              <a:ext uri="{FF2B5EF4-FFF2-40B4-BE49-F238E27FC236}">
                <a16:creationId xmlns:a16="http://schemas.microsoft.com/office/drawing/2014/main" id="{75560F68-0C31-6A5E-B63C-04CC6511BE30}"/>
              </a:ext>
            </a:extLst>
          </p:cNvPr>
          <p:cNvSpPr txBox="1"/>
          <p:nvPr/>
        </p:nvSpPr>
        <p:spPr>
          <a:xfrm>
            <a:off x="5166170" y="1251245"/>
            <a:ext cx="2041164" cy="64633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tLang="en-US">
                <a:cs typeface="Arial"/>
              </a:rPr>
              <a:t>②属性変更</a:t>
            </a:r>
          </a:p>
          <a:p>
            <a:pPr algn="ctr"/>
            <a:r>
              <a:rPr lang="ja-JP" altLang="en-US">
                <a:cs typeface="Arial"/>
              </a:rPr>
              <a:t>2026/06/01</a:t>
            </a:r>
          </a:p>
        </p:txBody>
      </p:sp>
      <p:sp>
        <p:nvSpPr>
          <p:cNvPr id="15" name="TextBox 14">
            <a:extLst>
              <a:ext uri="{FF2B5EF4-FFF2-40B4-BE49-F238E27FC236}">
                <a16:creationId xmlns:a16="http://schemas.microsoft.com/office/drawing/2014/main" id="{B98B6070-6BE2-E996-0040-738564007B5F}"/>
              </a:ext>
            </a:extLst>
          </p:cNvPr>
          <p:cNvSpPr txBox="1"/>
          <p:nvPr/>
        </p:nvSpPr>
        <p:spPr>
          <a:xfrm>
            <a:off x="5269144" y="3237595"/>
            <a:ext cx="1835217" cy="37962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ja-JP" altLang="en-US">
                <a:cs typeface="Arial"/>
              </a:rPr>
              <a:t>所属店舗変更</a:t>
            </a:r>
          </a:p>
        </p:txBody>
      </p:sp>
      <p:sp>
        <p:nvSpPr>
          <p:cNvPr id="16" name="Arrow: Down 15">
            <a:extLst>
              <a:ext uri="{FF2B5EF4-FFF2-40B4-BE49-F238E27FC236}">
                <a16:creationId xmlns:a16="http://schemas.microsoft.com/office/drawing/2014/main" id="{D1E7BFAC-3FFF-0BBA-D764-F1E1467B13AA}"/>
              </a:ext>
            </a:extLst>
          </p:cNvPr>
          <p:cNvSpPr/>
          <p:nvPr/>
        </p:nvSpPr>
        <p:spPr>
          <a:xfrm>
            <a:off x="6005569" y="3709518"/>
            <a:ext cx="484631" cy="55621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aphicFrame>
        <p:nvGraphicFramePr>
          <p:cNvPr id="17" name="Table 16">
            <a:extLst>
              <a:ext uri="{FF2B5EF4-FFF2-40B4-BE49-F238E27FC236}">
                <a16:creationId xmlns:a16="http://schemas.microsoft.com/office/drawing/2014/main" id="{E5BD9154-F12E-2EE6-D805-549575559800}"/>
              </a:ext>
            </a:extLst>
          </p:cNvPr>
          <p:cNvGraphicFramePr>
            <a:graphicFrameLocks noGrp="1"/>
          </p:cNvGraphicFramePr>
          <p:nvPr>
            <p:extLst>
              <p:ext uri="{D42A27DB-BD31-4B8C-83A1-F6EECF244321}">
                <p14:modId xmlns:p14="http://schemas.microsoft.com/office/powerpoint/2010/main" val="2430622572"/>
              </p:ext>
            </p:extLst>
          </p:nvPr>
        </p:nvGraphicFramePr>
        <p:xfrm>
          <a:off x="2197031" y="4367619"/>
          <a:ext cx="8168640" cy="1112520"/>
        </p:xfrm>
        <a:graphic>
          <a:graphicData uri="http://schemas.openxmlformats.org/drawingml/2006/table">
            <a:tbl>
              <a:tblPr firstRow="1" bandRow="1">
                <a:tableStyleId>{5C22544A-7EE6-4342-B048-85BDC9FD1C3A}</a:tableStyleId>
              </a:tblPr>
              <a:tblGrid>
                <a:gridCol w="1633728">
                  <a:extLst>
                    <a:ext uri="{9D8B030D-6E8A-4147-A177-3AD203B41FA5}">
                      <a16:colId xmlns:a16="http://schemas.microsoft.com/office/drawing/2014/main" val="2897678143"/>
                    </a:ext>
                  </a:extLst>
                </a:gridCol>
                <a:gridCol w="1633728">
                  <a:extLst>
                    <a:ext uri="{9D8B030D-6E8A-4147-A177-3AD203B41FA5}">
                      <a16:colId xmlns:a16="http://schemas.microsoft.com/office/drawing/2014/main" val="3040102926"/>
                    </a:ext>
                  </a:extLst>
                </a:gridCol>
                <a:gridCol w="1633728">
                  <a:extLst>
                    <a:ext uri="{9D8B030D-6E8A-4147-A177-3AD203B41FA5}">
                      <a16:colId xmlns:a16="http://schemas.microsoft.com/office/drawing/2014/main" val="3522717332"/>
                    </a:ext>
                  </a:extLst>
                </a:gridCol>
                <a:gridCol w="1633728">
                  <a:extLst>
                    <a:ext uri="{9D8B030D-6E8A-4147-A177-3AD203B41FA5}">
                      <a16:colId xmlns:a16="http://schemas.microsoft.com/office/drawing/2014/main" val="3474481617"/>
                    </a:ext>
                  </a:extLst>
                </a:gridCol>
                <a:gridCol w="1633728">
                  <a:extLst>
                    <a:ext uri="{9D8B030D-6E8A-4147-A177-3AD203B41FA5}">
                      <a16:colId xmlns:a16="http://schemas.microsoft.com/office/drawing/2014/main" val="2591316207"/>
                    </a:ext>
                  </a:extLst>
                </a:gridCol>
              </a:tblGrid>
              <a:tr h="370840">
                <a:tc>
                  <a:txBody>
                    <a:bodyPr/>
                    <a:lstStyle/>
                    <a:p>
                      <a:pPr algn="ctr"/>
                      <a:r>
                        <a:rPr lang="ja-JP" altLang="en-US" sz="1400"/>
                        <a:t>車両ID</a:t>
                      </a:r>
                      <a:endParaRPr lang="en-US" sz="1400"/>
                    </a:p>
                  </a:txBody>
                  <a:tcPr anchor="ctr"/>
                </a:tc>
                <a:tc>
                  <a:txBody>
                    <a:bodyPr/>
                    <a:lstStyle/>
                    <a:p>
                      <a:pPr algn="ctr"/>
                      <a:r>
                        <a:rPr lang="ja-JP" altLang="en-US" sz="1400"/>
                        <a:t>店舗</a:t>
                      </a:r>
                      <a:endParaRPr lang="en-US" sz="1400"/>
                    </a:p>
                  </a:txBody>
                  <a:tcPr anchor="ctr"/>
                </a:tc>
                <a:tc>
                  <a:txBody>
                    <a:bodyPr/>
                    <a:lstStyle/>
                    <a:p>
                      <a:pPr algn="ctr"/>
                      <a:r>
                        <a:rPr lang="ja-JP" altLang="en-US" sz="1400"/>
                        <a:t>有効開始</a:t>
                      </a:r>
                      <a:endParaRPr lang="en-US" sz="1400"/>
                    </a:p>
                  </a:txBody>
                  <a:tcPr anchor="ctr"/>
                </a:tc>
                <a:tc>
                  <a:txBody>
                    <a:bodyPr/>
                    <a:lstStyle/>
                    <a:p>
                      <a:pPr algn="ctr"/>
                      <a:r>
                        <a:rPr lang="ja-JP" altLang="en-US" sz="1400"/>
                        <a:t>有効終了</a:t>
                      </a:r>
                      <a:endParaRPr lang="en-US" sz="1400"/>
                    </a:p>
                  </a:txBody>
                  <a:tcPr anchor="ctr"/>
                </a:tc>
                <a:tc>
                  <a:txBody>
                    <a:bodyPr/>
                    <a:lstStyle/>
                    <a:p>
                      <a:pPr algn="ctr"/>
                      <a:r>
                        <a:rPr lang="ja-JP" altLang="en-US" sz="1400"/>
                        <a:t>現在フラグ</a:t>
                      </a:r>
                      <a:endParaRPr lang="en-US" sz="1400"/>
                    </a:p>
                  </a:txBody>
                  <a:tcPr anchor="ctr"/>
                </a:tc>
                <a:extLst>
                  <a:ext uri="{0D108BD9-81ED-4DB2-BD59-A6C34878D82A}">
                    <a16:rowId xmlns:a16="http://schemas.microsoft.com/office/drawing/2014/main" val="1245267561"/>
                  </a:ext>
                </a:extLst>
              </a:tr>
              <a:tr h="370840">
                <a:tc>
                  <a:txBody>
                    <a:bodyPr/>
                    <a:lstStyle/>
                    <a:p>
                      <a:r>
                        <a:rPr lang="en-US" sz="1400"/>
                        <a:t>V001</a:t>
                      </a:r>
                    </a:p>
                  </a:txBody>
                  <a:tcPr/>
                </a:tc>
                <a:tc>
                  <a:txBody>
                    <a:bodyPr/>
                    <a:lstStyle/>
                    <a:p>
                      <a:r>
                        <a:rPr lang="en-US" sz="1400"/>
                        <a:t>A</a:t>
                      </a:r>
                      <a:r>
                        <a:rPr lang="ja-JP" altLang="en-US" sz="1400"/>
                        <a:t>店</a:t>
                      </a:r>
                      <a:endParaRPr lang="en-US" sz="1400"/>
                    </a:p>
                  </a:txBody>
                  <a:tcPr/>
                </a:tc>
                <a:tc>
                  <a:txBody>
                    <a:bodyPr/>
                    <a:lstStyle/>
                    <a:p>
                      <a:r>
                        <a:rPr lang="en-US" sz="1400"/>
                        <a:t>2026/04/01</a:t>
                      </a:r>
                    </a:p>
                  </a:txBody>
                  <a:tcPr/>
                </a:tc>
                <a:tc>
                  <a:txBody>
                    <a:bodyPr/>
                    <a:lstStyle/>
                    <a:p>
                      <a:r>
                        <a:rPr lang="en-US" sz="1400"/>
                        <a:t>2026/05/31</a:t>
                      </a:r>
                    </a:p>
                  </a:txBody>
                  <a:tcPr/>
                </a:tc>
                <a:tc>
                  <a:txBody>
                    <a:bodyPr/>
                    <a:lstStyle/>
                    <a:p>
                      <a:r>
                        <a:rPr lang="en-US" sz="1400"/>
                        <a:t>0</a:t>
                      </a:r>
                    </a:p>
                  </a:txBody>
                  <a:tcPr/>
                </a:tc>
                <a:extLst>
                  <a:ext uri="{0D108BD9-81ED-4DB2-BD59-A6C34878D82A}">
                    <a16:rowId xmlns:a16="http://schemas.microsoft.com/office/drawing/2014/main" val="1285536613"/>
                  </a:ext>
                </a:extLst>
              </a:tr>
              <a:tr h="370840">
                <a:tc>
                  <a:txBody>
                    <a:bodyPr/>
                    <a:lstStyle/>
                    <a:p>
                      <a:r>
                        <a:rPr lang="en-US" sz="1400"/>
                        <a:t>V002</a:t>
                      </a:r>
                    </a:p>
                  </a:txBody>
                  <a:tcPr/>
                </a:tc>
                <a:tc>
                  <a:txBody>
                    <a:bodyPr/>
                    <a:lstStyle/>
                    <a:p>
                      <a:r>
                        <a:rPr lang="en-US" sz="1400"/>
                        <a:t>B</a:t>
                      </a:r>
                      <a:r>
                        <a:rPr lang="ja-JP" altLang="en-US" sz="1400"/>
                        <a:t>店</a:t>
                      </a:r>
                      <a:endParaRPr lang="en-US" sz="1400"/>
                    </a:p>
                  </a:txBody>
                  <a:tcPr/>
                </a:tc>
                <a:tc>
                  <a:txBody>
                    <a:bodyPr/>
                    <a:lstStyle/>
                    <a:p>
                      <a:r>
                        <a:rPr lang="en-US" sz="1400"/>
                        <a:t>2026/06/01</a:t>
                      </a:r>
                    </a:p>
                  </a:txBody>
                  <a:tcPr/>
                </a:tc>
                <a:tc>
                  <a:txBody>
                    <a:bodyPr/>
                    <a:lstStyle/>
                    <a:p>
                      <a:r>
                        <a:rPr lang="en-US" sz="1400"/>
                        <a:t>9999/12/31</a:t>
                      </a:r>
                    </a:p>
                  </a:txBody>
                  <a:tcPr/>
                </a:tc>
                <a:tc>
                  <a:txBody>
                    <a:bodyPr/>
                    <a:lstStyle/>
                    <a:p>
                      <a:r>
                        <a:rPr lang="en-US" sz="1400"/>
                        <a:t>1</a:t>
                      </a:r>
                    </a:p>
                  </a:txBody>
                  <a:tcPr/>
                </a:tc>
                <a:extLst>
                  <a:ext uri="{0D108BD9-81ED-4DB2-BD59-A6C34878D82A}">
                    <a16:rowId xmlns:a16="http://schemas.microsoft.com/office/drawing/2014/main" val="1169423276"/>
                  </a:ext>
                </a:extLst>
              </a:tr>
            </a:tbl>
          </a:graphicData>
        </a:graphic>
      </p:graphicFrame>
      <p:sp>
        <p:nvSpPr>
          <p:cNvPr id="18" name="TextBox 17">
            <a:extLst>
              <a:ext uri="{FF2B5EF4-FFF2-40B4-BE49-F238E27FC236}">
                <a16:creationId xmlns:a16="http://schemas.microsoft.com/office/drawing/2014/main" id="{0B4358A2-3B65-7236-FF2B-28E993683D86}"/>
              </a:ext>
            </a:extLst>
          </p:cNvPr>
          <p:cNvSpPr txBox="1"/>
          <p:nvPr/>
        </p:nvSpPr>
        <p:spPr>
          <a:xfrm>
            <a:off x="2200549" y="3989298"/>
            <a:ext cx="3678433" cy="37962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ja-JP" altLang="en-US">
                <a:cs typeface="Arial"/>
              </a:rPr>
              <a:t>履歴テーブルへ反映</a:t>
            </a:r>
          </a:p>
        </p:txBody>
      </p:sp>
      <p:sp>
        <p:nvSpPr>
          <p:cNvPr id="21" name="TextBox 20">
            <a:extLst>
              <a:ext uri="{FF2B5EF4-FFF2-40B4-BE49-F238E27FC236}">
                <a16:creationId xmlns:a16="http://schemas.microsoft.com/office/drawing/2014/main" id="{91388A4F-A9C9-9C6A-C19C-46FC643CFB1C}"/>
              </a:ext>
            </a:extLst>
          </p:cNvPr>
          <p:cNvSpPr txBox="1"/>
          <p:nvPr/>
        </p:nvSpPr>
        <p:spPr>
          <a:xfrm>
            <a:off x="437542" y="5803875"/>
            <a:ext cx="1114447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a:cs typeface="Arial"/>
              </a:rPr>
              <a:t>適用条件：</a:t>
            </a:r>
          </a:p>
          <a:p>
            <a:r>
              <a:rPr lang="ja-JP" altLang="en-US" sz="1400">
                <a:cs typeface="Arial"/>
              </a:rPr>
              <a:t>同じデータを識別できて、過去状態を残す必要がある</a:t>
            </a:r>
          </a:p>
          <a:p>
            <a:r>
              <a:rPr lang="ja-JP" altLang="en-US" sz="1400">
                <a:cs typeface="Arial"/>
              </a:rPr>
              <a:t>最新状態だけでなく、「いつから、いつまで、どの状態だったか」を確認できるようにします。</a:t>
            </a:r>
          </a:p>
        </p:txBody>
      </p:sp>
    </p:spTree>
    <p:extLst>
      <p:ext uri="{BB962C8B-B14F-4D97-AF65-F5344CB8AC3E}">
        <p14:creationId xmlns:p14="http://schemas.microsoft.com/office/powerpoint/2010/main" val="750079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5292-D2DE-EC64-E078-7A929A1F6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DE82E-13E3-DF40-46BE-50299C9C900A}"/>
              </a:ext>
            </a:extLst>
          </p:cNvPr>
          <p:cNvSpPr>
            <a:spLocks noGrp="1"/>
          </p:cNvSpPr>
          <p:nvPr>
            <p:ph type="title"/>
          </p:nvPr>
        </p:nvSpPr>
        <p:spPr/>
        <p:txBody>
          <a:bodyPr/>
          <a:lstStyle/>
          <a:p>
            <a:r>
              <a:rPr lang="ja-JP" altLang="en-US"/>
              <a:t>最新テーブル + 履歴テーブル分離型</a:t>
            </a:r>
            <a:endParaRPr kumimoji="1" lang="en-US"/>
          </a:p>
        </p:txBody>
      </p:sp>
      <p:sp>
        <p:nvSpPr>
          <p:cNvPr id="4" name="Slide Number Placeholder 3">
            <a:extLst>
              <a:ext uri="{FF2B5EF4-FFF2-40B4-BE49-F238E27FC236}">
                <a16:creationId xmlns:a16="http://schemas.microsoft.com/office/drawing/2014/main" id="{E895F52C-7CCF-E45B-A292-E54FD561A2F5}"/>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11</a:t>
            </a:fld>
            <a:endParaRPr lang="en-US" altLang="ja-JP" sz="2133">
              <a:latin typeface="Arial Black" pitchFamily="34" charset="0"/>
            </a:endParaRPr>
          </a:p>
        </p:txBody>
      </p:sp>
      <p:sp>
        <p:nvSpPr>
          <p:cNvPr id="6" name="Content Placeholder 2">
            <a:extLst>
              <a:ext uri="{FF2B5EF4-FFF2-40B4-BE49-F238E27FC236}">
                <a16:creationId xmlns:a16="http://schemas.microsoft.com/office/drawing/2014/main" id="{77769CAA-97F2-8C4D-9D20-A21FF7098E94}"/>
              </a:ext>
            </a:extLst>
          </p:cNvPr>
          <p:cNvSpPr>
            <a:spLocks noGrp="1"/>
          </p:cNvSpPr>
          <p:nvPr>
            <p:ph idx="1"/>
          </p:nvPr>
        </p:nvSpPr>
        <p:spPr>
          <a:xfrm>
            <a:off x="425491" y="738447"/>
            <a:ext cx="11151029" cy="497409"/>
          </a:xfrm>
        </p:spPr>
        <p:txBody>
          <a:bodyPr vert="horz" lIns="91440" tIns="45720" rIns="91440" bIns="45720" rtlCol="0" anchor="t">
            <a:normAutofit fontScale="70000" lnSpcReduction="20000"/>
          </a:bodyPr>
          <a:lstStyle/>
          <a:p>
            <a:pPr marL="456565" indent="-456565"/>
            <a:r>
              <a:rPr lang="ja-JP" altLang="en-US" sz="2400">
                <a:cs typeface="Arial"/>
              </a:rPr>
              <a:t>現在有効なデータを保持する「最新テーブル」と、変更前を含むデータを保持する「履歴テーブル」を分けて管理する方式</a:t>
            </a:r>
          </a:p>
          <a:p>
            <a:pPr marL="0" indent="0">
              <a:buNone/>
            </a:pPr>
            <a:endParaRPr lang="ja-JP" altLang="en-US" sz="2400">
              <a:cs typeface="Arial"/>
            </a:endParaRPr>
          </a:p>
          <a:p>
            <a:pPr marL="0" indent="0">
              <a:buNone/>
            </a:pPr>
            <a:endParaRPr lang="ja-JP" altLang="en-US" sz="2400">
              <a:cs typeface="Arial"/>
            </a:endParaRPr>
          </a:p>
        </p:txBody>
      </p:sp>
      <p:sp>
        <p:nvSpPr>
          <p:cNvPr id="8" name="Rectangle: Rounded Corners 7">
            <a:extLst>
              <a:ext uri="{FF2B5EF4-FFF2-40B4-BE49-F238E27FC236}">
                <a16:creationId xmlns:a16="http://schemas.microsoft.com/office/drawing/2014/main" id="{89175BFA-2B03-A4B7-6586-669534FA986D}"/>
              </a:ext>
            </a:extLst>
          </p:cNvPr>
          <p:cNvSpPr/>
          <p:nvPr/>
        </p:nvSpPr>
        <p:spPr>
          <a:xfrm>
            <a:off x="185247" y="2672478"/>
            <a:ext cx="1512865" cy="1391741"/>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元システムから</a:t>
            </a:r>
          </a:p>
          <a:p>
            <a:pPr algn="ctr"/>
            <a:r>
              <a:rPr lang="ja-JP" altLang="en-US" sz="1400" b="1">
                <a:solidFill>
                  <a:schemeClr val="tx1"/>
                </a:solidFill>
                <a:cs typeface="Arial"/>
              </a:rPr>
              <a:t>データ取込</a:t>
            </a:r>
          </a:p>
        </p:txBody>
      </p:sp>
      <p:sp>
        <p:nvSpPr>
          <p:cNvPr id="11" name="Rectangle: Rounded Corners 10">
            <a:extLst>
              <a:ext uri="{FF2B5EF4-FFF2-40B4-BE49-F238E27FC236}">
                <a16:creationId xmlns:a16="http://schemas.microsoft.com/office/drawing/2014/main" id="{21C0E278-777C-527A-383F-B22CCF65202C}"/>
              </a:ext>
            </a:extLst>
          </p:cNvPr>
          <p:cNvSpPr/>
          <p:nvPr/>
        </p:nvSpPr>
        <p:spPr>
          <a:xfrm>
            <a:off x="2234409" y="2672478"/>
            <a:ext cx="1512865" cy="1391741"/>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新規データ</a:t>
            </a:r>
            <a:endParaRPr lang="en-US" altLang="ja-JP">
              <a:solidFill>
                <a:schemeClr val="tx1"/>
              </a:solidFill>
            </a:endParaRPr>
          </a:p>
          <a:p>
            <a:pPr algn="ctr"/>
            <a:r>
              <a:rPr lang="ja-JP" altLang="en-US" sz="1400" b="1">
                <a:solidFill>
                  <a:schemeClr val="tx1"/>
                </a:solidFill>
                <a:cs typeface="Arial"/>
              </a:rPr>
              <a:t>変更データ</a:t>
            </a:r>
            <a:endParaRPr lang="ja-JP">
              <a:solidFill>
                <a:schemeClr val="tx1"/>
              </a:solidFill>
              <a:cs typeface="Arial"/>
            </a:endParaRPr>
          </a:p>
          <a:p>
            <a:pPr algn="ctr"/>
            <a:r>
              <a:rPr lang="ja-JP" altLang="en-US" sz="1400" b="1">
                <a:solidFill>
                  <a:schemeClr val="tx1"/>
                </a:solidFill>
                <a:cs typeface="Arial"/>
              </a:rPr>
              <a:t>を判定</a:t>
            </a:r>
            <a:endParaRPr lang="ja-JP">
              <a:solidFill>
                <a:schemeClr val="tx1"/>
              </a:solidFill>
              <a:cs typeface="Arial"/>
            </a:endParaRPr>
          </a:p>
        </p:txBody>
      </p:sp>
      <p:graphicFrame>
        <p:nvGraphicFramePr>
          <p:cNvPr id="12" name="Table 11">
            <a:extLst>
              <a:ext uri="{FF2B5EF4-FFF2-40B4-BE49-F238E27FC236}">
                <a16:creationId xmlns:a16="http://schemas.microsoft.com/office/drawing/2014/main" id="{83F7B5F5-9821-DC36-534D-1C7A4E921392}"/>
              </a:ext>
            </a:extLst>
          </p:cNvPr>
          <p:cNvGraphicFramePr>
            <a:graphicFrameLocks noGrp="1"/>
          </p:cNvGraphicFramePr>
          <p:nvPr>
            <p:extLst>
              <p:ext uri="{D42A27DB-BD31-4B8C-83A1-F6EECF244321}">
                <p14:modId xmlns:p14="http://schemas.microsoft.com/office/powerpoint/2010/main" val="2643677578"/>
              </p:ext>
            </p:extLst>
          </p:nvPr>
        </p:nvGraphicFramePr>
        <p:xfrm>
          <a:off x="4925815" y="2050727"/>
          <a:ext cx="4396371" cy="609600"/>
        </p:xfrm>
        <a:graphic>
          <a:graphicData uri="http://schemas.openxmlformats.org/drawingml/2006/table">
            <a:tbl>
              <a:tblPr firstRow="1" bandRow="1">
                <a:tableStyleId>{5C22544A-7EE6-4342-B048-85BDC9FD1C3A}</a:tableStyleId>
              </a:tblPr>
              <a:tblGrid>
                <a:gridCol w="1465457">
                  <a:extLst>
                    <a:ext uri="{9D8B030D-6E8A-4147-A177-3AD203B41FA5}">
                      <a16:colId xmlns:a16="http://schemas.microsoft.com/office/drawing/2014/main" val="3739471808"/>
                    </a:ext>
                  </a:extLst>
                </a:gridCol>
                <a:gridCol w="1465457">
                  <a:extLst>
                    <a:ext uri="{9D8B030D-6E8A-4147-A177-3AD203B41FA5}">
                      <a16:colId xmlns:a16="http://schemas.microsoft.com/office/drawing/2014/main" val="381488867"/>
                    </a:ext>
                  </a:extLst>
                </a:gridCol>
                <a:gridCol w="1465457">
                  <a:extLst>
                    <a:ext uri="{9D8B030D-6E8A-4147-A177-3AD203B41FA5}">
                      <a16:colId xmlns:a16="http://schemas.microsoft.com/office/drawing/2014/main" val="4069274019"/>
                    </a:ext>
                  </a:extLst>
                </a:gridCol>
              </a:tblGrid>
              <a:tr h="264071">
                <a:tc>
                  <a:txBody>
                    <a:bodyPr/>
                    <a:lstStyle/>
                    <a:p>
                      <a:pPr algn="ctr"/>
                      <a:r>
                        <a:rPr lang="ja-JP" altLang="en-US" sz="1400"/>
                        <a:t>車両ID</a:t>
                      </a:r>
                      <a:endParaRPr lang="en-US" sz="1400"/>
                    </a:p>
                  </a:txBody>
                  <a:tcPr anchor="ctr"/>
                </a:tc>
                <a:tc>
                  <a:txBody>
                    <a:bodyPr/>
                    <a:lstStyle/>
                    <a:p>
                      <a:pPr algn="ctr"/>
                      <a:r>
                        <a:rPr lang="ja-JP" altLang="en-US" sz="1400"/>
                        <a:t>所属</a:t>
                      </a:r>
                      <a:endParaRPr lang="en-US" sz="1400"/>
                    </a:p>
                  </a:txBody>
                  <a:tcPr anchor="ctr"/>
                </a:tc>
                <a:tc>
                  <a:txBody>
                    <a:bodyPr/>
                    <a:lstStyle/>
                    <a:p>
                      <a:pPr algn="ctr"/>
                      <a:r>
                        <a:rPr lang="ja-JP" altLang="en-US" sz="1400"/>
                        <a:t>更新日</a:t>
                      </a:r>
                      <a:endParaRPr lang="en-US" sz="1400"/>
                    </a:p>
                  </a:txBody>
                  <a:tcPr anchor="ctr"/>
                </a:tc>
                <a:extLst>
                  <a:ext uri="{0D108BD9-81ED-4DB2-BD59-A6C34878D82A}">
                    <a16:rowId xmlns:a16="http://schemas.microsoft.com/office/drawing/2014/main" val="165259404"/>
                  </a:ext>
                </a:extLst>
              </a:tr>
              <a:tr h="264071">
                <a:tc>
                  <a:txBody>
                    <a:bodyPr/>
                    <a:lstStyle/>
                    <a:p>
                      <a:pPr algn="l"/>
                      <a:r>
                        <a:rPr lang="en-US" sz="1400"/>
                        <a:t>V001</a:t>
                      </a:r>
                    </a:p>
                  </a:txBody>
                  <a:tcPr anchor="ctr"/>
                </a:tc>
                <a:tc>
                  <a:txBody>
                    <a:bodyPr/>
                    <a:lstStyle/>
                    <a:p>
                      <a:pPr algn="l"/>
                      <a:r>
                        <a:rPr lang="en-US" sz="1400"/>
                        <a:t>B</a:t>
                      </a:r>
                      <a:r>
                        <a:rPr lang="ja-JP" altLang="en-US" sz="1400"/>
                        <a:t>店</a:t>
                      </a:r>
                      <a:endParaRPr lang="en-US" sz="1400"/>
                    </a:p>
                  </a:txBody>
                  <a:tcPr anchor="ctr"/>
                </a:tc>
                <a:tc>
                  <a:txBody>
                    <a:bodyPr/>
                    <a:lstStyle/>
                    <a:p>
                      <a:pPr algn="l"/>
                      <a:r>
                        <a:rPr lang="en-US" sz="1400"/>
                        <a:t>2026/06/01</a:t>
                      </a:r>
                    </a:p>
                  </a:txBody>
                  <a:tcPr anchor="ctr"/>
                </a:tc>
                <a:extLst>
                  <a:ext uri="{0D108BD9-81ED-4DB2-BD59-A6C34878D82A}">
                    <a16:rowId xmlns:a16="http://schemas.microsoft.com/office/drawing/2014/main" val="1227959992"/>
                  </a:ext>
                </a:extLst>
              </a:tr>
            </a:tbl>
          </a:graphicData>
        </a:graphic>
      </p:graphicFrame>
      <p:sp>
        <p:nvSpPr>
          <p:cNvPr id="13" name="TextBox 12">
            <a:extLst>
              <a:ext uri="{FF2B5EF4-FFF2-40B4-BE49-F238E27FC236}">
                <a16:creationId xmlns:a16="http://schemas.microsoft.com/office/drawing/2014/main" id="{D9C74892-B45A-1512-187C-E79C4D9D8FDF}"/>
              </a:ext>
            </a:extLst>
          </p:cNvPr>
          <p:cNvSpPr txBox="1"/>
          <p:nvPr/>
        </p:nvSpPr>
        <p:spPr>
          <a:xfrm>
            <a:off x="4920988" y="1055206"/>
            <a:ext cx="473575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a:cs typeface="Arial"/>
              </a:rPr>
              <a:t>最新テーブル：</a:t>
            </a:r>
          </a:p>
          <a:p>
            <a:r>
              <a:rPr lang="ja-JP" altLang="en-US" sz="1200">
                <a:cs typeface="Arial"/>
              </a:rPr>
              <a:t>・現在有効なデータだけを保持する</a:t>
            </a:r>
          </a:p>
          <a:p>
            <a:r>
              <a:rPr lang="ja-JP" altLang="en-US" sz="1200">
                <a:cs typeface="Arial"/>
              </a:rPr>
              <a:t>・車両、受注などの単位で、原則として、最新の1件を保持する</a:t>
            </a:r>
          </a:p>
          <a:p>
            <a:r>
              <a:rPr lang="ja-JP" altLang="en-US" sz="1200">
                <a:cs typeface="Arial"/>
              </a:rPr>
              <a:t>・データが変更された場合は最新内容に更新する</a:t>
            </a:r>
          </a:p>
          <a:p>
            <a:r>
              <a:rPr lang="ja-JP" altLang="en-US" sz="1200">
                <a:cs typeface="Arial"/>
              </a:rPr>
              <a:t>・PowerBIや日常業務では基本的にこちらを参照</a:t>
            </a:r>
          </a:p>
        </p:txBody>
      </p:sp>
      <p:sp>
        <p:nvSpPr>
          <p:cNvPr id="14" name="TextBox 13">
            <a:extLst>
              <a:ext uri="{FF2B5EF4-FFF2-40B4-BE49-F238E27FC236}">
                <a16:creationId xmlns:a16="http://schemas.microsoft.com/office/drawing/2014/main" id="{4F4E7A85-816D-B816-4ED5-EC193CA1274E}"/>
              </a:ext>
            </a:extLst>
          </p:cNvPr>
          <p:cNvSpPr txBox="1"/>
          <p:nvPr/>
        </p:nvSpPr>
        <p:spPr>
          <a:xfrm>
            <a:off x="4920988" y="3372098"/>
            <a:ext cx="473575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a:cs typeface="Arial"/>
              </a:rPr>
              <a:t>履歴テーブル：</a:t>
            </a:r>
          </a:p>
          <a:p>
            <a:r>
              <a:rPr lang="ja-JP" altLang="en-US" sz="1200">
                <a:cs typeface="Arial"/>
              </a:rPr>
              <a:t>・変更前を含むデータを保持する</a:t>
            </a:r>
          </a:p>
          <a:p>
            <a:r>
              <a:rPr lang="ja-JP" altLang="en-US" sz="1200">
                <a:cs typeface="Arial"/>
              </a:rPr>
              <a:t>・データが変更されるたびに履歴を追加する</a:t>
            </a:r>
          </a:p>
          <a:p>
            <a:r>
              <a:rPr lang="ja-JP" altLang="en-US" sz="1200">
                <a:cs typeface="Arial"/>
              </a:rPr>
              <a:t>・いつ、どの内容から、どの内容へ変わったかを確認する</a:t>
            </a:r>
          </a:p>
          <a:p>
            <a:r>
              <a:rPr lang="ja-JP" altLang="en-US" sz="1200">
                <a:cs typeface="Arial"/>
              </a:rPr>
              <a:t>・過去時点の確認、障害調査、監査などで利用する</a:t>
            </a:r>
          </a:p>
        </p:txBody>
      </p:sp>
      <p:graphicFrame>
        <p:nvGraphicFramePr>
          <p:cNvPr id="15" name="Table 14">
            <a:extLst>
              <a:ext uri="{FF2B5EF4-FFF2-40B4-BE49-F238E27FC236}">
                <a16:creationId xmlns:a16="http://schemas.microsoft.com/office/drawing/2014/main" id="{48A87D35-B639-8C22-F557-7BDA4EA0E015}"/>
              </a:ext>
            </a:extLst>
          </p:cNvPr>
          <p:cNvGraphicFramePr>
            <a:graphicFrameLocks noGrp="1"/>
          </p:cNvGraphicFramePr>
          <p:nvPr>
            <p:extLst>
              <p:ext uri="{D42A27DB-BD31-4B8C-83A1-F6EECF244321}">
                <p14:modId xmlns:p14="http://schemas.microsoft.com/office/powerpoint/2010/main" val="1027286750"/>
              </p:ext>
            </p:extLst>
          </p:nvPr>
        </p:nvGraphicFramePr>
        <p:xfrm>
          <a:off x="4925815" y="4419105"/>
          <a:ext cx="4396368" cy="914400"/>
        </p:xfrm>
        <a:graphic>
          <a:graphicData uri="http://schemas.openxmlformats.org/drawingml/2006/table">
            <a:tbl>
              <a:tblPr firstRow="1" bandRow="1">
                <a:tableStyleId>{5C22544A-7EE6-4342-B048-85BDC9FD1C3A}</a:tableStyleId>
              </a:tblPr>
              <a:tblGrid>
                <a:gridCol w="1099092">
                  <a:extLst>
                    <a:ext uri="{9D8B030D-6E8A-4147-A177-3AD203B41FA5}">
                      <a16:colId xmlns:a16="http://schemas.microsoft.com/office/drawing/2014/main" val="3739471808"/>
                    </a:ext>
                  </a:extLst>
                </a:gridCol>
                <a:gridCol w="1099092">
                  <a:extLst>
                    <a:ext uri="{9D8B030D-6E8A-4147-A177-3AD203B41FA5}">
                      <a16:colId xmlns:a16="http://schemas.microsoft.com/office/drawing/2014/main" val="381488867"/>
                    </a:ext>
                  </a:extLst>
                </a:gridCol>
                <a:gridCol w="1099092">
                  <a:extLst>
                    <a:ext uri="{9D8B030D-6E8A-4147-A177-3AD203B41FA5}">
                      <a16:colId xmlns:a16="http://schemas.microsoft.com/office/drawing/2014/main" val="4069274019"/>
                    </a:ext>
                  </a:extLst>
                </a:gridCol>
                <a:gridCol w="1099092">
                  <a:extLst>
                    <a:ext uri="{9D8B030D-6E8A-4147-A177-3AD203B41FA5}">
                      <a16:colId xmlns:a16="http://schemas.microsoft.com/office/drawing/2014/main" val="4181799939"/>
                    </a:ext>
                  </a:extLst>
                </a:gridCol>
              </a:tblGrid>
              <a:tr h="264071">
                <a:tc>
                  <a:txBody>
                    <a:bodyPr/>
                    <a:lstStyle/>
                    <a:p>
                      <a:pPr algn="ctr"/>
                      <a:r>
                        <a:rPr lang="ja-JP" altLang="en-US" sz="1400"/>
                        <a:t>車両ID</a:t>
                      </a:r>
                      <a:endParaRPr lang="en-US" sz="1400"/>
                    </a:p>
                  </a:txBody>
                  <a:tcPr anchor="ctr"/>
                </a:tc>
                <a:tc>
                  <a:txBody>
                    <a:bodyPr/>
                    <a:lstStyle/>
                    <a:p>
                      <a:pPr algn="ctr"/>
                      <a:r>
                        <a:rPr lang="ja-JP" altLang="en-US" sz="1400"/>
                        <a:t>所属</a:t>
                      </a:r>
                      <a:endParaRPr lang="en-US" sz="1400"/>
                    </a:p>
                  </a:txBody>
                  <a:tcPr anchor="ctr"/>
                </a:tc>
                <a:tc>
                  <a:txBody>
                    <a:bodyPr/>
                    <a:lstStyle/>
                    <a:p>
                      <a:pPr algn="ctr"/>
                      <a:r>
                        <a:rPr lang="ja-JP" altLang="en-US" sz="1400"/>
                        <a:t>更新日</a:t>
                      </a:r>
                      <a:endParaRPr lang="en-US" sz="1400"/>
                    </a:p>
                  </a:txBody>
                  <a:tcPr anchor="ctr"/>
                </a:tc>
                <a:tc>
                  <a:txBody>
                    <a:bodyPr/>
                    <a:lstStyle/>
                    <a:p>
                      <a:pPr lvl="0" algn="ctr">
                        <a:buNone/>
                      </a:pPr>
                      <a:r>
                        <a:rPr lang="ja-JP" altLang="en-US" sz="1400"/>
                        <a:t>区分</a:t>
                      </a:r>
                    </a:p>
                  </a:txBody>
                  <a:tcPr anchor="ctr"/>
                </a:tc>
                <a:extLst>
                  <a:ext uri="{0D108BD9-81ED-4DB2-BD59-A6C34878D82A}">
                    <a16:rowId xmlns:a16="http://schemas.microsoft.com/office/drawing/2014/main" val="165259404"/>
                  </a:ext>
                </a:extLst>
              </a:tr>
              <a:tr h="264071">
                <a:tc>
                  <a:txBody>
                    <a:bodyPr/>
                    <a:lstStyle/>
                    <a:p>
                      <a:pPr algn="l"/>
                      <a:r>
                        <a:rPr lang="en-US" sz="1400"/>
                        <a:t>V001</a:t>
                      </a:r>
                    </a:p>
                  </a:txBody>
                  <a:tcPr anchor="ctr"/>
                </a:tc>
                <a:tc>
                  <a:txBody>
                    <a:bodyPr/>
                    <a:lstStyle/>
                    <a:p>
                      <a:pPr algn="l"/>
                      <a:r>
                        <a:rPr lang="ja-JP" altLang="en-US" sz="1400"/>
                        <a:t>A店</a:t>
                      </a:r>
                      <a:endParaRPr lang="en-US" sz="1400"/>
                    </a:p>
                  </a:txBody>
                  <a:tcPr anchor="ctr"/>
                </a:tc>
                <a:tc>
                  <a:txBody>
                    <a:bodyPr/>
                    <a:lstStyle/>
                    <a:p>
                      <a:pPr algn="l"/>
                      <a:r>
                        <a:rPr lang="en-US" sz="1400"/>
                        <a:t>2026/04/01</a:t>
                      </a:r>
                    </a:p>
                  </a:txBody>
                  <a:tcPr anchor="ctr"/>
                </a:tc>
                <a:tc>
                  <a:txBody>
                    <a:bodyPr/>
                    <a:lstStyle/>
                    <a:p>
                      <a:pPr lvl="0" algn="l">
                        <a:buNone/>
                      </a:pPr>
                      <a:r>
                        <a:rPr lang="ja-JP" altLang="en-US" sz="1400"/>
                        <a:t>変更前</a:t>
                      </a:r>
                      <a:endParaRPr lang="en-US" sz="1400"/>
                    </a:p>
                  </a:txBody>
                  <a:tcPr anchor="ctr"/>
                </a:tc>
                <a:extLst>
                  <a:ext uri="{0D108BD9-81ED-4DB2-BD59-A6C34878D82A}">
                    <a16:rowId xmlns:a16="http://schemas.microsoft.com/office/drawing/2014/main" val="1227959992"/>
                  </a:ext>
                </a:extLst>
              </a:tr>
              <a:tr h="264071">
                <a:tc>
                  <a:txBody>
                    <a:bodyPr/>
                    <a:lstStyle/>
                    <a:p>
                      <a:pPr lvl="0" algn="l">
                        <a:buNone/>
                      </a:pPr>
                      <a:r>
                        <a:rPr lang="en-US" sz="1400"/>
                        <a:t>V001</a:t>
                      </a:r>
                    </a:p>
                  </a:txBody>
                  <a:tcPr anchor="ctr"/>
                </a:tc>
                <a:tc>
                  <a:txBody>
                    <a:bodyPr/>
                    <a:lstStyle/>
                    <a:p>
                      <a:pPr lvl="0" algn="l">
                        <a:buNone/>
                      </a:pPr>
                      <a:r>
                        <a:rPr lang="ja-JP" altLang="en-US" sz="1400"/>
                        <a:t>B店</a:t>
                      </a:r>
                    </a:p>
                  </a:txBody>
                  <a:tcPr anchor="ctr"/>
                </a:tc>
                <a:tc>
                  <a:txBody>
                    <a:bodyPr/>
                    <a:lstStyle/>
                    <a:p>
                      <a:pPr lvl="0" algn="l">
                        <a:buNone/>
                      </a:pPr>
                      <a:r>
                        <a:rPr lang="en-US" sz="1400"/>
                        <a:t>2026/06/01</a:t>
                      </a:r>
                    </a:p>
                  </a:txBody>
                  <a:tcPr anchor="ctr"/>
                </a:tc>
                <a:tc>
                  <a:txBody>
                    <a:bodyPr/>
                    <a:lstStyle/>
                    <a:p>
                      <a:pPr lvl="0" algn="l">
                        <a:buNone/>
                      </a:pPr>
                      <a:r>
                        <a:rPr lang="ja-JP" altLang="en-US" sz="1400"/>
                        <a:t>変更後</a:t>
                      </a:r>
                    </a:p>
                  </a:txBody>
                  <a:tcPr anchor="ctr"/>
                </a:tc>
                <a:extLst>
                  <a:ext uri="{0D108BD9-81ED-4DB2-BD59-A6C34878D82A}">
                    <a16:rowId xmlns:a16="http://schemas.microsoft.com/office/drawing/2014/main" val="1527405521"/>
                  </a:ext>
                </a:extLst>
              </a:tr>
            </a:tbl>
          </a:graphicData>
        </a:graphic>
      </p:graphicFrame>
      <p:sp>
        <p:nvSpPr>
          <p:cNvPr id="16" name="Rectangle: Rounded Corners 15">
            <a:extLst>
              <a:ext uri="{FF2B5EF4-FFF2-40B4-BE49-F238E27FC236}">
                <a16:creationId xmlns:a16="http://schemas.microsoft.com/office/drawing/2014/main" id="{67643D03-3A5C-6E88-4952-6B0137F34D18}"/>
              </a:ext>
            </a:extLst>
          </p:cNvPr>
          <p:cNvSpPr/>
          <p:nvPr/>
        </p:nvSpPr>
        <p:spPr>
          <a:xfrm>
            <a:off x="10420760" y="1663343"/>
            <a:ext cx="1512865" cy="1391741"/>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PowerBI</a:t>
            </a:r>
          </a:p>
          <a:p>
            <a:pPr algn="ctr"/>
            <a:r>
              <a:rPr lang="ja-JP" altLang="en-US" sz="1400" b="1">
                <a:solidFill>
                  <a:schemeClr val="tx1"/>
                </a:solidFill>
                <a:cs typeface="Arial"/>
              </a:rPr>
              <a:t>日常業務</a:t>
            </a:r>
          </a:p>
        </p:txBody>
      </p:sp>
      <p:sp>
        <p:nvSpPr>
          <p:cNvPr id="17" name="Rectangle: Rounded Corners 16">
            <a:extLst>
              <a:ext uri="{FF2B5EF4-FFF2-40B4-BE49-F238E27FC236}">
                <a16:creationId xmlns:a16="http://schemas.microsoft.com/office/drawing/2014/main" id="{68A26A50-8E0B-7617-19BD-879E0FC676F0}"/>
              </a:ext>
            </a:extLst>
          </p:cNvPr>
          <p:cNvSpPr/>
          <p:nvPr/>
        </p:nvSpPr>
        <p:spPr>
          <a:xfrm>
            <a:off x="10420760" y="4186181"/>
            <a:ext cx="1512865" cy="1391741"/>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過去確認</a:t>
            </a:r>
          </a:p>
          <a:p>
            <a:pPr algn="ctr"/>
            <a:r>
              <a:rPr lang="ja-JP" altLang="en-US" sz="1400" b="1">
                <a:solidFill>
                  <a:schemeClr val="tx1"/>
                </a:solidFill>
                <a:cs typeface="Arial"/>
              </a:rPr>
              <a:t>調査・監査</a:t>
            </a:r>
          </a:p>
        </p:txBody>
      </p:sp>
      <p:sp>
        <p:nvSpPr>
          <p:cNvPr id="18" name="Arrow: Right 17">
            <a:extLst>
              <a:ext uri="{FF2B5EF4-FFF2-40B4-BE49-F238E27FC236}">
                <a16:creationId xmlns:a16="http://schemas.microsoft.com/office/drawing/2014/main" id="{7435DFD8-A001-0A64-FCED-5AD72101A10A}"/>
              </a:ext>
            </a:extLst>
          </p:cNvPr>
          <p:cNvSpPr/>
          <p:nvPr/>
        </p:nvSpPr>
        <p:spPr>
          <a:xfrm>
            <a:off x="1702834" y="3247179"/>
            <a:ext cx="504732" cy="258091"/>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Arrow: Right 18">
            <a:extLst>
              <a:ext uri="{FF2B5EF4-FFF2-40B4-BE49-F238E27FC236}">
                <a16:creationId xmlns:a16="http://schemas.microsoft.com/office/drawing/2014/main" id="{402060C2-96E8-3CEB-D2C5-75E4CC6115BB}"/>
              </a:ext>
            </a:extLst>
          </p:cNvPr>
          <p:cNvSpPr/>
          <p:nvPr/>
        </p:nvSpPr>
        <p:spPr>
          <a:xfrm rot="19680000">
            <a:off x="3723849" y="2717047"/>
            <a:ext cx="1277029" cy="2992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Arrow: Right 19">
            <a:extLst>
              <a:ext uri="{FF2B5EF4-FFF2-40B4-BE49-F238E27FC236}">
                <a16:creationId xmlns:a16="http://schemas.microsoft.com/office/drawing/2014/main" id="{AEB4A141-9DD7-6AF8-B8E8-2AA8B90C8B15}"/>
              </a:ext>
            </a:extLst>
          </p:cNvPr>
          <p:cNvSpPr/>
          <p:nvPr/>
        </p:nvSpPr>
        <p:spPr>
          <a:xfrm rot="2400000">
            <a:off x="3692957" y="4035100"/>
            <a:ext cx="1277029" cy="2992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Arrow: Right 20">
            <a:extLst>
              <a:ext uri="{FF2B5EF4-FFF2-40B4-BE49-F238E27FC236}">
                <a16:creationId xmlns:a16="http://schemas.microsoft.com/office/drawing/2014/main" id="{1A0E0EDA-88BB-F784-1BBF-C9C6CC4063B9}"/>
              </a:ext>
            </a:extLst>
          </p:cNvPr>
          <p:cNvSpPr/>
          <p:nvPr/>
        </p:nvSpPr>
        <p:spPr>
          <a:xfrm>
            <a:off x="9322834" y="2227747"/>
            <a:ext cx="1081380" cy="26838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Arrow: Right 21">
            <a:extLst>
              <a:ext uri="{FF2B5EF4-FFF2-40B4-BE49-F238E27FC236}">
                <a16:creationId xmlns:a16="http://schemas.microsoft.com/office/drawing/2014/main" id="{0C28C9B7-2C4B-C099-BEFC-2C7D89CB9792}"/>
              </a:ext>
            </a:extLst>
          </p:cNvPr>
          <p:cNvSpPr/>
          <p:nvPr/>
        </p:nvSpPr>
        <p:spPr>
          <a:xfrm>
            <a:off x="9322834" y="4750585"/>
            <a:ext cx="1081380" cy="26838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TextBox 23">
            <a:extLst>
              <a:ext uri="{FF2B5EF4-FFF2-40B4-BE49-F238E27FC236}">
                <a16:creationId xmlns:a16="http://schemas.microsoft.com/office/drawing/2014/main" id="{D6D03AF0-CB74-BB24-E60E-30F5571A8F9A}"/>
              </a:ext>
            </a:extLst>
          </p:cNvPr>
          <p:cNvSpPr txBox="1"/>
          <p:nvPr/>
        </p:nvSpPr>
        <p:spPr>
          <a:xfrm>
            <a:off x="427245" y="5494955"/>
            <a:ext cx="11762307"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a:cs typeface="Arial"/>
              </a:rPr>
              <a:t>重要：最新テーブルと履歴テーブルは、同じ取込処理の中で更新し、両方の内容が一致するように管理する。</a:t>
            </a:r>
          </a:p>
          <a:p>
            <a:r>
              <a:rPr lang="ja-JP" altLang="en-US" sz="1400">
                <a:cs typeface="Arial"/>
              </a:rPr>
              <a:t>補足：</a:t>
            </a:r>
          </a:p>
          <a:p>
            <a:r>
              <a:rPr lang="ja-JP" altLang="en-US" sz="1400">
                <a:cs typeface="Arial"/>
              </a:rPr>
              <a:t>・最新テーブルだけ更新され、履歴が残らない状態を防ぐ</a:t>
            </a:r>
          </a:p>
          <a:p>
            <a:r>
              <a:rPr lang="ja-JP" altLang="en-US" sz="1400">
                <a:cs typeface="Arial"/>
              </a:rPr>
              <a:t>・履歴だけ追加され、最新テーブルが古いままになる状態を防ぐ</a:t>
            </a:r>
          </a:p>
          <a:p>
            <a:r>
              <a:rPr lang="ja-JP" altLang="en-US" sz="1400">
                <a:cs typeface="Arial"/>
              </a:rPr>
              <a:t>・エラー発生時の更新取消や再実行方法を決めておく。</a:t>
            </a:r>
          </a:p>
        </p:txBody>
      </p:sp>
    </p:spTree>
    <p:extLst>
      <p:ext uri="{BB962C8B-B14F-4D97-AF65-F5344CB8AC3E}">
        <p14:creationId xmlns:p14="http://schemas.microsoft.com/office/powerpoint/2010/main" val="3727371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FCCF-D549-362E-46C0-20D6B0210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9E67E-CB86-33AA-ACCA-6C5F6E24632F}"/>
              </a:ext>
            </a:extLst>
          </p:cNvPr>
          <p:cNvSpPr>
            <a:spLocks noGrp="1"/>
          </p:cNvSpPr>
          <p:nvPr>
            <p:ph type="title"/>
          </p:nvPr>
        </p:nvSpPr>
        <p:spPr/>
        <p:txBody>
          <a:bodyPr/>
          <a:lstStyle/>
          <a:p>
            <a:r>
              <a:rPr lang="ja-JP" altLang="en-US"/>
              <a:t>最新テーブル + 状態遷移履歴</a:t>
            </a:r>
            <a:endParaRPr kumimoji="1" lang="en-US"/>
          </a:p>
        </p:txBody>
      </p:sp>
      <p:sp>
        <p:nvSpPr>
          <p:cNvPr id="4" name="Slide Number Placeholder 3">
            <a:extLst>
              <a:ext uri="{FF2B5EF4-FFF2-40B4-BE49-F238E27FC236}">
                <a16:creationId xmlns:a16="http://schemas.microsoft.com/office/drawing/2014/main" id="{238E1C1F-CB18-8564-7809-5607BC75A02A}"/>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12</a:t>
            </a:fld>
            <a:endParaRPr lang="en-US" altLang="ja-JP" sz="2133">
              <a:latin typeface="Arial Black" pitchFamily="34" charset="0"/>
            </a:endParaRPr>
          </a:p>
        </p:txBody>
      </p:sp>
      <p:sp>
        <p:nvSpPr>
          <p:cNvPr id="8" name="Content Placeholder 2">
            <a:extLst>
              <a:ext uri="{FF2B5EF4-FFF2-40B4-BE49-F238E27FC236}">
                <a16:creationId xmlns:a16="http://schemas.microsoft.com/office/drawing/2014/main" id="{9F7F6EE0-08D0-AC46-DA28-FDE91132BBCA}"/>
              </a:ext>
            </a:extLst>
          </p:cNvPr>
          <p:cNvSpPr>
            <a:spLocks noGrp="1"/>
          </p:cNvSpPr>
          <p:nvPr>
            <p:ph idx="1"/>
          </p:nvPr>
        </p:nvSpPr>
        <p:spPr>
          <a:xfrm>
            <a:off x="425491" y="738447"/>
            <a:ext cx="11151029" cy="497409"/>
          </a:xfrm>
        </p:spPr>
        <p:txBody>
          <a:bodyPr vert="horz" lIns="91440" tIns="45720" rIns="91440" bIns="45720" rtlCol="0" anchor="t">
            <a:normAutofit fontScale="62500" lnSpcReduction="20000"/>
          </a:bodyPr>
          <a:lstStyle/>
          <a:p>
            <a:pPr marL="456565" indent="-456565"/>
            <a:r>
              <a:rPr lang="ja-JP" altLang="en-US" sz="2400">
                <a:cs typeface="Arial"/>
              </a:rPr>
              <a:t>現在の状態を保持する「最新テーブル」と、状態が変化した事実を時系列で保持する「状態遷移履歴」を分けて管理する方式</a:t>
            </a:r>
          </a:p>
          <a:p>
            <a:pPr marL="0" indent="0">
              <a:buNone/>
            </a:pPr>
            <a:endParaRPr lang="ja-JP" altLang="en-US" sz="2400">
              <a:cs typeface="Arial"/>
            </a:endParaRPr>
          </a:p>
        </p:txBody>
      </p:sp>
      <p:graphicFrame>
        <p:nvGraphicFramePr>
          <p:cNvPr id="3" name="Table 2">
            <a:extLst>
              <a:ext uri="{FF2B5EF4-FFF2-40B4-BE49-F238E27FC236}">
                <a16:creationId xmlns:a16="http://schemas.microsoft.com/office/drawing/2014/main" id="{4287194A-D080-F2C5-DCC3-CA9B02726959}"/>
              </a:ext>
            </a:extLst>
          </p:cNvPr>
          <p:cNvGraphicFramePr>
            <a:graphicFrameLocks noGrp="1"/>
          </p:cNvGraphicFramePr>
          <p:nvPr>
            <p:extLst>
              <p:ext uri="{D42A27DB-BD31-4B8C-83A1-F6EECF244321}">
                <p14:modId xmlns:p14="http://schemas.microsoft.com/office/powerpoint/2010/main" val="1574809722"/>
              </p:ext>
            </p:extLst>
          </p:nvPr>
        </p:nvGraphicFramePr>
        <p:xfrm>
          <a:off x="425050" y="1432184"/>
          <a:ext cx="8168640" cy="741680"/>
        </p:xfrm>
        <a:graphic>
          <a:graphicData uri="http://schemas.openxmlformats.org/drawingml/2006/table">
            <a:tbl>
              <a:tblPr firstRow="1" bandRow="1">
                <a:tableStyleId>{5C22544A-7EE6-4342-B048-85BDC9FD1C3A}</a:tableStyleId>
              </a:tblPr>
              <a:tblGrid>
                <a:gridCol w="8168640">
                  <a:extLst>
                    <a:ext uri="{9D8B030D-6E8A-4147-A177-3AD203B41FA5}">
                      <a16:colId xmlns:a16="http://schemas.microsoft.com/office/drawing/2014/main" val="4039555433"/>
                    </a:ext>
                  </a:extLst>
                </a:gridCol>
              </a:tblGrid>
              <a:tr h="370840">
                <a:tc>
                  <a:txBody>
                    <a:bodyPr/>
                    <a:lstStyle/>
                    <a:p>
                      <a:r>
                        <a:rPr lang="ja-JP" altLang="en-US" sz="1400"/>
                        <a:t>車両ID：V001　現在状態：納車済み</a:t>
                      </a:r>
                      <a:endParaRPr lang="en-US" sz="1400"/>
                    </a:p>
                  </a:txBody>
                  <a:tcPr/>
                </a:tc>
                <a:extLst>
                  <a:ext uri="{0D108BD9-81ED-4DB2-BD59-A6C34878D82A}">
                    <a16:rowId xmlns:a16="http://schemas.microsoft.com/office/drawing/2014/main" val="1025143527"/>
                  </a:ext>
                </a:extLst>
              </a:tr>
              <a:tr h="370840">
                <a:tc>
                  <a:txBody>
                    <a:bodyPr/>
                    <a:lstStyle/>
                    <a:p>
                      <a:r>
                        <a:rPr lang="ja-JP" altLang="en-US" sz="1400"/>
                        <a:t>状態更新日時：2026/06/15</a:t>
                      </a:r>
                      <a:endParaRPr lang="en-US" sz="1400"/>
                    </a:p>
                  </a:txBody>
                  <a:tcPr/>
                </a:tc>
                <a:extLst>
                  <a:ext uri="{0D108BD9-81ED-4DB2-BD59-A6C34878D82A}">
                    <a16:rowId xmlns:a16="http://schemas.microsoft.com/office/drawing/2014/main" val="2538814350"/>
                  </a:ext>
                </a:extLst>
              </a:tr>
            </a:tbl>
          </a:graphicData>
        </a:graphic>
      </p:graphicFrame>
      <p:sp>
        <p:nvSpPr>
          <p:cNvPr id="6" name="Rectangle: Rounded Corners 5">
            <a:extLst>
              <a:ext uri="{FF2B5EF4-FFF2-40B4-BE49-F238E27FC236}">
                <a16:creationId xmlns:a16="http://schemas.microsoft.com/office/drawing/2014/main" id="{B6AF0E25-00AD-2CEC-1A23-7AFE52A3110C}"/>
              </a:ext>
            </a:extLst>
          </p:cNvPr>
          <p:cNvSpPr/>
          <p:nvPr/>
        </p:nvSpPr>
        <p:spPr>
          <a:xfrm>
            <a:off x="428573" y="2943875"/>
            <a:ext cx="1147523" cy="974207"/>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受付</a:t>
            </a:r>
          </a:p>
          <a:p>
            <a:pPr algn="ctr"/>
            <a:r>
              <a:rPr lang="ja-JP" altLang="en-US" sz="1400" b="1">
                <a:solidFill>
                  <a:schemeClr val="tx1"/>
                </a:solidFill>
                <a:cs typeface="Arial"/>
              </a:rPr>
              <a:t>4/1</a:t>
            </a:r>
          </a:p>
        </p:txBody>
      </p:sp>
      <p:sp>
        <p:nvSpPr>
          <p:cNvPr id="7" name="Rectangle: Rounded Corners 6">
            <a:extLst>
              <a:ext uri="{FF2B5EF4-FFF2-40B4-BE49-F238E27FC236}">
                <a16:creationId xmlns:a16="http://schemas.microsoft.com/office/drawing/2014/main" id="{FA101CC3-7A26-A889-5306-889E9FD2DF35}"/>
              </a:ext>
            </a:extLst>
          </p:cNvPr>
          <p:cNvSpPr/>
          <p:nvPr/>
        </p:nvSpPr>
        <p:spPr>
          <a:xfrm>
            <a:off x="2474491" y="2943874"/>
            <a:ext cx="1147523" cy="974207"/>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商談中</a:t>
            </a:r>
          </a:p>
          <a:p>
            <a:pPr algn="ctr"/>
            <a:r>
              <a:rPr lang="ja-JP" altLang="en-US" sz="1400" b="1">
                <a:solidFill>
                  <a:schemeClr val="tx1"/>
                </a:solidFill>
                <a:cs typeface="Arial"/>
              </a:rPr>
              <a:t>4/10</a:t>
            </a:r>
          </a:p>
        </p:txBody>
      </p:sp>
      <p:sp>
        <p:nvSpPr>
          <p:cNvPr id="9" name="Rectangle: Rounded Corners 8">
            <a:extLst>
              <a:ext uri="{FF2B5EF4-FFF2-40B4-BE49-F238E27FC236}">
                <a16:creationId xmlns:a16="http://schemas.microsoft.com/office/drawing/2014/main" id="{27FB0945-FA19-B069-E8CB-FB2C70C5558D}"/>
              </a:ext>
            </a:extLst>
          </p:cNvPr>
          <p:cNvSpPr/>
          <p:nvPr/>
        </p:nvSpPr>
        <p:spPr>
          <a:xfrm>
            <a:off x="4509969" y="2943874"/>
            <a:ext cx="1147523" cy="974207"/>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成約</a:t>
            </a:r>
          </a:p>
          <a:p>
            <a:pPr algn="ctr"/>
            <a:r>
              <a:rPr lang="ja-JP" altLang="en-US" sz="1400" b="1">
                <a:solidFill>
                  <a:schemeClr val="tx1"/>
                </a:solidFill>
                <a:cs typeface="Arial"/>
              </a:rPr>
              <a:t>5/1</a:t>
            </a:r>
          </a:p>
        </p:txBody>
      </p:sp>
      <p:sp>
        <p:nvSpPr>
          <p:cNvPr id="10" name="Rectangle: Rounded Corners 9">
            <a:extLst>
              <a:ext uri="{FF2B5EF4-FFF2-40B4-BE49-F238E27FC236}">
                <a16:creationId xmlns:a16="http://schemas.microsoft.com/office/drawing/2014/main" id="{EAE1D34B-970F-359C-19E2-E425C41097B3}"/>
              </a:ext>
            </a:extLst>
          </p:cNvPr>
          <p:cNvSpPr/>
          <p:nvPr/>
        </p:nvSpPr>
        <p:spPr>
          <a:xfrm>
            <a:off x="6524572" y="2943874"/>
            <a:ext cx="1147523" cy="974207"/>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納車済み</a:t>
            </a:r>
          </a:p>
          <a:p>
            <a:pPr algn="ctr"/>
            <a:r>
              <a:rPr lang="ja-JP" altLang="en-US" sz="1400" b="1">
                <a:solidFill>
                  <a:schemeClr val="tx1"/>
                </a:solidFill>
                <a:cs typeface="Arial"/>
              </a:rPr>
              <a:t>6/15</a:t>
            </a:r>
          </a:p>
        </p:txBody>
      </p:sp>
      <p:sp>
        <p:nvSpPr>
          <p:cNvPr id="11" name="Arrow: Right 10">
            <a:extLst>
              <a:ext uri="{FF2B5EF4-FFF2-40B4-BE49-F238E27FC236}">
                <a16:creationId xmlns:a16="http://schemas.microsoft.com/office/drawing/2014/main" id="{98C4C17A-DBF1-F5CF-4537-352528EF5E76}"/>
              </a:ext>
            </a:extLst>
          </p:cNvPr>
          <p:cNvSpPr/>
          <p:nvPr/>
        </p:nvSpPr>
        <p:spPr>
          <a:xfrm>
            <a:off x="1608905" y="3280629"/>
            <a:ext cx="863587" cy="28630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 name="Arrow: Right 11">
            <a:extLst>
              <a:ext uri="{FF2B5EF4-FFF2-40B4-BE49-F238E27FC236}">
                <a16:creationId xmlns:a16="http://schemas.microsoft.com/office/drawing/2014/main" id="{D469C089-B027-63A6-E754-8AFD738A6DAE}"/>
              </a:ext>
            </a:extLst>
          </p:cNvPr>
          <p:cNvSpPr/>
          <p:nvPr/>
        </p:nvSpPr>
        <p:spPr>
          <a:xfrm>
            <a:off x="3644383" y="3280628"/>
            <a:ext cx="863587" cy="28630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 name="Arrow: Right 12">
            <a:extLst>
              <a:ext uri="{FF2B5EF4-FFF2-40B4-BE49-F238E27FC236}">
                <a16:creationId xmlns:a16="http://schemas.microsoft.com/office/drawing/2014/main" id="{D38D0FD2-94CB-DB02-DE66-8645E232E6F3}"/>
              </a:ext>
            </a:extLst>
          </p:cNvPr>
          <p:cNvSpPr/>
          <p:nvPr/>
        </p:nvSpPr>
        <p:spPr>
          <a:xfrm>
            <a:off x="5658985" y="3280627"/>
            <a:ext cx="863587" cy="28630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aphicFrame>
        <p:nvGraphicFramePr>
          <p:cNvPr id="14" name="Table 13">
            <a:extLst>
              <a:ext uri="{FF2B5EF4-FFF2-40B4-BE49-F238E27FC236}">
                <a16:creationId xmlns:a16="http://schemas.microsoft.com/office/drawing/2014/main" id="{362766C4-086F-2F4A-6F37-EB4761B99D00}"/>
              </a:ext>
            </a:extLst>
          </p:cNvPr>
          <p:cNvGraphicFramePr>
            <a:graphicFrameLocks noGrp="1"/>
          </p:cNvGraphicFramePr>
          <p:nvPr>
            <p:extLst>
              <p:ext uri="{D42A27DB-BD31-4B8C-83A1-F6EECF244321}">
                <p14:modId xmlns:p14="http://schemas.microsoft.com/office/powerpoint/2010/main" val="1406509675"/>
              </p:ext>
            </p:extLst>
          </p:nvPr>
        </p:nvGraphicFramePr>
        <p:xfrm>
          <a:off x="425050" y="4668075"/>
          <a:ext cx="8168640" cy="148336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1908762832"/>
                    </a:ext>
                  </a:extLst>
                </a:gridCol>
                <a:gridCol w="2042160">
                  <a:extLst>
                    <a:ext uri="{9D8B030D-6E8A-4147-A177-3AD203B41FA5}">
                      <a16:colId xmlns:a16="http://schemas.microsoft.com/office/drawing/2014/main" val="835642785"/>
                    </a:ext>
                  </a:extLst>
                </a:gridCol>
                <a:gridCol w="2042160">
                  <a:extLst>
                    <a:ext uri="{9D8B030D-6E8A-4147-A177-3AD203B41FA5}">
                      <a16:colId xmlns:a16="http://schemas.microsoft.com/office/drawing/2014/main" val="328469442"/>
                    </a:ext>
                  </a:extLst>
                </a:gridCol>
                <a:gridCol w="2042160">
                  <a:extLst>
                    <a:ext uri="{9D8B030D-6E8A-4147-A177-3AD203B41FA5}">
                      <a16:colId xmlns:a16="http://schemas.microsoft.com/office/drawing/2014/main" val="3266986574"/>
                    </a:ext>
                  </a:extLst>
                </a:gridCol>
              </a:tblGrid>
              <a:tr h="370840">
                <a:tc>
                  <a:txBody>
                    <a:bodyPr/>
                    <a:lstStyle/>
                    <a:p>
                      <a:pPr algn="ctr"/>
                      <a:r>
                        <a:rPr lang="ja-JP" altLang="en-US" sz="1400"/>
                        <a:t>変更日時</a:t>
                      </a:r>
                      <a:endParaRPr lang="en-US" sz="1400"/>
                    </a:p>
                  </a:txBody>
                  <a:tcPr anchor="ctr"/>
                </a:tc>
                <a:tc>
                  <a:txBody>
                    <a:bodyPr/>
                    <a:lstStyle/>
                    <a:p>
                      <a:pPr algn="ctr"/>
                      <a:r>
                        <a:rPr lang="ja-JP" altLang="en-US" sz="1400"/>
                        <a:t>変更前</a:t>
                      </a:r>
                      <a:endParaRPr lang="en-US" sz="1400"/>
                    </a:p>
                  </a:txBody>
                  <a:tcPr anchor="ctr"/>
                </a:tc>
                <a:tc>
                  <a:txBody>
                    <a:bodyPr/>
                    <a:lstStyle/>
                    <a:p>
                      <a:pPr algn="ctr"/>
                      <a:r>
                        <a:rPr lang="ja-JP" altLang="en-US" sz="1400"/>
                        <a:t>変更後</a:t>
                      </a:r>
                      <a:endParaRPr lang="en-US" sz="1400"/>
                    </a:p>
                  </a:txBody>
                  <a:tcPr anchor="ctr"/>
                </a:tc>
                <a:tc>
                  <a:txBody>
                    <a:bodyPr/>
                    <a:lstStyle/>
                    <a:p>
                      <a:pPr algn="ctr"/>
                      <a:r>
                        <a:rPr lang="ja-JP" altLang="en-US" sz="1400"/>
                        <a:t>変更理由・連携元</a:t>
                      </a:r>
                      <a:endParaRPr lang="en-US" sz="1400"/>
                    </a:p>
                  </a:txBody>
                  <a:tcPr anchor="ctr"/>
                </a:tc>
                <a:extLst>
                  <a:ext uri="{0D108BD9-81ED-4DB2-BD59-A6C34878D82A}">
                    <a16:rowId xmlns:a16="http://schemas.microsoft.com/office/drawing/2014/main" val="1662573882"/>
                  </a:ext>
                </a:extLst>
              </a:tr>
              <a:tr h="370840">
                <a:tc>
                  <a:txBody>
                    <a:bodyPr/>
                    <a:lstStyle/>
                    <a:p>
                      <a:pPr algn="l"/>
                      <a:r>
                        <a:rPr lang="en-US" sz="1400"/>
                        <a:t>2026/04/10</a:t>
                      </a:r>
                    </a:p>
                  </a:txBody>
                  <a:tcPr anchor="ctr"/>
                </a:tc>
                <a:tc>
                  <a:txBody>
                    <a:bodyPr/>
                    <a:lstStyle/>
                    <a:p>
                      <a:pPr algn="l"/>
                      <a:r>
                        <a:rPr lang="ja-JP" altLang="en-US" sz="1400"/>
                        <a:t>受付</a:t>
                      </a:r>
                      <a:endParaRPr lang="en-US" sz="1400"/>
                    </a:p>
                  </a:txBody>
                  <a:tcPr anchor="ctr"/>
                </a:tc>
                <a:tc>
                  <a:txBody>
                    <a:bodyPr/>
                    <a:lstStyle/>
                    <a:p>
                      <a:pPr algn="l"/>
                      <a:r>
                        <a:rPr lang="ja-JP" altLang="en-US" sz="1400"/>
                        <a:t>商談中</a:t>
                      </a:r>
                      <a:endParaRPr lang="en-US" sz="1400"/>
                    </a:p>
                  </a:txBody>
                  <a:tcPr anchor="ctr"/>
                </a:tc>
                <a:tc>
                  <a:txBody>
                    <a:bodyPr/>
                    <a:lstStyle/>
                    <a:p>
                      <a:pPr algn="l"/>
                      <a:r>
                        <a:rPr lang="en-US" sz="1400"/>
                        <a:t>-</a:t>
                      </a:r>
                    </a:p>
                  </a:txBody>
                  <a:tcPr anchor="ctr"/>
                </a:tc>
                <a:extLst>
                  <a:ext uri="{0D108BD9-81ED-4DB2-BD59-A6C34878D82A}">
                    <a16:rowId xmlns:a16="http://schemas.microsoft.com/office/drawing/2014/main" val="2558294348"/>
                  </a:ext>
                </a:extLst>
              </a:tr>
              <a:tr h="370840">
                <a:tc>
                  <a:txBody>
                    <a:bodyPr/>
                    <a:lstStyle/>
                    <a:p>
                      <a:pPr algn="l"/>
                      <a:r>
                        <a:rPr lang="en-US" sz="1400"/>
                        <a:t>2026/05/01</a:t>
                      </a:r>
                    </a:p>
                  </a:txBody>
                  <a:tcPr anchor="ctr"/>
                </a:tc>
                <a:tc>
                  <a:txBody>
                    <a:bodyPr/>
                    <a:lstStyle/>
                    <a:p>
                      <a:pPr algn="l"/>
                      <a:r>
                        <a:rPr lang="ja-JP" altLang="en-US" sz="1400"/>
                        <a:t>商談中</a:t>
                      </a:r>
                      <a:endParaRPr lang="en-US" sz="1400"/>
                    </a:p>
                  </a:txBody>
                  <a:tcPr anchor="ctr"/>
                </a:tc>
                <a:tc>
                  <a:txBody>
                    <a:bodyPr/>
                    <a:lstStyle/>
                    <a:p>
                      <a:pPr algn="l"/>
                      <a:r>
                        <a:rPr lang="ja-JP" altLang="en-US" sz="1400"/>
                        <a:t>成約</a:t>
                      </a:r>
                      <a:endParaRPr lang="en-US" sz="1400"/>
                    </a:p>
                  </a:txBody>
                  <a:tcPr anchor="ctr"/>
                </a:tc>
                <a:tc>
                  <a:txBody>
                    <a:bodyPr/>
                    <a:lstStyle/>
                    <a:p>
                      <a:pPr algn="l"/>
                      <a:r>
                        <a:rPr lang="en-US" sz="1400"/>
                        <a:t>-</a:t>
                      </a:r>
                    </a:p>
                  </a:txBody>
                  <a:tcPr anchor="ctr"/>
                </a:tc>
                <a:extLst>
                  <a:ext uri="{0D108BD9-81ED-4DB2-BD59-A6C34878D82A}">
                    <a16:rowId xmlns:a16="http://schemas.microsoft.com/office/drawing/2014/main" val="2446197919"/>
                  </a:ext>
                </a:extLst>
              </a:tr>
              <a:tr h="370840">
                <a:tc>
                  <a:txBody>
                    <a:bodyPr/>
                    <a:lstStyle/>
                    <a:p>
                      <a:pPr algn="l"/>
                      <a:r>
                        <a:rPr lang="en-US" sz="1400"/>
                        <a:t>2026/06/15</a:t>
                      </a:r>
                    </a:p>
                  </a:txBody>
                  <a:tcPr anchor="ctr"/>
                </a:tc>
                <a:tc>
                  <a:txBody>
                    <a:bodyPr/>
                    <a:lstStyle/>
                    <a:p>
                      <a:pPr algn="l"/>
                      <a:r>
                        <a:rPr lang="ja-JP" altLang="en-US" sz="1400"/>
                        <a:t>成約</a:t>
                      </a:r>
                      <a:endParaRPr lang="en-US" sz="1400"/>
                    </a:p>
                  </a:txBody>
                  <a:tcPr anchor="ctr"/>
                </a:tc>
                <a:tc>
                  <a:txBody>
                    <a:bodyPr/>
                    <a:lstStyle/>
                    <a:p>
                      <a:pPr algn="l"/>
                      <a:r>
                        <a:rPr lang="ja-JP" altLang="en-US" sz="1400"/>
                        <a:t>納車済み</a:t>
                      </a:r>
                      <a:endParaRPr lang="en-US" sz="1400"/>
                    </a:p>
                  </a:txBody>
                  <a:tcPr anchor="ctr"/>
                </a:tc>
                <a:tc>
                  <a:txBody>
                    <a:bodyPr/>
                    <a:lstStyle/>
                    <a:p>
                      <a:pPr algn="l"/>
                      <a:r>
                        <a:rPr lang="en-US" sz="1400"/>
                        <a:t>-</a:t>
                      </a:r>
                    </a:p>
                  </a:txBody>
                  <a:tcPr anchor="ctr"/>
                </a:tc>
                <a:extLst>
                  <a:ext uri="{0D108BD9-81ED-4DB2-BD59-A6C34878D82A}">
                    <a16:rowId xmlns:a16="http://schemas.microsoft.com/office/drawing/2014/main" val="945635911"/>
                  </a:ext>
                </a:extLst>
              </a:tr>
            </a:tbl>
          </a:graphicData>
        </a:graphic>
      </p:graphicFrame>
      <p:sp>
        <p:nvSpPr>
          <p:cNvPr id="15" name="TextBox 14">
            <a:extLst>
              <a:ext uri="{FF2B5EF4-FFF2-40B4-BE49-F238E27FC236}">
                <a16:creationId xmlns:a16="http://schemas.microsoft.com/office/drawing/2014/main" id="{B635CB94-929E-52A4-B268-89A2CD36FD75}"/>
              </a:ext>
            </a:extLst>
          </p:cNvPr>
          <p:cNvSpPr txBox="1"/>
          <p:nvPr/>
        </p:nvSpPr>
        <p:spPr>
          <a:xfrm>
            <a:off x="427650" y="1064069"/>
            <a:ext cx="16101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①</a:t>
            </a:r>
            <a:r>
              <a:rPr lang="ja-JP" altLang="en-US">
                <a:cs typeface="Arial"/>
              </a:rPr>
              <a:t>最新テーブル</a:t>
            </a:r>
            <a:endParaRPr lang="en-US"/>
          </a:p>
        </p:txBody>
      </p:sp>
      <p:sp>
        <p:nvSpPr>
          <p:cNvPr id="17" name="TextBox 16">
            <a:extLst>
              <a:ext uri="{FF2B5EF4-FFF2-40B4-BE49-F238E27FC236}">
                <a16:creationId xmlns:a16="http://schemas.microsoft.com/office/drawing/2014/main" id="{7EF78B6C-0F7E-A32B-0BDD-258459A5E183}"/>
              </a:ext>
            </a:extLst>
          </p:cNvPr>
          <p:cNvSpPr txBox="1"/>
          <p:nvPr/>
        </p:nvSpPr>
        <p:spPr>
          <a:xfrm>
            <a:off x="427649" y="2577630"/>
            <a:ext cx="22155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ja-JP">
                <a:cs typeface="Arial"/>
              </a:rPr>
              <a:t>②</a:t>
            </a:r>
            <a:r>
              <a:rPr lang="en-US" altLang="ja-JP" err="1">
                <a:cs typeface="Arial"/>
              </a:rPr>
              <a:t>状態変化の流れ</a:t>
            </a:r>
          </a:p>
        </p:txBody>
      </p:sp>
      <p:sp>
        <p:nvSpPr>
          <p:cNvPr id="18" name="TextBox 17">
            <a:extLst>
              <a:ext uri="{FF2B5EF4-FFF2-40B4-BE49-F238E27FC236}">
                <a16:creationId xmlns:a16="http://schemas.microsoft.com/office/drawing/2014/main" id="{EF7457DD-C4F5-D1F4-075A-665671341FE9}"/>
              </a:ext>
            </a:extLst>
          </p:cNvPr>
          <p:cNvSpPr txBox="1"/>
          <p:nvPr/>
        </p:nvSpPr>
        <p:spPr>
          <a:xfrm>
            <a:off x="427649" y="4299958"/>
            <a:ext cx="22259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③</a:t>
            </a:r>
            <a:r>
              <a:rPr lang="ja-JP" altLang="en-US">
                <a:cs typeface="Arial"/>
              </a:rPr>
              <a:t>状態遷移履歴</a:t>
            </a:r>
            <a:endParaRPr lang="en-US">
              <a:cs typeface="Arial"/>
            </a:endParaRPr>
          </a:p>
        </p:txBody>
      </p:sp>
      <p:sp>
        <p:nvSpPr>
          <p:cNvPr id="19" name="TextBox 18">
            <a:extLst>
              <a:ext uri="{FF2B5EF4-FFF2-40B4-BE49-F238E27FC236}">
                <a16:creationId xmlns:a16="http://schemas.microsoft.com/office/drawing/2014/main" id="{4BC7244C-6351-69D0-2DA7-C513CB70A306}"/>
              </a:ext>
            </a:extLst>
          </p:cNvPr>
          <p:cNvSpPr txBox="1"/>
          <p:nvPr/>
        </p:nvSpPr>
        <p:spPr>
          <a:xfrm>
            <a:off x="8857698" y="1235643"/>
            <a:ext cx="32432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Arial"/>
              </a:rPr>
              <a:t>・</a:t>
            </a:r>
            <a:r>
              <a:rPr lang="ja-JP" altLang="en-US" sz="1200" err="1">
                <a:cs typeface="Arial"/>
              </a:rPr>
              <a:t>現在の状態だけを保持</a:t>
            </a:r>
          </a:p>
          <a:p>
            <a:pPr algn="l"/>
            <a:r>
              <a:rPr lang="ja-JP" altLang="en-US" sz="1200">
                <a:cs typeface="Arial"/>
              </a:rPr>
              <a:t>・車両や受注ごとに、原則として最新の1件のみを保持</a:t>
            </a:r>
          </a:p>
          <a:p>
            <a:r>
              <a:rPr lang="ja-JP" altLang="en-US" sz="1200">
                <a:cs typeface="Arial"/>
              </a:rPr>
              <a:t>・PowerBIの通常レポートでは、基本的にはこちらを参照</a:t>
            </a:r>
          </a:p>
          <a:p>
            <a:r>
              <a:rPr lang="ja-JP" altLang="en-US" sz="1200">
                <a:cs typeface="Arial"/>
              </a:rPr>
              <a:t>・現在、どの状態にあるかをすぐに確認できる</a:t>
            </a:r>
          </a:p>
        </p:txBody>
      </p:sp>
      <p:sp>
        <p:nvSpPr>
          <p:cNvPr id="20" name="TextBox 19">
            <a:extLst>
              <a:ext uri="{FF2B5EF4-FFF2-40B4-BE49-F238E27FC236}">
                <a16:creationId xmlns:a16="http://schemas.microsoft.com/office/drawing/2014/main" id="{4E7011A3-F234-28F0-2EAF-10C0B3622754}"/>
              </a:ext>
            </a:extLst>
          </p:cNvPr>
          <p:cNvSpPr txBox="1"/>
          <p:nvPr/>
        </p:nvSpPr>
        <p:spPr>
          <a:xfrm>
            <a:off x="8857698" y="4805560"/>
            <a:ext cx="324322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200">
                <a:cs typeface="Arial"/>
              </a:rPr>
              <a:t>履歴として管理する情報</a:t>
            </a:r>
            <a:endParaRPr lang="en-US" sz="1200">
              <a:cs typeface="Arial"/>
            </a:endParaRPr>
          </a:p>
          <a:p>
            <a:r>
              <a:rPr lang="en-US" sz="1200">
                <a:cs typeface="Arial"/>
              </a:rPr>
              <a:t>・</a:t>
            </a:r>
            <a:r>
              <a:rPr lang="ja-JP" altLang="en-US" sz="1200">
                <a:cs typeface="Arial"/>
              </a:rPr>
              <a:t>どの車両、受注の変更か</a:t>
            </a:r>
          </a:p>
          <a:p>
            <a:r>
              <a:rPr lang="ja-JP" altLang="en-US" sz="1200">
                <a:cs typeface="Arial"/>
              </a:rPr>
              <a:t>・いつ状態が変わったか</a:t>
            </a:r>
          </a:p>
          <a:p>
            <a:r>
              <a:rPr lang="ja-JP" altLang="en-US" sz="1200">
                <a:cs typeface="Arial"/>
              </a:rPr>
              <a:t>・変更前はどの状態だったか</a:t>
            </a:r>
          </a:p>
          <a:p>
            <a:r>
              <a:rPr lang="ja-JP" altLang="en-US" sz="1200">
                <a:cs typeface="Arial"/>
              </a:rPr>
              <a:t>・変更後はどの状態になったか</a:t>
            </a:r>
          </a:p>
          <a:p>
            <a:r>
              <a:rPr lang="ja-JP" altLang="en-US" sz="1200">
                <a:cs typeface="Arial"/>
              </a:rPr>
              <a:t>・取得できる場合は、変更理由、変更者、連携元も記録する</a:t>
            </a:r>
          </a:p>
        </p:txBody>
      </p:sp>
    </p:spTree>
    <p:extLst>
      <p:ext uri="{BB962C8B-B14F-4D97-AF65-F5344CB8AC3E}">
        <p14:creationId xmlns:p14="http://schemas.microsoft.com/office/powerpoint/2010/main" val="3728939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EC07-96B9-68F5-23D5-8C4BCB78B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22948-F5D3-5FD7-3CCD-72EB6A4FC72F}"/>
              </a:ext>
            </a:extLst>
          </p:cNvPr>
          <p:cNvSpPr>
            <a:spLocks noGrp="1"/>
          </p:cNvSpPr>
          <p:nvPr>
            <p:ph type="title"/>
          </p:nvPr>
        </p:nvSpPr>
        <p:spPr/>
        <p:txBody>
          <a:bodyPr/>
          <a:lstStyle/>
          <a:p>
            <a:r>
              <a:rPr lang="ja-JP" altLang="en-US"/>
              <a:t>追記型</a:t>
            </a:r>
            <a:endParaRPr kumimoji="1" lang="en-US"/>
          </a:p>
        </p:txBody>
      </p:sp>
      <p:sp>
        <p:nvSpPr>
          <p:cNvPr id="4" name="Slide Number Placeholder 3">
            <a:extLst>
              <a:ext uri="{FF2B5EF4-FFF2-40B4-BE49-F238E27FC236}">
                <a16:creationId xmlns:a16="http://schemas.microsoft.com/office/drawing/2014/main" id="{BA4E059C-DFC3-FA26-360B-1C9102308F71}"/>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13</a:t>
            </a:fld>
            <a:endParaRPr lang="en-US" altLang="ja-JP" sz="2133">
              <a:latin typeface="Arial Black" pitchFamily="34" charset="0"/>
            </a:endParaRPr>
          </a:p>
        </p:txBody>
      </p:sp>
      <p:sp>
        <p:nvSpPr>
          <p:cNvPr id="6" name="Content Placeholder 2">
            <a:extLst>
              <a:ext uri="{FF2B5EF4-FFF2-40B4-BE49-F238E27FC236}">
                <a16:creationId xmlns:a16="http://schemas.microsoft.com/office/drawing/2014/main" id="{808FB67A-6FF9-6312-7DD3-020899B40F0A}"/>
              </a:ext>
            </a:extLst>
          </p:cNvPr>
          <p:cNvSpPr>
            <a:spLocks noGrp="1"/>
          </p:cNvSpPr>
          <p:nvPr>
            <p:ph idx="1"/>
          </p:nvPr>
        </p:nvSpPr>
        <p:spPr>
          <a:xfrm>
            <a:off x="425491" y="738447"/>
            <a:ext cx="11151029" cy="497409"/>
          </a:xfrm>
        </p:spPr>
        <p:txBody>
          <a:bodyPr vert="horz" lIns="91440" tIns="45720" rIns="91440" bIns="45720" rtlCol="0" anchor="t">
            <a:normAutofit/>
          </a:bodyPr>
          <a:lstStyle/>
          <a:p>
            <a:pPr marL="456565" indent="-456565"/>
            <a:r>
              <a:rPr lang="ja-JP" altLang="en-US" sz="2400">
                <a:cs typeface="Arial"/>
              </a:rPr>
              <a:t>発生した事実を上書きせず、時系列で追加する方式</a:t>
            </a:r>
          </a:p>
          <a:p>
            <a:pPr marL="0" indent="0">
              <a:buNone/>
            </a:pPr>
            <a:endParaRPr lang="ja-JP" altLang="en-US" sz="2400">
              <a:cs typeface="Arial"/>
            </a:endParaRPr>
          </a:p>
        </p:txBody>
      </p:sp>
      <p:sp>
        <p:nvSpPr>
          <p:cNvPr id="8" name="Rectangle: Rounded Corners 7">
            <a:extLst>
              <a:ext uri="{FF2B5EF4-FFF2-40B4-BE49-F238E27FC236}">
                <a16:creationId xmlns:a16="http://schemas.microsoft.com/office/drawing/2014/main" id="{1C186DA2-253E-BED5-AA01-DD216A99EF12}"/>
              </a:ext>
            </a:extLst>
          </p:cNvPr>
          <p:cNvSpPr/>
          <p:nvPr/>
        </p:nvSpPr>
        <p:spPr>
          <a:xfrm>
            <a:off x="372545" y="2226699"/>
            <a:ext cx="1427670" cy="1388824"/>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車両V001</a:t>
            </a:r>
          </a:p>
          <a:p>
            <a:pPr algn="ctr"/>
            <a:r>
              <a:rPr lang="ja-JP" altLang="en-US" sz="1400" b="1">
                <a:solidFill>
                  <a:schemeClr val="tx1"/>
                </a:solidFill>
                <a:cs typeface="Arial"/>
              </a:rPr>
              <a:t>入庫</a:t>
            </a:r>
          </a:p>
        </p:txBody>
      </p:sp>
      <p:sp>
        <p:nvSpPr>
          <p:cNvPr id="9" name="Rectangle: Rounded Corners 8">
            <a:extLst>
              <a:ext uri="{FF2B5EF4-FFF2-40B4-BE49-F238E27FC236}">
                <a16:creationId xmlns:a16="http://schemas.microsoft.com/office/drawing/2014/main" id="{0BF2D558-4B3B-D749-5239-FA0BB1099AA1}"/>
              </a:ext>
            </a:extLst>
          </p:cNvPr>
          <p:cNvSpPr/>
          <p:nvPr/>
        </p:nvSpPr>
        <p:spPr>
          <a:xfrm>
            <a:off x="3947221" y="2226699"/>
            <a:ext cx="1427670" cy="1388824"/>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車両V001</a:t>
            </a:r>
          </a:p>
          <a:p>
            <a:pPr algn="ctr"/>
            <a:r>
              <a:rPr lang="ja-JP" altLang="en-US" sz="1400" b="1">
                <a:solidFill>
                  <a:schemeClr val="tx1"/>
                </a:solidFill>
                <a:cs typeface="Arial"/>
              </a:rPr>
              <a:t>定期点検</a:t>
            </a:r>
          </a:p>
        </p:txBody>
      </p:sp>
      <p:sp>
        <p:nvSpPr>
          <p:cNvPr id="10" name="Rectangle: Rounded Corners 9">
            <a:extLst>
              <a:ext uri="{FF2B5EF4-FFF2-40B4-BE49-F238E27FC236}">
                <a16:creationId xmlns:a16="http://schemas.microsoft.com/office/drawing/2014/main" id="{F2D382BE-0DF6-96F4-2CF5-F90E4E2C3F76}"/>
              </a:ext>
            </a:extLst>
          </p:cNvPr>
          <p:cNvSpPr/>
          <p:nvPr/>
        </p:nvSpPr>
        <p:spPr>
          <a:xfrm>
            <a:off x="7521897" y="2226698"/>
            <a:ext cx="1427670" cy="1388824"/>
          </a:xfrm>
          <a:prstGeom prst="roundRect">
            <a:avLst/>
          </a:prstGeom>
          <a:solidFill>
            <a:schemeClr val="accent1">
              <a:lumMod val="20000"/>
              <a:lumOff val="80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車両V001</a:t>
            </a:r>
          </a:p>
          <a:p>
            <a:pPr algn="ctr"/>
            <a:r>
              <a:rPr lang="ja-JP" altLang="en-US" sz="1400" b="1">
                <a:solidFill>
                  <a:schemeClr val="tx1"/>
                </a:solidFill>
                <a:cs typeface="Arial"/>
              </a:rPr>
              <a:t>部品交換</a:t>
            </a:r>
          </a:p>
        </p:txBody>
      </p:sp>
      <p:sp>
        <p:nvSpPr>
          <p:cNvPr id="11" name="TextBox 10">
            <a:extLst>
              <a:ext uri="{FF2B5EF4-FFF2-40B4-BE49-F238E27FC236}">
                <a16:creationId xmlns:a16="http://schemas.microsoft.com/office/drawing/2014/main" id="{F31FCF73-D100-B825-FA3D-8D15721A196F}"/>
              </a:ext>
            </a:extLst>
          </p:cNvPr>
          <p:cNvSpPr txBox="1"/>
          <p:nvPr/>
        </p:nvSpPr>
        <p:spPr>
          <a:xfrm>
            <a:off x="374895" y="1302085"/>
            <a:ext cx="1568102" cy="3780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cs typeface="Arial"/>
              </a:rPr>
              <a:t>①イベント発生</a:t>
            </a:r>
            <a:endParaRPr lang="en-US"/>
          </a:p>
        </p:txBody>
      </p:sp>
      <p:sp>
        <p:nvSpPr>
          <p:cNvPr id="12" name="TextBox 11">
            <a:extLst>
              <a:ext uri="{FF2B5EF4-FFF2-40B4-BE49-F238E27FC236}">
                <a16:creationId xmlns:a16="http://schemas.microsoft.com/office/drawing/2014/main" id="{A86BC2A4-1E1A-A3C9-9DA7-326DE436F9E5}"/>
              </a:ext>
            </a:extLst>
          </p:cNvPr>
          <p:cNvSpPr txBox="1"/>
          <p:nvPr/>
        </p:nvSpPr>
        <p:spPr>
          <a:xfrm>
            <a:off x="542906" y="1834119"/>
            <a:ext cx="11340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4/1 </a:t>
            </a:r>
            <a:r>
              <a:rPr lang="ja-JP" altLang="en-US" err="1">
                <a:cs typeface="Arial"/>
              </a:rPr>
              <a:t>入庫</a:t>
            </a:r>
            <a:endParaRPr lang="en-US" err="1"/>
          </a:p>
        </p:txBody>
      </p:sp>
      <p:sp>
        <p:nvSpPr>
          <p:cNvPr id="13" name="TextBox 12">
            <a:extLst>
              <a:ext uri="{FF2B5EF4-FFF2-40B4-BE49-F238E27FC236}">
                <a16:creationId xmlns:a16="http://schemas.microsoft.com/office/drawing/2014/main" id="{73C107B0-D75C-DA2E-1929-CA5A98C03BF3}"/>
              </a:ext>
            </a:extLst>
          </p:cNvPr>
          <p:cNvSpPr txBox="1"/>
          <p:nvPr/>
        </p:nvSpPr>
        <p:spPr>
          <a:xfrm>
            <a:off x="4095170" y="1834119"/>
            <a:ext cx="11340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4/5 </a:t>
            </a:r>
            <a:r>
              <a:rPr lang="ja-JP" altLang="en-US" err="1">
                <a:cs typeface="Arial"/>
              </a:rPr>
              <a:t>点検</a:t>
            </a:r>
          </a:p>
        </p:txBody>
      </p:sp>
      <p:sp>
        <p:nvSpPr>
          <p:cNvPr id="14" name="TextBox 13">
            <a:extLst>
              <a:ext uri="{FF2B5EF4-FFF2-40B4-BE49-F238E27FC236}">
                <a16:creationId xmlns:a16="http://schemas.microsoft.com/office/drawing/2014/main" id="{29681C6A-EB09-25E2-C7FF-E75EB8218943}"/>
              </a:ext>
            </a:extLst>
          </p:cNvPr>
          <p:cNvSpPr txBox="1"/>
          <p:nvPr/>
        </p:nvSpPr>
        <p:spPr>
          <a:xfrm>
            <a:off x="7524169" y="1834119"/>
            <a:ext cx="17167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4/10 </a:t>
            </a:r>
            <a:r>
              <a:rPr lang="ja-JP" altLang="en-US" err="1">
                <a:cs typeface="Arial"/>
              </a:rPr>
              <a:t>部品交換</a:t>
            </a:r>
          </a:p>
        </p:txBody>
      </p:sp>
      <p:sp>
        <p:nvSpPr>
          <p:cNvPr id="15" name="Arrow: Right 14">
            <a:extLst>
              <a:ext uri="{FF2B5EF4-FFF2-40B4-BE49-F238E27FC236}">
                <a16:creationId xmlns:a16="http://schemas.microsoft.com/office/drawing/2014/main" id="{DC7D77D9-03DA-3F42-F5C0-CB8696C6D721}"/>
              </a:ext>
            </a:extLst>
          </p:cNvPr>
          <p:cNvSpPr/>
          <p:nvPr/>
        </p:nvSpPr>
        <p:spPr>
          <a:xfrm>
            <a:off x="1802399" y="2788875"/>
            <a:ext cx="2143818" cy="26051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Arrow: Right 15">
            <a:extLst>
              <a:ext uri="{FF2B5EF4-FFF2-40B4-BE49-F238E27FC236}">
                <a16:creationId xmlns:a16="http://schemas.microsoft.com/office/drawing/2014/main" id="{58E61A3A-8B2A-15A6-D90F-FF79ECA1F923}"/>
              </a:ext>
            </a:extLst>
          </p:cNvPr>
          <p:cNvSpPr/>
          <p:nvPr/>
        </p:nvSpPr>
        <p:spPr>
          <a:xfrm>
            <a:off x="5377075" y="2788875"/>
            <a:ext cx="2143818" cy="260514"/>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aphicFrame>
        <p:nvGraphicFramePr>
          <p:cNvPr id="17" name="Table 16">
            <a:extLst>
              <a:ext uri="{FF2B5EF4-FFF2-40B4-BE49-F238E27FC236}">
                <a16:creationId xmlns:a16="http://schemas.microsoft.com/office/drawing/2014/main" id="{FAD66C9C-2CDA-0F51-2C31-F70D652E57C5}"/>
              </a:ext>
            </a:extLst>
          </p:cNvPr>
          <p:cNvGraphicFramePr>
            <a:graphicFrameLocks noGrp="1"/>
          </p:cNvGraphicFramePr>
          <p:nvPr>
            <p:extLst>
              <p:ext uri="{D42A27DB-BD31-4B8C-83A1-F6EECF244321}">
                <p14:modId xmlns:p14="http://schemas.microsoft.com/office/powerpoint/2010/main" val="2440264375"/>
              </p:ext>
            </p:extLst>
          </p:nvPr>
        </p:nvGraphicFramePr>
        <p:xfrm>
          <a:off x="375622" y="4184994"/>
          <a:ext cx="8168640" cy="148336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2085629512"/>
                    </a:ext>
                  </a:extLst>
                </a:gridCol>
                <a:gridCol w="2042160">
                  <a:extLst>
                    <a:ext uri="{9D8B030D-6E8A-4147-A177-3AD203B41FA5}">
                      <a16:colId xmlns:a16="http://schemas.microsoft.com/office/drawing/2014/main" val="3195881644"/>
                    </a:ext>
                  </a:extLst>
                </a:gridCol>
                <a:gridCol w="2042160">
                  <a:extLst>
                    <a:ext uri="{9D8B030D-6E8A-4147-A177-3AD203B41FA5}">
                      <a16:colId xmlns:a16="http://schemas.microsoft.com/office/drawing/2014/main" val="57778448"/>
                    </a:ext>
                  </a:extLst>
                </a:gridCol>
                <a:gridCol w="2042160">
                  <a:extLst>
                    <a:ext uri="{9D8B030D-6E8A-4147-A177-3AD203B41FA5}">
                      <a16:colId xmlns:a16="http://schemas.microsoft.com/office/drawing/2014/main" val="440914011"/>
                    </a:ext>
                  </a:extLst>
                </a:gridCol>
              </a:tblGrid>
              <a:tr h="370840">
                <a:tc>
                  <a:txBody>
                    <a:bodyPr/>
                    <a:lstStyle/>
                    <a:p>
                      <a:pPr algn="ctr"/>
                      <a:r>
                        <a:rPr lang="ja-JP" altLang="en-US" sz="1400"/>
                        <a:t>イベントID</a:t>
                      </a:r>
                      <a:endParaRPr lang="en-US" sz="1400"/>
                    </a:p>
                  </a:txBody>
                  <a:tcPr anchor="ctr"/>
                </a:tc>
                <a:tc>
                  <a:txBody>
                    <a:bodyPr/>
                    <a:lstStyle/>
                    <a:p>
                      <a:pPr algn="ctr"/>
                      <a:r>
                        <a:rPr lang="ja-JP" altLang="en-US" sz="1400"/>
                        <a:t>車両ID</a:t>
                      </a:r>
                      <a:endParaRPr lang="en-US" sz="1400"/>
                    </a:p>
                  </a:txBody>
                  <a:tcPr anchor="ctr"/>
                </a:tc>
                <a:tc>
                  <a:txBody>
                    <a:bodyPr/>
                    <a:lstStyle/>
                    <a:p>
                      <a:pPr algn="ctr"/>
                      <a:r>
                        <a:rPr lang="ja-JP" altLang="en-US" sz="1400"/>
                        <a:t>発生日時</a:t>
                      </a:r>
                      <a:endParaRPr lang="en-US" sz="1400"/>
                    </a:p>
                  </a:txBody>
                  <a:tcPr anchor="ctr"/>
                </a:tc>
                <a:tc>
                  <a:txBody>
                    <a:bodyPr/>
                    <a:lstStyle/>
                    <a:p>
                      <a:pPr algn="ctr"/>
                      <a:r>
                        <a:rPr lang="ja-JP" altLang="en-US" sz="1400"/>
                        <a:t>イベント内容</a:t>
                      </a:r>
                      <a:endParaRPr lang="en-US" sz="1400"/>
                    </a:p>
                  </a:txBody>
                  <a:tcPr anchor="ctr"/>
                </a:tc>
                <a:extLst>
                  <a:ext uri="{0D108BD9-81ED-4DB2-BD59-A6C34878D82A}">
                    <a16:rowId xmlns:a16="http://schemas.microsoft.com/office/drawing/2014/main" val="2656141273"/>
                  </a:ext>
                </a:extLst>
              </a:tr>
              <a:tr h="370840">
                <a:tc>
                  <a:txBody>
                    <a:bodyPr/>
                    <a:lstStyle/>
                    <a:p>
                      <a:pPr algn="l"/>
                      <a:r>
                        <a:rPr lang="en-US" sz="1400"/>
                        <a:t>E001</a:t>
                      </a:r>
                    </a:p>
                  </a:txBody>
                  <a:tcPr anchor="ctr"/>
                </a:tc>
                <a:tc>
                  <a:txBody>
                    <a:bodyPr/>
                    <a:lstStyle/>
                    <a:p>
                      <a:pPr algn="l"/>
                      <a:r>
                        <a:rPr lang="en-US" sz="1400"/>
                        <a:t>V001</a:t>
                      </a:r>
                    </a:p>
                  </a:txBody>
                  <a:tcPr anchor="ctr"/>
                </a:tc>
                <a:tc>
                  <a:txBody>
                    <a:bodyPr/>
                    <a:lstStyle/>
                    <a:p>
                      <a:pPr algn="l"/>
                      <a:r>
                        <a:rPr lang="en-US" sz="1400"/>
                        <a:t>2026/04/01</a:t>
                      </a:r>
                    </a:p>
                  </a:txBody>
                  <a:tcPr anchor="ctr"/>
                </a:tc>
                <a:tc>
                  <a:txBody>
                    <a:bodyPr/>
                    <a:lstStyle/>
                    <a:p>
                      <a:pPr algn="l"/>
                      <a:r>
                        <a:rPr lang="ja-JP" altLang="en-US" sz="1400" err="1"/>
                        <a:t>入庫</a:t>
                      </a:r>
                      <a:endParaRPr lang="en-US" sz="1400" err="1"/>
                    </a:p>
                  </a:txBody>
                  <a:tcPr anchor="ctr"/>
                </a:tc>
                <a:extLst>
                  <a:ext uri="{0D108BD9-81ED-4DB2-BD59-A6C34878D82A}">
                    <a16:rowId xmlns:a16="http://schemas.microsoft.com/office/drawing/2014/main" val="3664868224"/>
                  </a:ext>
                </a:extLst>
              </a:tr>
              <a:tr h="370840">
                <a:tc>
                  <a:txBody>
                    <a:bodyPr/>
                    <a:lstStyle/>
                    <a:p>
                      <a:pPr algn="l"/>
                      <a:r>
                        <a:rPr lang="en-US" sz="1400"/>
                        <a:t>E002</a:t>
                      </a:r>
                    </a:p>
                  </a:txBody>
                  <a:tcPr anchor="ctr"/>
                </a:tc>
                <a:tc>
                  <a:txBody>
                    <a:bodyPr/>
                    <a:lstStyle/>
                    <a:p>
                      <a:pPr algn="l"/>
                      <a:r>
                        <a:rPr lang="en-US" sz="1400"/>
                        <a:t>V001</a:t>
                      </a:r>
                    </a:p>
                  </a:txBody>
                  <a:tcPr anchor="ctr"/>
                </a:tc>
                <a:tc>
                  <a:txBody>
                    <a:bodyPr/>
                    <a:lstStyle/>
                    <a:p>
                      <a:pPr algn="l"/>
                      <a:r>
                        <a:rPr lang="en-US" sz="1400"/>
                        <a:t>2026/04/05</a:t>
                      </a:r>
                    </a:p>
                  </a:txBody>
                  <a:tcPr anchor="ctr"/>
                </a:tc>
                <a:tc>
                  <a:txBody>
                    <a:bodyPr/>
                    <a:lstStyle/>
                    <a:p>
                      <a:pPr algn="l"/>
                      <a:r>
                        <a:rPr lang="ja-JP" altLang="en-US" sz="1400"/>
                        <a:t>定期点検</a:t>
                      </a:r>
                      <a:endParaRPr lang="en-US" sz="1400"/>
                    </a:p>
                  </a:txBody>
                  <a:tcPr anchor="ctr"/>
                </a:tc>
                <a:extLst>
                  <a:ext uri="{0D108BD9-81ED-4DB2-BD59-A6C34878D82A}">
                    <a16:rowId xmlns:a16="http://schemas.microsoft.com/office/drawing/2014/main" val="3947757112"/>
                  </a:ext>
                </a:extLst>
              </a:tr>
              <a:tr h="370840">
                <a:tc>
                  <a:txBody>
                    <a:bodyPr/>
                    <a:lstStyle/>
                    <a:p>
                      <a:pPr algn="l"/>
                      <a:r>
                        <a:rPr lang="en-US" sz="1400"/>
                        <a:t>E003</a:t>
                      </a:r>
                    </a:p>
                  </a:txBody>
                  <a:tcPr anchor="ctr"/>
                </a:tc>
                <a:tc>
                  <a:txBody>
                    <a:bodyPr/>
                    <a:lstStyle/>
                    <a:p>
                      <a:pPr algn="l"/>
                      <a:r>
                        <a:rPr lang="en-US" sz="1400"/>
                        <a:t>V001</a:t>
                      </a:r>
                    </a:p>
                  </a:txBody>
                  <a:tcPr anchor="ctr"/>
                </a:tc>
                <a:tc>
                  <a:txBody>
                    <a:bodyPr/>
                    <a:lstStyle/>
                    <a:p>
                      <a:pPr algn="l"/>
                      <a:r>
                        <a:rPr lang="en-US" sz="1400"/>
                        <a:t>2026/04/10</a:t>
                      </a:r>
                    </a:p>
                  </a:txBody>
                  <a:tcPr anchor="ctr"/>
                </a:tc>
                <a:tc>
                  <a:txBody>
                    <a:bodyPr/>
                    <a:lstStyle/>
                    <a:p>
                      <a:pPr algn="l"/>
                      <a:r>
                        <a:rPr lang="ja-JP" altLang="en-US" sz="1400"/>
                        <a:t>部品交換</a:t>
                      </a:r>
                      <a:endParaRPr lang="en-US" sz="1400"/>
                    </a:p>
                  </a:txBody>
                  <a:tcPr anchor="ctr"/>
                </a:tc>
                <a:extLst>
                  <a:ext uri="{0D108BD9-81ED-4DB2-BD59-A6C34878D82A}">
                    <a16:rowId xmlns:a16="http://schemas.microsoft.com/office/drawing/2014/main" val="3664691120"/>
                  </a:ext>
                </a:extLst>
              </a:tr>
            </a:tbl>
          </a:graphicData>
        </a:graphic>
      </p:graphicFrame>
      <p:sp>
        <p:nvSpPr>
          <p:cNvPr id="18" name="TextBox 17">
            <a:extLst>
              <a:ext uri="{FF2B5EF4-FFF2-40B4-BE49-F238E27FC236}">
                <a16:creationId xmlns:a16="http://schemas.microsoft.com/office/drawing/2014/main" id="{72CEEF62-8A9A-52C5-A9E3-5BE2BECA01A2}"/>
              </a:ext>
            </a:extLst>
          </p:cNvPr>
          <p:cNvSpPr txBox="1"/>
          <p:nvPr/>
        </p:nvSpPr>
        <p:spPr>
          <a:xfrm>
            <a:off x="8957405" y="4180658"/>
            <a:ext cx="311143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cs typeface="Arial"/>
              </a:rPr>
              <a:t>・</a:t>
            </a:r>
            <a:r>
              <a:rPr lang="ja-JP" altLang="en-US" sz="1200">
                <a:cs typeface="Arial"/>
              </a:rPr>
              <a:t>イベントが発生するたびに、新しい行を追加する</a:t>
            </a:r>
          </a:p>
          <a:p>
            <a:r>
              <a:rPr lang="ja-JP" altLang="en-US" sz="1200">
                <a:cs typeface="Arial"/>
              </a:rPr>
              <a:t>・過去のイベントは原則として更新、削除しない</a:t>
            </a:r>
          </a:p>
          <a:p>
            <a:r>
              <a:rPr lang="ja-JP" altLang="en-US" sz="1200">
                <a:cs typeface="Arial"/>
              </a:rPr>
              <a:t>・発生日時とDBへの取込日時を分けて記録する</a:t>
            </a:r>
          </a:p>
          <a:p>
            <a:r>
              <a:rPr lang="ja-JP" altLang="en-US" sz="1200">
                <a:cs typeface="Arial"/>
              </a:rPr>
              <a:t>・同じイベントの二重登録を防ぐため、イベントIDなどを使用する</a:t>
            </a:r>
          </a:p>
        </p:txBody>
      </p:sp>
      <p:sp>
        <p:nvSpPr>
          <p:cNvPr id="20" name="TextBox 19">
            <a:extLst>
              <a:ext uri="{FF2B5EF4-FFF2-40B4-BE49-F238E27FC236}">
                <a16:creationId xmlns:a16="http://schemas.microsoft.com/office/drawing/2014/main" id="{4B29F995-F22C-6909-2446-FCF8FF28EB5E}"/>
              </a:ext>
            </a:extLst>
          </p:cNvPr>
          <p:cNvSpPr txBox="1"/>
          <p:nvPr/>
        </p:nvSpPr>
        <p:spPr>
          <a:xfrm>
            <a:off x="371216" y="5775102"/>
            <a:ext cx="1176230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400">
                <a:cs typeface="Arial"/>
              </a:rPr>
              <a:t>注意点：</a:t>
            </a:r>
          </a:p>
          <a:p>
            <a:r>
              <a:rPr lang="ja-JP" altLang="en-US" sz="1400">
                <a:cs typeface="Arial"/>
              </a:rPr>
              <a:t>・イベントIDまたはハッシュ値で二重登録を防ぐ　　　　　・発生日時と取込日時を分けて管理する　　　　　・大容量データは日付or月単位で管理する</a:t>
            </a:r>
          </a:p>
          <a:p>
            <a:r>
              <a:rPr lang="ja-JP" altLang="en-US" sz="1400">
                <a:cs typeface="Arial"/>
              </a:rPr>
              <a:t>・保持期間を決め、長期分はアーカイブを検討する　　　　　・PowerBIには必要に応じて集計済みデータを提供する</a:t>
            </a:r>
          </a:p>
        </p:txBody>
      </p:sp>
    </p:spTree>
    <p:extLst>
      <p:ext uri="{BB962C8B-B14F-4D97-AF65-F5344CB8AC3E}">
        <p14:creationId xmlns:p14="http://schemas.microsoft.com/office/powerpoint/2010/main" val="2480542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02C5C-89C5-2EB0-8DAC-A9831625C6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37CE11-B8B4-1213-D47B-8F8B3F263D21}"/>
              </a:ext>
            </a:extLst>
          </p:cNvPr>
          <p:cNvSpPr>
            <a:spLocks noGrp="1"/>
          </p:cNvSpPr>
          <p:nvPr>
            <p:ph type="title"/>
          </p:nvPr>
        </p:nvSpPr>
        <p:spPr/>
        <p:txBody>
          <a:bodyPr/>
          <a:lstStyle/>
          <a:p>
            <a:r>
              <a:rPr lang="ja-JP" altLang="en-US"/>
              <a:t>その他課題</a:t>
            </a:r>
          </a:p>
        </p:txBody>
      </p:sp>
      <p:sp>
        <p:nvSpPr>
          <p:cNvPr id="4" name="スライド番号プレースホルダー 3">
            <a:extLst>
              <a:ext uri="{FF2B5EF4-FFF2-40B4-BE49-F238E27FC236}">
                <a16:creationId xmlns:a16="http://schemas.microsoft.com/office/drawing/2014/main" id="{106BDBC1-317B-0869-090B-0B9BC32504AF}"/>
              </a:ext>
            </a:extLst>
          </p:cNvPr>
          <p:cNvSpPr>
            <a:spLocks noGrp="1"/>
          </p:cNvSpPr>
          <p:nvPr>
            <p:ph type="sldNum" sz="quarter" idx="12"/>
          </p:nvPr>
        </p:nvSpPr>
        <p:spPr/>
        <p:txBody>
          <a:bodyPr/>
          <a:lstStyle/>
          <a:p>
            <a:pPr algn="r"/>
            <a:fld id="{5AEFF336-1E2B-43B1-AB2F-00EB3EDF84C9}" type="slidenum">
              <a:rPr lang="en-US" altLang="ja-JP" sz="2133" smtClean="0">
                <a:latin typeface="Arial Black" pitchFamily="34" charset="0"/>
              </a:rPr>
              <a:pPr algn="r"/>
              <a:t>14</a:t>
            </a:fld>
            <a:endParaRPr lang="en-US" altLang="ja-JP" sz="2133">
              <a:latin typeface="Arial Black" pitchFamily="34" charset="0"/>
            </a:endParaRPr>
          </a:p>
        </p:txBody>
      </p:sp>
      <p:sp>
        <p:nvSpPr>
          <p:cNvPr id="8" name="Content Placeholder 2">
            <a:extLst>
              <a:ext uri="{FF2B5EF4-FFF2-40B4-BE49-F238E27FC236}">
                <a16:creationId xmlns:a16="http://schemas.microsoft.com/office/drawing/2014/main" id="{90260A71-2C59-F6FE-26C4-38E9BFAF250C}"/>
              </a:ext>
            </a:extLst>
          </p:cNvPr>
          <p:cNvSpPr>
            <a:spLocks noGrp="1"/>
          </p:cNvSpPr>
          <p:nvPr>
            <p:ph idx="1"/>
          </p:nvPr>
        </p:nvSpPr>
        <p:spPr>
          <a:xfrm>
            <a:off x="425491" y="738447"/>
            <a:ext cx="11151029" cy="497409"/>
          </a:xfrm>
        </p:spPr>
        <p:txBody>
          <a:bodyPr vert="horz" lIns="91440" tIns="45720" rIns="91440" bIns="45720" rtlCol="0" anchor="t">
            <a:normAutofit fontScale="62500" lnSpcReduction="20000"/>
          </a:bodyPr>
          <a:lstStyle/>
          <a:p>
            <a:pPr marL="456565" indent="-456565"/>
            <a:r>
              <a:rPr lang="ja-JP" altLang="en-US" sz="2400">
                <a:cs typeface="Arial"/>
              </a:rPr>
              <a:t>車両のライフサイクル全体を追跡するためには、履歴データの持ち方だけでなく、販売店・システムをまたいだデータの紐づけや運用ルールの整理が必要です。</a:t>
            </a:r>
          </a:p>
          <a:p>
            <a:pPr marL="0" indent="0">
              <a:buNone/>
            </a:pPr>
            <a:endParaRPr lang="ja-JP" altLang="en-US" sz="2400">
              <a:cs typeface="Arial"/>
            </a:endParaRPr>
          </a:p>
        </p:txBody>
      </p:sp>
      <p:sp>
        <p:nvSpPr>
          <p:cNvPr id="10" name="Flowchart: Connector 9">
            <a:extLst>
              <a:ext uri="{FF2B5EF4-FFF2-40B4-BE49-F238E27FC236}">
                <a16:creationId xmlns:a16="http://schemas.microsoft.com/office/drawing/2014/main" id="{DAEDC218-009C-06BE-E6D0-9C90D06FD1E0}"/>
              </a:ext>
            </a:extLst>
          </p:cNvPr>
          <p:cNvSpPr/>
          <p:nvPr/>
        </p:nvSpPr>
        <p:spPr>
          <a:xfrm>
            <a:off x="3831921" y="1895606"/>
            <a:ext cx="4131502" cy="3640898"/>
          </a:xfrm>
          <a:prstGeom prst="flowChartConnector">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 name="Rectangle: Rounded Corners 11">
            <a:extLst>
              <a:ext uri="{FF2B5EF4-FFF2-40B4-BE49-F238E27FC236}">
                <a16:creationId xmlns:a16="http://schemas.microsoft.com/office/drawing/2014/main" id="{B7E27D6F-65F5-32EE-6499-8AC324E04137}"/>
              </a:ext>
            </a:extLst>
          </p:cNvPr>
          <p:cNvSpPr/>
          <p:nvPr/>
        </p:nvSpPr>
        <p:spPr>
          <a:xfrm>
            <a:off x="4297367" y="2560727"/>
            <a:ext cx="1072766" cy="1148742"/>
          </a:xfrm>
          <a:prstGeom prst="round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200" b="1">
                <a:solidFill>
                  <a:schemeClr val="tx1"/>
                </a:solidFill>
                <a:cs typeface="Arial"/>
              </a:rPr>
              <a:t>①新車販売</a:t>
            </a:r>
          </a:p>
        </p:txBody>
      </p:sp>
      <p:sp>
        <p:nvSpPr>
          <p:cNvPr id="13" name="Rectangle: Rounded Corners 12">
            <a:extLst>
              <a:ext uri="{FF2B5EF4-FFF2-40B4-BE49-F238E27FC236}">
                <a16:creationId xmlns:a16="http://schemas.microsoft.com/office/drawing/2014/main" id="{1C4D994C-5E5B-2010-9C2C-1FC4EE2C98DB}"/>
              </a:ext>
            </a:extLst>
          </p:cNvPr>
          <p:cNvSpPr/>
          <p:nvPr/>
        </p:nvSpPr>
        <p:spPr>
          <a:xfrm>
            <a:off x="5362080" y="2560726"/>
            <a:ext cx="1072766" cy="1148742"/>
          </a:xfrm>
          <a:prstGeom prst="round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②整備</a:t>
            </a:r>
          </a:p>
        </p:txBody>
      </p:sp>
      <p:sp>
        <p:nvSpPr>
          <p:cNvPr id="14" name="Rectangle: Rounded Corners 13">
            <a:extLst>
              <a:ext uri="{FF2B5EF4-FFF2-40B4-BE49-F238E27FC236}">
                <a16:creationId xmlns:a16="http://schemas.microsoft.com/office/drawing/2014/main" id="{BF50FE77-44DC-CCC8-419B-9A101D437F17}"/>
              </a:ext>
            </a:extLst>
          </p:cNvPr>
          <p:cNvSpPr/>
          <p:nvPr/>
        </p:nvSpPr>
        <p:spPr>
          <a:xfrm>
            <a:off x="6426791" y="2560726"/>
            <a:ext cx="1072766" cy="1148742"/>
          </a:xfrm>
          <a:prstGeom prst="round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③下取り</a:t>
            </a:r>
          </a:p>
        </p:txBody>
      </p:sp>
      <p:sp>
        <p:nvSpPr>
          <p:cNvPr id="15" name="Rectangle: Rounded Corners 14">
            <a:extLst>
              <a:ext uri="{FF2B5EF4-FFF2-40B4-BE49-F238E27FC236}">
                <a16:creationId xmlns:a16="http://schemas.microsoft.com/office/drawing/2014/main" id="{2CEE741E-55AB-EAF2-8D1B-2FCB588253AD}"/>
              </a:ext>
            </a:extLst>
          </p:cNvPr>
          <p:cNvSpPr/>
          <p:nvPr/>
        </p:nvSpPr>
        <p:spPr>
          <a:xfrm>
            <a:off x="4829723" y="3708945"/>
            <a:ext cx="1072766" cy="1148742"/>
          </a:xfrm>
          <a:prstGeom prst="round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200" b="1">
                <a:solidFill>
                  <a:schemeClr val="tx1"/>
                </a:solidFill>
                <a:cs typeface="Arial"/>
              </a:rPr>
              <a:t>④UCar販売</a:t>
            </a:r>
          </a:p>
        </p:txBody>
      </p:sp>
      <p:sp>
        <p:nvSpPr>
          <p:cNvPr id="16" name="Rectangle: Rounded Corners 15">
            <a:extLst>
              <a:ext uri="{FF2B5EF4-FFF2-40B4-BE49-F238E27FC236}">
                <a16:creationId xmlns:a16="http://schemas.microsoft.com/office/drawing/2014/main" id="{81356607-CF15-A17E-FA3E-74FC8473B7A1}"/>
              </a:ext>
            </a:extLst>
          </p:cNvPr>
          <p:cNvSpPr/>
          <p:nvPr/>
        </p:nvSpPr>
        <p:spPr>
          <a:xfrm>
            <a:off x="5894435" y="3708945"/>
            <a:ext cx="1072766" cy="1148742"/>
          </a:xfrm>
          <a:prstGeom prst="round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a:solidFill>
                  <a:schemeClr val="tx1"/>
                </a:solidFill>
                <a:cs typeface="Arial"/>
              </a:rPr>
              <a:t>⑤廃棄</a:t>
            </a:r>
          </a:p>
        </p:txBody>
      </p:sp>
      <p:sp>
        <p:nvSpPr>
          <p:cNvPr id="19" name="Rectangle: Rounded Corners 18">
            <a:extLst>
              <a:ext uri="{FF2B5EF4-FFF2-40B4-BE49-F238E27FC236}">
                <a16:creationId xmlns:a16="http://schemas.microsoft.com/office/drawing/2014/main" id="{F5610190-8E5D-29A6-765C-DFEB13B007DA}"/>
              </a:ext>
            </a:extLst>
          </p:cNvPr>
          <p:cNvSpPr/>
          <p:nvPr/>
        </p:nvSpPr>
        <p:spPr>
          <a:xfrm>
            <a:off x="424737" y="1475137"/>
            <a:ext cx="3546655" cy="1764604"/>
          </a:xfrm>
          <a:prstGeom prst="round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1400" b="1">
                <a:solidFill>
                  <a:schemeClr val="tx1"/>
                </a:solidFill>
                <a:cs typeface="Arial"/>
              </a:rPr>
              <a:t>①販売店をまたぐ追跡</a:t>
            </a:r>
          </a:p>
          <a:p>
            <a:r>
              <a:rPr lang="ja-JP" altLang="en-US" sz="1200" b="1">
                <a:solidFill>
                  <a:schemeClr val="tx1"/>
                </a:solidFill>
                <a:cs typeface="Arial"/>
              </a:rPr>
              <a:t>・１台の車両が複数の販売店を経由する可能性がある</a:t>
            </a:r>
          </a:p>
          <a:p>
            <a:r>
              <a:rPr lang="ja-JP" altLang="en-US" sz="1200" b="1">
                <a:solidFill>
                  <a:schemeClr val="tx1"/>
                </a:solidFill>
                <a:cs typeface="Arial"/>
              </a:rPr>
              <a:t>・TM東京さんの保有データだけで、車両の一生を追跡できるか確認が必要</a:t>
            </a:r>
          </a:p>
          <a:p>
            <a:r>
              <a:rPr lang="ja-JP" altLang="en-US" sz="1200" b="1">
                <a:solidFill>
                  <a:schemeClr val="tx1"/>
                </a:solidFill>
                <a:cs typeface="Arial"/>
              </a:rPr>
              <a:t>・他販売店へ移動した後も追跡対象とするか判断が必要</a:t>
            </a:r>
          </a:p>
          <a:p>
            <a:r>
              <a:rPr lang="ja-JP" altLang="en-US" sz="1200" b="1">
                <a:solidFill>
                  <a:schemeClr val="tx1"/>
                </a:solidFill>
                <a:cs typeface="Arial"/>
              </a:rPr>
              <a:t>・追跡できない期間をどのように扱うか決める必要がある。</a:t>
            </a:r>
          </a:p>
        </p:txBody>
      </p:sp>
      <p:sp>
        <p:nvSpPr>
          <p:cNvPr id="20" name="Rectangle: Rounded Corners 19">
            <a:extLst>
              <a:ext uri="{FF2B5EF4-FFF2-40B4-BE49-F238E27FC236}">
                <a16:creationId xmlns:a16="http://schemas.microsoft.com/office/drawing/2014/main" id="{96D8D584-A71C-C679-88EF-174034DCA7CF}"/>
              </a:ext>
            </a:extLst>
          </p:cNvPr>
          <p:cNvSpPr/>
          <p:nvPr/>
        </p:nvSpPr>
        <p:spPr>
          <a:xfrm>
            <a:off x="7825530" y="1475137"/>
            <a:ext cx="3546655" cy="1764604"/>
          </a:xfrm>
          <a:prstGeom prst="round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1400" b="1">
                <a:solidFill>
                  <a:schemeClr val="tx1"/>
                </a:solidFill>
                <a:cs typeface="Arial"/>
              </a:rPr>
              <a:t>②システム間の紐づけ</a:t>
            </a:r>
          </a:p>
          <a:p>
            <a:r>
              <a:rPr lang="ja-JP" altLang="en-US" sz="1200" b="1">
                <a:solidFill>
                  <a:schemeClr val="tx1"/>
                </a:solidFill>
                <a:cs typeface="Arial"/>
              </a:rPr>
              <a:t>・システムごとに車両IDの形式が異なる可能性がある</a:t>
            </a:r>
          </a:p>
          <a:p>
            <a:r>
              <a:rPr lang="ja-JP" altLang="en-US" sz="1200" b="1">
                <a:solidFill>
                  <a:schemeClr val="tx1"/>
                </a:solidFill>
                <a:cs typeface="Arial"/>
              </a:rPr>
              <a:t>・車両型式、フレームNoの表記揺れ、欠損、重複を確認する</a:t>
            </a:r>
          </a:p>
          <a:p>
            <a:r>
              <a:rPr lang="ja-JP" altLang="en-US" sz="1200" b="1">
                <a:solidFill>
                  <a:schemeClr val="tx1"/>
                </a:solidFill>
                <a:cs typeface="Arial"/>
              </a:rPr>
              <a:t>・名義変更や販売店移動後も同じ車両として識別できるか確認する</a:t>
            </a:r>
          </a:p>
          <a:p>
            <a:r>
              <a:rPr lang="ja-JP" altLang="en-US" sz="1200" b="1">
                <a:solidFill>
                  <a:schemeClr val="tx1"/>
                </a:solidFill>
                <a:cs typeface="Arial"/>
              </a:rPr>
              <a:t>・IDが一致しない場合の照合、確認ルールを決める</a:t>
            </a:r>
          </a:p>
        </p:txBody>
      </p:sp>
      <p:sp>
        <p:nvSpPr>
          <p:cNvPr id="21" name="Rectangle: Rounded Corners 20">
            <a:extLst>
              <a:ext uri="{FF2B5EF4-FFF2-40B4-BE49-F238E27FC236}">
                <a16:creationId xmlns:a16="http://schemas.microsoft.com/office/drawing/2014/main" id="{C2A33B65-631A-B528-B558-1E49091F646D}"/>
              </a:ext>
            </a:extLst>
          </p:cNvPr>
          <p:cNvSpPr/>
          <p:nvPr/>
        </p:nvSpPr>
        <p:spPr>
          <a:xfrm>
            <a:off x="424736" y="4283055"/>
            <a:ext cx="3546655" cy="176460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1400" b="1">
                <a:solidFill>
                  <a:schemeClr val="tx1"/>
                </a:solidFill>
                <a:cs typeface="Arial"/>
              </a:rPr>
              <a:t>③利益データの接続</a:t>
            </a:r>
          </a:p>
          <a:p>
            <a:r>
              <a:rPr lang="ja-JP" altLang="en-US" sz="1200" b="1">
                <a:solidFill>
                  <a:schemeClr val="tx1"/>
                </a:solidFill>
                <a:cs typeface="Arial"/>
              </a:rPr>
              <a:t>・車両谷の売上、原価、費用を紐づけられるか確認</a:t>
            </a:r>
          </a:p>
          <a:p>
            <a:r>
              <a:rPr lang="ja-JP" altLang="en-US" sz="1200" b="1">
                <a:solidFill>
                  <a:schemeClr val="tx1"/>
                </a:solidFill>
                <a:cs typeface="Arial"/>
              </a:rPr>
              <a:t>・新車販売、整備、下取り、U-Car販売ごとに必要な金額項目を整理</a:t>
            </a:r>
          </a:p>
          <a:p>
            <a:r>
              <a:rPr lang="ja-JP" altLang="en-US" sz="1200" b="1">
                <a:solidFill>
                  <a:schemeClr val="tx1"/>
                </a:solidFill>
                <a:cs typeface="Arial"/>
              </a:rPr>
              <a:t>・金額を計上する時点と対象期間を統一</a:t>
            </a:r>
          </a:p>
          <a:p>
            <a:r>
              <a:rPr lang="ja-JP" altLang="en-US" sz="1200" b="1">
                <a:solidFill>
                  <a:schemeClr val="tx1"/>
                </a:solidFill>
                <a:cs typeface="Arial"/>
              </a:rPr>
              <a:t>・値引き、返品、キャンセルなどの扱いを決める</a:t>
            </a:r>
          </a:p>
          <a:p>
            <a:r>
              <a:rPr lang="ja-JP" altLang="en-US" sz="1200" b="1">
                <a:solidFill>
                  <a:schemeClr val="tx1"/>
                </a:solidFill>
                <a:cs typeface="Arial"/>
              </a:rPr>
              <a:t>・どの金額を「利益」とするか、業務上の定義を確認</a:t>
            </a:r>
          </a:p>
        </p:txBody>
      </p:sp>
      <p:sp>
        <p:nvSpPr>
          <p:cNvPr id="22" name="Rectangle: Rounded Corners 21">
            <a:extLst>
              <a:ext uri="{FF2B5EF4-FFF2-40B4-BE49-F238E27FC236}">
                <a16:creationId xmlns:a16="http://schemas.microsoft.com/office/drawing/2014/main" id="{1272D9EC-A746-C42F-3244-1F12E79D00A2}"/>
              </a:ext>
            </a:extLst>
          </p:cNvPr>
          <p:cNvSpPr/>
          <p:nvPr/>
        </p:nvSpPr>
        <p:spPr>
          <a:xfrm>
            <a:off x="7825530" y="4283054"/>
            <a:ext cx="3546655" cy="1764604"/>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1400" b="1">
                <a:solidFill>
                  <a:schemeClr val="tx1"/>
                </a:solidFill>
                <a:cs typeface="Arial"/>
              </a:rPr>
              <a:t>④運用・管理ルール</a:t>
            </a:r>
          </a:p>
          <a:p>
            <a:r>
              <a:rPr lang="ja-JP" altLang="en-US" sz="1200" b="1">
                <a:solidFill>
                  <a:schemeClr val="tx1"/>
                </a:solidFill>
                <a:cs typeface="Arial"/>
              </a:rPr>
              <a:t>・履歴データを何年保持するか</a:t>
            </a:r>
          </a:p>
          <a:p>
            <a:r>
              <a:rPr lang="ja-JP" altLang="en-US" sz="1200" b="1">
                <a:solidFill>
                  <a:schemeClr val="tx1"/>
                </a:solidFill>
                <a:cs typeface="Arial"/>
              </a:rPr>
              <a:t>・過去データの訂正、削除をどのように反映するか</a:t>
            </a:r>
          </a:p>
          <a:p>
            <a:r>
              <a:rPr lang="ja-JP" altLang="en-US" sz="1200" b="1">
                <a:solidFill>
                  <a:schemeClr val="tx1"/>
                </a:solidFill>
                <a:cs typeface="Arial"/>
              </a:rPr>
              <a:t>・個人情報をどこまで履歴として残すか</a:t>
            </a:r>
          </a:p>
          <a:p>
            <a:r>
              <a:rPr lang="ja-JP" altLang="en-US" sz="1200" b="1">
                <a:solidFill>
                  <a:schemeClr val="tx1"/>
                </a:solidFill>
                <a:cs typeface="Arial"/>
              </a:rPr>
              <a:t>・障害や連携漏れが発生した場合の再実行方法</a:t>
            </a:r>
          </a:p>
          <a:p>
            <a:r>
              <a:rPr lang="ja-JP" altLang="en-US" sz="1200" b="1">
                <a:solidFill>
                  <a:schemeClr val="tx1"/>
                </a:solidFill>
                <a:cs typeface="Arial"/>
              </a:rPr>
              <a:t>・一時、検証、バックアップ用テーブルを対象外としてよいか</a:t>
            </a:r>
          </a:p>
        </p:txBody>
      </p:sp>
      <p:sp>
        <p:nvSpPr>
          <p:cNvPr id="23" name="TextBox 22">
            <a:extLst>
              <a:ext uri="{FF2B5EF4-FFF2-40B4-BE49-F238E27FC236}">
                <a16:creationId xmlns:a16="http://schemas.microsoft.com/office/drawing/2014/main" id="{A81C2CCC-1CA3-6B13-118C-08FA1CD7CB1D}"/>
              </a:ext>
            </a:extLst>
          </p:cNvPr>
          <p:cNvSpPr txBox="1"/>
          <p:nvPr/>
        </p:nvSpPr>
        <p:spPr>
          <a:xfrm>
            <a:off x="602039" y="6188404"/>
            <a:ext cx="1065469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400">
                <a:cs typeface="Arial"/>
              </a:rPr>
              <a:t>車両の履歴を蓄積するだけでは、ライフサイクル全体の利益追跡は実現できない。</a:t>
            </a:r>
            <a:endParaRPr lang="en-US" sz="1400">
              <a:cs typeface="Arial"/>
            </a:endParaRPr>
          </a:p>
          <a:p>
            <a:pPr algn="l"/>
            <a:r>
              <a:rPr lang="ja-JP" altLang="en-US" sz="1400">
                <a:cs typeface="Arial"/>
              </a:rPr>
              <a:t>追跡範囲、車両ID、利益の定義、運用ルールを合わせて決定したほうが良いかと思われます。</a:t>
            </a:r>
          </a:p>
        </p:txBody>
      </p:sp>
    </p:spTree>
    <p:extLst>
      <p:ext uri="{BB962C8B-B14F-4D97-AF65-F5344CB8AC3E}">
        <p14:creationId xmlns:p14="http://schemas.microsoft.com/office/powerpoint/2010/main" val="2739360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ー 1"/>
          <p:cNvSpPr txBox="1">
            <a:spLocks/>
          </p:cNvSpPr>
          <p:nvPr/>
        </p:nvSpPr>
        <p:spPr bwMode="auto">
          <a:xfrm>
            <a:off x="10533409" y="6424248"/>
            <a:ext cx="165926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defPPr>
              <a:defRPr lang="ja-JP"/>
            </a:defPPr>
            <a:lvl1pPr algn="l" rtl="0" fontAlgn="base">
              <a:spcBef>
                <a:spcPct val="0"/>
              </a:spcBef>
              <a:spcAft>
                <a:spcPct val="0"/>
              </a:spcAft>
              <a:defRPr kumimoji="1" sz="3200" kern="1200">
                <a:solidFill>
                  <a:schemeClr val="tx1"/>
                </a:solidFill>
                <a:latin typeface="Verdana" pitchFamily="34" charset="0"/>
                <a:ea typeface="ＭＳ Ｐゴシック" charset="-128"/>
                <a:cs typeface="+mn-cs"/>
              </a:defRPr>
            </a:lvl1pPr>
            <a:lvl2pPr marL="457200" algn="l" rtl="0" fontAlgn="base">
              <a:spcBef>
                <a:spcPct val="0"/>
              </a:spcBef>
              <a:spcAft>
                <a:spcPct val="0"/>
              </a:spcAft>
              <a:defRPr kumimoji="1" sz="2800" kern="1200">
                <a:solidFill>
                  <a:schemeClr val="tx1"/>
                </a:solidFill>
                <a:latin typeface="Verdana" pitchFamily="34" charset="0"/>
                <a:ea typeface="ＭＳ Ｐゴシック" charset="-128"/>
                <a:cs typeface="+mn-cs"/>
              </a:defRPr>
            </a:lvl2pPr>
            <a:lvl3pPr marL="914400" algn="l" rtl="0" fontAlgn="base">
              <a:spcBef>
                <a:spcPct val="0"/>
              </a:spcBef>
              <a:spcAft>
                <a:spcPct val="0"/>
              </a:spcAft>
              <a:defRPr kumimoji="1" sz="2400" kern="1200">
                <a:solidFill>
                  <a:schemeClr val="tx1"/>
                </a:solidFill>
                <a:latin typeface="Verdana" pitchFamily="34" charset="0"/>
                <a:ea typeface="ＭＳ Ｐゴシック" charset="-128"/>
                <a:cs typeface="+mn-cs"/>
              </a:defRPr>
            </a:lvl3pPr>
            <a:lvl4pPr marL="1371600" algn="l" rtl="0" fontAlgn="base">
              <a:spcBef>
                <a:spcPct val="0"/>
              </a:spcBef>
              <a:spcAft>
                <a:spcPct val="0"/>
              </a:spcAft>
              <a:defRPr kumimoji="1" sz="2000" kern="1200">
                <a:solidFill>
                  <a:schemeClr val="tx1"/>
                </a:solidFill>
                <a:latin typeface="Verdana" pitchFamily="34" charset="0"/>
                <a:ea typeface="ＭＳ Ｐゴシック" charset="-128"/>
                <a:cs typeface="+mn-cs"/>
              </a:defRPr>
            </a:lvl4pPr>
            <a:lvl5pPr marL="1828800" algn="l" rtl="0" fontAlgn="base">
              <a:spcBef>
                <a:spcPct val="0"/>
              </a:spcBef>
              <a:spcAft>
                <a:spcPct val="0"/>
              </a:spcAft>
              <a:defRPr kumimoji="1" sz="2000" kern="1200">
                <a:solidFill>
                  <a:schemeClr val="tx1"/>
                </a:solidFill>
                <a:latin typeface="Verdana" pitchFamily="34" charset="0"/>
                <a:ea typeface="ＭＳ Ｐゴシック" charset="-128"/>
                <a:cs typeface="+mn-cs"/>
              </a:defRPr>
            </a:lvl5pPr>
            <a:lvl6pPr marL="2286000" algn="l" defTabSz="914400" rtl="0" eaLnBrk="0" latinLnBrk="0" hangingPunct="0">
              <a:defRPr kumimoji="1" sz="2000" kern="1200">
                <a:solidFill>
                  <a:schemeClr val="tx1"/>
                </a:solidFill>
                <a:latin typeface="Verdana" pitchFamily="34" charset="0"/>
                <a:ea typeface="ＭＳ Ｐゴシック" charset="-128"/>
                <a:cs typeface="+mn-cs"/>
              </a:defRPr>
            </a:lvl6pPr>
            <a:lvl7pPr marL="2743200" algn="l" defTabSz="914400" rtl="0" eaLnBrk="0" latinLnBrk="0" hangingPunct="0">
              <a:defRPr kumimoji="1" sz="2000" kern="1200">
                <a:solidFill>
                  <a:schemeClr val="tx1"/>
                </a:solidFill>
                <a:latin typeface="Verdana" pitchFamily="34" charset="0"/>
                <a:ea typeface="ＭＳ Ｐゴシック" charset="-128"/>
                <a:cs typeface="+mn-cs"/>
              </a:defRPr>
            </a:lvl7pPr>
            <a:lvl8pPr marL="3200400" algn="l" defTabSz="914400" rtl="0" eaLnBrk="0" latinLnBrk="0" hangingPunct="0">
              <a:defRPr kumimoji="1" sz="2000" kern="1200">
                <a:solidFill>
                  <a:schemeClr val="tx1"/>
                </a:solidFill>
                <a:latin typeface="Verdana" pitchFamily="34" charset="0"/>
                <a:ea typeface="ＭＳ Ｐゴシック" charset="-128"/>
                <a:cs typeface="+mn-cs"/>
              </a:defRPr>
            </a:lvl8pPr>
            <a:lvl9pPr marL="3657600" algn="l" defTabSz="914400" rtl="0" eaLnBrk="0" latinLnBrk="0" hangingPunct="0">
              <a:defRPr kumimoji="1" sz="2000" kern="1200">
                <a:solidFill>
                  <a:schemeClr val="tx1"/>
                </a:solidFill>
                <a:latin typeface="Verdana" pitchFamily="34" charset="0"/>
                <a:ea typeface="ＭＳ Ｐゴシック" charset="-128"/>
                <a:cs typeface="+mn-cs"/>
              </a:defRPr>
            </a:lvl9pPr>
          </a:lstStyle>
          <a:p>
            <a:pPr algn="r" defTabSz="1219170"/>
            <a:fld id="{5AEFF336-1E2B-43B1-AB2F-00EB3EDF84C9}" type="slidenum">
              <a:rPr lang="en-US" altLang="ja-JP" sz="2133">
                <a:solidFill>
                  <a:schemeClr val="tx1">
                    <a:lumMod val="50000"/>
                    <a:lumOff val="50000"/>
                  </a:schemeClr>
                </a:solidFill>
                <a:latin typeface="Arial Black" pitchFamily="34" charset="0"/>
              </a:rPr>
              <a:pPr algn="r" defTabSz="1219170"/>
              <a:t>15</a:t>
            </a:fld>
            <a:endParaRPr lang="en-US" altLang="ja-JP" sz="2133">
              <a:solidFill>
                <a:schemeClr val="tx1">
                  <a:lumMod val="50000"/>
                  <a:lumOff val="50000"/>
                </a:schemeClr>
              </a:solidFill>
              <a:latin typeface="Arial Black" pitchFamily="34" charset="0"/>
            </a:endParaRPr>
          </a:p>
        </p:txBody>
      </p:sp>
      <p:pic>
        <p:nvPicPr>
          <p:cNvPr id="2" name="図 1">
            <a:extLst>
              <a:ext uri="{FF2B5EF4-FFF2-40B4-BE49-F238E27FC236}">
                <a16:creationId xmlns:a16="http://schemas.microsoft.com/office/drawing/2014/main" id="{B096AC71-A4CE-432A-A169-9796142BFAEE}"/>
              </a:ext>
            </a:extLst>
          </p:cNvPr>
          <p:cNvPicPr>
            <a:picLocks noChangeAspect="1"/>
          </p:cNvPicPr>
          <p:nvPr/>
        </p:nvPicPr>
        <p:blipFill>
          <a:blip r:embed="rId3"/>
          <a:stretch>
            <a:fillRect/>
          </a:stretch>
        </p:blipFill>
        <p:spPr>
          <a:xfrm>
            <a:off x="3796640" y="2859543"/>
            <a:ext cx="4222745" cy="1138914"/>
          </a:xfrm>
          <a:prstGeom prst="rect">
            <a:avLst/>
          </a:prstGeom>
        </p:spPr>
      </p:pic>
    </p:spTree>
    <p:extLst>
      <p:ext uri="{BB962C8B-B14F-4D97-AF65-F5344CB8AC3E}">
        <p14:creationId xmlns:p14="http://schemas.microsoft.com/office/powerpoint/2010/main" val="1639592486"/>
      </p:ext>
    </p:extLst>
  </p:cSld>
  <p:clrMapOvr>
    <a:masterClrMapping/>
  </p:clrMapOvr>
</p:sld>
</file>

<file path=ppt/theme/theme1.xml><?xml version="1.0" encoding="utf-8"?>
<a:theme xmlns:a="http://schemas.openxmlformats.org/drawingml/2006/main" name="Office ​​テーマ">
  <a:themeElements>
    <a:clrScheme name="トヨテック標準テンプレ">
      <a:dk1>
        <a:sysClr val="windowText" lastClr="000000"/>
      </a:dk1>
      <a:lt1>
        <a:sysClr val="window" lastClr="FFFFFF"/>
      </a:lt1>
      <a:dk2>
        <a:srgbClr val="FF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C00000"/>
      </a:folHlink>
    </a:clrScheme>
    <a:fontScheme name="トヨテック標準テンプレ">
      <a:majorFont>
        <a:latin typeface="Meiryo UI"/>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lumMod val="50000"/>
              <a:lumOff val="50000"/>
            </a:schemeClr>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lumMod val="50000"/>
              <a:lumOff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23F1E4B07BBC341A8F6905F09A2526F" ma:contentTypeVersion="17" ma:contentTypeDescription="新しいドキュメントを作成します。" ma:contentTypeScope="" ma:versionID="1437aaece15ac943c27d84c7bd287707">
  <xsd:schema xmlns:xsd="http://www.w3.org/2001/XMLSchema" xmlns:xs="http://www.w3.org/2001/XMLSchema" xmlns:p="http://schemas.microsoft.com/office/2006/metadata/properties" xmlns:ns2="879ce5c7-7ac0-470a-8fb0-80b8dfe33f1c" xmlns:ns3="00dc9add-bb5d-4974-938e-6de906df2254" targetNamespace="http://schemas.microsoft.com/office/2006/metadata/properties" ma:root="true" ma:fieldsID="a41d73b5ccc80413fe00e27c354e6c45" ns2:_="" ns3:_="">
    <xsd:import namespace="879ce5c7-7ac0-470a-8fb0-80b8dfe33f1c"/>
    <xsd:import namespace="00dc9add-bb5d-4974-938e-6de906df225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CONTENTS" minOccurs="0"/>
                <xsd:element ref="ns2:_x8cc7__x6599__x8aac__x660e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9ce5c7-7ac0-470a-8fb0-80b8dfe33f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def91d17-8bee-472f-b8e3-30905430c63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CONTENTS" ma:index="22" nillable="true" ma:displayName="CONTENTS" ma:format="Dropdown" ma:internalName="CONTENTS">
      <xsd:simpleType>
        <xsd:restriction base="dms:Text">
          <xsd:maxLength value="255"/>
        </xsd:restriction>
      </xsd:simpleType>
    </xsd:element>
    <xsd:element name="_x8cc7__x6599__x8aac__x660e_" ma:index="23" nillable="true" ma:displayName="資料説明" ma:format="Dropdown" ma:internalName="_x8cc7__x6599__x8aac__x660e_">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0dc9add-bb5d-4974-938e-6de906df2254"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f5f91764-4324-4dd1-9de8-4bb0ffe7790b}" ma:internalName="TaxCatchAll" ma:showField="CatchAllData" ma:web="00dc9add-bb5d-4974-938e-6de906df22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0dc9add-bb5d-4974-938e-6de906df2254" xsi:nil="true"/>
    <lcf76f155ced4ddcb4097134ff3c332f xmlns="879ce5c7-7ac0-470a-8fb0-80b8dfe33f1c">
      <Terms xmlns="http://schemas.microsoft.com/office/infopath/2007/PartnerControls"/>
    </lcf76f155ced4ddcb4097134ff3c332f>
    <CONTENTS xmlns="879ce5c7-7ac0-470a-8fb0-80b8dfe33f1c" xsi:nil="true"/>
    <_x8cc7__x6599__x8aac__x660e_ xmlns="879ce5c7-7ac0-470a-8fb0-80b8dfe33f1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D6D394-DB19-42C6-B4FF-7CD5CB458E9A}">
  <ds:schemaRefs>
    <ds:schemaRef ds:uri="00dc9add-bb5d-4974-938e-6de906df2254"/>
    <ds:schemaRef ds:uri="879ce5c7-7ac0-470a-8fb0-80b8dfe33f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C537E21-3738-4E64-89CE-DE8804F28B96}">
  <ds:schemaRefs>
    <ds:schemaRef ds:uri="00dc9add-bb5d-4974-938e-6de906df2254"/>
    <ds:schemaRef ds:uri="3485b11a-9ace-4f0c-8794-60a1c759a5a6"/>
    <ds:schemaRef ds:uri="424bfdda-8589-45a2-83df-f67fc602aa7b"/>
    <ds:schemaRef ds:uri="879ce5c7-7ac0-470a-8fb0-80b8dfe33f1c"/>
    <ds:schemaRef ds:uri="d326c412-3ddf-46ce-b701-76b65265639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6C7B1FE-A507-40CC-B61C-87DFE75307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6</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​​テーマ</vt:lpstr>
      <vt:lpstr>TM東京履歴データの持ち方 設計基本方針</vt:lpstr>
      <vt:lpstr>今回TM東京の経営SLIMとしてやりたいこと</vt:lpstr>
      <vt:lpstr>設計のポイント</vt:lpstr>
      <vt:lpstr>データの種類に応じて履歴データの持ち方を分離</vt:lpstr>
      <vt:lpstr>正規化による車両IDの再定義</vt:lpstr>
      <vt:lpstr>今回の設計で前提としていること</vt:lpstr>
      <vt:lpstr>今後TM東京チームで検討いただきたいこと</vt:lpstr>
      <vt:lpstr>全テーブル共通の考え方</vt:lpstr>
      <vt:lpstr>共通管理カラム</vt:lpstr>
      <vt:lpstr>SCD Type2履歴テーブル</vt:lpstr>
      <vt:lpstr>最新テーブル + 履歴テーブル分離型</vt:lpstr>
      <vt:lpstr>最新テーブル + 状態遷移履歴</vt:lpstr>
      <vt:lpstr>追記型</vt:lpstr>
      <vt:lpstr>その他課題</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画面表示用テンプレート</dc:title>
  <cp:revision>3</cp:revision>
  <dcterms:created xsi:type="dcterms:W3CDTF">2019-07-30T06:41:28Z</dcterms:created>
  <dcterms:modified xsi:type="dcterms:W3CDTF">2026-06-24T01:39:22Z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0x010100D23F1E4B07BBC341A8F6905F09A2526F</vt:lpwstr>
  </property>
  <property fmtid="{D5CDD505-2E9C-101B-9397-08002B2CF9AE}" pid="3" name="MediaServiceImageTags">
    <vt:lpwstr/>
  </property>
</Properties>
</file>