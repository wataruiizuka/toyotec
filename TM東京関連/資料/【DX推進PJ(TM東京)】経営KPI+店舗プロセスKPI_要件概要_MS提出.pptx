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4"/>
  </p:sldMasterIdLst>
  <p:notesMasterIdLst>
    <p:notesMasterId r:id="rId20"/>
  </p:notesMasterIdLst>
  <p:sldIdLst>
    <p:sldId id="2147483578" r:id="rId5"/>
    <p:sldId id="908" r:id="rId6"/>
    <p:sldId id="2147483550" r:id="rId7"/>
    <p:sldId id="2147483572" r:id="rId8"/>
    <p:sldId id="2147483571" r:id="rId9"/>
    <p:sldId id="2147483579" r:id="rId10"/>
    <p:sldId id="2147483580" r:id="rId11"/>
    <p:sldId id="2147483590" r:id="rId12"/>
    <p:sldId id="2147483581" r:id="rId13"/>
    <p:sldId id="2147483583" r:id="rId14"/>
    <p:sldId id="2147483585" r:id="rId15"/>
    <p:sldId id="2147483586" r:id="rId16"/>
    <p:sldId id="2147483587" r:id="rId17"/>
    <p:sldId id="2147483588" r:id="rId18"/>
    <p:sldId id="2147483589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FCAF90D8-1844-4FFC-8108-967B7966FE63}">
          <p14:sldIdLst>
            <p14:sldId id="2147483578"/>
            <p14:sldId id="908"/>
            <p14:sldId id="2147483550"/>
            <p14:sldId id="2147483572"/>
            <p14:sldId id="2147483571"/>
            <p14:sldId id="2147483579"/>
            <p14:sldId id="2147483580"/>
            <p14:sldId id="2147483590"/>
            <p14:sldId id="2147483581"/>
            <p14:sldId id="2147483583"/>
            <p14:sldId id="2147483585"/>
            <p14:sldId id="2147483586"/>
            <p14:sldId id="2147483587"/>
            <p14:sldId id="2147483588"/>
            <p14:sldId id="2147483589"/>
          </p14:sldIdLst>
        </p14:section>
        <p14:section name="Appendix" id="{4EE92BA4-C82F-47FE-9654-014D71B3264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1F497D"/>
    <a:srgbClr val="B7DEE8"/>
    <a:srgbClr val="FFD44B"/>
    <a:srgbClr val="DCE6F2"/>
    <a:srgbClr val="F2D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64" autoAdjust="0"/>
    <p:restoredTop sz="94000" autoAdjust="0"/>
  </p:normalViewPr>
  <p:slideViewPr>
    <p:cSldViewPr snapToGrid="0">
      <p:cViewPr varScale="1">
        <p:scale>
          <a:sx n="69" d="100"/>
          <a:sy n="69" d="100"/>
        </p:scale>
        <p:origin x="744" y="44"/>
      </p:cViewPr>
      <p:guideLst/>
    </p:cSldViewPr>
  </p:slideViewPr>
  <p:outlineViewPr>
    <p:cViewPr>
      <p:scale>
        <a:sx n="33" d="100"/>
        <a:sy n="33" d="100"/>
      </p:scale>
      <p:origin x="0" y="-37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27CCB-A59D-422D-8F6F-A8709638D0FA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6A251-DE8B-4EF0-9E99-A7D96CA48F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2524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D43C0-7A4B-4F3B-5291-2E842FC16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C4F1DB8-8C24-CE04-E14F-8D4159AE5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9F55F51-CDB0-C1B4-0EDB-CEF60998B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76A2ABE-B178-E6A5-9DA2-18202294B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36A251-DE8B-4EF0-9E99-A7D96CA48FFE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7620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CF3BCE-EAF4-4A12-8B40-3DA3B6D00D5F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399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313A5-F0A6-23F7-EF6C-DD39AC09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E37A579-1889-7267-019E-3434A6E38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925A7B8-E616-02D0-DDC7-DF98EE628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B553D19-65CC-5DC6-9971-102A8BB04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36A251-DE8B-4EF0-9E99-A7D96CA48FFE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3642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8B524-C222-943B-829E-843CDEA86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9113D33-1EE6-F927-9A12-7678D4142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50064A2-FF0F-9988-58AD-06B483C67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1B564D2-CE83-EF1D-2610-9A9DFE737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36A251-DE8B-4EF0-9E99-A7D96CA48FFE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5954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36A251-DE8B-4EF0-9E99-A7D96CA48FFE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7397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5491" y="0"/>
            <a:ext cx="10657184" cy="668409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正方形/長方形 6"/>
          <p:cNvSpPr/>
          <p:nvPr/>
        </p:nvSpPr>
        <p:spPr>
          <a:xfrm flipH="1" flipV="1">
            <a:off x="0" y="668408"/>
            <a:ext cx="12192000" cy="45719"/>
          </a:xfrm>
          <a:prstGeom prst="rect">
            <a:avLst/>
          </a:prstGeom>
          <a:gradFill flip="none" rotWithShape="1">
            <a:gsLst>
              <a:gs pos="100000">
                <a:srgbClr val="FF0000"/>
              </a:gs>
              <a:gs pos="86000">
                <a:srgbClr val="FF0000"/>
              </a:gs>
              <a:gs pos="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403" tIns="47703" rIns="95403" bIns="4770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69" b="22490"/>
          <a:stretch/>
        </p:blipFill>
        <p:spPr bwMode="auto">
          <a:xfrm>
            <a:off x="10908100" y="133678"/>
            <a:ext cx="1283900" cy="44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スライド番号プレースホルダー 1"/>
          <p:cNvSpPr>
            <a:spLocks noGrp="1"/>
          </p:cNvSpPr>
          <p:nvPr>
            <p:ph type="sldNum" sz="quarter" idx="12"/>
          </p:nvPr>
        </p:nvSpPr>
        <p:spPr bwMode="auto">
          <a:xfrm>
            <a:off x="10533409" y="6468467"/>
            <a:ext cx="1659268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2800">
                <a:solidFill>
                  <a:schemeClr val="tx1">
                    <a:lumMod val="50000"/>
                    <a:lumOff val="50000"/>
                  </a:schemeClr>
                </a:solidFill>
                <a:latin typeface="Verdana" pitchFamily="34" charset="0"/>
                <a:ea typeface="ＭＳ Ｐゴシック" charset="-128"/>
              </a:defRPr>
            </a:lvl1pPr>
            <a:lvl2pPr>
              <a:defRPr kumimoji="1" sz="3733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2pPr>
            <a:lvl3pPr>
              <a:defRPr kumimoji="1" sz="3200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3pPr>
            <a:lvl4pPr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4pPr>
            <a:lvl5pPr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5pPr>
            <a:lvl6pPr eaLnBrk="0" hangingPunct="0"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6pPr>
            <a:lvl7pPr eaLnBrk="0" hangingPunct="0"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7pPr>
            <a:lvl8pPr eaLnBrk="0" hangingPunct="0"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8pPr>
            <a:lvl9pPr eaLnBrk="0" hangingPunct="0">
              <a:defRPr kumimoji="1" sz="2667">
                <a:solidFill>
                  <a:schemeClr val="tx1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1F9F6F-1C6C-4947-B19B-FECDE9204413}" type="slidenum">
              <a:rPr kumimoji="1" lang="ja-JP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Verdana" pitchFamily="34" charset="0"/>
                <a:ea typeface="ＭＳ Ｐゴシック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Verdana" pitchFamily="34" charset="0"/>
              <a:ea typeface="ＭＳ Ｐゴシック" charset="-128"/>
              <a:cs typeface="+mn-cs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556108F4-90AE-D7F3-79FF-F0BB4C8327B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491" y="772629"/>
            <a:ext cx="11151029" cy="1628875"/>
          </a:xfrm>
        </p:spPr>
        <p:txBody>
          <a:bodyPr wrap="none" anchor="t">
            <a:noAutofit/>
          </a:bodyPr>
          <a:lstStyle>
            <a:lvl1pPr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2349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901" y="1129004"/>
            <a:ext cx="11523307" cy="5047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901" y="6356350"/>
            <a:ext cx="25208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40000"/>
                  <a:lumOff val="60000"/>
                </a:prstClr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50081" y="6356350"/>
            <a:ext cx="7060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1F9F6F-1C6C-4947-B19B-FECDE9204413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40000"/>
                    <a:lumOff val="60000"/>
                  </a:prst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40000"/>
                  <a:lumOff val="60000"/>
                </a:prstClr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491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+mj-lt"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19D8E-6E40-E6F9-0EE4-E65DD9949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タイトル 5">
            <a:extLst>
              <a:ext uri="{FF2B5EF4-FFF2-40B4-BE49-F238E27FC236}">
                <a16:creationId xmlns:a16="http://schemas.microsoft.com/office/drawing/2014/main" id="{9A9DC4EA-EC4D-64D3-3297-F24C86801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412" y="2552983"/>
            <a:ext cx="9621176" cy="1752034"/>
          </a:xfrm>
          <a:ln>
            <a:noFill/>
          </a:ln>
        </p:spPr>
        <p:txBody>
          <a:bodyPr/>
          <a:lstStyle/>
          <a:p>
            <a:pPr algn="ctr"/>
            <a:r>
              <a:rPr lang="ja-JP" altLang="en-US" sz="6000" dirty="0"/>
              <a:t>経営</a:t>
            </a:r>
            <a:r>
              <a:rPr lang="en-US" altLang="ja-JP" sz="6000" dirty="0"/>
              <a:t>KPI+</a:t>
            </a:r>
            <a:r>
              <a:rPr lang="ja-JP" altLang="en-US" sz="6000" dirty="0"/>
              <a:t>店舗プロセス</a:t>
            </a:r>
            <a:r>
              <a:rPr lang="en-US" altLang="ja-JP" sz="6000" dirty="0"/>
              <a:t>KPI</a:t>
            </a:r>
            <a:br>
              <a:rPr lang="en-US" altLang="ja-JP" sz="6000" dirty="0"/>
            </a:br>
            <a:r>
              <a:rPr lang="ja-JP" altLang="en-US" sz="6000" dirty="0"/>
              <a:t>要件概要</a:t>
            </a:r>
            <a:endParaRPr lang="ja-JP" alt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54107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7EF580-83DD-C8A9-D941-ECE9C199C28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8D8CA8-2572-2153-26D8-0B6F78DD64D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491" y="1728099"/>
            <a:ext cx="4265779" cy="3936102"/>
          </a:xfrm>
        </p:spPr>
        <p:txBody>
          <a:bodyPr>
            <a:noAutofit/>
          </a:bodyPr>
          <a:lstStyle/>
          <a:p>
            <a:pPr marL="457200" indent="-45720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ja-JP" altLang="en-US" sz="2400" dirty="0">
                <a:solidFill>
                  <a:schemeClr val="tx1"/>
                </a:solidFill>
              </a:rPr>
              <a:t>相談の背景と目的</a:t>
            </a:r>
            <a:endParaRPr lang="en-US" altLang="ja-JP" sz="2400" dirty="0">
              <a:solidFill>
                <a:schemeClr val="tx1"/>
              </a:solidFill>
            </a:endParaRPr>
          </a:p>
          <a:p>
            <a:pPr marL="457200" indent="-45720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ja-JP" altLang="en-US" sz="2400" dirty="0">
                <a:solidFill>
                  <a:schemeClr val="tx1"/>
                </a:solidFill>
              </a:rPr>
              <a:t>要件概要</a:t>
            </a:r>
            <a:endParaRPr lang="en-US" altLang="ja-JP" sz="2400" dirty="0">
              <a:solidFill>
                <a:schemeClr val="tx1"/>
              </a:solidFill>
            </a:endParaRPr>
          </a:p>
          <a:p>
            <a:pPr marL="914400" lvl="1" indent="-457200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ja-JP" altLang="en-US" sz="2400" dirty="0">
                <a:solidFill>
                  <a:schemeClr val="tx1"/>
                </a:solidFill>
              </a:rPr>
              <a:t>業務概要</a:t>
            </a:r>
            <a:endParaRPr lang="en-US" altLang="ja-JP" sz="2400" dirty="0">
              <a:solidFill>
                <a:schemeClr val="tx1"/>
              </a:solidFill>
            </a:endParaRPr>
          </a:p>
          <a:p>
            <a:pPr marL="914400" lvl="1" indent="-457200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ja-JP" altLang="en-US" sz="2400" dirty="0">
                <a:solidFill>
                  <a:schemeClr val="tx1"/>
                </a:solidFill>
              </a:rPr>
              <a:t>対象範囲・利用者</a:t>
            </a:r>
            <a:r>
              <a:rPr lang="en-US" altLang="ja-JP" sz="2400" dirty="0">
                <a:solidFill>
                  <a:schemeClr val="tx1"/>
                </a:solidFill>
              </a:rPr>
              <a:t>(5W1H)</a:t>
            </a:r>
          </a:p>
          <a:p>
            <a:pPr marL="457200" indent="-45720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ja-JP" altLang="en-US" sz="2400" dirty="0">
                <a:solidFill>
                  <a:schemeClr val="tx1"/>
                </a:solidFill>
              </a:rPr>
              <a:t>システム構成</a:t>
            </a:r>
            <a:endParaRPr lang="en-US" altLang="ja-JP" sz="2400" dirty="0">
              <a:solidFill>
                <a:schemeClr val="tx1"/>
              </a:solidFill>
            </a:endParaRPr>
          </a:p>
          <a:p>
            <a:pPr marL="914400" lvl="1" indent="-457200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ja-JP" altLang="en-US" sz="2400" dirty="0">
                <a:solidFill>
                  <a:schemeClr val="tx1"/>
                </a:solidFill>
              </a:rPr>
              <a:t>システム構成図</a:t>
            </a:r>
            <a:endParaRPr lang="en-US" altLang="ja-JP" sz="2400" dirty="0">
              <a:solidFill>
                <a:schemeClr val="tx1"/>
              </a:solidFill>
            </a:endParaRPr>
          </a:p>
          <a:p>
            <a:pPr marL="914400" lvl="1" indent="-457200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ja-JP" altLang="en-US" sz="2400" dirty="0">
                <a:solidFill>
                  <a:schemeClr val="tx1"/>
                </a:solidFill>
              </a:rPr>
              <a:t>データ連携図</a:t>
            </a:r>
            <a:endParaRPr lang="en-US" altLang="ja-JP" sz="2400" dirty="0">
              <a:solidFill>
                <a:schemeClr val="tx1"/>
              </a:solidFill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D21A4649-0639-AE12-2F10-54E0FC6AB1E7}"/>
              </a:ext>
            </a:extLst>
          </p:cNvPr>
          <p:cNvSpPr txBox="1">
            <a:spLocks/>
          </p:cNvSpPr>
          <p:nvPr/>
        </p:nvSpPr>
        <p:spPr>
          <a:xfrm>
            <a:off x="5367842" y="1728098"/>
            <a:ext cx="4265779" cy="4393302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kumimoji="1" sz="2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kumimoji="1" sz="2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kumimoji="1"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kumimoji="1"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kumimoji="1"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ja-JP" altLang="en-US" sz="2400" dirty="0">
                <a:solidFill>
                  <a:schemeClr val="tx1"/>
                </a:solidFill>
              </a:rPr>
              <a:t>利用規模・負荷条件</a:t>
            </a:r>
            <a:endParaRPr lang="en-US" altLang="ja-JP" sz="2400" dirty="0">
              <a:solidFill>
                <a:schemeClr val="tx1"/>
              </a:solidFill>
            </a:endParaRPr>
          </a:p>
          <a:p>
            <a:pPr marL="914400" lvl="1" indent="-457200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ja-JP" altLang="en-US" sz="2400" dirty="0">
                <a:solidFill>
                  <a:schemeClr val="tx1"/>
                </a:solidFill>
              </a:rPr>
              <a:t>データ量</a:t>
            </a:r>
            <a:endParaRPr lang="en-US" altLang="ja-JP" sz="2400" dirty="0">
              <a:solidFill>
                <a:schemeClr val="tx1"/>
              </a:solidFill>
            </a:endParaRPr>
          </a:p>
          <a:p>
            <a:pPr marL="914400" lvl="1" indent="-457200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ja-JP" altLang="en-US" sz="2400" dirty="0">
                <a:solidFill>
                  <a:schemeClr val="tx1"/>
                </a:solidFill>
              </a:rPr>
              <a:t>負荷条件一覧</a:t>
            </a:r>
            <a:r>
              <a:rPr lang="en-US" altLang="ja-JP" sz="2400" dirty="0">
                <a:solidFill>
                  <a:schemeClr val="tx1"/>
                </a:solidFill>
              </a:rPr>
              <a:t>(</a:t>
            </a:r>
            <a:r>
              <a:rPr lang="ja-JP" altLang="en-US" sz="2400" dirty="0">
                <a:solidFill>
                  <a:schemeClr val="tx1"/>
                </a:solidFill>
              </a:rPr>
              <a:t>利用人数</a:t>
            </a:r>
            <a:r>
              <a:rPr lang="en-US" altLang="ja-JP" sz="2400" dirty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ja-JP" altLang="en-US" sz="2400" dirty="0">
                <a:solidFill>
                  <a:schemeClr val="tx1"/>
                </a:solidFill>
              </a:rPr>
              <a:t>性能要件・判定基準</a:t>
            </a:r>
            <a:endParaRPr lang="en-US" altLang="ja-JP" sz="2400" dirty="0">
              <a:solidFill>
                <a:schemeClr val="tx1"/>
              </a:solidFill>
            </a:endParaRPr>
          </a:p>
          <a:p>
            <a:pPr marL="914400" lvl="1" indent="-457200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ja-JP" altLang="en-US" sz="2400" dirty="0">
                <a:solidFill>
                  <a:schemeClr val="tx1"/>
                </a:solidFill>
              </a:rPr>
              <a:t>非機能要件</a:t>
            </a:r>
            <a:endParaRPr lang="en-US" altLang="ja-JP" sz="2400" dirty="0">
              <a:solidFill>
                <a:schemeClr val="tx1"/>
              </a:solidFill>
            </a:endParaRPr>
          </a:p>
          <a:p>
            <a:pPr marL="914400" lvl="1" indent="-457200"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ja-JP" altLang="en-US" sz="2400" dirty="0">
                <a:solidFill>
                  <a:schemeClr val="tx1"/>
                </a:solidFill>
              </a:rPr>
              <a:t>合否判定基準</a:t>
            </a:r>
            <a:endParaRPr lang="en-US" altLang="ja-JP" sz="2400" dirty="0">
              <a:solidFill>
                <a:schemeClr val="tx1"/>
              </a:solidFill>
            </a:endParaRPr>
          </a:p>
          <a:p>
            <a:pPr marL="457200" indent="-45720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ja-JP" altLang="en-US" sz="2400" dirty="0">
                <a:solidFill>
                  <a:schemeClr val="tx1"/>
                </a:solidFill>
              </a:rPr>
              <a:t>負荷試験想定</a:t>
            </a:r>
            <a:endParaRPr lang="en-US" altLang="ja-JP" sz="2400" dirty="0">
              <a:solidFill>
                <a:schemeClr val="tx1"/>
              </a:solidFill>
            </a:endParaRPr>
          </a:p>
          <a:p>
            <a:pPr marL="457200" indent="-45720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US" altLang="ja-JP" sz="2400" b="1" dirty="0"/>
              <a:t>Microsoft</a:t>
            </a:r>
            <a:r>
              <a:rPr lang="ja-JP" altLang="en-US" sz="2400" b="1" dirty="0"/>
              <a:t>様への相談事項</a:t>
            </a:r>
            <a:endParaRPr lang="en-US" altLang="ja-JP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34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F020F9-125D-B578-954A-B3A38D54A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1"/>
                </a:solidFill>
              </a:rPr>
              <a:t>相談の背景と目的</a:t>
            </a:r>
            <a:endParaRPr kumimoji="1" lang="ja-JP" altLang="en-US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3F6423CE-2E13-A150-AED0-E03DAF68BDB6}"/>
              </a:ext>
            </a:extLst>
          </p:cNvPr>
          <p:cNvGrpSpPr/>
          <p:nvPr/>
        </p:nvGrpSpPr>
        <p:grpSpPr>
          <a:xfrm>
            <a:off x="425491" y="1603501"/>
            <a:ext cx="10839570" cy="1757928"/>
            <a:chOff x="425491" y="1299304"/>
            <a:chExt cx="10839570" cy="1757928"/>
          </a:xfrm>
        </p:grpSpPr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AADD5BC3-3998-BBFF-B60A-4EBF5C6452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5491" y="1584745"/>
              <a:ext cx="2052921" cy="118704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背景</a:t>
              </a: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1CFE4602-4E27-B9C9-8D56-D8B1FFE36413}"/>
                </a:ext>
              </a:extLst>
            </p:cNvPr>
            <p:cNvSpPr/>
            <p:nvPr/>
          </p:nvSpPr>
          <p:spPr>
            <a:xfrm>
              <a:off x="2826042" y="1299304"/>
              <a:ext cx="8439019" cy="17579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285750" lvl="0" indent="-180000">
                <a:lnSpc>
                  <a:spcPct val="110000"/>
                </a:lnSpc>
                <a:spcAft>
                  <a:spcPts val="600"/>
                </a:spcAft>
                <a:buFont typeface="Wingdings" panose="05000000000000000000" pitchFamily="2" charset="2"/>
                <a:buChar char="Ø"/>
                <a:defRPr/>
              </a:pPr>
              <a:r>
                <a:rPr lang="en-US" altLang="ja-JP" sz="2000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Power Platform</a:t>
              </a:r>
              <a:r>
                <a:rPr lang="ja-JP" altLang="en-US" sz="2000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による経営・業務指標の可視化案件「経営</a:t>
              </a:r>
              <a:r>
                <a:rPr lang="en-US" altLang="ja-JP" sz="2000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KPI+</a:t>
              </a:r>
              <a:r>
                <a:rPr lang="ja-JP" altLang="en-US" sz="2000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店舗プロセス</a:t>
              </a:r>
              <a:r>
                <a:rPr lang="en-US" altLang="ja-JP" sz="2000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KPI</a:t>
              </a:r>
              <a:r>
                <a:rPr lang="ja-JP" altLang="en-US" sz="2000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」を開発中</a:t>
              </a:r>
              <a:br>
                <a:rPr lang="en-US" altLang="ja-JP" sz="2000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lang="ja-JP" altLang="en-US" sz="2000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→</a:t>
              </a:r>
              <a:r>
                <a:rPr lang="en-US" altLang="ja-JP" sz="2000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8</a:t>
              </a:r>
              <a:r>
                <a:rPr lang="ja-JP" altLang="en-US" sz="2000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月に全店長へ展開予定</a:t>
              </a:r>
              <a:endParaRPr lang="en-US" altLang="ja-JP" sz="20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285750" marR="0" lvl="0" indent="-18000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1" lang="ja-JP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前例がないシステム構成・利用者数を想定しているため、負荷試験を実施したい</a:t>
              </a:r>
              <a:endPara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0970B5B6-432E-C7E9-6AE1-5BD4AC5A0C61}"/>
              </a:ext>
            </a:extLst>
          </p:cNvPr>
          <p:cNvGrpSpPr/>
          <p:nvPr/>
        </p:nvGrpSpPr>
        <p:grpSpPr>
          <a:xfrm>
            <a:off x="425491" y="4390406"/>
            <a:ext cx="10839570" cy="1757928"/>
            <a:chOff x="425491" y="4086209"/>
            <a:chExt cx="10839570" cy="1757928"/>
          </a:xfrm>
        </p:grpSpPr>
        <p:sp>
          <p:nvSpPr>
            <p:cNvPr id="3" name="楕円 2">
              <a:extLst>
                <a:ext uri="{FF2B5EF4-FFF2-40B4-BE49-F238E27FC236}">
                  <a16:creationId xmlns:a16="http://schemas.microsoft.com/office/drawing/2014/main" id="{2EB918A9-F495-08F1-BAB6-FFB6701A1C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5491" y="4371650"/>
              <a:ext cx="2052921" cy="118704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目的</a:t>
              </a: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A708A81-34D0-9BF2-EAF8-28B304C5C1AD}"/>
                </a:ext>
              </a:extLst>
            </p:cNvPr>
            <p:cNvSpPr/>
            <p:nvPr/>
          </p:nvSpPr>
          <p:spPr>
            <a:xfrm>
              <a:off x="2826042" y="4086209"/>
              <a:ext cx="8439019" cy="17579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285750" marR="0" lvl="0" indent="-18000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1" lang="ja-JP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想定している負荷試験方法について、アドバイス・抜け漏れ等のご指摘をいただきたい</a:t>
              </a:r>
              <a:endPara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758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106BE-87DD-5DA1-AC9C-F962E9BC0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FB79B4-55C8-C828-2B1E-337637E5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要件</a:t>
            </a:r>
            <a:r>
              <a:rPr kumimoji="1" lang="ja-JP" altLang="en-US" dirty="0"/>
              <a:t>概要</a:t>
            </a:r>
            <a:r>
              <a:rPr kumimoji="1" lang="en-US" altLang="ja-JP" dirty="0"/>
              <a:t>_</a:t>
            </a:r>
            <a:r>
              <a:rPr kumimoji="1" lang="ja-JP" altLang="en-US" dirty="0"/>
              <a:t>業務概要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DEB2EF9-DBF2-F0C4-A8F6-E4502363D265}"/>
              </a:ext>
            </a:extLst>
          </p:cNvPr>
          <p:cNvGrpSpPr/>
          <p:nvPr/>
        </p:nvGrpSpPr>
        <p:grpSpPr>
          <a:xfrm>
            <a:off x="1020799" y="837445"/>
            <a:ext cx="10150403" cy="1230238"/>
            <a:chOff x="1020799" y="1214818"/>
            <a:chExt cx="10150403" cy="1312482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CD8E7CE7-695C-B554-EFE6-C431ADCB5BEE}"/>
                </a:ext>
              </a:extLst>
            </p:cNvPr>
            <p:cNvGrpSpPr/>
            <p:nvPr/>
          </p:nvGrpSpPr>
          <p:grpSpPr>
            <a:xfrm>
              <a:off x="1020799" y="1214818"/>
              <a:ext cx="10150403" cy="643943"/>
              <a:chOff x="1968828" y="1214818"/>
              <a:chExt cx="6838288" cy="623609"/>
            </a:xfrm>
          </p:grpSpPr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2D7A4311-1887-D922-B9E8-517228F408EE}"/>
                  </a:ext>
                </a:extLst>
              </p:cNvPr>
              <p:cNvSpPr/>
              <p:nvPr/>
            </p:nvSpPr>
            <p:spPr>
              <a:xfrm>
                <a:off x="1968828" y="1214818"/>
                <a:ext cx="1022446" cy="623609"/>
              </a:xfrm>
              <a:prstGeom prst="rect">
                <a:avLst/>
              </a:prstGeom>
              <a:solidFill>
                <a:srgbClr val="1F497D"/>
              </a:solidFill>
              <a:ln>
                <a:solidFill>
                  <a:srgbClr val="1F497D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背景</a:t>
                </a:r>
              </a:p>
            </p:txBody>
          </p:sp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2F37AC6E-2F54-5175-5DFF-B0DB124A3CA4}"/>
                  </a:ext>
                </a:extLst>
              </p:cNvPr>
              <p:cNvSpPr/>
              <p:nvPr/>
            </p:nvSpPr>
            <p:spPr>
              <a:xfrm>
                <a:off x="2991274" y="1214818"/>
                <a:ext cx="5815842" cy="623609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・成長戦略部依頼案件</a:t>
                </a:r>
                <a:endParaRPr kumimoji="1" lang="en-US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・収益関係の</a:t>
                </a:r>
                <a: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7</a:t>
                </a:r>
                <a:r>
                  <a:rPr kumimoji="1" lang="ja-JP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つの経営</a:t>
                </a:r>
                <a: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KPI</a:t>
                </a:r>
                <a:r>
                  <a:rPr kumimoji="1" lang="ja-JP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とそれぞれに関連する店舗プロセス</a:t>
                </a:r>
                <a: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KPI</a:t>
                </a:r>
                <a:r>
                  <a:rPr kumimoji="1" lang="ja-JP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を可視化したいとの要望を受領</a:t>
                </a:r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D4445F76-FDC5-227F-C081-F245AD5A730A}"/>
                </a:ext>
              </a:extLst>
            </p:cNvPr>
            <p:cNvGrpSpPr/>
            <p:nvPr/>
          </p:nvGrpSpPr>
          <p:grpSpPr>
            <a:xfrm>
              <a:off x="1020799" y="1883358"/>
              <a:ext cx="10150403" cy="643942"/>
              <a:chOff x="1968828" y="1942647"/>
              <a:chExt cx="6838288" cy="623609"/>
            </a:xfrm>
          </p:grpSpPr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C8891F01-0314-DF0A-DDBB-A58DCAB231B5}"/>
                  </a:ext>
                </a:extLst>
              </p:cNvPr>
              <p:cNvSpPr/>
              <p:nvPr/>
            </p:nvSpPr>
            <p:spPr>
              <a:xfrm>
                <a:off x="1968828" y="1942647"/>
                <a:ext cx="1022446" cy="623609"/>
              </a:xfrm>
              <a:prstGeom prst="rect">
                <a:avLst/>
              </a:prstGeom>
              <a:solidFill>
                <a:srgbClr val="1F497D"/>
              </a:solidFill>
              <a:ln>
                <a:solidFill>
                  <a:srgbClr val="1F497D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目的</a:t>
                </a:r>
              </a:p>
            </p:txBody>
          </p:sp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E4E34C4A-9CF0-EE8F-CADD-6809AFC7B04B}"/>
                  </a:ext>
                </a:extLst>
              </p:cNvPr>
              <p:cNvSpPr/>
              <p:nvPr/>
            </p:nvSpPr>
            <p:spPr>
              <a:xfrm>
                <a:off x="2991274" y="1942647"/>
                <a:ext cx="5815842" cy="623609"/>
              </a:xfrm>
              <a:prstGeom prst="rect">
                <a:avLst/>
              </a:prstGeom>
              <a:solidFill>
                <a:schemeClr val="bg1">
                  <a:alpha val="4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rPr>
                  <a:t>生産性向上と人材育成を通じて、経営判断の高度化と店舗改善活動を促進し、収益向上を実現する</a:t>
                </a:r>
              </a:p>
            </p:txBody>
          </p:sp>
        </p:grpSp>
      </p:grp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34F46EF4-D947-2FAC-835A-BE9E08EDB6C6}"/>
              </a:ext>
            </a:extLst>
          </p:cNvPr>
          <p:cNvSpPr/>
          <p:nvPr/>
        </p:nvSpPr>
        <p:spPr>
          <a:xfrm>
            <a:off x="101599" y="3550600"/>
            <a:ext cx="11988000" cy="3095807"/>
          </a:xfrm>
          <a:prstGeom prst="roundRect">
            <a:avLst>
              <a:gd name="adj" fmla="val 5341"/>
            </a:avLst>
          </a:prstGeom>
          <a:solidFill>
            <a:srgbClr val="C6D9F1">
              <a:alpha val="80000"/>
            </a:srgbClr>
          </a:solidFill>
          <a:ln w="127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1EC7DB4-CF6B-A615-57C6-43AF54CBBB24}"/>
              </a:ext>
            </a:extLst>
          </p:cNvPr>
          <p:cNvSpPr/>
          <p:nvPr/>
        </p:nvSpPr>
        <p:spPr>
          <a:xfrm>
            <a:off x="101599" y="2569146"/>
            <a:ext cx="11988000" cy="810044"/>
          </a:xfrm>
          <a:prstGeom prst="roundRect">
            <a:avLst>
              <a:gd name="adj" fmla="val 5341"/>
            </a:avLst>
          </a:prstGeom>
          <a:solidFill>
            <a:srgbClr val="8EB4E3">
              <a:alpha val="80000"/>
            </a:srgb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12258BF-B7AD-30C3-6173-5F45582DD7F4}"/>
              </a:ext>
            </a:extLst>
          </p:cNvPr>
          <p:cNvSpPr/>
          <p:nvPr/>
        </p:nvSpPr>
        <p:spPr>
          <a:xfrm>
            <a:off x="3030668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代替新下率（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ALL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）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948EF28-E4F3-C778-3758-4581F780E0F2}"/>
              </a:ext>
            </a:extLst>
          </p:cNvPr>
          <p:cNvSpPr/>
          <p:nvPr/>
        </p:nvSpPr>
        <p:spPr>
          <a:xfrm>
            <a:off x="3998014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中古車小売台数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/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営㋜（効率）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EC1483AD-6161-8EC5-0AE5-F0A584DC56E3}"/>
              </a:ext>
            </a:extLst>
          </p:cNvPr>
          <p:cNvCxnSpPr>
            <a:cxnSpLocks/>
            <a:stCxn id="23" idx="2"/>
            <a:endCxn id="19" idx="0"/>
          </p:cNvCxnSpPr>
          <p:nvPr/>
        </p:nvCxnSpPr>
        <p:spPr>
          <a:xfrm rot="5400000">
            <a:off x="3253740" y="3204582"/>
            <a:ext cx="321466" cy="48367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06804DE8-ECC7-12CE-71BA-2503A1E623C7}"/>
              </a:ext>
            </a:extLst>
          </p:cNvPr>
          <p:cNvCxnSpPr>
            <a:cxnSpLocks/>
            <a:stCxn id="23" idx="2"/>
            <a:endCxn id="20" idx="0"/>
          </p:cNvCxnSpPr>
          <p:nvPr/>
        </p:nvCxnSpPr>
        <p:spPr>
          <a:xfrm rot="16200000" flipH="1">
            <a:off x="3737413" y="3204583"/>
            <a:ext cx="321466" cy="4836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215B710-A0B3-2E21-CD13-EA5A837DB3BF}"/>
              </a:ext>
            </a:extLst>
          </p:cNvPr>
          <p:cNvSpPr/>
          <p:nvPr/>
        </p:nvSpPr>
        <p:spPr>
          <a:xfrm>
            <a:off x="3030668" y="2650787"/>
            <a:ext cx="1251283" cy="63490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仕入率</a:t>
            </a:r>
            <a:endParaRPr kumimoji="1" lang="ja-JP" altLang="en-US" sz="1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CD477EA-C70B-1666-92B3-BF763C45CF21}"/>
              </a:ext>
            </a:extLst>
          </p:cNvPr>
          <p:cNvSpPr/>
          <p:nvPr/>
        </p:nvSpPr>
        <p:spPr>
          <a:xfrm>
            <a:off x="4573332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EN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正味率（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WT/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みなし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KT)</a:t>
            </a:r>
            <a:endParaRPr kumimoji="1" lang="ja-JP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F07913C-8AC2-A213-4C45-16A70E32E35B}"/>
              </a:ext>
            </a:extLst>
          </p:cNvPr>
          <p:cNvSpPr/>
          <p:nvPr/>
        </p:nvSpPr>
        <p:spPr>
          <a:xfrm>
            <a:off x="5540678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*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メンパ・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LCMPⅡ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保有台数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C0D6A26-DB7B-C304-0EA0-1FC4FB76C85A}"/>
              </a:ext>
            </a:extLst>
          </p:cNvPr>
          <p:cNvSpPr/>
          <p:nvPr/>
        </p:nvSpPr>
        <p:spPr>
          <a:xfrm>
            <a:off x="4895781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N-4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〇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×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△入力率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3C852F1-4A56-1F8A-FDA0-B3DFB6141D2A}"/>
              </a:ext>
            </a:extLst>
          </p:cNvPr>
          <p:cNvSpPr/>
          <p:nvPr/>
        </p:nvSpPr>
        <p:spPr>
          <a:xfrm>
            <a:off x="5218230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14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日先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SMB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充足率</a:t>
            </a:r>
            <a:endParaRPr kumimoji="1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53F83194-787C-38FA-10B9-2DEC036F3FDE}"/>
              </a:ext>
            </a:extLst>
          </p:cNvPr>
          <p:cNvCxnSpPr>
            <a:cxnSpLocks/>
            <a:stCxn id="32" idx="2"/>
            <a:endCxn id="24" idx="0"/>
          </p:cNvCxnSpPr>
          <p:nvPr/>
        </p:nvCxnSpPr>
        <p:spPr>
          <a:xfrm rot="5400000">
            <a:off x="4796404" y="3204582"/>
            <a:ext cx="321466" cy="48367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53F98B91-0B0C-9E70-F172-5A6421D67270}"/>
              </a:ext>
            </a:extLst>
          </p:cNvPr>
          <p:cNvCxnSpPr>
            <a:cxnSpLocks/>
            <a:stCxn id="32" idx="2"/>
            <a:endCxn id="26" idx="0"/>
          </p:cNvCxnSpPr>
          <p:nvPr/>
        </p:nvCxnSpPr>
        <p:spPr>
          <a:xfrm rot="5400000">
            <a:off x="4957629" y="3365807"/>
            <a:ext cx="321466" cy="16122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F032B9FA-4285-8A90-9444-B904920798FF}"/>
              </a:ext>
            </a:extLst>
          </p:cNvPr>
          <p:cNvCxnSpPr>
            <a:cxnSpLocks/>
            <a:stCxn id="32" idx="2"/>
            <a:endCxn id="27" idx="0"/>
          </p:cNvCxnSpPr>
          <p:nvPr/>
        </p:nvCxnSpPr>
        <p:spPr>
          <a:xfrm rot="16200000" flipH="1">
            <a:off x="5118853" y="3365807"/>
            <a:ext cx="321466" cy="16122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5E21F85D-0773-084B-94B7-7181641F786E}"/>
              </a:ext>
            </a:extLst>
          </p:cNvPr>
          <p:cNvCxnSpPr>
            <a:cxnSpLocks/>
            <a:stCxn id="32" idx="2"/>
            <a:endCxn id="25" idx="0"/>
          </p:cNvCxnSpPr>
          <p:nvPr/>
        </p:nvCxnSpPr>
        <p:spPr>
          <a:xfrm rot="16200000" flipH="1">
            <a:off x="5280077" y="3204583"/>
            <a:ext cx="321466" cy="4836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BE3EBE4-DB04-BE4D-5D86-9899C26D85F4}"/>
              </a:ext>
            </a:extLst>
          </p:cNvPr>
          <p:cNvSpPr/>
          <p:nvPr/>
        </p:nvSpPr>
        <p:spPr>
          <a:xfrm>
            <a:off x="4573332" y="2650787"/>
            <a:ext cx="1251283" cy="63490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EL+EN</a:t>
            </a: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当たり</a:t>
            </a:r>
            <a:endParaRPr kumimoji="1" lang="en-US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作業台数</a:t>
            </a:r>
            <a:endParaRPr kumimoji="1" lang="ja-JP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3CE02831-0E44-392B-8D96-77D1C3427B72}"/>
              </a:ext>
            </a:extLst>
          </p:cNvPr>
          <p:cNvSpPr/>
          <p:nvPr/>
        </p:nvSpPr>
        <p:spPr>
          <a:xfrm>
            <a:off x="6115996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新・中見積提案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/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営㋜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EB3F0D7-9870-5FBE-208F-3FE8A753A012}"/>
              </a:ext>
            </a:extLst>
          </p:cNvPr>
          <p:cNvSpPr/>
          <p:nvPr/>
        </p:nvSpPr>
        <p:spPr>
          <a:xfrm>
            <a:off x="7083343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査定件数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/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営㋜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35" name="コネクタ: カギ線 34">
            <a:extLst>
              <a:ext uri="{FF2B5EF4-FFF2-40B4-BE49-F238E27FC236}">
                <a16:creationId xmlns:a16="http://schemas.microsoft.com/office/drawing/2014/main" id="{18541456-BC68-4685-E7DE-A09E46E3DC62}"/>
              </a:ext>
            </a:extLst>
          </p:cNvPr>
          <p:cNvCxnSpPr>
            <a:cxnSpLocks/>
            <a:stCxn id="37" idx="2"/>
            <a:endCxn id="33" idx="0"/>
          </p:cNvCxnSpPr>
          <p:nvPr/>
        </p:nvCxnSpPr>
        <p:spPr>
          <a:xfrm rot="5400000">
            <a:off x="6339069" y="3204582"/>
            <a:ext cx="321465" cy="48367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0D947706-43D7-AD4D-B72F-CE9168199A93}"/>
              </a:ext>
            </a:extLst>
          </p:cNvPr>
          <p:cNvCxnSpPr>
            <a:cxnSpLocks/>
            <a:stCxn id="37" idx="2"/>
            <a:endCxn id="34" idx="0"/>
          </p:cNvCxnSpPr>
          <p:nvPr/>
        </p:nvCxnSpPr>
        <p:spPr>
          <a:xfrm rot="16200000" flipH="1">
            <a:off x="6822742" y="3204582"/>
            <a:ext cx="321465" cy="48367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991525F-A4C2-A44A-1A25-7E60250A17E1}"/>
              </a:ext>
            </a:extLst>
          </p:cNvPr>
          <p:cNvSpPr/>
          <p:nvPr/>
        </p:nvSpPr>
        <p:spPr>
          <a:xfrm>
            <a:off x="6115996" y="2650787"/>
            <a:ext cx="1251283" cy="63490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車両販売</a:t>
            </a:r>
            <a:endParaRPr kumimoji="1" lang="en-US" altLang="ja-JP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提案数</a:t>
            </a:r>
            <a:endParaRPr kumimoji="1" lang="ja-JP" altLang="en-US" sz="1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13F5F066-71D3-2CFB-6230-B51F39404A1A}"/>
              </a:ext>
            </a:extLst>
          </p:cNvPr>
          <p:cNvSpPr/>
          <p:nvPr/>
        </p:nvSpPr>
        <p:spPr>
          <a:xfrm>
            <a:off x="7658660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損益分岐台数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1FFB3763-E383-00A1-330B-CF73B96EE2E9}"/>
              </a:ext>
            </a:extLst>
          </p:cNvPr>
          <p:cNvSpPr/>
          <p:nvPr/>
        </p:nvSpPr>
        <p:spPr>
          <a:xfrm>
            <a:off x="8626006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総員当たり獲得利益（受注ベース）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86E47AD-A914-D81B-B065-AF2DE09A78AD}"/>
              </a:ext>
            </a:extLst>
          </p:cNvPr>
          <p:cNvSpPr/>
          <p:nvPr/>
        </p:nvSpPr>
        <p:spPr>
          <a:xfrm>
            <a:off x="8142333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ファイナンス比率（割賦</a:t>
            </a:r>
            <a:r>
              <a:rPr kumimoji="1" lang="en-US" altLang="ja-JP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/</a:t>
            </a:r>
            <a:r>
              <a: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リース受注）</a:t>
            </a:r>
            <a:endParaRPr kumimoji="1" lang="en-US" altLang="ja-JP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41" name="コネクタ: カギ線 40">
            <a:extLst>
              <a:ext uri="{FF2B5EF4-FFF2-40B4-BE49-F238E27FC236}">
                <a16:creationId xmlns:a16="http://schemas.microsoft.com/office/drawing/2014/main" id="{7AF1370E-6B1A-8A42-E72C-D62B63BB09D2}"/>
              </a:ext>
            </a:extLst>
          </p:cNvPr>
          <p:cNvCxnSpPr>
            <a:cxnSpLocks/>
            <a:stCxn id="44" idx="2"/>
            <a:endCxn id="38" idx="0"/>
          </p:cNvCxnSpPr>
          <p:nvPr/>
        </p:nvCxnSpPr>
        <p:spPr>
          <a:xfrm rot="5400000">
            <a:off x="7881732" y="3204582"/>
            <a:ext cx="321466" cy="48367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F1F81475-5F60-FBDA-E205-2B80C2B6810B}"/>
              </a:ext>
            </a:extLst>
          </p:cNvPr>
          <p:cNvCxnSpPr>
            <a:cxnSpLocks/>
            <a:stCxn id="44" idx="2"/>
            <a:endCxn id="39" idx="0"/>
          </p:cNvCxnSpPr>
          <p:nvPr/>
        </p:nvCxnSpPr>
        <p:spPr>
          <a:xfrm rot="16200000" flipH="1">
            <a:off x="8365405" y="3204583"/>
            <a:ext cx="321466" cy="4836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BEA77465-F93F-36EB-6E29-64328CB0567B}"/>
              </a:ext>
            </a:extLst>
          </p:cNvPr>
          <p:cNvCxnSpPr>
            <a:cxnSpLocks/>
            <a:stCxn id="44" idx="2"/>
            <a:endCxn id="40" idx="0"/>
          </p:cNvCxnSpPr>
          <p:nvPr/>
        </p:nvCxnSpPr>
        <p:spPr>
          <a:xfrm flipH="1">
            <a:off x="8284301" y="3285687"/>
            <a:ext cx="1" cy="3214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32CCCB58-0FEA-1234-F29C-FF99D364686E}"/>
              </a:ext>
            </a:extLst>
          </p:cNvPr>
          <p:cNvSpPr/>
          <p:nvPr/>
        </p:nvSpPr>
        <p:spPr>
          <a:xfrm>
            <a:off x="7658660" y="2650787"/>
            <a:ext cx="1251283" cy="63490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店舗損益</a:t>
            </a:r>
            <a:endParaRPr kumimoji="1" lang="ja-JP" altLang="en-US" sz="1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B2860531-F0A4-6E38-CECF-27B83CFFBBE4}"/>
              </a:ext>
            </a:extLst>
          </p:cNvPr>
          <p:cNvSpPr/>
          <p:nvPr/>
        </p:nvSpPr>
        <p:spPr>
          <a:xfrm>
            <a:off x="9202608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お客様軒数増減（期首差）</a:t>
            </a:r>
            <a:endParaRPr kumimoji="1" lang="en-US" altLang="ja-JP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986BFBF8-712E-46BF-361F-5860FAF5E263}"/>
              </a:ext>
            </a:extLst>
          </p:cNvPr>
          <p:cNvSpPr/>
          <p:nvPr/>
        </p:nvSpPr>
        <p:spPr>
          <a:xfrm>
            <a:off x="10169955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CS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アンケート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NPS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スコア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(QR)</a:t>
            </a:r>
            <a:endParaRPr kumimoji="1" lang="ja-JP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9736D992-F8D3-63C6-5944-7823ADB19AD0}"/>
              </a:ext>
            </a:extLst>
          </p:cNvPr>
          <p:cNvCxnSpPr>
            <a:cxnSpLocks/>
            <a:stCxn id="49" idx="2"/>
            <a:endCxn id="45" idx="0"/>
          </p:cNvCxnSpPr>
          <p:nvPr/>
        </p:nvCxnSpPr>
        <p:spPr>
          <a:xfrm rot="5400000">
            <a:off x="9425681" y="3204582"/>
            <a:ext cx="321465" cy="48367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コネクタ: カギ線 47">
            <a:extLst>
              <a:ext uri="{FF2B5EF4-FFF2-40B4-BE49-F238E27FC236}">
                <a16:creationId xmlns:a16="http://schemas.microsoft.com/office/drawing/2014/main" id="{7F4BF6C9-BBBC-5072-4E8F-2BC7C3280499}"/>
              </a:ext>
            </a:extLst>
          </p:cNvPr>
          <p:cNvCxnSpPr>
            <a:cxnSpLocks/>
            <a:stCxn id="49" idx="2"/>
            <a:endCxn id="46" idx="0"/>
          </p:cNvCxnSpPr>
          <p:nvPr/>
        </p:nvCxnSpPr>
        <p:spPr>
          <a:xfrm rot="16200000" flipH="1">
            <a:off x="9909354" y="3204582"/>
            <a:ext cx="321465" cy="48367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05439B0D-3594-39A7-2DA9-43D9C6E93CF3}"/>
              </a:ext>
            </a:extLst>
          </p:cNvPr>
          <p:cNvSpPr/>
          <p:nvPr/>
        </p:nvSpPr>
        <p:spPr>
          <a:xfrm>
            <a:off x="9202608" y="2650787"/>
            <a:ext cx="1251283" cy="63490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SA</a:t>
            </a:r>
            <a:r>
              <a:rPr kumimoji="1" lang="ja-JP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層比率</a:t>
            </a:r>
            <a:endParaRPr kumimoji="1" lang="en-US" altLang="ja-JP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7D6FC68A-15E1-6A7E-9591-E9FF78DF0866}"/>
              </a:ext>
            </a:extLst>
          </p:cNvPr>
          <p:cNvSpPr/>
          <p:nvPr/>
        </p:nvSpPr>
        <p:spPr>
          <a:xfrm>
            <a:off x="10745271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新車振当～納車リードタイム日数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C3DCE6E1-9B64-A548-78E5-9C142DC85533}"/>
              </a:ext>
            </a:extLst>
          </p:cNvPr>
          <p:cNvSpPr/>
          <p:nvPr/>
        </p:nvSpPr>
        <p:spPr>
          <a:xfrm>
            <a:off x="11712617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中古車受注～納車リードタイム日数</a:t>
            </a:r>
            <a:endParaRPr kumimoji="1" lang="ja-JP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9E25EC84-84C2-2BFF-46E7-A11738F7FF4D}"/>
              </a:ext>
            </a:extLst>
          </p:cNvPr>
          <p:cNvCxnSpPr>
            <a:cxnSpLocks/>
            <a:stCxn id="54" idx="2"/>
            <a:endCxn id="51" idx="0"/>
          </p:cNvCxnSpPr>
          <p:nvPr/>
        </p:nvCxnSpPr>
        <p:spPr>
          <a:xfrm rot="16200000" flipH="1">
            <a:off x="11452015" y="3204582"/>
            <a:ext cx="321466" cy="48367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AC0B3437-AC55-4D68-77F4-A1ED9F510DC8}"/>
              </a:ext>
            </a:extLst>
          </p:cNvPr>
          <p:cNvCxnSpPr>
            <a:cxnSpLocks/>
            <a:stCxn id="54" idx="2"/>
            <a:endCxn id="50" idx="0"/>
          </p:cNvCxnSpPr>
          <p:nvPr/>
        </p:nvCxnSpPr>
        <p:spPr>
          <a:xfrm rot="5400000">
            <a:off x="10968343" y="3204583"/>
            <a:ext cx="321466" cy="48367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419FB405-7A18-0F62-83C4-098A5864E245}"/>
              </a:ext>
            </a:extLst>
          </p:cNvPr>
          <p:cNvSpPr/>
          <p:nvPr/>
        </p:nvSpPr>
        <p:spPr>
          <a:xfrm>
            <a:off x="10745270" y="2650787"/>
            <a:ext cx="1251283" cy="63490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納期</a:t>
            </a:r>
            <a:r>
              <a:rPr kumimoji="1" lang="en-US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CS</a:t>
            </a: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リードタイム</a:t>
            </a:r>
            <a:endParaRPr kumimoji="1" lang="ja-JP" altLang="en-US" sz="1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5F173D19-ACA7-9193-5DD4-D0571A59436E}"/>
              </a:ext>
            </a:extLst>
          </p:cNvPr>
          <p:cNvSpPr/>
          <p:nvPr/>
        </p:nvSpPr>
        <p:spPr>
          <a:xfrm>
            <a:off x="1488005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*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メンパ・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LCMPⅡ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保有台数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71EF8C7-7ADD-BFF6-3C17-A2BA5726A236}"/>
              </a:ext>
            </a:extLst>
          </p:cNvPr>
          <p:cNvSpPr/>
          <p:nvPr/>
        </p:nvSpPr>
        <p:spPr>
          <a:xfrm>
            <a:off x="2455351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メンパ・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LCMPⅡ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入庫率</a:t>
            </a:r>
            <a:endParaRPr kumimoji="1" lang="ja-JP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57" name="コネクタ: カギ線 56">
            <a:extLst>
              <a:ext uri="{FF2B5EF4-FFF2-40B4-BE49-F238E27FC236}">
                <a16:creationId xmlns:a16="http://schemas.microsoft.com/office/drawing/2014/main" id="{15231ED9-43AF-97D9-D0DE-EF1116152136}"/>
              </a:ext>
            </a:extLst>
          </p:cNvPr>
          <p:cNvCxnSpPr>
            <a:cxnSpLocks/>
            <a:stCxn id="59" idx="2"/>
            <a:endCxn id="55" idx="0"/>
          </p:cNvCxnSpPr>
          <p:nvPr/>
        </p:nvCxnSpPr>
        <p:spPr>
          <a:xfrm rot="5400000">
            <a:off x="1711077" y="3204583"/>
            <a:ext cx="321466" cy="483673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C4E46AF9-EFBD-9A2C-EB98-FE04B28D44E7}"/>
              </a:ext>
            </a:extLst>
          </p:cNvPr>
          <p:cNvCxnSpPr>
            <a:cxnSpLocks/>
            <a:stCxn id="59" idx="2"/>
            <a:endCxn id="56" idx="0"/>
          </p:cNvCxnSpPr>
          <p:nvPr/>
        </p:nvCxnSpPr>
        <p:spPr>
          <a:xfrm rot="16200000" flipH="1">
            <a:off x="2194749" y="3204582"/>
            <a:ext cx="321466" cy="483673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9A000860-D9E6-BCE5-0F3F-1425026DE572}"/>
              </a:ext>
            </a:extLst>
          </p:cNvPr>
          <p:cNvSpPr/>
          <p:nvPr/>
        </p:nvSpPr>
        <p:spPr>
          <a:xfrm>
            <a:off x="1488004" y="2650787"/>
            <a:ext cx="1251283" cy="634900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防衛率</a:t>
            </a:r>
            <a:endParaRPr kumimoji="1" lang="en-US" altLang="ja-JP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14ACE6E0-E3F8-7A1D-5416-69EECEA02082}"/>
              </a:ext>
            </a:extLst>
          </p:cNvPr>
          <p:cNvSpPr/>
          <p:nvPr/>
        </p:nvSpPr>
        <p:spPr>
          <a:xfrm>
            <a:off x="124441" y="2650787"/>
            <a:ext cx="1191414" cy="63489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経営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KPI</a:t>
            </a: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(7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項目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)</a:t>
            </a:r>
            <a:endParaRPr kumimoji="1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47AC9421-45CC-DF83-BDCB-336798F661CC}"/>
              </a:ext>
            </a:extLst>
          </p:cNvPr>
          <p:cNvSpPr/>
          <p:nvPr/>
        </p:nvSpPr>
        <p:spPr>
          <a:xfrm>
            <a:off x="63086" y="4780976"/>
            <a:ext cx="1314125" cy="66003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店舗プロセス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KPI</a:t>
            </a: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(18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項目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)</a:t>
            </a:r>
            <a:endParaRPr kumimoji="1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67C19EF1-2DC5-0A22-845E-4EB8F8D8678F}"/>
              </a:ext>
            </a:extLst>
          </p:cNvPr>
          <p:cNvSpPr/>
          <p:nvPr/>
        </p:nvSpPr>
        <p:spPr>
          <a:xfrm>
            <a:off x="8972910" y="6646408"/>
            <a:ext cx="3044490" cy="20731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*メンパ・</a:t>
            </a:r>
            <a:r>
              <a:rPr kumimoji="1" lang="en-US" altLang="ja-JP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LCMPⅡ</a:t>
            </a: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保有台数：</a:t>
            </a:r>
            <a:r>
              <a:rPr kumimoji="1" lang="en-US" altLang="ja-JP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2</a:t>
            </a: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つの経営</a:t>
            </a:r>
            <a:r>
              <a:rPr kumimoji="1" lang="en-US" altLang="ja-JP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KPI</a:t>
            </a: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で使用</a:t>
            </a: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0951B2CC-C245-6B91-3482-D6D9D3B5FE83}"/>
              </a:ext>
            </a:extLst>
          </p:cNvPr>
          <p:cNvSpPr/>
          <p:nvPr/>
        </p:nvSpPr>
        <p:spPr>
          <a:xfrm>
            <a:off x="6599670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試乗件数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/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営㋜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F277F28A-FC0F-1DF0-9C1F-8C8BEA76B176}"/>
              </a:ext>
            </a:extLst>
          </p:cNvPr>
          <p:cNvSpPr/>
          <p:nvPr/>
        </p:nvSpPr>
        <p:spPr>
          <a:xfrm>
            <a:off x="9525057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保有台数増減（期首差）</a:t>
            </a:r>
            <a:endParaRPr kumimoji="1" lang="en-US" altLang="ja-JP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F9F9260D-6175-400E-0CA0-98A7ABFDCD7E}"/>
              </a:ext>
            </a:extLst>
          </p:cNvPr>
          <p:cNvCxnSpPr>
            <a:cxnSpLocks/>
            <a:stCxn id="37" idx="2"/>
            <a:endCxn id="63" idx="0"/>
          </p:cNvCxnSpPr>
          <p:nvPr/>
        </p:nvCxnSpPr>
        <p:spPr>
          <a:xfrm>
            <a:off x="6741638" y="3285687"/>
            <a:ext cx="0" cy="3214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651F2E65-4C14-94EF-D900-4F4EED0981ED}"/>
              </a:ext>
            </a:extLst>
          </p:cNvPr>
          <p:cNvSpPr/>
          <p:nvPr/>
        </p:nvSpPr>
        <p:spPr>
          <a:xfrm>
            <a:off x="9847506" y="3607152"/>
            <a:ext cx="283936" cy="3007678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CS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アンケート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NPS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スコア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(MT)</a:t>
            </a:r>
            <a:endParaRPr kumimoji="1" lang="ja-JP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67" name="コネクタ: カギ線 66">
            <a:extLst>
              <a:ext uri="{FF2B5EF4-FFF2-40B4-BE49-F238E27FC236}">
                <a16:creationId xmlns:a16="http://schemas.microsoft.com/office/drawing/2014/main" id="{17FEA52F-87F2-BEFB-69F0-CEA4B059B413}"/>
              </a:ext>
            </a:extLst>
          </p:cNvPr>
          <p:cNvCxnSpPr>
            <a:cxnSpLocks/>
            <a:stCxn id="49" idx="2"/>
            <a:endCxn id="66" idx="0"/>
          </p:cNvCxnSpPr>
          <p:nvPr/>
        </p:nvCxnSpPr>
        <p:spPr>
          <a:xfrm rot="16200000" flipH="1">
            <a:off x="9748130" y="3365807"/>
            <a:ext cx="321465" cy="16122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コネクタ: カギ線 67">
            <a:extLst>
              <a:ext uri="{FF2B5EF4-FFF2-40B4-BE49-F238E27FC236}">
                <a16:creationId xmlns:a16="http://schemas.microsoft.com/office/drawing/2014/main" id="{04FF2D8A-BFEB-D2AC-A036-6BE997560CB9}"/>
              </a:ext>
            </a:extLst>
          </p:cNvPr>
          <p:cNvCxnSpPr>
            <a:cxnSpLocks/>
            <a:stCxn id="49" idx="2"/>
            <a:endCxn id="64" idx="0"/>
          </p:cNvCxnSpPr>
          <p:nvPr/>
        </p:nvCxnSpPr>
        <p:spPr>
          <a:xfrm rot="5400000">
            <a:off x="9586906" y="3365807"/>
            <a:ext cx="321465" cy="16122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四角形: 角を丸くする 71">
            <a:extLst>
              <a:ext uri="{FF2B5EF4-FFF2-40B4-BE49-F238E27FC236}">
                <a16:creationId xmlns:a16="http://schemas.microsoft.com/office/drawing/2014/main" id="{2F4DD34B-EA43-14E8-0D08-DB91626C8A8A}"/>
              </a:ext>
            </a:extLst>
          </p:cNvPr>
          <p:cNvSpPr/>
          <p:nvPr/>
        </p:nvSpPr>
        <p:spPr>
          <a:xfrm>
            <a:off x="41964" y="2150620"/>
            <a:ext cx="12090401" cy="4495787"/>
          </a:xfrm>
          <a:prstGeom prst="roundRect">
            <a:avLst>
              <a:gd name="adj" fmla="val 5341"/>
            </a:avLst>
          </a:prstGeom>
          <a:noFill/>
          <a:ln w="28575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CBBD3A3A-9D3F-D1AA-2D73-5D51D46A45A8}"/>
              </a:ext>
            </a:extLst>
          </p:cNvPr>
          <p:cNvSpPr/>
          <p:nvPr/>
        </p:nvSpPr>
        <p:spPr>
          <a:xfrm>
            <a:off x="5253684" y="2149324"/>
            <a:ext cx="1684632" cy="41982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0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可視化項目</a:t>
            </a:r>
            <a:endParaRPr kumimoji="1" lang="en-US" altLang="ja-JP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59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93F4E-F631-AD41-128C-5682C19EF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8C9D02-CE9D-0BB5-3A4F-FFBE817A5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1"/>
                </a:solidFill>
              </a:rPr>
              <a:t>要件概要</a:t>
            </a:r>
            <a:r>
              <a:rPr lang="en-US" altLang="ja-JP" dirty="0">
                <a:solidFill>
                  <a:schemeClr val="tx1"/>
                </a:solidFill>
              </a:rPr>
              <a:t>_</a:t>
            </a:r>
            <a:r>
              <a:rPr lang="ja-JP" altLang="en-US" dirty="0">
                <a:solidFill>
                  <a:schemeClr val="tx1"/>
                </a:solidFill>
              </a:rPr>
              <a:t>対象範囲・利用者</a:t>
            </a:r>
            <a:r>
              <a:rPr lang="en-US" altLang="ja-JP" dirty="0">
                <a:solidFill>
                  <a:schemeClr val="tx1"/>
                </a:solidFill>
              </a:rPr>
              <a:t>(5W1H)</a:t>
            </a:r>
            <a:endParaRPr kumimoji="1" lang="ja-JP" altLang="en-US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68DE239B-2FD7-EEE2-1A11-5F069152C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895447"/>
              </p:ext>
            </p:extLst>
          </p:nvPr>
        </p:nvGraphicFramePr>
        <p:xfrm>
          <a:off x="94739" y="759460"/>
          <a:ext cx="12002521" cy="5932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609">
                  <a:extLst>
                    <a:ext uri="{9D8B030D-6E8A-4147-A177-3AD203B41FA5}">
                      <a16:colId xmlns:a16="http://schemas.microsoft.com/office/drawing/2014/main" val="1508162820"/>
                    </a:ext>
                  </a:extLst>
                </a:gridCol>
                <a:gridCol w="1517912">
                  <a:extLst>
                    <a:ext uri="{9D8B030D-6E8A-4147-A177-3AD203B41FA5}">
                      <a16:colId xmlns:a16="http://schemas.microsoft.com/office/drawing/2014/main" val="3983609785"/>
                    </a:ext>
                  </a:extLst>
                </a:gridCol>
                <a:gridCol w="4535840">
                  <a:extLst>
                    <a:ext uri="{9D8B030D-6E8A-4147-A177-3AD203B41FA5}">
                      <a16:colId xmlns:a16="http://schemas.microsoft.com/office/drawing/2014/main" val="2250273493"/>
                    </a:ext>
                  </a:extLst>
                </a:gridCol>
                <a:gridCol w="396160">
                  <a:extLst>
                    <a:ext uri="{9D8B030D-6E8A-4147-A177-3AD203B41FA5}">
                      <a16:colId xmlns:a16="http://schemas.microsoft.com/office/drawing/2014/main" val="1333181369"/>
                    </a:ext>
                  </a:extLst>
                </a:gridCol>
                <a:gridCol w="4932000">
                  <a:extLst>
                    <a:ext uri="{9D8B030D-6E8A-4147-A177-3AD203B41FA5}">
                      <a16:colId xmlns:a16="http://schemas.microsoft.com/office/drawing/2014/main" val="2920772855"/>
                    </a:ext>
                  </a:extLst>
                </a:gridCol>
              </a:tblGrid>
              <a:tr h="289096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項目</a:t>
                      </a:r>
                      <a:endParaRPr kumimoji="1" lang="en-US" altLang="ja-JP" sz="1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経営</a:t>
                      </a:r>
                      <a:r>
                        <a:rPr kumimoji="1" lang="en-US" altLang="ja-JP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KPI</a:t>
                      </a:r>
                      <a:endParaRPr kumimoji="1" lang="ja-JP" altLang="en-US" sz="1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プロセス</a:t>
                      </a:r>
                      <a:r>
                        <a:rPr kumimoji="1" lang="en-US" altLang="ja-JP" sz="18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KPI</a:t>
                      </a:r>
                      <a:endParaRPr kumimoji="1" lang="ja-JP" altLang="en-US" sz="18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260206"/>
                  </a:ext>
                </a:extLst>
              </a:tr>
              <a:tr h="896196"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5W1H</a:t>
                      </a:r>
                      <a:endParaRPr lang="ja-JP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Who（誰が）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経営陣、全社員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メインは店舗、本部は現状把握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※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店舗評価においては経営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KPI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を基準指標として活用</a:t>
                      </a:r>
                      <a:endParaRPr kumimoji="1"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→個人実績だけでなく、店舗全体の改善成果をチーム成果給に反映</a:t>
                      </a:r>
                      <a:endParaRPr kumimoji="1"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※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スタッフレベルまで可視化することで、各スタッフの主体的な改善活動を促進</a:t>
                      </a:r>
                      <a:endParaRPr kumimoji="1"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879559"/>
                  </a:ext>
                </a:extLst>
              </a:tr>
              <a:tr h="289096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12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What（何を）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収益に関わる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つの経営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KPI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と、それぞれに紐づく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18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の店舗プロセス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KPI</a:t>
                      </a:r>
                      <a:endParaRPr kumimoji="1" lang="ja-JP" altLang="en-US" sz="1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537290"/>
                  </a:ext>
                </a:extLst>
              </a:tr>
              <a:tr h="289096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12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When（いつ）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日次・週次・月次など、業務状況に応じて随時活用</a:t>
                      </a: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49647"/>
                  </a:ext>
                </a:extLst>
              </a:tr>
              <a:tr h="491462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12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4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Where（どこで）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経営陣：経営会議、経営活動全般</a:t>
                      </a:r>
                      <a:endParaRPr kumimoji="1" lang="en-US" altLang="ja-JP" sz="1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社員：日常業務、改善活動</a:t>
                      </a: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kumimoji="1" lang="ja-JP" altLang="en-US" sz="12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kumimoji="1" lang="ja-JP" altLang="en-US" sz="1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245365"/>
                  </a:ext>
                </a:extLst>
              </a:tr>
              <a:tr h="289096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12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Why（なぜ）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全社の収益向上および経営判断の高度化</a:t>
                      </a: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kumimoji="1" lang="ja-JP" altLang="en-US" sz="12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店舗ごとの収益向上および改善活動の促進</a:t>
                      </a:r>
                      <a:endParaRPr kumimoji="1" lang="en-US" altLang="ja-JP" sz="1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245113"/>
                  </a:ext>
                </a:extLst>
              </a:tr>
              <a:tr h="49146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12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・システムの</a:t>
                      </a:r>
                      <a:r>
                        <a:rPr lang="ja-JP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入口を</a:t>
                      </a:r>
                      <a:r>
                        <a:rPr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r>
                        <a:rPr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つに統一することで</a:t>
                      </a:r>
                      <a:r>
                        <a:rPr lang="ja-JP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、</a:t>
                      </a:r>
                      <a:r>
                        <a:rPr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各</a:t>
                      </a:r>
                      <a:r>
                        <a:rPr lang="ja-JP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指標</a:t>
                      </a:r>
                      <a:r>
                        <a:rPr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を個別に参照している</a:t>
                      </a:r>
                      <a:r>
                        <a:rPr lang="ja-JP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現場の</a:t>
                      </a:r>
                      <a:r>
                        <a:rPr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作業</a:t>
                      </a:r>
                      <a:r>
                        <a:rPr lang="ja-JP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負荷を軽減</a:t>
                      </a:r>
                      <a:endParaRPr lang="en-US" altLang="ja-JP" sz="1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Power BI</a:t>
                      </a:r>
                      <a:r>
                        <a:rPr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による自動集計・可視化により、本部の集計作業工数を削減</a:t>
                      </a:r>
                      <a:endParaRPr kumimoji="1" lang="ja-JP" altLang="en-US" sz="1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827365"/>
                  </a:ext>
                </a:extLst>
              </a:tr>
              <a:tr h="49146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How</a:t>
                      </a:r>
                      <a:r>
                        <a:rPr lang="ja-JP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（どのように）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Power Platform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を活用して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KPI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を可視化</a:t>
                      </a:r>
                      <a:endParaRPr kumimoji="1" lang="en-US" altLang="ja-JP" sz="1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・経営陣、全社員が共通指標を確認できる環境を整備</a:t>
                      </a:r>
                      <a:endParaRPr kumimoji="1" lang="en-US" altLang="ja-JP" sz="1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806247"/>
                  </a:ext>
                </a:extLst>
              </a:tr>
              <a:tr h="1300930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12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・会社の現状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強み・課題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を把握</a:t>
                      </a:r>
                      <a:endParaRPr kumimoji="1" lang="en-US" altLang="ja-JP" sz="1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/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→課題の特定や改善施策の立案に活用し、経営判断の高度化につなげる活用</a:t>
                      </a:r>
                      <a:endParaRPr kumimoji="1" lang="en-US" altLang="ja-JP" sz="1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・店舗ライン職、スタッフが自店舗の現状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強み・課題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を把握・理解し、要因分析を行いながら改善活動に活用</a:t>
                      </a:r>
                      <a:endParaRPr kumimoji="1" lang="en-US" altLang="ja-JP" sz="1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/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例①：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LT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超過確認→お客様起因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/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スタッフ起因を切り分け→ 業務プロセス上の改善余地を特定→ スタッフ支援や業務改善につなげる</a:t>
                      </a:r>
                      <a:endParaRPr kumimoji="1"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/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例②：同一ランク内における自店舗の立ち位置を把握→ 改善活動における重点指標として活用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※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店舗は規模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人数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でランク分けされている</a:t>
                      </a:r>
                      <a:endParaRPr kumimoji="1" lang="en-US" altLang="ja-JP" sz="1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</a:t>
                      </a:r>
                      <a:r>
                        <a:rPr kumimoji="1" lang="ja-JP" altLang="en-US" sz="12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店舗ライン職、スタッフが自店舗の現状</a:t>
                      </a:r>
                      <a:r>
                        <a:rPr kumimoji="1" lang="en-US" altLang="ja-JP" sz="12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2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弱み・強み</a:t>
                      </a:r>
                      <a:r>
                        <a:rPr kumimoji="1" lang="en-US" altLang="ja-JP" sz="12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r>
                        <a:rPr kumimoji="1" lang="ja-JP" altLang="en-US" sz="12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を把握・理解し、要因分析をしながら改善活動に活用</a:t>
                      </a:r>
                      <a:endParaRPr kumimoji="1" lang="en-US" altLang="ja-JP" sz="12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/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例①：</a:t>
                      </a:r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LT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超過→要因分析</a:t>
                      </a:r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お客様</a:t>
                      </a:r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or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スタッフ起因洗い出し</a:t>
                      </a:r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→スタッフ</a:t>
                      </a:r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n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の業務に改善余地あり→スタッフ指導指導</a:t>
                      </a:r>
                      <a:endParaRPr kumimoji="1" lang="en-US" altLang="ja-JP" sz="12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/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例②：自店舗の同ランク内での立ち位置把握→改善活動における指標に活用</a:t>
                      </a:r>
                      <a:endParaRPr kumimoji="1" lang="en-US" altLang="ja-JP" sz="12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l"/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※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店舗は規模</a:t>
                      </a:r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人数</a:t>
                      </a:r>
                      <a:r>
                        <a:rPr kumimoji="1" lang="en-US" altLang="ja-JP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r>
                        <a:rPr kumimoji="1" lang="ja-JP" altLang="en-US" sz="12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でランク分けされている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221193"/>
                  </a:ext>
                </a:extLst>
              </a:tr>
              <a:tr h="896196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備考</a:t>
                      </a:r>
                      <a:endParaRPr lang="ja-JP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12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・残り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つの経営</a:t>
                      </a:r>
                      <a:r>
                        <a:rPr kumimoji="1" lang="en-US" altLang="ja-JP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KPI</a:t>
                      </a:r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の実装は予定していない</a:t>
                      </a:r>
                    </a:p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→本開発では、収益向上に関連する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つの</a:t>
                      </a:r>
                      <a:r>
                        <a:rPr kumimoji="1" lang="en-US" altLang="ja-JP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KPI</a:t>
                      </a:r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を可視化対象とするため</a:t>
                      </a:r>
                      <a:endParaRPr kumimoji="1" lang="en-US" altLang="ja-JP" sz="1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1400" b="1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・より良い改善のための活用を想定、個人・店舗を責める目的では使用しない</a:t>
                      </a:r>
                      <a:endParaRPr kumimoji="1" lang="en-US" altLang="ja-JP" sz="1400" b="1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1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→順位付けは実装は今後検討</a:t>
                      </a: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340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377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C8FAFF-AC6C-652F-572C-EDCE9FAE9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システム構成</a:t>
            </a:r>
            <a:r>
              <a:rPr kumimoji="1" lang="en-US" altLang="ja-JP" dirty="0"/>
              <a:t>_</a:t>
            </a:r>
            <a:r>
              <a:rPr kumimoji="1" lang="ja-JP" altLang="en-US" dirty="0"/>
              <a:t>システム構成図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5435027-CA9F-B43E-5E16-128D994DA503}"/>
              </a:ext>
            </a:extLst>
          </p:cNvPr>
          <p:cNvSpPr/>
          <p:nvPr/>
        </p:nvSpPr>
        <p:spPr>
          <a:xfrm>
            <a:off x="10407185" y="1042263"/>
            <a:ext cx="588156" cy="52096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凡例</a:t>
            </a: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4BBD913-6F43-7F9D-272E-D3C2A96590D5}"/>
              </a:ext>
            </a:extLst>
          </p:cNvPr>
          <p:cNvGrpSpPr/>
          <p:nvPr/>
        </p:nvGrpSpPr>
        <p:grpSpPr>
          <a:xfrm>
            <a:off x="11570177" y="816982"/>
            <a:ext cx="400403" cy="497931"/>
            <a:chOff x="11509648" y="725516"/>
            <a:chExt cx="508000" cy="631739"/>
          </a:xfrm>
        </p:grpSpPr>
        <p:pic>
          <p:nvPicPr>
            <p:cNvPr id="7" name="グラフィックス 6">
              <a:extLst>
                <a:ext uri="{FF2B5EF4-FFF2-40B4-BE49-F238E27FC236}">
                  <a16:creationId xmlns:a16="http://schemas.microsoft.com/office/drawing/2014/main" id="{CF8C774D-676C-2E7A-A6D1-638F280712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09648" y="725516"/>
              <a:ext cx="508000" cy="511798"/>
            </a:xfrm>
            <a:prstGeom prst="rect">
              <a:avLst/>
            </a:prstGeom>
          </p:spPr>
        </p:pic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68119713-FDD4-ABA3-A242-981109E5408B}"/>
                </a:ext>
              </a:extLst>
            </p:cNvPr>
            <p:cNvSpPr/>
            <p:nvPr/>
          </p:nvSpPr>
          <p:spPr>
            <a:xfrm>
              <a:off x="11518023" y="1214770"/>
              <a:ext cx="491251" cy="14248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36000" tIns="36000" rIns="36000" bIns="36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Power BI</a:t>
              </a:r>
              <a:endParaRPr kumimoji="0" lang="ja-JP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</p:grpSp>
      <p:pic>
        <p:nvPicPr>
          <p:cNvPr id="9" name="Picture 2" descr="Microsoft Power Apps - ESC BV">
            <a:extLst>
              <a:ext uri="{FF2B5EF4-FFF2-40B4-BE49-F238E27FC236}">
                <a16:creationId xmlns:a16="http://schemas.microsoft.com/office/drawing/2014/main" id="{459DB103-BD61-DCC4-5014-D8FDC12221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17" t="11766" r="33208" b="35882"/>
          <a:stretch>
            <a:fillRect/>
          </a:stretch>
        </p:blipFill>
        <p:spPr bwMode="auto">
          <a:xfrm>
            <a:off x="11576778" y="1379214"/>
            <a:ext cx="345277" cy="30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D9E9F7A-13A6-5C0E-B837-21529CD07B24}"/>
              </a:ext>
            </a:extLst>
          </p:cNvPr>
          <p:cNvSpPr txBox="1"/>
          <p:nvPr/>
        </p:nvSpPr>
        <p:spPr>
          <a:xfrm>
            <a:off x="11324841" y="1632577"/>
            <a:ext cx="824620" cy="215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Power Apps</a:t>
            </a:r>
            <a:endParaRPr kumimoji="1" lang="ja-JP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pic>
        <p:nvPicPr>
          <p:cNvPr id="11" name="Picture 2" descr="Microsoft Power Apps - ESC BV">
            <a:extLst>
              <a:ext uri="{FF2B5EF4-FFF2-40B4-BE49-F238E27FC236}">
                <a16:creationId xmlns:a16="http://schemas.microsoft.com/office/drawing/2014/main" id="{00F0FDCE-FF28-11B9-2903-C69A178AA0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17" t="11766" r="33208" b="35882"/>
          <a:stretch>
            <a:fillRect/>
          </a:stretch>
        </p:blipFill>
        <p:spPr bwMode="auto">
          <a:xfrm>
            <a:off x="9160702" y="3556385"/>
            <a:ext cx="1231190" cy="109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30C7D04-A450-479A-1AE4-33CA3F924084}"/>
              </a:ext>
            </a:extLst>
          </p:cNvPr>
          <p:cNvSpPr/>
          <p:nvPr/>
        </p:nvSpPr>
        <p:spPr>
          <a:xfrm>
            <a:off x="4144585" y="5377825"/>
            <a:ext cx="3228434" cy="962099"/>
          </a:xfrm>
          <a:prstGeom prst="roundRect">
            <a:avLst>
              <a:gd name="adj" fmla="val 5341"/>
            </a:avLst>
          </a:prstGeom>
          <a:solidFill>
            <a:schemeClr val="tx2">
              <a:lumMod val="40000"/>
              <a:lumOff val="60000"/>
              <a:alpha val="20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endParaRPr kumimoji="1" lang="ja-JP" altLang="en-US" sz="24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A967E84D-23D6-6A2D-D5E0-8891EA39AC3F}"/>
              </a:ext>
            </a:extLst>
          </p:cNvPr>
          <p:cNvSpPr/>
          <p:nvPr/>
        </p:nvSpPr>
        <p:spPr>
          <a:xfrm>
            <a:off x="634046" y="1982841"/>
            <a:ext cx="3228434" cy="1782437"/>
          </a:xfrm>
          <a:prstGeom prst="roundRect">
            <a:avLst>
              <a:gd name="adj" fmla="val 5341"/>
            </a:avLst>
          </a:prstGeom>
          <a:solidFill>
            <a:schemeClr val="tx2">
              <a:lumMod val="40000"/>
              <a:lumOff val="60000"/>
              <a:alpha val="20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endParaRPr kumimoji="1" lang="ja-JP" altLang="en-US" sz="24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AF4BE1B8-6C81-B7B9-8206-949C7DD4E3C7}"/>
              </a:ext>
            </a:extLst>
          </p:cNvPr>
          <p:cNvSpPr/>
          <p:nvPr/>
        </p:nvSpPr>
        <p:spPr>
          <a:xfrm>
            <a:off x="630659" y="3833010"/>
            <a:ext cx="3228434" cy="1782000"/>
          </a:xfrm>
          <a:prstGeom prst="roundRect">
            <a:avLst>
              <a:gd name="adj" fmla="val 5341"/>
            </a:avLst>
          </a:prstGeom>
          <a:solidFill>
            <a:schemeClr val="tx2">
              <a:lumMod val="40000"/>
              <a:lumOff val="60000"/>
              <a:alpha val="20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endParaRPr kumimoji="1" lang="ja-JP" altLang="en-US" sz="24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787486CE-1C6E-6065-FD44-7A7726285E84}"/>
              </a:ext>
            </a:extLst>
          </p:cNvPr>
          <p:cNvSpPr/>
          <p:nvPr/>
        </p:nvSpPr>
        <p:spPr>
          <a:xfrm>
            <a:off x="630659" y="5682741"/>
            <a:ext cx="3228434" cy="962099"/>
          </a:xfrm>
          <a:prstGeom prst="roundRect">
            <a:avLst>
              <a:gd name="adj" fmla="val 5341"/>
            </a:avLst>
          </a:prstGeom>
          <a:solidFill>
            <a:schemeClr val="tx2">
              <a:lumMod val="40000"/>
              <a:lumOff val="60000"/>
              <a:alpha val="20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endParaRPr kumimoji="1" lang="ja-JP" altLang="en-US" sz="24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75984C8E-4381-9FBF-2532-F6CE45128F65}"/>
              </a:ext>
            </a:extLst>
          </p:cNvPr>
          <p:cNvSpPr/>
          <p:nvPr/>
        </p:nvSpPr>
        <p:spPr>
          <a:xfrm>
            <a:off x="4144585" y="4355236"/>
            <a:ext cx="3228434" cy="962099"/>
          </a:xfrm>
          <a:prstGeom prst="roundRect">
            <a:avLst>
              <a:gd name="adj" fmla="val 5341"/>
            </a:avLst>
          </a:prstGeom>
          <a:solidFill>
            <a:schemeClr val="tx2">
              <a:lumMod val="40000"/>
              <a:lumOff val="60000"/>
              <a:alpha val="20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endParaRPr kumimoji="1" lang="ja-JP" altLang="en-US" sz="24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C14BDF9B-4ACE-B137-6094-4D1E6DBA813B}"/>
              </a:ext>
            </a:extLst>
          </p:cNvPr>
          <p:cNvSpPr/>
          <p:nvPr/>
        </p:nvSpPr>
        <p:spPr>
          <a:xfrm>
            <a:off x="4144585" y="2512307"/>
            <a:ext cx="3228434" cy="1782437"/>
          </a:xfrm>
          <a:prstGeom prst="roundRect">
            <a:avLst>
              <a:gd name="adj" fmla="val 5341"/>
            </a:avLst>
          </a:prstGeom>
          <a:solidFill>
            <a:schemeClr val="tx2">
              <a:lumMod val="40000"/>
              <a:lumOff val="60000"/>
              <a:alpha val="20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endParaRPr kumimoji="1" lang="ja-JP" altLang="en-US" sz="24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9715F84E-94CB-1121-CEAB-837E001FB3F3}"/>
              </a:ext>
            </a:extLst>
          </p:cNvPr>
          <p:cNvSpPr/>
          <p:nvPr/>
        </p:nvSpPr>
        <p:spPr>
          <a:xfrm>
            <a:off x="5804919" y="1611479"/>
            <a:ext cx="1510360" cy="1732369"/>
          </a:xfrm>
          <a:prstGeom prst="roundRect">
            <a:avLst>
              <a:gd name="adj" fmla="val 5341"/>
            </a:avLst>
          </a:prstGeom>
          <a:solidFill>
            <a:schemeClr val="tx2">
              <a:lumMod val="40000"/>
              <a:lumOff val="60000"/>
              <a:alpha val="20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endParaRPr kumimoji="1" lang="ja-JP" altLang="en-US" sz="24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4DD3D85-117D-F87A-FD8D-C9EEF85BBA36}"/>
              </a:ext>
            </a:extLst>
          </p:cNvPr>
          <p:cNvGrpSpPr/>
          <p:nvPr/>
        </p:nvGrpSpPr>
        <p:grpSpPr>
          <a:xfrm>
            <a:off x="5832766" y="1793173"/>
            <a:ext cx="1510359" cy="658643"/>
            <a:chOff x="7101484" y="1771405"/>
            <a:chExt cx="1692000" cy="737854"/>
          </a:xfrm>
        </p:grpSpPr>
        <p:pic>
          <p:nvPicPr>
            <p:cNvPr id="73" name="グラフィックス 72">
              <a:extLst>
                <a:ext uri="{FF2B5EF4-FFF2-40B4-BE49-F238E27FC236}">
                  <a16:creationId xmlns:a16="http://schemas.microsoft.com/office/drawing/2014/main" id="{50D62F09-5E00-6212-C604-DAA2949B39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68879" y="1771405"/>
              <a:ext cx="551719" cy="555842"/>
            </a:xfrm>
            <a:prstGeom prst="rect">
              <a:avLst/>
            </a:prstGeom>
          </p:spPr>
        </p:pic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5AB07099-6E6A-B808-E102-4256DDA305E2}"/>
                </a:ext>
              </a:extLst>
            </p:cNvPr>
            <p:cNvSpPr/>
            <p:nvPr/>
          </p:nvSpPr>
          <p:spPr>
            <a:xfrm>
              <a:off x="7101484" y="2327247"/>
              <a:ext cx="1692000" cy="18201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メンパ・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LCMPⅡ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入庫率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DB0E69DC-C5FD-1E28-7F02-EF208DBA9258}"/>
              </a:ext>
            </a:extLst>
          </p:cNvPr>
          <p:cNvGrpSpPr/>
          <p:nvPr/>
        </p:nvGrpSpPr>
        <p:grpSpPr>
          <a:xfrm>
            <a:off x="5914191" y="4437994"/>
            <a:ext cx="1294617" cy="658643"/>
            <a:chOff x="7219582" y="4734301"/>
            <a:chExt cx="1450312" cy="737854"/>
          </a:xfrm>
        </p:grpSpPr>
        <p:pic>
          <p:nvPicPr>
            <p:cNvPr id="71" name="グラフィックス 70">
              <a:extLst>
                <a:ext uri="{FF2B5EF4-FFF2-40B4-BE49-F238E27FC236}">
                  <a16:creationId xmlns:a16="http://schemas.microsoft.com/office/drawing/2014/main" id="{002A84D7-278D-F1F2-B769-92930B6771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68879" y="4734301"/>
              <a:ext cx="551719" cy="555842"/>
            </a:xfrm>
            <a:prstGeom prst="rect">
              <a:avLst/>
            </a:prstGeom>
          </p:spPr>
        </p:pic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E0C04385-D7F9-247C-1EBF-99E90437B93E}"/>
                </a:ext>
              </a:extLst>
            </p:cNvPr>
            <p:cNvSpPr/>
            <p:nvPr/>
          </p:nvSpPr>
          <p:spPr>
            <a:xfrm>
              <a:off x="7219582" y="5290143"/>
              <a:ext cx="1450312" cy="18201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代替新下率（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ALL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）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12FDAB9E-8FCC-C523-42EB-30C70C4977AF}"/>
              </a:ext>
            </a:extLst>
          </p:cNvPr>
          <p:cNvGrpSpPr/>
          <p:nvPr/>
        </p:nvGrpSpPr>
        <p:grpSpPr>
          <a:xfrm>
            <a:off x="4349989" y="4437994"/>
            <a:ext cx="1207086" cy="852873"/>
            <a:chOff x="5457838" y="4734301"/>
            <a:chExt cx="1352254" cy="955442"/>
          </a:xfrm>
        </p:grpSpPr>
        <p:pic>
          <p:nvPicPr>
            <p:cNvPr id="69" name="グラフィックス 68">
              <a:extLst>
                <a:ext uri="{FF2B5EF4-FFF2-40B4-BE49-F238E27FC236}">
                  <a16:creationId xmlns:a16="http://schemas.microsoft.com/office/drawing/2014/main" id="{C3991ECA-30F3-3FBC-4E67-C92601006B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58106" y="4734301"/>
              <a:ext cx="551719" cy="555842"/>
            </a:xfrm>
            <a:prstGeom prst="rect">
              <a:avLst/>
            </a:prstGeom>
          </p:spPr>
        </p:pic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C2F607C2-1FB7-AF7C-F4D1-1B52D4CBBB31}"/>
                </a:ext>
              </a:extLst>
            </p:cNvPr>
            <p:cNvSpPr/>
            <p:nvPr/>
          </p:nvSpPr>
          <p:spPr>
            <a:xfrm>
              <a:off x="5457838" y="5290143"/>
              <a:ext cx="1352254" cy="39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中古車小売台数</a:t>
              </a:r>
              <a:endParaRPr kumimoji="1" lang="en-US" altLang="ja-JP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>
                <a:lnSpc>
                  <a:spcPct val="130000"/>
                </a:lnSpc>
              </a:pP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営②（効率）</a:t>
              </a: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20B099A5-7F6B-49A7-DA4A-C435CB1E74EC}"/>
              </a:ext>
            </a:extLst>
          </p:cNvPr>
          <p:cNvGrpSpPr/>
          <p:nvPr/>
        </p:nvGrpSpPr>
        <p:grpSpPr>
          <a:xfrm>
            <a:off x="5832766" y="2674780"/>
            <a:ext cx="1510358" cy="658643"/>
            <a:chOff x="7101484" y="2759037"/>
            <a:chExt cx="1692000" cy="737854"/>
          </a:xfrm>
        </p:grpSpPr>
        <p:pic>
          <p:nvPicPr>
            <p:cNvPr id="67" name="グラフィックス 66">
              <a:extLst>
                <a:ext uri="{FF2B5EF4-FFF2-40B4-BE49-F238E27FC236}">
                  <a16:creationId xmlns:a16="http://schemas.microsoft.com/office/drawing/2014/main" id="{5F2C39BF-964C-8CEE-4123-603FD26C36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68880" y="2759037"/>
              <a:ext cx="551719" cy="555842"/>
            </a:xfrm>
            <a:prstGeom prst="rect">
              <a:avLst/>
            </a:prstGeom>
          </p:spPr>
        </p:pic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EFFE9E6D-6170-64DD-627F-3D3B78B4C9C4}"/>
                </a:ext>
              </a:extLst>
            </p:cNvPr>
            <p:cNvSpPr/>
            <p:nvPr/>
          </p:nvSpPr>
          <p:spPr>
            <a:xfrm>
              <a:off x="7101484" y="3314879"/>
              <a:ext cx="1692000" cy="18201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メンパ・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LCMPⅡ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保有台数</a:t>
              </a:r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4EC30949-AAA4-783C-8E5C-294DCB3D4CC0}"/>
              </a:ext>
            </a:extLst>
          </p:cNvPr>
          <p:cNvGrpSpPr/>
          <p:nvPr/>
        </p:nvGrpSpPr>
        <p:grpSpPr>
          <a:xfrm>
            <a:off x="5734948" y="3556385"/>
            <a:ext cx="1653103" cy="658643"/>
            <a:chOff x="7018784" y="3746669"/>
            <a:chExt cx="1851911" cy="737854"/>
          </a:xfrm>
        </p:grpSpPr>
        <p:pic>
          <p:nvPicPr>
            <p:cNvPr id="65" name="グラフィックス 64">
              <a:extLst>
                <a:ext uri="{FF2B5EF4-FFF2-40B4-BE49-F238E27FC236}">
                  <a16:creationId xmlns:a16="http://schemas.microsoft.com/office/drawing/2014/main" id="{3ADE7C51-1034-7F75-ECC5-09064A3D89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68880" y="3746669"/>
              <a:ext cx="551719" cy="555842"/>
            </a:xfrm>
            <a:prstGeom prst="rect">
              <a:avLst/>
            </a:prstGeom>
          </p:spPr>
        </p:pic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90A15DF5-3C2B-3C8B-9F02-5E5FCC56B282}"/>
                </a:ext>
              </a:extLst>
            </p:cNvPr>
            <p:cNvSpPr/>
            <p:nvPr/>
          </p:nvSpPr>
          <p:spPr>
            <a:xfrm>
              <a:off x="7018784" y="4302511"/>
              <a:ext cx="1851911" cy="18201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EN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正味率（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WT/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みなし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KT)</a:t>
              </a: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0D244DB1-F5A7-811D-A533-35494E85B30C}"/>
              </a:ext>
            </a:extLst>
          </p:cNvPr>
          <p:cNvGrpSpPr/>
          <p:nvPr/>
        </p:nvGrpSpPr>
        <p:grpSpPr>
          <a:xfrm>
            <a:off x="4402511" y="2674781"/>
            <a:ext cx="1102040" cy="658643"/>
            <a:chOff x="5602690" y="2759037"/>
            <a:chExt cx="1234575" cy="737854"/>
          </a:xfrm>
        </p:grpSpPr>
        <p:pic>
          <p:nvPicPr>
            <p:cNvPr id="63" name="グラフィックス 62">
              <a:extLst>
                <a:ext uri="{FF2B5EF4-FFF2-40B4-BE49-F238E27FC236}">
                  <a16:creationId xmlns:a16="http://schemas.microsoft.com/office/drawing/2014/main" id="{9DA44D13-5907-EEAF-B1AD-B63B673FB0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44120" y="2759037"/>
              <a:ext cx="551719" cy="555842"/>
            </a:xfrm>
            <a:prstGeom prst="rect">
              <a:avLst/>
            </a:prstGeom>
          </p:spPr>
        </p:pic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EBF8087F-3798-ED23-0B62-BF03B130D009}"/>
                </a:ext>
              </a:extLst>
            </p:cNvPr>
            <p:cNvSpPr/>
            <p:nvPr/>
          </p:nvSpPr>
          <p:spPr>
            <a:xfrm>
              <a:off x="5602690" y="3314879"/>
              <a:ext cx="1234575" cy="18201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N-4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〇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×△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入力率</a:t>
              </a: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A282ECDA-A39C-555C-AF00-160527B73755}"/>
              </a:ext>
            </a:extLst>
          </p:cNvPr>
          <p:cNvGrpSpPr/>
          <p:nvPr/>
        </p:nvGrpSpPr>
        <p:grpSpPr>
          <a:xfrm>
            <a:off x="4346052" y="3556386"/>
            <a:ext cx="1207085" cy="658643"/>
            <a:chOff x="5539441" y="3746669"/>
            <a:chExt cx="1352254" cy="737854"/>
          </a:xfrm>
        </p:grpSpPr>
        <p:pic>
          <p:nvPicPr>
            <p:cNvPr id="61" name="グラフィックス 60">
              <a:extLst>
                <a:ext uri="{FF2B5EF4-FFF2-40B4-BE49-F238E27FC236}">
                  <a16:creationId xmlns:a16="http://schemas.microsoft.com/office/drawing/2014/main" id="{3DD6F401-D820-4565-4271-4D2357A1F2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44119" y="3746669"/>
              <a:ext cx="551719" cy="555842"/>
            </a:xfrm>
            <a:prstGeom prst="rect">
              <a:avLst/>
            </a:prstGeom>
          </p:spPr>
        </p:pic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31EB98F1-3D0F-4386-C941-1341294DDB66}"/>
                </a:ext>
              </a:extLst>
            </p:cNvPr>
            <p:cNvSpPr/>
            <p:nvPr/>
          </p:nvSpPr>
          <p:spPr>
            <a:xfrm>
              <a:off x="5539441" y="4302511"/>
              <a:ext cx="1352254" cy="18201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14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日先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SMB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充足率</a:t>
              </a: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B4AF5A03-5A57-D1B1-05A7-6F42F645BF9E}"/>
              </a:ext>
            </a:extLst>
          </p:cNvPr>
          <p:cNvGrpSpPr/>
          <p:nvPr/>
        </p:nvGrpSpPr>
        <p:grpSpPr>
          <a:xfrm>
            <a:off x="5887912" y="5406467"/>
            <a:ext cx="1337361" cy="857055"/>
            <a:chOff x="7205418" y="5721933"/>
            <a:chExt cx="1498197" cy="960127"/>
          </a:xfrm>
        </p:grpSpPr>
        <p:pic>
          <p:nvPicPr>
            <p:cNvPr id="59" name="グラフィックス 58">
              <a:extLst>
                <a:ext uri="{FF2B5EF4-FFF2-40B4-BE49-F238E27FC236}">
                  <a16:creationId xmlns:a16="http://schemas.microsoft.com/office/drawing/2014/main" id="{F75C4CC7-18BB-DBBC-D1B6-A59A2896C0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42075" y="5721933"/>
              <a:ext cx="551719" cy="555842"/>
            </a:xfrm>
            <a:prstGeom prst="rect">
              <a:avLst/>
            </a:prstGeom>
          </p:spPr>
        </p:pic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D873E159-3047-3135-2356-70213AF1D833}"/>
                </a:ext>
              </a:extLst>
            </p:cNvPr>
            <p:cNvSpPr/>
            <p:nvPr/>
          </p:nvSpPr>
          <p:spPr>
            <a:xfrm>
              <a:off x="7205418" y="6280314"/>
              <a:ext cx="1498197" cy="401746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新・中見積提案</a:t>
              </a:r>
              <a:r>
                <a:rPr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</a:t>
              </a:r>
              <a:r>
                <a:rPr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営㋜ </a:t>
              </a:r>
              <a:endParaRPr kumimoji="1" lang="en-US" altLang="ja-JP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>
                <a:lnSpc>
                  <a:spcPct val="130000"/>
                </a:lnSpc>
              </a:pP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試乗件数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営㋜</a:t>
              </a:r>
            </a:p>
          </p:txBody>
        </p: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68174132-1945-EA70-875E-CDBD086CF3E8}"/>
              </a:ext>
            </a:extLst>
          </p:cNvPr>
          <p:cNvGrpSpPr/>
          <p:nvPr/>
        </p:nvGrpSpPr>
        <p:grpSpPr>
          <a:xfrm>
            <a:off x="4444662" y="5406467"/>
            <a:ext cx="954081" cy="658643"/>
            <a:chOff x="5580647" y="5721933"/>
            <a:chExt cx="1068822" cy="737854"/>
          </a:xfrm>
        </p:grpSpPr>
        <p:pic>
          <p:nvPicPr>
            <p:cNvPr id="57" name="グラフィックス 56">
              <a:extLst>
                <a:ext uri="{FF2B5EF4-FFF2-40B4-BE49-F238E27FC236}">
                  <a16:creationId xmlns:a16="http://schemas.microsoft.com/office/drawing/2014/main" id="{73A403A3-FA6A-DFEB-DBEE-062E236D26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39199" y="5721933"/>
              <a:ext cx="551719" cy="555842"/>
            </a:xfrm>
            <a:prstGeom prst="rect">
              <a:avLst/>
            </a:prstGeom>
          </p:spPr>
        </p:pic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1B9CF854-BDCD-FC3A-8A46-8720E0890E1F}"/>
                </a:ext>
              </a:extLst>
            </p:cNvPr>
            <p:cNvSpPr/>
            <p:nvPr/>
          </p:nvSpPr>
          <p:spPr>
            <a:xfrm>
              <a:off x="5580647" y="6277775"/>
              <a:ext cx="1068822" cy="18201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査定件数</a:t>
              </a:r>
              <a:r>
                <a:rPr kumimoji="1" lang="en-US" altLang="ja-JP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</a:t>
              </a: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営㋜</a:t>
              </a:r>
            </a:p>
          </p:txBody>
        </p:sp>
      </p:grp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A3CB86CF-2128-79B9-1B4C-E7EBE7DC2FF5}"/>
              </a:ext>
            </a:extLst>
          </p:cNvPr>
          <p:cNvSpPr/>
          <p:nvPr/>
        </p:nvSpPr>
        <p:spPr>
          <a:xfrm>
            <a:off x="2666787" y="3523091"/>
            <a:ext cx="934916" cy="16247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損益分岐台数</a:t>
            </a:r>
            <a:endParaRPr lang="en-US" altLang="ja-JP" sz="105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486F91C6-606F-3FB4-B057-FD3E3A346261}"/>
              </a:ext>
            </a:extLst>
          </p:cNvPr>
          <p:cNvSpPr/>
          <p:nvPr/>
        </p:nvSpPr>
        <p:spPr>
          <a:xfrm>
            <a:off x="686255" y="2889569"/>
            <a:ext cx="1278479" cy="35614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ファイナンス比率</a:t>
            </a:r>
            <a:endParaRPr kumimoji="1" lang="en-US" altLang="ja-JP" sz="105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>
              <a:lnSpc>
                <a:spcPct val="130000"/>
              </a:lnSpc>
            </a:pPr>
            <a:r>
              <a: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（割賦</a:t>
            </a:r>
            <a:r>
              <a:rPr kumimoji="1" lang="en-US" altLang="ja-JP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リース受注）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58349679-3835-854E-EAFD-6AFFA51C0E8A}"/>
              </a:ext>
            </a:extLst>
          </p:cNvPr>
          <p:cNvSpPr/>
          <p:nvPr/>
        </p:nvSpPr>
        <p:spPr>
          <a:xfrm>
            <a:off x="2495003" y="2641488"/>
            <a:ext cx="1278478" cy="356146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総員当たり獲得利益</a:t>
            </a:r>
            <a:endParaRPr kumimoji="1" lang="en-US" altLang="ja-JP" sz="105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>
              <a:lnSpc>
                <a:spcPct val="130000"/>
              </a:lnSpc>
            </a:pPr>
            <a:r>
              <a: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（受注ベース）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051A8800-FF5A-162A-C6E2-C0E906C2A9A0}"/>
              </a:ext>
            </a:extLst>
          </p:cNvPr>
          <p:cNvSpPr/>
          <p:nvPr/>
        </p:nvSpPr>
        <p:spPr>
          <a:xfrm>
            <a:off x="2265211" y="4793744"/>
            <a:ext cx="1730623" cy="35670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お客様軒数</a:t>
            </a:r>
            <a:r>
              <a:rPr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増減（期首差）</a:t>
            </a:r>
            <a:endParaRPr kumimoji="1" lang="en-US" altLang="ja-JP" sz="105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>
              <a:lnSpc>
                <a:spcPct val="130000"/>
              </a:lnSpc>
            </a:pPr>
            <a:r>
              <a: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保有台数増減（期首差）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15DCA83E-CB55-4634-CC64-ECB1F597CCC4}"/>
              </a:ext>
            </a:extLst>
          </p:cNvPr>
          <p:cNvSpPr/>
          <p:nvPr/>
        </p:nvSpPr>
        <p:spPr>
          <a:xfrm>
            <a:off x="644241" y="4333267"/>
            <a:ext cx="1357393" cy="35670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ja-JP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CS</a:t>
            </a:r>
            <a:r>
              <a: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アンケート</a:t>
            </a:r>
            <a:r>
              <a:rPr kumimoji="1" lang="en-US" altLang="ja-JP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NPS</a:t>
            </a:r>
            <a:r>
              <a: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スコア</a:t>
            </a:r>
            <a:r>
              <a:rPr kumimoji="1" lang="en-US" altLang="ja-JP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(QR)</a:t>
            </a:r>
            <a:endParaRPr kumimoji="1" lang="ja-JP" altLang="en-US" sz="105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5AB0F0AA-EDEB-475B-87BD-D8B895FA2558}"/>
              </a:ext>
            </a:extLst>
          </p:cNvPr>
          <p:cNvGrpSpPr/>
          <p:nvPr/>
        </p:nvGrpSpPr>
        <p:grpSpPr>
          <a:xfrm>
            <a:off x="2457798" y="5711384"/>
            <a:ext cx="1352896" cy="852873"/>
            <a:chOff x="4649202" y="5460036"/>
            <a:chExt cx="1515600" cy="955442"/>
          </a:xfrm>
        </p:grpSpPr>
        <p:pic>
          <p:nvPicPr>
            <p:cNvPr id="45" name="グラフィックス 44">
              <a:extLst>
                <a:ext uri="{FF2B5EF4-FFF2-40B4-BE49-F238E27FC236}">
                  <a16:creationId xmlns:a16="http://schemas.microsoft.com/office/drawing/2014/main" id="{4C98E431-18B6-BF3E-7766-80AFCC38BE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31143" y="5460036"/>
              <a:ext cx="551719" cy="555842"/>
            </a:xfrm>
            <a:prstGeom prst="rect">
              <a:avLst/>
            </a:prstGeom>
          </p:spPr>
        </p:pic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502DBC0A-7070-01FE-F120-C243096DB8C9}"/>
                </a:ext>
              </a:extLst>
            </p:cNvPr>
            <p:cNvSpPr/>
            <p:nvPr/>
          </p:nvSpPr>
          <p:spPr>
            <a:xfrm>
              <a:off x="4649202" y="6015878"/>
              <a:ext cx="1515600" cy="39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新車振当～</a:t>
              </a:r>
              <a:endParaRPr kumimoji="1" lang="en-US" altLang="ja-JP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>
                <a:lnSpc>
                  <a:spcPct val="130000"/>
                </a:lnSpc>
              </a:pP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納車リードタイム日数</a:t>
              </a:r>
            </a:p>
          </p:txBody>
        </p: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8A0074EE-069E-39A5-4D7F-75684E0B79B4}"/>
              </a:ext>
            </a:extLst>
          </p:cNvPr>
          <p:cNvGrpSpPr/>
          <p:nvPr/>
        </p:nvGrpSpPr>
        <p:grpSpPr>
          <a:xfrm>
            <a:off x="653754" y="5711384"/>
            <a:ext cx="1354239" cy="852873"/>
            <a:chOff x="1976403" y="5504406"/>
            <a:chExt cx="1517104" cy="955442"/>
          </a:xfrm>
        </p:grpSpPr>
        <p:pic>
          <p:nvPicPr>
            <p:cNvPr id="43" name="グラフィックス 42">
              <a:extLst>
                <a:ext uri="{FF2B5EF4-FFF2-40B4-BE49-F238E27FC236}">
                  <a16:creationId xmlns:a16="http://schemas.microsoft.com/office/drawing/2014/main" id="{E4BC1466-7E17-552A-E6B5-DE4A60CF4E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59096" y="5504406"/>
              <a:ext cx="551719" cy="555842"/>
            </a:xfrm>
            <a:prstGeom prst="rect">
              <a:avLst/>
            </a:prstGeom>
          </p:spPr>
        </p:pic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7437B44E-A8A3-F60E-6CFF-9D96851B40FD}"/>
                </a:ext>
              </a:extLst>
            </p:cNvPr>
            <p:cNvSpPr/>
            <p:nvPr/>
          </p:nvSpPr>
          <p:spPr>
            <a:xfrm>
              <a:off x="1976403" y="6060248"/>
              <a:ext cx="1517104" cy="39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中古車受注～</a:t>
              </a:r>
              <a:endParaRPr kumimoji="1" lang="en-US" altLang="ja-JP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>
                <a:lnSpc>
                  <a:spcPct val="130000"/>
                </a:lnSpc>
              </a:pPr>
              <a:r>
                <a:rPr kumimoji="1" lang="ja-JP" altLang="en-US" sz="1050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納車リードタイム日数</a:t>
              </a:r>
            </a:p>
          </p:txBody>
        </p:sp>
      </p:grp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6D16858B-C9A0-5670-47D1-C8544CD596F3}"/>
              </a:ext>
            </a:extLst>
          </p:cNvPr>
          <p:cNvSpPr/>
          <p:nvPr/>
        </p:nvSpPr>
        <p:spPr>
          <a:xfrm>
            <a:off x="6247491" y="1609212"/>
            <a:ext cx="625214" cy="16473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kumimoji="1" lang="ja-JP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防衛率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DEBBAEE0-AD22-9ADF-E94F-E957E6FB7A76}"/>
              </a:ext>
            </a:extLst>
          </p:cNvPr>
          <p:cNvSpPr/>
          <p:nvPr/>
        </p:nvSpPr>
        <p:spPr>
          <a:xfrm>
            <a:off x="5022315" y="3506320"/>
            <a:ext cx="1274196" cy="162473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lang="en-US" altLang="ja-JP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EL+EN</a:t>
            </a:r>
            <a:r>
              <a:rPr lang="ja-JP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当たり</a:t>
            </a:r>
            <a:endParaRPr lang="en-US" altLang="ja-JP" sz="1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>
              <a:lnSpc>
                <a:spcPct val="1300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作業台数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1B6B6E5-A6C4-1864-E77E-883CC0F66E86}"/>
              </a:ext>
            </a:extLst>
          </p:cNvPr>
          <p:cNvSpPr/>
          <p:nvPr/>
        </p:nvSpPr>
        <p:spPr>
          <a:xfrm>
            <a:off x="5307848" y="4753917"/>
            <a:ext cx="703131" cy="16473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仕入率</a:t>
            </a:r>
            <a:endParaRPr kumimoji="1" lang="ja-JP" altLang="en-US" sz="1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A4E94052-44C3-2DEE-E555-29B05E17A928}"/>
              </a:ext>
            </a:extLst>
          </p:cNvPr>
          <p:cNvSpPr/>
          <p:nvPr/>
        </p:nvSpPr>
        <p:spPr>
          <a:xfrm>
            <a:off x="5261321" y="5653729"/>
            <a:ext cx="796185" cy="41029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lang="zh-TW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車両販売</a:t>
            </a:r>
            <a:endParaRPr lang="en-US" altLang="zh-TW" sz="1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>
              <a:lnSpc>
                <a:spcPct val="130000"/>
              </a:lnSpc>
            </a:pPr>
            <a:r>
              <a:rPr lang="zh-TW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提案数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4C503F6E-A8F9-203D-41AE-508A294BA66D}"/>
              </a:ext>
            </a:extLst>
          </p:cNvPr>
          <p:cNvSpPr/>
          <p:nvPr/>
        </p:nvSpPr>
        <p:spPr>
          <a:xfrm>
            <a:off x="1613082" y="2856031"/>
            <a:ext cx="1274196" cy="162473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店舗損益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2DC8A7DA-BCC9-0D49-79D5-0A611455E696}"/>
              </a:ext>
            </a:extLst>
          </p:cNvPr>
          <p:cNvSpPr/>
          <p:nvPr/>
        </p:nvSpPr>
        <p:spPr>
          <a:xfrm>
            <a:off x="1728268" y="4630555"/>
            <a:ext cx="804195" cy="16473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lang="en-US" altLang="ja-JP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SA</a:t>
            </a:r>
            <a:r>
              <a:rPr lang="ja-JP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層比率</a:t>
            </a:r>
            <a:endParaRPr kumimoji="1" lang="ja-JP" altLang="en-US" sz="1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2013755F-5700-2700-E953-8904B9046D72}"/>
              </a:ext>
            </a:extLst>
          </p:cNvPr>
          <p:cNvSpPr/>
          <p:nvPr/>
        </p:nvSpPr>
        <p:spPr>
          <a:xfrm>
            <a:off x="1725235" y="5965088"/>
            <a:ext cx="1095567" cy="41924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納期</a:t>
            </a:r>
            <a:r>
              <a:rPr lang="en-US" altLang="ja-JP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CS</a:t>
            </a:r>
          </a:p>
          <a:p>
            <a:pPr algn="ctr">
              <a:lnSpc>
                <a:spcPct val="130000"/>
              </a:lnSpc>
            </a:pPr>
            <a:r>
              <a:rPr lang="ja-JP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リードタイム</a:t>
            </a:r>
            <a:endParaRPr lang="zh-TW" altLang="en-US" sz="12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5" name="右大かっこ 74">
            <a:extLst>
              <a:ext uri="{FF2B5EF4-FFF2-40B4-BE49-F238E27FC236}">
                <a16:creationId xmlns:a16="http://schemas.microsoft.com/office/drawing/2014/main" id="{8B5EFB92-F872-99BF-0677-26BB94483535}"/>
              </a:ext>
            </a:extLst>
          </p:cNvPr>
          <p:cNvSpPr/>
          <p:nvPr/>
        </p:nvSpPr>
        <p:spPr>
          <a:xfrm>
            <a:off x="7471869" y="1541335"/>
            <a:ext cx="352628" cy="5157847"/>
          </a:xfrm>
          <a:prstGeom prst="rightBracke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2D212E3C-37CA-C256-B181-BFA867200FFF}"/>
              </a:ext>
            </a:extLst>
          </p:cNvPr>
          <p:cNvCxnSpPr>
            <a:cxnSpLocks/>
            <a:stCxn id="75" idx="2"/>
            <a:endCxn id="11" idx="1"/>
          </p:cNvCxnSpPr>
          <p:nvPr/>
        </p:nvCxnSpPr>
        <p:spPr>
          <a:xfrm flipV="1">
            <a:off x="7824497" y="4101953"/>
            <a:ext cx="1336205" cy="183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C6C17E89-665F-F5F1-41A6-310894548AD7}"/>
              </a:ext>
            </a:extLst>
          </p:cNvPr>
          <p:cNvSpPr/>
          <p:nvPr/>
        </p:nvSpPr>
        <p:spPr>
          <a:xfrm>
            <a:off x="8602148" y="4520139"/>
            <a:ext cx="2348298" cy="414023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kumimoji="1" lang="ja-JP" altLang="en-US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ダッシュボード</a:t>
            </a: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F71BF505-A53C-EBCD-098B-DA776B5B495D}"/>
              </a:ext>
            </a:extLst>
          </p:cNvPr>
          <p:cNvSpPr/>
          <p:nvPr/>
        </p:nvSpPr>
        <p:spPr>
          <a:xfrm>
            <a:off x="630659" y="1586663"/>
            <a:ext cx="4252491" cy="34134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lnSpc>
                <a:spcPct val="130000"/>
              </a:lnSpc>
            </a:pPr>
            <a:r>
              <a:rPr kumimoji="1" lang="en-US" alt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PowerBI/Excel/CSV</a:t>
            </a:r>
            <a:r>
              <a:rPr kumimoji="1" lang="ja-JP" altLang="en-US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：詳細分析・可視化</a:t>
            </a: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E127486A-08F8-6887-8070-D222A2AD7D50}"/>
              </a:ext>
            </a:extLst>
          </p:cNvPr>
          <p:cNvSpPr/>
          <p:nvPr/>
        </p:nvSpPr>
        <p:spPr>
          <a:xfrm>
            <a:off x="8333548" y="3129912"/>
            <a:ext cx="2885498" cy="42787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PowerApps</a:t>
            </a:r>
            <a:r>
              <a:rPr kumimoji="1"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：各</a:t>
            </a:r>
            <a:r>
              <a:rPr kumimoji="1" lang="en-US" altLang="ja-JP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KPI</a:t>
            </a:r>
            <a:r>
              <a:rPr kumimoji="1" lang="ja-JP" altLang="en-US" sz="16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集約</a:t>
            </a:r>
            <a:endParaRPr kumimoji="1" lang="en-US" altLang="ja-JP" sz="16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1" name="四角形: 角を丸くする 80">
            <a:extLst>
              <a:ext uri="{FF2B5EF4-FFF2-40B4-BE49-F238E27FC236}">
                <a16:creationId xmlns:a16="http://schemas.microsoft.com/office/drawing/2014/main" id="{417B149C-C039-B49D-ACA4-CCEE8EEDA9E8}"/>
              </a:ext>
            </a:extLst>
          </p:cNvPr>
          <p:cNvSpPr/>
          <p:nvPr/>
        </p:nvSpPr>
        <p:spPr>
          <a:xfrm>
            <a:off x="421621" y="1541336"/>
            <a:ext cx="7175469" cy="5157847"/>
          </a:xfrm>
          <a:prstGeom prst="roundRect">
            <a:avLst>
              <a:gd name="adj" fmla="val 5341"/>
            </a:avLst>
          </a:prstGeom>
          <a:noFill/>
          <a:ln w="2857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endParaRPr kumimoji="1" lang="ja-JP" altLang="en-US" sz="24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90" name="図 89">
            <a:extLst>
              <a:ext uri="{FF2B5EF4-FFF2-40B4-BE49-F238E27FC236}">
                <a16:creationId xmlns:a16="http://schemas.microsoft.com/office/drawing/2014/main" id="{7444EE62-5D36-3F1B-3D5F-6B7157D1B6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45"/>
          <a:stretch>
            <a:fillRect/>
          </a:stretch>
        </p:blipFill>
        <p:spPr>
          <a:xfrm>
            <a:off x="2882123" y="3031482"/>
            <a:ext cx="496800" cy="491609"/>
          </a:xfrm>
          <a:prstGeom prst="rect">
            <a:avLst/>
          </a:prstGeom>
        </p:spPr>
      </p:pic>
      <p:pic>
        <p:nvPicPr>
          <p:cNvPr id="93" name="図 92">
            <a:extLst>
              <a:ext uri="{FF2B5EF4-FFF2-40B4-BE49-F238E27FC236}">
                <a16:creationId xmlns:a16="http://schemas.microsoft.com/office/drawing/2014/main" id="{A65889A5-73D9-F5C6-FB27-A8EB75965A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45"/>
          <a:stretch>
            <a:fillRect/>
          </a:stretch>
        </p:blipFill>
        <p:spPr>
          <a:xfrm>
            <a:off x="1079000" y="2397960"/>
            <a:ext cx="496800" cy="491609"/>
          </a:xfrm>
          <a:prstGeom prst="rect">
            <a:avLst/>
          </a:prstGeom>
        </p:spPr>
      </p:pic>
      <p:pic>
        <p:nvPicPr>
          <p:cNvPr id="104" name="グラフィックス 103">
            <a:extLst>
              <a:ext uri="{FF2B5EF4-FFF2-40B4-BE49-F238E27FC236}">
                <a16:creationId xmlns:a16="http://schemas.microsoft.com/office/drawing/2014/main" id="{72E30FA3-5CB1-3B90-12F5-C6ACBACA10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517" y="4763908"/>
            <a:ext cx="492490" cy="496171"/>
          </a:xfrm>
          <a:prstGeom prst="rect">
            <a:avLst/>
          </a:prstGeom>
        </p:spPr>
      </p:pic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F9E77F40-3783-710D-F4FE-1E7FE3699594}"/>
              </a:ext>
            </a:extLst>
          </p:cNvPr>
          <p:cNvSpPr/>
          <p:nvPr/>
        </p:nvSpPr>
        <p:spPr>
          <a:xfrm>
            <a:off x="644241" y="5228329"/>
            <a:ext cx="1357393" cy="35670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ja-JP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CS</a:t>
            </a:r>
            <a:r>
              <a: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アンケート</a:t>
            </a:r>
            <a:r>
              <a:rPr kumimoji="1" lang="en-US" altLang="ja-JP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NPS</a:t>
            </a:r>
            <a:r>
              <a:rPr kumimoji="1" lang="ja-JP" altLang="en-US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スコア</a:t>
            </a:r>
            <a:r>
              <a:rPr kumimoji="1" lang="en-US" altLang="ja-JP" sz="105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(MT)</a:t>
            </a:r>
            <a:endParaRPr kumimoji="1" lang="ja-JP" altLang="en-US" sz="105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9" name="図 108">
            <a:extLst>
              <a:ext uri="{FF2B5EF4-FFF2-40B4-BE49-F238E27FC236}">
                <a16:creationId xmlns:a16="http://schemas.microsoft.com/office/drawing/2014/main" id="{8966D875-CD11-1CE8-2A45-02C82159C5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45"/>
          <a:stretch>
            <a:fillRect/>
          </a:stretch>
        </p:blipFill>
        <p:spPr>
          <a:xfrm>
            <a:off x="2887998" y="2149878"/>
            <a:ext cx="496800" cy="491609"/>
          </a:xfrm>
          <a:prstGeom prst="rect">
            <a:avLst/>
          </a:prstGeom>
        </p:spPr>
      </p:pic>
      <p:pic>
        <p:nvPicPr>
          <p:cNvPr id="111" name="図 110">
            <a:extLst>
              <a:ext uri="{FF2B5EF4-FFF2-40B4-BE49-F238E27FC236}">
                <a16:creationId xmlns:a16="http://schemas.microsoft.com/office/drawing/2014/main" id="{BC5CA46C-FE21-9B3A-DE71-75E2E44005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621" t="13173" r="18889" b="13092"/>
          <a:stretch>
            <a:fillRect/>
          </a:stretch>
        </p:blipFill>
        <p:spPr>
          <a:xfrm>
            <a:off x="11058325" y="1388115"/>
            <a:ext cx="278232" cy="328299"/>
          </a:xfrm>
          <a:prstGeom prst="rect">
            <a:avLst/>
          </a:prstGeom>
        </p:spPr>
      </p:pic>
      <p:pic>
        <p:nvPicPr>
          <p:cNvPr id="114" name="図 113">
            <a:extLst>
              <a:ext uri="{FF2B5EF4-FFF2-40B4-BE49-F238E27FC236}">
                <a16:creationId xmlns:a16="http://schemas.microsoft.com/office/drawing/2014/main" id="{1D61EDE4-6270-9DA8-C053-2C41A90AD1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5786" y="904125"/>
            <a:ext cx="343311" cy="343311"/>
          </a:xfrm>
          <a:prstGeom prst="rect">
            <a:avLst/>
          </a:prstGeom>
        </p:spPr>
      </p:pic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75FA916A-AF5D-4939-A953-3517CEACA71E}"/>
              </a:ext>
            </a:extLst>
          </p:cNvPr>
          <p:cNvSpPr txBox="1"/>
          <p:nvPr/>
        </p:nvSpPr>
        <p:spPr>
          <a:xfrm>
            <a:off x="10944073" y="1183115"/>
            <a:ext cx="506736" cy="215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7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Excel</a:t>
            </a:r>
            <a:endParaRPr kumimoji="1" lang="ja-JP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C36F1ADA-7B87-7922-B6F7-D2EDFAA70695}"/>
              </a:ext>
            </a:extLst>
          </p:cNvPr>
          <p:cNvSpPr txBox="1"/>
          <p:nvPr/>
        </p:nvSpPr>
        <p:spPr>
          <a:xfrm>
            <a:off x="10944073" y="1662280"/>
            <a:ext cx="506736" cy="215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CSV</a:t>
            </a:r>
            <a:endParaRPr kumimoji="1" lang="ja-JP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pic>
        <p:nvPicPr>
          <p:cNvPr id="121" name="図 120">
            <a:extLst>
              <a:ext uri="{FF2B5EF4-FFF2-40B4-BE49-F238E27FC236}">
                <a16:creationId xmlns:a16="http://schemas.microsoft.com/office/drawing/2014/main" id="{705C7CC1-623D-A48D-A378-79622223045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621" t="13173" r="18889" b="13092"/>
          <a:stretch>
            <a:fillRect/>
          </a:stretch>
        </p:blipFill>
        <p:spPr>
          <a:xfrm>
            <a:off x="1112224" y="3849482"/>
            <a:ext cx="421036" cy="496800"/>
          </a:xfrm>
          <a:prstGeom prst="rect">
            <a:avLst/>
          </a:prstGeom>
        </p:spPr>
      </p:pic>
      <p:pic>
        <p:nvPicPr>
          <p:cNvPr id="129" name="図 128">
            <a:extLst>
              <a:ext uri="{FF2B5EF4-FFF2-40B4-BE49-F238E27FC236}">
                <a16:creationId xmlns:a16="http://schemas.microsoft.com/office/drawing/2014/main" id="{B7779147-2130-7475-7EC7-B1EEF95C6D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45"/>
          <a:stretch>
            <a:fillRect/>
          </a:stretch>
        </p:blipFill>
        <p:spPr>
          <a:xfrm>
            <a:off x="2882123" y="4238020"/>
            <a:ext cx="496800" cy="491609"/>
          </a:xfrm>
          <a:prstGeom prst="rect">
            <a:avLst/>
          </a:prstGeom>
        </p:spPr>
      </p:pic>
      <p:cxnSp>
        <p:nvCxnSpPr>
          <p:cNvPr id="131" name="直線矢印コネクタ 130">
            <a:extLst>
              <a:ext uri="{FF2B5EF4-FFF2-40B4-BE49-F238E27FC236}">
                <a16:creationId xmlns:a16="http://schemas.microsoft.com/office/drawing/2014/main" id="{D857EF6F-4111-3F29-686D-7B62E8645434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10391892" y="4097882"/>
            <a:ext cx="928162" cy="40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グラフィックス 14" descr="ユーザー 単色塗りつぶし">
            <a:extLst>
              <a:ext uri="{FF2B5EF4-FFF2-40B4-BE49-F238E27FC236}">
                <a16:creationId xmlns:a16="http://schemas.microsoft.com/office/drawing/2014/main" id="{DDB713BE-0AB9-ABD6-3E8F-913BB0B9AE9C}"/>
              </a:ext>
            </a:extLst>
          </p:cNvPr>
          <p:cNvGrpSpPr>
            <a:grpSpLocks noChangeAspect="1"/>
          </p:cNvGrpSpPr>
          <p:nvPr/>
        </p:nvGrpSpPr>
        <p:grpSpPr>
          <a:xfrm>
            <a:off x="11336557" y="3706019"/>
            <a:ext cx="652305" cy="693074"/>
            <a:chOff x="1067702" y="4137882"/>
            <a:chExt cx="843759" cy="896494"/>
          </a:xfrm>
          <a:solidFill>
            <a:srgbClr val="000000"/>
          </a:solidFill>
        </p:grpSpPr>
        <p:sp>
          <p:nvSpPr>
            <p:cNvPr id="135" name="フリーフォーム: 図形 134">
              <a:extLst>
                <a:ext uri="{FF2B5EF4-FFF2-40B4-BE49-F238E27FC236}">
                  <a16:creationId xmlns:a16="http://schemas.microsoft.com/office/drawing/2014/main" id="{1750DD69-AD4B-90CB-DC37-E83A1CCC61C2}"/>
                </a:ext>
              </a:extLst>
            </p:cNvPr>
            <p:cNvSpPr/>
            <p:nvPr/>
          </p:nvSpPr>
          <p:spPr>
            <a:xfrm>
              <a:off x="1278642" y="4137882"/>
              <a:ext cx="421879" cy="421879"/>
            </a:xfrm>
            <a:custGeom>
              <a:avLst/>
              <a:gdLst>
                <a:gd name="connsiteX0" fmla="*/ 421880 w 421879"/>
                <a:gd name="connsiteY0" fmla="*/ 210940 h 421879"/>
                <a:gd name="connsiteX1" fmla="*/ 210940 w 421879"/>
                <a:gd name="connsiteY1" fmla="*/ 421880 h 421879"/>
                <a:gd name="connsiteX2" fmla="*/ 0 w 421879"/>
                <a:gd name="connsiteY2" fmla="*/ 210940 h 421879"/>
                <a:gd name="connsiteX3" fmla="*/ 210940 w 421879"/>
                <a:gd name="connsiteY3" fmla="*/ 0 h 421879"/>
                <a:gd name="connsiteX4" fmla="*/ 421880 w 421879"/>
                <a:gd name="connsiteY4" fmla="*/ 210940 h 421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1879" h="421879">
                  <a:moveTo>
                    <a:pt x="421880" y="210940"/>
                  </a:moveTo>
                  <a:cubicBezTo>
                    <a:pt x="421880" y="327439"/>
                    <a:pt x="327439" y="421880"/>
                    <a:pt x="210940" y="421880"/>
                  </a:cubicBezTo>
                  <a:cubicBezTo>
                    <a:pt x="94441" y="421880"/>
                    <a:pt x="0" y="327439"/>
                    <a:pt x="0" y="210940"/>
                  </a:cubicBezTo>
                  <a:cubicBezTo>
                    <a:pt x="0" y="94441"/>
                    <a:pt x="94441" y="0"/>
                    <a:pt x="210940" y="0"/>
                  </a:cubicBezTo>
                  <a:cubicBezTo>
                    <a:pt x="327439" y="0"/>
                    <a:pt x="421880" y="94441"/>
                    <a:pt x="421880" y="210940"/>
                  </a:cubicBezTo>
                  <a:close/>
                </a:path>
              </a:pathLst>
            </a:custGeom>
            <a:solidFill>
              <a:srgbClr val="000000"/>
            </a:solidFill>
            <a:ln w="1309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  <p:sp>
          <p:nvSpPr>
            <p:cNvPr id="136" name="フリーフォーム: 図形 135">
              <a:extLst>
                <a:ext uri="{FF2B5EF4-FFF2-40B4-BE49-F238E27FC236}">
                  <a16:creationId xmlns:a16="http://schemas.microsoft.com/office/drawing/2014/main" id="{EF45F7E6-F444-A26C-8995-D5F3E369DAD2}"/>
                </a:ext>
              </a:extLst>
            </p:cNvPr>
            <p:cNvSpPr/>
            <p:nvPr/>
          </p:nvSpPr>
          <p:spPr>
            <a:xfrm>
              <a:off x="1067702" y="4612496"/>
              <a:ext cx="843759" cy="421879"/>
            </a:xfrm>
            <a:custGeom>
              <a:avLst/>
              <a:gdLst>
                <a:gd name="connsiteX0" fmla="*/ 843759 w 843759"/>
                <a:gd name="connsiteY0" fmla="*/ 421880 h 421879"/>
                <a:gd name="connsiteX1" fmla="*/ 843759 w 843759"/>
                <a:gd name="connsiteY1" fmla="*/ 210940 h 421879"/>
                <a:gd name="connsiteX2" fmla="*/ 801571 w 843759"/>
                <a:gd name="connsiteY2" fmla="*/ 126564 h 421879"/>
                <a:gd name="connsiteX3" fmla="*/ 595905 w 843759"/>
                <a:gd name="connsiteY3" fmla="*/ 26367 h 421879"/>
                <a:gd name="connsiteX4" fmla="*/ 421880 w 843759"/>
                <a:gd name="connsiteY4" fmla="*/ 0 h 421879"/>
                <a:gd name="connsiteX5" fmla="*/ 247854 w 843759"/>
                <a:gd name="connsiteY5" fmla="*/ 26367 h 421879"/>
                <a:gd name="connsiteX6" fmla="*/ 42188 w 843759"/>
                <a:gd name="connsiteY6" fmla="*/ 126564 h 421879"/>
                <a:gd name="connsiteX7" fmla="*/ 0 w 843759"/>
                <a:gd name="connsiteY7" fmla="*/ 210940 h 421879"/>
                <a:gd name="connsiteX8" fmla="*/ 0 w 843759"/>
                <a:gd name="connsiteY8" fmla="*/ 421880 h 421879"/>
                <a:gd name="connsiteX9" fmla="*/ 843759 w 843759"/>
                <a:gd name="connsiteY9" fmla="*/ 421880 h 421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43759" h="421879">
                  <a:moveTo>
                    <a:pt x="843759" y="421880"/>
                  </a:moveTo>
                  <a:lnTo>
                    <a:pt x="843759" y="210940"/>
                  </a:lnTo>
                  <a:cubicBezTo>
                    <a:pt x="843759" y="179299"/>
                    <a:pt x="827939" y="147658"/>
                    <a:pt x="801571" y="126564"/>
                  </a:cubicBezTo>
                  <a:cubicBezTo>
                    <a:pt x="743563" y="79102"/>
                    <a:pt x="669734" y="47461"/>
                    <a:pt x="595905" y="26367"/>
                  </a:cubicBezTo>
                  <a:cubicBezTo>
                    <a:pt x="543170" y="10547"/>
                    <a:pt x="485162" y="0"/>
                    <a:pt x="421880" y="0"/>
                  </a:cubicBezTo>
                  <a:cubicBezTo>
                    <a:pt x="363871" y="0"/>
                    <a:pt x="305863" y="10547"/>
                    <a:pt x="247854" y="26367"/>
                  </a:cubicBezTo>
                  <a:cubicBezTo>
                    <a:pt x="174025" y="47461"/>
                    <a:pt x="100196" y="84376"/>
                    <a:pt x="42188" y="126564"/>
                  </a:cubicBezTo>
                  <a:cubicBezTo>
                    <a:pt x="15820" y="147658"/>
                    <a:pt x="0" y="179299"/>
                    <a:pt x="0" y="210940"/>
                  </a:cubicBezTo>
                  <a:lnTo>
                    <a:pt x="0" y="421880"/>
                  </a:lnTo>
                  <a:lnTo>
                    <a:pt x="843759" y="421880"/>
                  </a:lnTo>
                  <a:close/>
                </a:path>
              </a:pathLst>
            </a:custGeom>
            <a:solidFill>
              <a:srgbClr val="000000"/>
            </a:solidFill>
            <a:ln w="1309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TM</a:t>
              </a:r>
              <a:r>
                <a:rPr kumimoji="0" lang="ja-JP" altLang="en-US" sz="10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東京</a:t>
              </a:r>
            </a:p>
          </p:txBody>
        </p:sp>
      </p:grp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6D3D867A-E0A0-C34B-1176-8BF0D65F0DD0}"/>
              </a:ext>
            </a:extLst>
          </p:cNvPr>
          <p:cNvSpPr/>
          <p:nvPr/>
        </p:nvSpPr>
        <p:spPr>
          <a:xfrm>
            <a:off x="10270101" y="3898578"/>
            <a:ext cx="1278479" cy="13925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kumimoji="1" lang="ja-JP" altLang="en-US" sz="105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参照</a:t>
            </a:r>
          </a:p>
        </p:txBody>
      </p:sp>
      <p:cxnSp>
        <p:nvCxnSpPr>
          <p:cNvPr id="143" name="コネクタ: カギ線 142">
            <a:extLst>
              <a:ext uri="{FF2B5EF4-FFF2-40B4-BE49-F238E27FC236}">
                <a16:creationId xmlns:a16="http://schemas.microsoft.com/office/drawing/2014/main" id="{B3507809-0659-CE48-EF6D-60D12E6D2E8B}"/>
              </a:ext>
            </a:extLst>
          </p:cNvPr>
          <p:cNvCxnSpPr>
            <a:cxnSpLocks/>
          </p:cNvCxnSpPr>
          <p:nvPr/>
        </p:nvCxnSpPr>
        <p:spPr>
          <a:xfrm rot="10800000" flipV="1">
            <a:off x="7692328" y="4355236"/>
            <a:ext cx="3960957" cy="1628638"/>
          </a:xfrm>
          <a:prstGeom prst="bentConnector3">
            <a:avLst>
              <a:gd name="adj1" fmla="val -73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D4B58214-67EB-FAF6-1FA7-EB6B0B68CDB0}"/>
              </a:ext>
            </a:extLst>
          </p:cNvPr>
          <p:cNvSpPr/>
          <p:nvPr/>
        </p:nvSpPr>
        <p:spPr>
          <a:xfrm>
            <a:off x="9263496" y="6007648"/>
            <a:ext cx="1278479" cy="37668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kumimoji="1" lang="ja-JP" altLang="en-US" sz="105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参照</a:t>
            </a:r>
            <a:r>
              <a:rPr kumimoji="1" lang="en-US" altLang="ja-JP" sz="105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05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ダッシュボードから遷移</a:t>
            </a:r>
          </a:p>
        </p:txBody>
      </p:sp>
    </p:spTree>
    <p:extLst>
      <p:ext uri="{BB962C8B-B14F-4D97-AF65-F5344CB8AC3E}">
        <p14:creationId xmlns:p14="http://schemas.microsoft.com/office/powerpoint/2010/main" val="2778220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B881C4-338E-7E25-3DB1-915FA75E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システム構成</a:t>
            </a:r>
            <a:r>
              <a:rPr lang="en-US" altLang="ja-JP" dirty="0"/>
              <a:t>_</a:t>
            </a:r>
            <a:r>
              <a:rPr lang="ja-JP" altLang="en-US" dirty="0"/>
              <a:t>データ連携図</a:t>
            </a:r>
            <a:endParaRPr kumimoji="1" lang="ja-JP" altLang="en-US" dirty="0"/>
          </a:p>
        </p:txBody>
      </p: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B4B36185-2A03-B8DD-B1A1-50136476ECC7}"/>
              </a:ext>
            </a:extLst>
          </p:cNvPr>
          <p:cNvGrpSpPr/>
          <p:nvPr/>
        </p:nvGrpSpPr>
        <p:grpSpPr>
          <a:xfrm>
            <a:off x="1325206" y="1769873"/>
            <a:ext cx="8690491" cy="4363673"/>
            <a:chOff x="1750755" y="1241600"/>
            <a:chExt cx="8690491" cy="4363673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5284E4FC-84D7-ABBF-AC25-874787CB8E7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154712" y="2071316"/>
              <a:ext cx="947791" cy="3168570"/>
              <a:chOff x="1040035" y="2345682"/>
              <a:chExt cx="530372" cy="1773092"/>
            </a:xfrm>
          </p:grpSpPr>
          <p:pic>
            <p:nvPicPr>
              <p:cNvPr id="5" name="グラフィックス 4">
                <a:extLst>
                  <a:ext uri="{FF2B5EF4-FFF2-40B4-BE49-F238E27FC236}">
                    <a16:creationId xmlns:a16="http://schemas.microsoft.com/office/drawing/2014/main" id="{235AFE05-A94C-F72B-38BA-637D6E2EAC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040035" y="3622603"/>
                <a:ext cx="492490" cy="496171"/>
              </a:xfrm>
              <a:prstGeom prst="rect">
                <a:avLst/>
              </a:prstGeom>
            </p:spPr>
          </p:pic>
          <p:pic>
            <p:nvPicPr>
              <p:cNvPr id="7" name="図 6">
                <a:extLst>
                  <a:ext uri="{FF2B5EF4-FFF2-40B4-BE49-F238E27FC236}">
                    <a16:creationId xmlns:a16="http://schemas.microsoft.com/office/drawing/2014/main" id="{36A9EEDA-A580-529E-0204-FEA22FCB48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1045"/>
              <a:stretch>
                <a:fillRect/>
              </a:stretch>
            </p:blipFill>
            <p:spPr>
              <a:xfrm>
                <a:off x="1073607" y="2345682"/>
                <a:ext cx="496800" cy="491609"/>
              </a:xfrm>
              <a:prstGeom prst="rect">
                <a:avLst/>
              </a:prstGeom>
            </p:spPr>
          </p:pic>
          <p:pic>
            <p:nvPicPr>
              <p:cNvPr id="8" name="図 7">
                <a:extLst>
                  <a:ext uri="{FF2B5EF4-FFF2-40B4-BE49-F238E27FC236}">
                    <a16:creationId xmlns:a16="http://schemas.microsoft.com/office/drawing/2014/main" id="{9FB220F7-B35A-6D2D-CEFC-E48A44F53C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8621" t="13173" r="18889" b="13092"/>
              <a:stretch>
                <a:fillRect/>
              </a:stretch>
            </p:blipFill>
            <p:spPr>
              <a:xfrm>
                <a:off x="1111489" y="3004656"/>
                <a:ext cx="421036" cy="496800"/>
              </a:xfrm>
              <a:prstGeom prst="rect">
                <a:avLst/>
              </a:prstGeom>
            </p:spPr>
          </p:pic>
        </p:grpSp>
        <p:pic>
          <p:nvPicPr>
            <p:cNvPr id="12" name="グラフィックス 11">
              <a:extLst>
                <a:ext uri="{FF2B5EF4-FFF2-40B4-BE49-F238E27FC236}">
                  <a16:creationId xmlns:a16="http://schemas.microsoft.com/office/drawing/2014/main" id="{5EB05B38-EC66-2B58-0A07-6B41AAE58D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02292" y="3113011"/>
              <a:ext cx="542590" cy="542590"/>
            </a:xfrm>
            <a:prstGeom prst="rect">
              <a:avLst/>
            </a:prstGeom>
          </p:spPr>
        </p:pic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F2C3FC7B-D4D9-193C-D190-DF5F8BB76312}"/>
                </a:ext>
              </a:extLst>
            </p:cNvPr>
            <p:cNvSpPr/>
            <p:nvPr/>
          </p:nvSpPr>
          <p:spPr>
            <a:xfrm>
              <a:off x="1865083" y="1705929"/>
              <a:ext cx="1527048" cy="3899344"/>
            </a:xfrm>
            <a:prstGeom prst="roundRect">
              <a:avLst>
                <a:gd name="adj" fmla="val 5341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30000"/>
                </a:lnSpc>
              </a:pPr>
              <a:endParaRPr kumimoji="1" lang="ja-JP" altLang="en-US" sz="24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43E889FC-6153-EB1E-869D-6F3A70CF2311}"/>
                </a:ext>
              </a:extLst>
            </p:cNvPr>
            <p:cNvSpPr/>
            <p:nvPr/>
          </p:nvSpPr>
          <p:spPr>
            <a:xfrm>
              <a:off x="1750755" y="1241600"/>
              <a:ext cx="1815698" cy="46432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30000"/>
                </a:lnSpc>
              </a:pPr>
              <a:r>
                <a:rPr lang="ja-JP" altLang="en-US" sz="20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詳細データ集計</a:t>
              </a:r>
            </a:p>
          </p:txBody>
        </p:sp>
        <p:sp>
          <p:nvSpPr>
            <p:cNvPr id="22" name="四角形: 角を丸くする 21">
              <a:extLst>
                <a:ext uri="{FF2B5EF4-FFF2-40B4-BE49-F238E27FC236}">
                  <a16:creationId xmlns:a16="http://schemas.microsoft.com/office/drawing/2014/main" id="{D7DA7E6D-E8C4-17AF-1EE6-F617DB203A0F}"/>
                </a:ext>
              </a:extLst>
            </p:cNvPr>
            <p:cNvSpPr/>
            <p:nvPr/>
          </p:nvSpPr>
          <p:spPr>
            <a:xfrm>
              <a:off x="5355043" y="1705929"/>
              <a:ext cx="1527048" cy="3899344"/>
            </a:xfrm>
            <a:prstGeom prst="roundRect">
              <a:avLst>
                <a:gd name="adj" fmla="val 5341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30000"/>
                </a:lnSpc>
              </a:pPr>
              <a:endParaRPr kumimoji="1" lang="ja-JP" altLang="en-US" sz="24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A9880470-5FD2-2970-C9BF-32C49DB44B26}"/>
                </a:ext>
              </a:extLst>
            </p:cNvPr>
            <p:cNvSpPr/>
            <p:nvPr/>
          </p:nvSpPr>
          <p:spPr>
            <a:xfrm>
              <a:off x="5355044" y="1241600"/>
              <a:ext cx="1596242" cy="46432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30000"/>
                </a:lnSpc>
              </a:pPr>
              <a:r>
                <a:rPr lang="ja-JP" altLang="en-US" sz="20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データ蓄積</a:t>
              </a:r>
            </a:p>
          </p:txBody>
        </p:sp>
        <p:pic>
          <p:nvPicPr>
            <p:cNvPr id="25" name="グラフィックス 24">
              <a:extLst>
                <a:ext uri="{FF2B5EF4-FFF2-40B4-BE49-F238E27FC236}">
                  <a16:creationId xmlns:a16="http://schemas.microsoft.com/office/drawing/2014/main" id="{7A294FC9-A8CF-C798-E004-D3A5768F54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82249" y="3198401"/>
              <a:ext cx="822960" cy="914400"/>
            </a:xfrm>
            <a:prstGeom prst="rect">
              <a:avLst/>
            </a:prstGeom>
          </p:spPr>
        </p:pic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625BA7CE-D3FF-A648-3DF1-03A618774892}"/>
                </a:ext>
              </a:extLst>
            </p:cNvPr>
            <p:cNvCxnSpPr>
              <a:cxnSpLocks/>
              <a:stCxn id="14" idx="3"/>
              <a:endCxn id="22" idx="1"/>
            </p:cNvCxnSpPr>
            <p:nvPr/>
          </p:nvCxnSpPr>
          <p:spPr>
            <a:xfrm>
              <a:off x="3392131" y="3655601"/>
              <a:ext cx="196291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四角形: 角を丸くする 31">
              <a:extLst>
                <a:ext uri="{FF2B5EF4-FFF2-40B4-BE49-F238E27FC236}">
                  <a16:creationId xmlns:a16="http://schemas.microsoft.com/office/drawing/2014/main" id="{8C940CF9-8156-E613-DFF6-095A74111788}"/>
                </a:ext>
              </a:extLst>
            </p:cNvPr>
            <p:cNvSpPr/>
            <p:nvPr/>
          </p:nvSpPr>
          <p:spPr>
            <a:xfrm>
              <a:off x="8845003" y="1705929"/>
              <a:ext cx="1527048" cy="3899344"/>
            </a:xfrm>
            <a:prstGeom prst="roundRect">
              <a:avLst>
                <a:gd name="adj" fmla="val 5341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30000"/>
                </a:lnSpc>
              </a:pPr>
              <a:endParaRPr kumimoji="1" lang="ja-JP" altLang="en-US" sz="24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BC089C2A-F232-2C3E-5BB6-39DB696A4B35}"/>
                </a:ext>
              </a:extLst>
            </p:cNvPr>
            <p:cNvSpPr/>
            <p:nvPr/>
          </p:nvSpPr>
          <p:spPr>
            <a:xfrm>
              <a:off x="8845004" y="1241600"/>
              <a:ext cx="1596242" cy="46432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130000"/>
                </a:lnSpc>
              </a:pPr>
              <a:r>
                <a:rPr lang="ja-JP" altLang="en-US" sz="2000" b="1" dirty="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ダッシュボード</a:t>
              </a:r>
            </a:p>
          </p:txBody>
        </p: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6FA08DDA-B5E5-068D-8153-7C3358C8F1C5}"/>
                </a:ext>
              </a:extLst>
            </p:cNvPr>
            <p:cNvCxnSpPr>
              <a:cxnSpLocks/>
              <a:stCxn id="22" idx="3"/>
              <a:endCxn id="32" idx="1"/>
            </p:cNvCxnSpPr>
            <p:nvPr/>
          </p:nvCxnSpPr>
          <p:spPr>
            <a:xfrm>
              <a:off x="6882091" y="3655601"/>
              <a:ext cx="196291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2" descr="Microsoft Power Apps - ESC BV">
              <a:extLst>
                <a:ext uri="{FF2B5EF4-FFF2-40B4-BE49-F238E27FC236}">
                  <a16:creationId xmlns:a16="http://schemas.microsoft.com/office/drawing/2014/main" id="{67F3E3D5-D7F4-E1DD-1A57-F7D2CE4E38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7" t="11766" r="33208" b="35882"/>
            <a:stretch>
              <a:fillRect/>
            </a:stretch>
          </p:blipFill>
          <p:spPr bwMode="auto">
            <a:xfrm>
              <a:off x="8992932" y="3045584"/>
              <a:ext cx="1231190" cy="10911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2D33D226-2822-A0B9-AC56-23060C27CC8F}"/>
              </a:ext>
            </a:extLst>
          </p:cNvPr>
          <p:cNvSpPr/>
          <p:nvPr/>
        </p:nvSpPr>
        <p:spPr>
          <a:xfrm>
            <a:off x="10407185" y="1042263"/>
            <a:ext cx="588156" cy="52096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凡例</a:t>
            </a: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20637F95-E8AF-6025-B73C-008CEC2A2D24}"/>
              </a:ext>
            </a:extLst>
          </p:cNvPr>
          <p:cNvGrpSpPr/>
          <p:nvPr/>
        </p:nvGrpSpPr>
        <p:grpSpPr>
          <a:xfrm>
            <a:off x="11570177" y="816982"/>
            <a:ext cx="400403" cy="497931"/>
            <a:chOff x="11509648" y="725516"/>
            <a:chExt cx="508000" cy="631739"/>
          </a:xfrm>
        </p:grpSpPr>
        <p:pic>
          <p:nvPicPr>
            <p:cNvPr id="41" name="グラフィックス 40">
              <a:extLst>
                <a:ext uri="{FF2B5EF4-FFF2-40B4-BE49-F238E27FC236}">
                  <a16:creationId xmlns:a16="http://schemas.microsoft.com/office/drawing/2014/main" id="{B0A54E11-6898-1C5A-0474-95407CCF0C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509648" y="725516"/>
              <a:ext cx="508000" cy="511798"/>
            </a:xfrm>
            <a:prstGeom prst="rect">
              <a:avLst/>
            </a:prstGeom>
          </p:spPr>
        </p:pic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2B873FFE-351C-E916-34CB-EE2EE076CB6B}"/>
                </a:ext>
              </a:extLst>
            </p:cNvPr>
            <p:cNvSpPr/>
            <p:nvPr/>
          </p:nvSpPr>
          <p:spPr>
            <a:xfrm>
              <a:off x="11518023" y="1214770"/>
              <a:ext cx="491251" cy="14248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36000" tIns="36000" rIns="36000" bIns="360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7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rPr>
                <a:t>Power BI</a:t>
              </a:r>
              <a:endParaRPr kumimoji="0" lang="ja-JP" altLang="en-US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endParaRPr>
            </a:p>
          </p:txBody>
        </p:sp>
      </p:grpSp>
      <p:pic>
        <p:nvPicPr>
          <p:cNvPr id="43" name="Picture 2" descr="Microsoft Power Apps - ESC BV">
            <a:extLst>
              <a:ext uri="{FF2B5EF4-FFF2-40B4-BE49-F238E27FC236}">
                <a16:creationId xmlns:a16="http://schemas.microsoft.com/office/drawing/2014/main" id="{F01C5428-850A-5724-7981-0F0A833073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17" t="11766" r="33208" b="35882"/>
          <a:stretch>
            <a:fillRect/>
          </a:stretch>
        </p:blipFill>
        <p:spPr bwMode="auto">
          <a:xfrm>
            <a:off x="11576778" y="1379214"/>
            <a:ext cx="345277" cy="30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233DABC2-C414-F2BE-3F62-5BC58AB97A1A}"/>
              </a:ext>
            </a:extLst>
          </p:cNvPr>
          <p:cNvSpPr txBox="1"/>
          <p:nvPr/>
        </p:nvSpPr>
        <p:spPr>
          <a:xfrm>
            <a:off x="11324841" y="1632577"/>
            <a:ext cx="824620" cy="215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Power Apps</a:t>
            </a:r>
            <a:endParaRPr kumimoji="1" lang="ja-JP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pic>
        <p:nvPicPr>
          <p:cNvPr id="45" name="図 44">
            <a:extLst>
              <a:ext uri="{FF2B5EF4-FFF2-40B4-BE49-F238E27FC236}">
                <a16:creationId xmlns:a16="http://schemas.microsoft.com/office/drawing/2014/main" id="{B4F4592A-AFBD-A55D-FF4D-D9B3B99B1F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621" t="13173" r="18889" b="13092"/>
          <a:stretch>
            <a:fillRect/>
          </a:stretch>
        </p:blipFill>
        <p:spPr>
          <a:xfrm>
            <a:off x="11058325" y="1388115"/>
            <a:ext cx="278232" cy="328299"/>
          </a:xfrm>
          <a:prstGeom prst="rect">
            <a:avLst/>
          </a:prstGeom>
        </p:spPr>
      </p:pic>
      <p:pic>
        <p:nvPicPr>
          <p:cNvPr id="46" name="図 45">
            <a:extLst>
              <a:ext uri="{FF2B5EF4-FFF2-40B4-BE49-F238E27FC236}">
                <a16:creationId xmlns:a16="http://schemas.microsoft.com/office/drawing/2014/main" id="{720702FD-7506-208C-2587-034A54987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5786" y="904125"/>
            <a:ext cx="343311" cy="343311"/>
          </a:xfrm>
          <a:prstGeom prst="rect">
            <a:avLst/>
          </a:prstGeom>
        </p:spPr>
      </p:pic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8DDAA3F6-7408-9E9E-74EE-566C65A0A2E6}"/>
              </a:ext>
            </a:extLst>
          </p:cNvPr>
          <p:cNvSpPr txBox="1"/>
          <p:nvPr/>
        </p:nvSpPr>
        <p:spPr>
          <a:xfrm>
            <a:off x="10944073" y="1183115"/>
            <a:ext cx="506736" cy="215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700" b="1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Excel</a:t>
            </a:r>
            <a:endParaRPr kumimoji="1" lang="ja-JP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73BAD9EF-8EC6-E4D9-CDFB-A2BFBBE13401}"/>
              </a:ext>
            </a:extLst>
          </p:cNvPr>
          <p:cNvSpPr txBox="1"/>
          <p:nvPr/>
        </p:nvSpPr>
        <p:spPr>
          <a:xfrm>
            <a:off x="10944073" y="1662280"/>
            <a:ext cx="506736" cy="215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CSV</a:t>
            </a:r>
            <a:endParaRPr kumimoji="1" lang="ja-JP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pic>
        <p:nvPicPr>
          <p:cNvPr id="50" name="グラフィックス 49">
            <a:extLst>
              <a:ext uri="{FF2B5EF4-FFF2-40B4-BE49-F238E27FC236}">
                <a16:creationId xmlns:a16="http://schemas.microsoft.com/office/drawing/2014/main" id="{91926BE1-333D-FA4B-B22D-621AADF2E4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75556" y="1873344"/>
            <a:ext cx="275400" cy="306000"/>
          </a:xfrm>
          <a:prstGeom prst="rect">
            <a:avLst/>
          </a:prstGeom>
        </p:spPr>
      </p:pic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58345B43-4B48-0D90-7D1D-BB37AA253C9D}"/>
              </a:ext>
            </a:extLst>
          </p:cNvPr>
          <p:cNvSpPr/>
          <p:nvPr/>
        </p:nvSpPr>
        <p:spPr>
          <a:xfrm>
            <a:off x="10574016" y="2204924"/>
            <a:ext cx="1278479" cy="13925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ja-JP" sz="7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SharePoint</a:t>
            </a:r>
          </a:p>
          <a:p>
            <a:pPr algn="ctr">
              <a:lnSpc>
                <a:spcPct val="130000"/>
              </a:lnSpc>
            </a:pPr>
            <a:r>
              <a:rPr kumimoji="1" lang="en-US" altLang="ja-JP" sz="7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List</a:t>
            </a:r>
            <a:endParaRPr kumimoji="1" lang="ja-JP" altLang="en-US" sz="7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2" name="グラフィックス 51">
            <a:extLst>
              <a:ext uri="{FF2B5EF4-FFF2-40B4-BE49-F238E27FC236}">
                <a16:creationId xmlns:a16="http://schemas.microsoft.com/office/drawing/2014/main" id="{219A449F-E89F-C8C4-4EDF-4D60AB34C2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6416" y="1873344"/>
            <a:ext cx="306000" cy="306000"/>
          </a:xfrm>
          <a:prstGeom prst="rect">
            <a:avLst/>
          </a:prstGeom>
        </p:spPr>
      </p:pic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6982D13A-5212-4EB9-DFC5-8E2FB9AECB2E}"/>
              </a:ext>
            </a:extLst>
          </p:cNvPr>
          <p:cNvSpPr/>
          <p:nvPr/>
        </p:nvSpPr>
        <p:spPr>
          <a:xfrm>
            <a:off x="11110176" y="2204924"/>
            <a:ext cx="1278479" cy="13925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kumimoji="1" lang="en-US" altLang="ja-JP" sz="7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Power</a:t>
            </a:r>
          </a:p>
          <a:p>
            <a:pPr algn="ctr">
              <a:lnSpc>
                <a:spcPct val="130000"/>
              </a:lnSpc>
            </a:pPr>
            <a:r>
              <a:rPr kumimoji="1" lang="en-US" altLang="ja-JP" sz="7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Automate</a:t>
            </a:r>
            <a:endParaRPr kumimoji="1" lang="ja-JP" altLang="en-US" sz="7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B4C46D74-7B1B-7CD4-0865-686B4BB0D75F}"/>
              </a:ext>
            </a:extLst>
          </p:cNvPr>
          <p:cNvSpPr/>
          <p:nvPr/>
        </p:nvSpPr>
        <p:spPr>
          <a:xfrm>
            <a:off x="4600102" y="1817105"/>
            <a:ext cx="5744100" cy="4545191"/>
          </a:xfrm>
          <a:prstGeom prst="roundRect">
            <a:avLst>
              <a:gd name="adj" fmla="val 5341"/>
            </a:avLst>
          </a:prstGeom>
          <a:noFill/>
          <a:ln w="28575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endParaRPr kumimoji="1" lang="ja-JP" altLang="en-US" sz="24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61A39BA3-CEC8-9346-54DE-3A1132DA9F6D}"/>
              </a:ext>
            </a:extLst>
          </p:cNvPr>
          <p:cNvSpPr/>
          <p:nvPr/>
        </p:nvSpPr>
        <p:spPr>
          <a:xfrm>
            <a:off x="6677606" y="1354856"/>
            <a:ext cx="1596242" cy="46432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lang="ja-JP" altLang="en-US" sz="20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負荷試験対象</a:t>
            </a:r>
          </a:p>
        </p:txBody>
      </p:sp>
    </p:spTree>
    <p:extLst>
      <p:ext uri="{BB962C8B-B14F-4D97-AF65-F5344CB8AC3E}">
        <p14:creationId xmlns:p14="http://schemas.microsoft.com/office/powerpoint/2010/main" val="707073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BBC98-3569-FC1D-32C1-CACAD5EDD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05C00E-299C-F83A-08F9-8664BCC98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利用規模・負荷条件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D50B76-AE76-A390-CB93-01B51528BE4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ja-JP" sz="2400" b="1" dirty="0">
                <a:solidFill>
                  <a:srgbClr val="002060"/>
                </a:solidFill>
              </a:rPr>
              <a:t>1</a:t>
            </a:r>
            <a:r>
              <a:rPr lang="ja-JP" altLang="en-US" sz="2400" b="1" dirty="0">
                <a:solidFill>
                  <a:srgbClr val="002060"/>
                </a:solidFill>
              </a:rPr>
              <a:t>．</a:t>
            </a:r>
            <a:r>
              <a:rPr kumimoji="1" lang="ja-JP" altLang="en-US" sz="2400" b="1" dirty="0">
                <a:solidFill>
                  <a:srgbClr val="002060"/>
                </a:solidFill>
              </a:rPr>
              <a:t>データ量</a:t>
            </a:r>
            <a:endParaRPr kumimoji="1" lang="en-US" altLang="ja-JP" sz="2400" b="1" dirty="0">
              <a:solidFill>
                <a:srgbClr val="002060"/>
              </a:solidFill>
            </a:endParaRPr>
          </a:p>
          <a:p>
            <a:r>
              <a:rPr kumimoji="1" lang="ja-JP" altLang="en-US" dirty="0"/>
              <a:t>想定される</a:t>
            </a:r>
            <a:r>
              <a:rPr kumimoji="1" lang="ja-JP" altLang="en-US" b="1" dirty="0"/>
              <a:t>１年間の</a:t>
            </a:r>
            <a:r>
              <a:rPr kumimoji="1" lang="en-US" altLang="ja-JP" b="1" dirty="0"/>
              <a:t>SharePoint</a:t>
            </a:r>
            <a:r>
              <a:rPr kumimoji="1" lang="ja-JP" altLang="en-US" b="1" dirty="0"/>
              <a:t>へのデータ蓄積量は約</a:t>
            </a:r>
            <a:r>
              <a:rPr kumimoji="1" lang="en-US" altLang="ja-JP" b="1" dirty="0"/>
              <a:t>160</a:t>
            </a:r>
            <a:r>
              <a:rPr kumimoji="1" lang="ja-JP" altLang="en-US" b="1" dirty="0"/>
              <a:t>万件</a:t>
            </a:r>
            <a:endParaRPr lang="en-US" altLang="ja-JP" b="1" dirty="0"/>
          </a:p>
          <a:p>
            <a:r>
              <a:rPr lang="ja-JP" altLang="en-US" dirty="0"/>
              <a:t>・領域（トヨタ</a:t>
            </a:r>
            <a:r>
              <a:rPr lang="en-US" altLang="ja-JP" dirty="0"/>
              <a:t>or</a:t>
            </a:r>
            <a:r>
              <a:rPr lang="ja-JP" altLang="en-US" dirty="0"/>
              <a:t>レクサス）、リージョン（都心部・東部など）、エリア、店舗ごとにデータ蓄積が必要</a:t>
            </a:r>
            <a:endParaRPr lang="en-US" altLang="ja-JP" dirty="0"/>
          </a:p>
          <a:p>
            <a:r>
              <a:rPr lang="ja-JP" altLang="en-US" dirty="0"/>
              <a:t>・月次更新のプロセス</a:t>
            </a:r>
            <a:r>
              <a:rPr lang="en-US" altLang="ja-JP" dirty="0"/>
              <a:t>KPI</a:t>
            </a:r>
            <a:r>
              <a:rPr lang="ja-JP" altLang="en-US" dirty="0"/>
              <a:t>については明細データも蓄積が必要</a:t>
            </a:r>
            <a:endParaRPr lang="en-US" altLang="ja-JP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6F9D3AA6-00B1-D4DC-D7D6-A4832547E571}"/>
              </a:ext>
            </a:extLst>
          </p:cNvPr>
          <p:cNvGraphicFramePr>
            <a:graphicFrameLocks noGrp="1"/>
          </p:cNvGraphicFramePr>
          <p:nvPr/>
        </p:nvGraphicFramePr>
        <p:xfrm>
          <a:off x="503853" y="2630348"/>
          <a:ext cx="11262660" cy="3206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266">
                  <a:extLst>
                    <a:ext uri="{9D8B030D-6E8A-4147-A177-3AD203B41FA5}">
                      <a16:colId xmlns:a16="http://schemas.microsoft.com/office/drawing/2014/main" val="2381917112"/>
                    </a:ext>
                  </a:extLst>
                </a:gridCol>
                <a:gridCol w="1126266">
                  <a:extLst>
                    <a:ext uri="{9D8B030D-6E8A-4147-A177-3AD203B41FA5}">
                      <a16:colId xmlns:a16="http://schemas.microsoft.com/office/drawing/2014/main" val="896758387"/>
                    </a:ext>
                  </a:extLst>
                </a:gridCol>
                <a:gridCol w="1126266">
                  <a:extLst>
                    <a:ext uri="{9D8B030D-6E8A-4147-A177-3AD203B41FA5}">
                      <a16:colId xmlns:a16="http://schemas.microsoft.com/office/drawing/2014/main" val="1080413793"/>
                    </a:ext>
                  </a:extLst>
                </a:gridCol>
                <a:gridCol w="1126266">
                  <a:extLst>
                    <a:ext uri="{9D8B030D-6E8A-4147-A177-3AD203B41FA5}">
                      <a16:colId xmlns:a16="http://schemas.microsoft.com/office/drawing/2014/main" val="1592127672"/>
                    </a:ext>
                  </a:extLst>
                </a:gridCol>
                <a:gridCol w="1126266">
                  <a:extLst>
                    <a:ext uri="{9D8B030D-6E8A-4147-A177-3AD203B41FA5}">
                      <a16:colId xmlns:a16="http://schemas.microsoft.com/office/drawing/2014/main" val="1939790847"/>
                    </a:ext>
                  </a:extLst>
                </a:gridCol>
                <a:gridCol w="1126266">
                  <a:extLst>
                    <a:ext uri="{9D8B030D-6E8A-4147-A177-3AD203B41FA5}">
                      <a16:colId xmlns:a16="http://schemas.microsoft.com/office/drawing/2014/main" val="2006987963"/>
                    </a:ext>
                  </a:extLst>
                </a:gridCol>
                <a:gridCol w="1126266">
                  <a:extLst>
                    <a:ext uri="{9D8B030D-6E8A-4147-A177-3AD203B41FA5}">
                      <a16:colId xmlns:a16="http://schemas.microsoft.com/office/drawing/2014/main" val="2298529899"/>
                    </a:ext>
                  </a:extLst>
                </a:gridCol>
                <a:gridCol w="1126266">
                  <a:extLst>
                    <a:ext uri="{9D8B030D-6E8A-4147-A177-3AD203B41FA5}">
                      <a16:colId xmlns:a16="http://schemas.microsoft.com/office/drawing/2014/main" val="2795547095"/>
                    </a:ext>
                  </a:extLst>
                </a:gridCol>
                <a:gridCol w="1126266">
                  <a:extLst>
                    <a:ext uri="{9D8B030D-6E8A-4147-A177-3AD203B41FA5}">
                      <a16:colId xmlns:a16="http://schemas.microsoft.com/office/drawing/2014/main" val="3905413575"/>
                    </a:ext>
                  </a:extLst>
                </a:gridCol>
                <a:gridCol w="1126266">
                  <a:extLst>
                    <a:ext uri="{9D8B030D-6E8A-4147-A177-3AD203B41FA5}">
                      <a16:colId xmlns:a16="http://schemas.microsoft.com/office/drawing/2014/main" val="1154093075"/>
                    </a:ext>
                  </a:extLst>
                </a:gridCol>
              </a:tblGrid>
              <a:tr h="534366">
                <a:tc rowSpan="2"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更新頻度別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基本データ件数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明細データ件数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合計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42057"/>
                  </a:ext>
                </a:extLst>
              </a:tr>
              <a:tr h="534366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店舗単位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エリア単位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リージョン単位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領域単位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店舗単位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エリア単位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リージョン単位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領域単位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084410"/>
                  </a:ext>
                </a:extLst>
              </a:tr>
              <a:tr h="534366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日次更新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222,285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22,995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6,570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2,190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254,040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640621"/>
                  </a:ext>
                </a:extLst>
              </a:tr>
              <a:tr h="534366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週次更新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740,950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76,650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21,900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7,300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846,800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519174"/>
                  </a:ext>
                </a:extLst>
              </a:tr>
              <a:tr h="534366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月次更新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444,570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45,990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13,140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4,380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7,308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22,995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6,570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2,190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547,143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088106"/>
                  </a:ext>
                </a:extLst>
              </a:tr>
              <a:tr h="534366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合計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1,407,805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145,635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41,610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13,870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7,308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22,995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6,570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2,190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ja-JP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1,647,983 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754295"/>
                  </a:ext>
                </a:extLst>
              </a:tr>
            </a:tbl>
          </a:graphicData>
        </a:graphic>
      </p:graphicFrame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89EBE2D-42E3-C072-B086-8CB99EA3874F}"/>
              </a:ext>
            </a:extLst>
          </p:cNvPr>
          <p:cNvSpPr/>
          <p:nvPr/>
        </p:nvSpPr>
        <p:spPr>
          <a:xfrm>
            <a:off x="9931192" y="5744820"/>
            <a:ext cx="1941981" cy="459153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件数単位：レコード（行）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7C172B0-5B81-64B2-EC33-CE1DEA620E72}"/>
              </a:ext>
            </a:extLst>
          </p:cNvPr>
          <p:cNvSpPr/>
          <p:nvPr/>
        </p:nvSpPr>
        <p:spPr>
          <a:xfrm>
            <a:off x="10627568" y="5272680"/>
            <a:ext cx="1157607" cy="58964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8FD54908-D2DB-A3FF-F746-694B6553E976}"/>
              </a:ext>
            </a:extLst>
          </p:cNvPr>
          <p:cNvSpPr txBox="1">
            <a:spLocks/>
          </p:cNvSpPr>
          <p:nvPr/>
        </p:nvSpPr>
        <p:spPr>
          <a:xfrm>
            <a:off x="425491" y="6203973"/>
            <a:ext cx="11151029" cy="383439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kumimoji="1" sz="2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kumimoji="1" sz="2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kumimoji="1"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kumimoji="1"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kumimoji="1"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※</a:t>
            </a: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今後</a:t>
            </a:r>
            <a:r>
              <a:rPr kumimoji="1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Azure DB</a:t>
            </a:r>
            <a:r>
              <a:rPr kumimoji="1" lang="ja-JP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への移行も検討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6" name="吹き出し: 線 5">
            <a:extLst>
              <a:ext uri="{FF2B5EF4-FFF2-40B4-BE49-F238E27FC236}">
                <a16:creationId xmlns:a16="http://schemas.microsoft.com/office/drawing/2014/main" id="{140BAB0F-C483-E733-35F7-4D56A524DE34}"/>
              </a:ext>
            </a:extLst>
          </p:cNvPr>
          <p:cNvSpPr/>
          <p:nvPr/>
        </p:nvSpPr>
        <p:spPr>
          <a:xfrm>
            <a:off x="6594765" y="5974396"/>
            <a:ext cx="3454400" cy="883604"/>
          </a:xfrm>
          <a:prstGeom prst="borderCallout1">
            <a:avLst>
              <a:gd name="adj1" fmla="val 624"/>
              <a:gd name="adj2" fmla="val 99277"/>
              <a:gd name="adj3" fmla="val -21566"/>
              <a:gd name="adj4" fmla="val 116929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30000"/>
              </a:lnSpc>
            </a:pPr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実際は２年分のため</a:t>
            </a:r>
            <a:endParaRPr kumimoji="1" lang="en-US" altLang="ja-JP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>
              <a:lnSpc>
                <a:spcPct val="130000"/>
              </a:lnSpc>
            </a:pPr>
            <a:r>
              <a:rPr kumimoji="1" lang="en-US" altLang="ja-JP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160</a:t>
            </a:r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万件</a:t>
            </a:r>
            <a:r>
              <a:rPr kumimoji="1" lang="en-US" altLang="ja-JP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×2=320</a:t>
            </a:r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万件</a:t>
            </a:r>
            <a:r>
              <a:rPr kumimoji="1" lang="en-US" altLang="ja-JP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×10</a:t>
            </a:r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列</a:t>
            </a:r>
          </a:p>
        </p:txBody>
      </p:sp>
    </p:spTree>
    <p:extLst>
      <p:ext uri="{BB962C8B-B14F-4D97-AF65-F5344CB8AC3E}">
        <p14:creationId xmlns:p14="http://schemas.microsoft.com/office/powerpoint/2010/main" val="541130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C766A6-A3AD-3F86-966B-48DF33727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利用規模・負荷条件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3C929F-7301-412C-0A2A-C9559F7163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491" y="772629"/>
            <a:ext cx="11151029" cy="1744429"/>
          </a:xfrm>
        </p:spPr>
        <p:txBody>
          <a:bodyPr/>
          <a:lstStyle/>
          <a:p>
            <a:r>
              <a:rPr lang="en-US" altLang="ja-JP" sz="2400" b="1" dirty="0">
                <a:solidFill>
                  <a:srgbClr val="002060"/>
                </a:solidFill>
              </a:rPr>
              <a:t>2</a:t>
            </a:r>
            <a:r>
              <a:rPr lang="ja-JP" altLang="en-US" sz="2400" b="1" dirty="0">
                <a:solidFill>
                  <a:srgbClr val="002060"/>
                </a:solidFill>
              </a:rPr>
              <a:t>．</a:t>
            </a:r>
            <a:r>
              <a:rPr kumimoji="1" lang="ja-JP" altLang="en-US" sz="2400" b="1" dirty="0">
                <a:solidFill>
                  <a:srgbClr val="002060"/>
                </a:solidFill>
              </a:rPr>
              <a:t>利用人数（アクセス数）</a:t>
            </a:r>
          </a:p>
          <a:p>
            <a:r>
              <a:rPr kumimoji="1" lang="en-US" altLang="ja-JP" dirty="0"/>
              <a:t>2026</a:t>
            </a:r>
            <a:r>
              <a:rPr kumimoji="1" lang="ja-JP" altLang="en-US" dirty="0"/>
              <a:t>年</a:t>
            </a:r>
            <a:r>
              <a:rPr kumimoji="1" lang="en-US" altLang="ja-JP" dirty="0"/>
              <a:t>8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</a:t>
            </a:r>
            <a:r>
              <a:rPr kumimoji="1" lang="ja-JP" altLang="en-US" dirty="0"/>
              <a:t>日　全</a:t>
            </a:r>
            <a:r>
              <a:rPr kumimoji="1" lang="en-US" altLang="ja-JP" dirty="0"/>
              <a:t>203</a:t>
            </a:r>
            <a:r>
              <a:rPr kumimoji="1" lang="ja-JP" altLang="en-US" dirty="0"/>
              <a:t>店舗店長向けシステム展開</a:t>
            </a:r>
            <a:endParaRPr kumimoji="1" lang="en-US" altLang="ja-JP" dirty="0"/>
          </a:p>
          <a:p>
            <a:r>
              <a:rPr kumimoji="1" lang="ja-JP" altLang="en-US" dirty="0"/>
              <a:t>まずは同時アクセス数</a:t>
            </a:r>
            <a:r>
              <a:rPr kumimoji="1" lang="en-US" altLang="ja-JP" dirty="0"/>
              <a:t>200</a:t>
            </a:r>
            <a:r>
              <a:rPr kumimoji="1" lang="ja-JP" altLang="en-US" dirty="0"/>
              <a:t>名規模で負荷試験を実施予定</a:t>
            </a:r>
            <a:endParaRPr kumimoji="1" lang="en-US" altLang="ja-JP" dirty="0"/>
          </a:p>
          <a:p>
            <a:r>
              <a:rPr kumimoji="1" lang="ja-JP" altLang="en-US" dirty="0"/>
              <a:t>その後全店舗従業員（店長、副店長、業務スタッフ含む　事務スタッフ</a:t>
            </a:r>
            <a:r>
              <a:rPr lang="ja-JP" altLang="en-US" dirty="0"/>
              <a:t>除く）想定</a:t>
            </a:r>
            <a:r>
              <a:rPr kumimoji="1" lang="en-US" altLang="ja-JP" dirty="0"/>
              <a:t>1,000</a:t>
            </a:r>
            <a:r>
              <a:rPr kumimoji="1" lang="ja-JP" altLang="en-US" dirty="0"/>
              <a:t>名規模へ展開</a:t>
            </a:r>
            <a:endParaRPr kumimoji="1"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93F20C0-CC8E-6FC2-9FAF-C252CD099A04}"/>
              </a:ext>
            </a:extLst>
          </p:cNvPr>
          <p:cNvSpPr/>
          <p:nvPr/>
        </p:nvSpPr>
        <p:spPr>
          <a:xfrm>
            <a:off x="706754" y="2621278"/>
            <a:ext cx="3991897" cy="33134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今回実施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8/1</a:t>
            </a: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～　全店長向け展開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店舗（全店舗）　　人（アクセス数）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6A60B86-A982-2F4B-EBD2-E125923B276F}"/>
              </a:ext>
            </a:extLst>
          </p:cNvPr>
          <p:cNvSpPr/>
          <p:nvPr/>
        </p:nvSpPr>
        <p:spPr>
          <a:xfrm>
            <a:off x="6874468" y="2621278"/>
            <a:ext cx="3991897" cy="331347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今後の展開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全店舗従業員向け展開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人規模（全店舗従業員）</a:t>
            </a: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63561635-6567-B8AB-E4ED-D23FCAEDB53C}"/>
              </a:ext>
            </a:extLst>
          </p:cNvPr>
          <p:cNvSpPr/>
          <p:nvPr/>
        </p:nvSpPr>
        <p:spPr>
          <a:xfrm>
            <a:off x="5364356" y="3840477"/>
            <a:ext cx="934064" cy="875071"/>
          </a:xfrm>
          <a:prstGeom prst="rightArrow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820DFEB-3887-1983-D208-EC5E38914CD2}"/>
              </a:ext>
            </a:extLst>
          </p:cNvPr>
          <p:cNvSpPr/>
          <p:nvPr/>
        </p:nvSpPr>
        <p:spPr>
          <a:xfrm>
            <a:off x="814910" y="3658579"/>
            <a:ext cx="1465007" cy="6194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203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229E1D7-8199-E289-8BA3-8CC01923B762}"/>
              </a:ext>
            </a:extLst>
          </p:cNvPr>
          <p:cNvSpPr/>
          <p:nvPr/>
        </p:nvSpPr>
        <p:spPr>
          <a:xfrm>
            <a:off x="2766611" y="3658579"/>
            <a:ext cx="1465007" cy="6194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203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88DB818-D0D0-1C88-ED37-5753D4D0C7A3}"/>
              </a:ext>
            </a:extLst>
          </p:cNvPr>
          <p:cNvSpPr/>
          <p:nvPr/>
        </p:nvSpPr>
        <p:spPr>
          <a:xfrm>
            <a:off x="888649" y="4531193"/>
            <a:ext cx="3755923" cy="115037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実施内容：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JMeter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による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200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同時負荷試験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目的：レスポンス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2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秒以内を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8/1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までに検証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F548EE1-1A49-BC3A-2D9F-61415A04CB7E}"/>
              </a:ext>
            </a:extLst>
          </p:cNvPr>
          <p:cNvSpPr/>
          <p:nvPr/>
        </p:nvSpPr>
        <p:spPr>
          <a:xfrm>
            <a:off x="6874468" y="3547966"/>
            <a:ext cx="2387519" cy="6194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1,000</a:t>
            </a:r>
            <a:r>
              <a:rPr kumimoji="1" lang="ja-JP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～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3BC4C0A-291C-BEF2-C5C5-F724B1162C71}"/>
              </a:ext>
            </a:extLst>
          </p:cNvPr>
          <p:cNvSpPr/>
          <p:nvPr/>
        </p:nvSpPr>
        <p:spPr>
          <a:xfrm>
            <a:off x="6997369" y="4531193"/>
            <a:ext cx="3755923" cy="115037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対象：全店舗店長、副店長、業務スタッフ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条件：店長への展開が順調に稼働した場合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対応：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1,000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人規模の負荷試験は別途計画</a:t>
            </a:r>
          </a:p>
        </p:txBody>
      </p:sp>
    </p:spTree>
    <p:extLst>
      <p:ext uri="{BB962C8B-B14F-4D97-AF65-F5344CB8AC3E}">
        <p14:creationId xmlns:p14="http://schemas.microsoft.com/office/powerpoint/2010/main" val="2179308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26D510-D291-BBFE-C35D-7B9935D36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性能要求・判定基準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58EAED-ACFB-F548-A786-7858BBD8844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ja-JP" altLang="en-US" sz="2400" b="1" dirty="0">
                <a:solidFill>
                  <a:srgbClr val="002060"/>
                </a:solidFill>
              </a:rPr>
              <a:t>システム非</a:t>
            </a:r>
            <a:r>
              <a:rPr kumimoji="1" lang="ja-JP" altLang="en-US" sz="2400" b="1" dirty="0">
                <a:solidFill>
                  <a:srgbClr val="002060"/>
                </a:solidFill>
              </a:rPr>
              <a:t>機能要件一覧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872454CC-18FE-D831-E41B-3B0EA09CB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258391"/>
              </p:ext>
            </p:extLst>
          </p:nvPr>
        </p:nvGraphicFramePr>
        <p:xfrm>
          <a:off x="615480" y="1309601"/>
          <a:ext cx="10961039" cy="4870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293">
                  <a:extLst>
                    <a:ext uri="{9D8B030D-6E8A-4147-A177-3AD203B41FA5}">
                      <a16:colId xmlns:a16="http://schemas.microsoft.com/office/drawing/2014/main" val="1117014019"/>
                    </a:ext>
                  </a:extLst>
                </a:gridCol>
                <a:gridCol w="1643989">
                  <a:extLst>
                    <a:ext uri="{9D8B030D-6E8A-4147-A177-3AD203B41FA5}">
                      <a16:colId xmlns:a16="http://schemas.microsoft.com/office/drawing/2014/main" val="2103339493"/>
                    </a:ext>
                  </a:extLst>
                </a:gridCol>
                <a:gridCol w="6819314">
                  <a:extLst>
                    <a:ext uri="{9D8B030D-6E8A-4147-A177-3AD203B41FA5}">
                      <a16:colId xmlns:a16="http://schemas.microsoft.com/office/drawing/2014/main" val="1807637610"/>
                    </a:ext>
                  </a:extLst>
                </a:gridCol>
                <a:gridCol w="1141443">
                  <a:extLst>
                    <a:ext uri="{9D8B030D-6E8A-4147-A177-3AD203B41FA5}">
                      <a16:colId xmlns:a16="http://schemas.microsoft.com/office/drawing/2014/main" val="3737042985"/>
                    </a:ext>
                  </a:extLst>
                </a:gridCol>
              </a:tblGrid>
              <a:tr h="695742"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管理番号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要件区分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システム要件概要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負荷試験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369633"/>
                  </a:ext>
                </a:extLst>
              </a:tr>
              <a:tr h="695742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NFR-01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可用性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システム稼働率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99%</a:t>
                      </a: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以上の達成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非対象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279322"/>
                  </a:ext>
                </a:extLst>
              </a:tr>
              <a:tr h="695742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NFR-02</a:t>
                      </a:r>
                      <a:endParaRPr kumimoji="1" lang="ja-JP" altLang="en-US" sz="1400" dirty="0">
                        <a:solidFill>
                          <a:schemeClr val="accent2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機能適合性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処理速度：</a:t>
                      </a:r>
                      <a:r>
                        <a:rPr kumimoji="1" lang="en-US" altLang="ja-JP" sz="14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ja-JP" altLang="en-US" sz="14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リクエストに対する処理速度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対象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559145"/>
                  </a:ext>
                </a:extLst>
              </a:tr>
              <a:tr h="695742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NFR-03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機能適合性</a:t>
                      </a:r>
                      <a:endParaRPr kumimoji="1" lang="en-US" altLang="ja-JP" sz="1400" dirty="0">
                        <a:solidFill>
                          <a:schemeClr val="accent2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応答時間：</a:t>
                      </a:r>
                      <a:r>
                        <a:rPr kumimoji="1" lang="en-US" altLang="ja-JP" sz="14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10PV/10</a:t>
                      </a:r>
                      <a:r>
                        <a:rPr kumimoji="1" lang="ja-JP" altLang="en-US" sz="14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秒のアクセスに対する表示・書き込み処理時間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accent2"/>
                          </a:solidFill>
                          <a:latin typeface="+mn-ea"/>
                          <a:ea typeface="+mn-ea"/>
                        </a:rPr>
                        <a:t>対象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896061"/>
                  </a:ext>
                </a:extLst>
              </a:tr>
              <a:tr h="695742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NFR-04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保守性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運用担当者や開発者が修正・拡張しやすいため命名規則統一、環境変数利用等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非対象</a:t>
                      </a:r>
                      <a:endParaRPr kumimoji="1" lang="en-US" altLang="ja-JP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85567"/>
                  </a:ext>
                </a:extLst>
              </a:tr>
              <a:tr h="695742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NFR-05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移行性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開発環境から本番環境へ安全に移行できること、バージョン管理の実施等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非対象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871347"/>
                  </a:ext>
                </a:extLst>
              </a:tr>
              <a:tr h="695742"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NFR-06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セキュリティ性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不正利用や情報漏洩を防ぐため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Azure AD</a:t>
                      </a: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認証必須等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非対象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056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826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09EAD-3E6D-D9E7-F101-BEF1BCF8A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4022D6-3F95-A7A2-BEBA-E9897394A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性能要求・判定基準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305CA9-A9A6-F2D6-8E58-75ADEC82C5A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ja-JP" altLang="en-US" sz="2400" b="1" dirty="0">
                <a:solidFill>
                  <a:srgbClr val="002060"/>
                </a:solidFill>
              </a:rPr>
              <a:t>機能適合性要件の詳細</a:t>
            </a:r>
            <a:r>
              <a:rPr lang="en-US" altLang="ja-JP" sz="2400" b="1" dirty="0">
                <a:solidFill>
                  <a:srgbClr val="002060"/>
                </a:solidFill>
              </a:rPr>
              <a:t>(</a:t>
            </a:r>
            <a:r>
              <a:rPr lang="ja-JP" altLang="en-US" sz="2400" b="1" dirty="0">
                <a:solidFill>
                  <a:srgbClr val="002060"/>
                </a:solidFill>
              </a:rPr>
              <a:t>合否判定</a:t>
            </a:r>
            <a:r>
              <a:rPr lang="en-US" altLang="ja-JP" sz="2400" b="1" dirty="0">
                <a:solidFill>
                  <a:srgbClr val="002060"/>
                </a:solidFill>
              </a:rPr>
              <a:t>)</a:t>
            </a:r>
            <a:endParaRPr kumimoji="1" lang="ja-JP" altLang="en-US" sz="2400" b="1" dirty="0">
              <a:solidFill>
                <a:srgbClr val="002060"/>
              </a:solidFill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A11F6F08-EB22-1530-E782-C632F023C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068790"/>
              </p:ext>
            </p:extLst>
          </p:nvPr>
        </p:nvGraphicFramePr>
        <p:xfrm>
          <a:off x="615480" y="1309601"/>
          <a:ext cx="10961039" cy="4775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330">
                  <a:extLst>
                    <a:ext uri="{9D8B030D-6E8A-4147-A177-3AD203B41FA5}">
                      <a16:colId xmlns:a16="http://schemas.microsoft.com/office/drawing/2014/main" val="1117014019"/>
                    </a:ext>
                  </a:extLst>
                </a:gridCol>
                <a:gridCol w="9436709">
                  <a:extLst>
                    <a:ext uri="{9D8B030D-6E8A-4147-A177-3AD203B41FA5}">
                      <a16:colId xmlns:a16="http://schemas.microsoft.com/office/drawing/2014/main" val="1807637610"/>
                    </a:ext>
                  </a:extLst>
                </a:gridCol>
              </a:tblGrid>
              <a:tr h="1193943">
                <a:tc>
                  <a:txBody>
                    <a:bodyPr/>
                    <a:lstStyle/>
                    <a:p>
                      <a:r>
                        <a:rPr kumimoji="1" lang="ja-JP" altLang="en-US" b="0" dirty="0">
                          <a:solidFill>
                            <a:schemeClr val="tx1"/>
                          </a:solidFill>
                        </a:rPr>
                        <a:t>管理番号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NFR-02</a:t>
                      </a:r>
                      <a:r>
                        <a:rPr kumimoji="1" lang="ja-JP" altLang="en-US" b="0" dirty="0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NFR-03</a:t>
                      </a:r>
                      <a:endParaRPr kumimoji="1" lang="ja-JP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369633"/>
                  </a:ext>
                </a:extLst>
              </a:tr>
              <a:tr h="1193943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基本要件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処理速度：</a:t>
                      </a:r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リクエストに対し、平均</a:t>
                      </a:r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秒以内に処理</a:t>
                      </a:r>
                      <a:endParaRPr kumimoji="1" lang="en-US" altLang="ja-JP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応答時間：</a:t>
                      </a:r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10PV/10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秒（平均</a:t>
                      </a:r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1TPS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）の負荷において、画面表示およびデータ書込の応答時間が平均</a:t>
                      </a:r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秒以内であること。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279322"/>
                  </a:ext>
                </a:extLst>
              </a:tr>
              <a:tr h="1193943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理由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経営にかかわるシステムのため高い機能性が求められること。</a:t>
                      </a:r>
                      <a:endParaRPr kumimoji="1" lang="en-US" altLang="ja-JP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ユーザーのシステムからの離脱を防止するため。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559145"/>
                  </a:ext>
                </a:extLst>
              </a:tr>
              <a:tr h="1193943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補足</a:t>
                      </a:r>
                      <a:endParaRPr kumimoji="1" lang="en-US" altLang="ja-JP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応答時間は静的ページ・動的ページ共に基本要件を満たすようにする。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896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015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ED72C-1CE7-2CD6-25AF-3B6861E13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123861-590E-4083-1C4B-191E4E36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負荷試験想定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533391-B75D-2A7E-3FD8-72DADD5466D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491" y="772629"/>
            <a:ext cx="11151029" cy="5579010"/>
          </a:xfrm>
        </p:spPr>
        <p:txBody>
          <a:bodyPr/>
          <a:lstStyle/>
          <a:p>
            <a:r>
              <a:rPr lang="ja-JP" altLang="en-US" sz="2400" b="1" dirty="0">
                <a:solidFill>
                  <a:srgbClr val="002060"/>
                </a:solidFill>
              </a:rPr>
              <a:t>負荷試験実施ソフトに</a:t>
            </a:r>
            <a:r>
              <a:rPr lang="en-US" altLang="ja-JP" sz="2400" b="1" dirty="0">
                <a:solidFill>
                  <a:srgbClr val="002060"/>
                </a:solidFill>
              </a:rPr>
              <a:t>JMeter</a:t>
            </a:r>
            <a:r>
              <a:rPr lang="ja-JP" altLang="en-US" sz="2400" b="1" dirty="0">
                <a:solidFill>
                  <a:srgbClr val="002060"/>
                </a:solidFill>
              </a:rPr>
              <a:t>を検討</a:t>
            </a:r>
            <a:endParaRPr lang="en-US" altLang="ja-JP" sz="2400" b="1" dirty="0">
              <a:solidFill>
                <a:srgbClr val="002060"/>
              </a:solidFill>
            </a:endParaRPr>
          </a:p>
          <a:p>
            <a:r>
              <a:rPr lang="en-US" altLang="ja-JP" dirty="0">
                <a:solidFill>
                  <a:schemeClr val="tx1"/>
                </a:solidFill>
              </a:rPr>
              <a:t>【</a:t>
            </a:r>
            <a:r>
              <a:rPr lang="ja-JP" altLang="en-US" dirty="0">
                <a:solidFill>
                  <a:schemeClr val="tx1"/>
                </a:solidFill>
              </a:rPr>
              <a:t>選定理由</a:t>
            </a:r>
            <a:r>
              <a:rPr lang="en-US" altLang="ja-JP" dirty="0">
                <a:solidFill>
                  <a:schemeClr val="tx1"/>
                </a:solidFill>
              </a:rPr>
              <a:t>】</a:t>
            </a:r>
          </a:p>
          <a:p>
            <a:r>
              <a:rPr lang="ja-JP" altLang="en-US" b="1" dirty="0">
                <a:solidFill>
                  <a:schemeClr val="tx1"/>
                </a:solidFill>
              </a:rPr>
              <a:t>１．社内の利用可能ソフトウェア</a:t>
            </a:r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２．多数ユーザーを簡単にシミュレーションできる</a:t>
            </a:r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　　・同時</a:t>
            </a:r>
            <a:r>
              <a:rPr lang="en-US" altLang="ja-JP" dirty="0">
                <a:solidFill>
                  <a:schemeClr val="tx1"/>
                </a:solidFill>
              </a:rPr>
              <a:t>200</a:t>
            </a:r>
            <a:r>
              <a:rPr lang="ja-JP" altLang="en-US" dirty="0">
                <a:solidFill>
                  <a:schemeClr val="tx1"/>
                </a:solidFill>
              </a:rPr>
              <a:t>ユーザー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　　・同時</a:t>
            </a:r>
            <a:r>
              <a:rPr lang="en-US" altLang="ja-JP" dirty="0">
                <a:solidFill>
                  <a:schemeClr val="tx1"/>
                </a:solidFill>
              </a:rPr>
              <a:t>1,000</a:t>
            </a:r>
            <a:r>
              <a:rPr lang="ja-JP" altLang="en-US" dirty="0">
                <a:solidFill>
                  <a:schemeClr val="tx1"/>
                </a:solidFill>
              </a:rPr>
              <a:t>ユーザー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　　など</a:t>
            </a:r>
            <a:r>
              <a:rPr lang="ja-JP" altLang="en-US">
                <a:solidFill>
                  <a:schemeClr val="tx1"/>
                </a:solidFill>
              </a:rPr>
              <a:t>のアクセス数のシミュレーションにおいて、スレッド数</a:t>
            </a:r>
            <a:r>
              <a:rPr lang="ja-JP" altLang="en-US" dirty="0">
                <a:solidFill>
                  <a:schemeClr val="tx1"/>
                </a:solidFill>
              </a:rPr>
              <a:t>を自由に設定することで同時アクセスを再現可能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３．</a:t>
            </a:r>
            <a:r>
              <a:rPr lang="en-US" altLang="ja-JP" b="1" dirty="0">
                <a:solidFill>
                  <a:schemeClr val="tx1"/>
                </a:solidFill>
              </a:rPr>
              <a:t>HTTP</a:t>
            </a:r>
            <a:r>
              <a:rPr lang="ja-JP" altLang="en-US" b="1" dirty="0">
                <a:solidFill>
                  <a:schemeClr val="tx1"/>
                </a:solidFill>
              </a:rPr>
              <a:t>通信の応答時間を計測でき、今回の非機能要件の検証に向いているため</a:t>
            </a:r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　　・</a:t>
            </a:r>
            <a:r>
              <a:rPr lang="zh-TW" altLang="en-US" dirty="0">
                <a:solidFill>
                  <a:schemeClr val="tx1"/>
                </a:solidFill>
              </a:rPr>
              <a:t>平均応答時間</a:t>
            </a:r>
            <a:r>
              <a:rPr lang="ja-JP" altLang="en-US" dirty="0">
                <a:solidFill>
                  <a:schemeClr val="tx1"/>
                </a:solidFill>
              </a:rPr>
              <a:t>○</a:t>
            </a:r>
            <a:r>
              <a:rPr lang="zh-TW" altLang="en-US" dirty="0">
                <a:solidFill>
                  <a:schemeClr val="tx1"/>
                </a:solidFill>
              </a:rPr>
              <a:t>秒以内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　　・エラー率△</a:t>
            </a:r>
            <a:r>
              <a:rPr lang="en-US" altLang="ja-JP" dirty="0">
                <a:solidFill>
                  <a:schemeClr val="tx1"/>
                </a:solidFill>
              </a:rPr>
              <a:t>%</a:t>
            </a:r>
            <a:r>
              <a:rPr lang="ja-JP" altLang="en-US" dirty="0">
                <a:solidFill>
                  <a:schemeClr val="tx1"/>
                </a:solidFill>
              </a:rPr>
              <a:t>未満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４．</a:t>
            </a:r>
            <a:r>
              <a:rPr lang="en-US" altLang="ja-JP" b="1" dirty="0">
                <a:solidFill>
                  <a:schemeClr val="tx1"/>
                </a:solidFill>
              </a:rPr>
              <a:t>CI/CD</a:t>
            </a:r>
            <a:r>
              <a:rPr lang="ja-JP" altLang="en-US" b="1" dirty="0">
                <a:solidFill>
                  <a:schemeClr val="tx1"/>
                </a:solidFill>
              </a:rPr>
              <a:t>と連携可能</a:t>
            </a:r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　　</a:t>
            </a:r>
            <a:r>
              <a:rPr lang="en-US" altLang="ja-JP" dirty="0">
                <a:solidFill>
                  <a:schemeClr val="tx1"/>
                </a:solidFill>
              </a:rPr>
              <a:t>Azure Load Testing</a:t>
            </a:r>
            <a:r>
              <a:rPr lang="ja-JP" altLang="en-US" dirty="0">
                <a:solidFill>
                  <a:schemeClr val="tx1"/>
                </a:solidFill>
              </a:rPr>
              <a:t>や</a:t>
            </a:r>
            <a:r>
              <a:rPr lang="en-US" altLang="ja-JP" dirty="0">
                <a:solidFill>
                  <a:schemeClr val="tx1"/>
                </a:solidFill>
              </a:rPr>
              <a:t>DevOps</a:t>
            </a:r>
            <a:r>
              <a:rPr lang="ja-JP" altLang="en-US" dirty="0">
                <a:solidFill>
                  <a:schemeClr val="tx1"/>
                </a:solidFill>
              </a:rPr>
              <a:t>パイプラインと連携できるため、自動負荷試験にも対応</a:t>
            </a:r>
            <a:endParaRPr lang="en-US" altLang="ja-JP" dirty="0">
              <a:solidFill>
                <a:schemeClr val="tx1"/>
              </a:solidFill>
            </a:endParaRPr>
          </a:p>
          <a:p>
            <a:r>
              <a:rPr lang="ja-JP" altLang="en-US" b="1" dirty="0">
                <a:solidFill>
                  <a:schemeClr val="tx1"/>
                </a:solidFill>
              </a:rPr>
              <a:t>５．</a:t>
            </a:r>
            <a:r>
              <a:rPr lang="en-US" altLang="ja-JP" b="1" dirty="0">
                <a:solidFill>
                  <a:schemeClr val="tx1"/>
                </a:solidFill>
              </a:rPr>
              <a:t>Microsoft</a:t>
            </a:r>
            <a:r>
              <a:rPr lang="ja-JP" altLang="en-US" b="1" dirty="0">
                <a:solidFill>
                  <a:schemeClr val="tx1"/>
                </a:solidFill>
              </a:rPr>
              <a:t>関連製品でも利用実績がある</a:t>
            </a:r>
            <a:endParaRPr lang="en-US" altLang="ja-JP" b="1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　　</a:t>
            </a:r>
            <a:r>
              <a:rPr lang="en-US" altLang="ja-JP" dirty="0">
                <a:solidFill>
                  <a:schemeClr val="tx1"/>
                </a:solidFill>
              </a:rPr>
              <a:t>Dynamics 365</a:t>
            </a:r>
            <a:r>
              <a:rPr lang="ja-JP" altLang="en-US" dirty="0">
                <a:solidFill>
                  <a:schemeClr val="tx1"/>
                </a:solidFill>
              </a:rPr>
              <a:t>の負荷試験で</a:t>
            </a:r>
            <a:r>
              <a:rPr lang="en-US" altLang="ja-JP" dirty="0">
                <a:solidFill>
                  <a:schemeClr val="tx1"/>
                </a:solidFill>
              </a:rPr>
              <a:t>JMeter</a:t>
            </a:r>
            <a:r>
              <a:rPr lang="ja-JP" altLang="en-US" dirty="0">
                <a:solidFill>
                  <a:schemeClr val="tx1"/>
                </a:solidFill>
              </a:rPr>
              <a:t>利用手順を公開</a:t>
            </a:r>
            <a:endParaRPr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301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08EBB-B87B-F2A6-EBC1-4B209413A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15AFD-0B17-21B9-78E2-17241EFC0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負荷試験想定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7574AD-B6FF-9A4D-05B3-0942072A051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491" y="772629"/>
            <a:ext cx="11151029" cy="5579010"/>
          </a:xfrm>
        </p:spPr>
        <p:txBody>
          <a:bodyPr/>
          <a:lstStyle/>
          <a:p>
            <a:r>
              <a:rPr lang="ja-JP" altLang="en-US" sz="2400" b="1" dirty="0">
                <a:solidFill>
                  <a:srgbClr val="002060"/>
                </a:solidFill>
              </a:rPr>
              <a:t>試験シナリオ</a:t>
            </a:r>
            <a:endParaRPr lang="en-US" altLang="ja-JP" sz="2400" b="1" dirty="0">
              <a:solidFill>
                <a:srgbClr val="002060"/>
              </a:solidFill>
            </a:endParaRPr>
          </a:p>
          <a:p>
            <a:r>
              <a:rPr lang="ja-JP" altLang="en-US" b="1" u="sng" dirty="0">
                <a:solidFill>
                  <a:schemeClr val="tx1"/>
                </a:solidFill>
              </a:rPr>
              <a:t>１．</a:t>
            </a:r>
            <a:r>
              <a:rPr lang="en-US" altLang="ja-JP" b="1" u="sng" dirty="0">
                <a:solidFill>
                  <a:schemeClr val="tx1"/>
                </a:solidFill>
              </a:rPr>
              <a:t>JAVA</a:t>
            </a:r>
            <a:r>
              <a:rPr lang="ja-JP" altLang="en-US" b="1" u="sng" dirty="0">
                <a:solidFill>
                  <a:schemeClr val="tx1"/>
                </a:solidFill>
              </a:rPr>
              <a:t>環境準備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１－１．</a:t>
            </a:r>
            <a:r>
              <a:rPr lang="en-US" altLang="ja-JP" dirty="0">
                <a:solidFill>
                  <a:schemeClr val="tx1"/>
                </a:solidFill>
              </a:rPr>
              <a:t>Java</a:t>
            </a:r>
            <a:r>
              <a:rPr lang="ja-JP" altLang="en-US" dirty="0">
                <a:solidFill>
                  <a:schemeClr val="tx1"/>
                </a:solidFill>
              </a:rPr>
              <a:t>　</a:t>
            </a:r>
            <a:r>
              <a:rPr lang="en-US" altLang="ja-JP" dirty="0">
                <a:solidFill>
                  <a:schemeClr val="tx1"/>
                </a:solidFill>
              </a:rPr>
              <a:t>JRE</a:t>
            </a:r>
            <a:r>
              <a:rPr lang="ja-JP" altLang="en-US" dirty="0">
                <a:solidFill>
                  <a:schemeClr val="tx1"/>
                </a:solidFill>
              </a:rPr>
              <a:t>をダウンロード、インストールする</a:t>
            </a:r>
            <a:r>
              <a:rPr lang="en-US" altLang="ja-JP" dirty="0">
                <a:solidFill>
                  <a:schemeClr val="tx1"/>
                </a:solidFill>
              </a:rPr>
              <a:t>｡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１－２．環境変数の設定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「スタート」→「環境変数」と検索 → 「システム環境変数の編集」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「環境変数</a:t>
            </a:r>
            <a:r>
              <a:rPr lang="en-US" altLang="ja-JP" dirty="0">
                <a:solidFill>
                  <a:schemeClr val="tx1"/>
                </a:solidFill>
              </a:rPr>
              <a:t>(N)...</a:t>
            </a:r>
            <a:r>
              <a:rPr lang="ja-JP" altLang="en-US" dirty="0">
                <a:solidFill>
                  <a:schemeClr val="tx1"/>
                </a:solidFill>
              </a:rPr>
              <a:t>」をクリック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</a:t>
            </a:r>
            <a:r>
              <a:rPr lang="en-US" altLang="ja-JP" dirty="0">
                <a:solidFill>
                  <a:schemeClr val="tx1"/>
                </a:solidFill>
              </a:rPr>
              <a:t>JAVA_HOME </a:t>
            </a:r>
            <a:r>
              <a:rPr lang="ja-JP" altLang="en-US" dirty="0">
                <a:solidFill>
                  <a:schemeClr val="tx1"/>
                </a:solidFill>
              </a:rPr>
              <a:t>を新規作成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変数名</a:t>
            </a:r>
            <a:r>
              <a:rPr lang="en-US" altLang="ja-JP" dirty="0">
                <a:solidFill>
                  <a:schemeClr val="tx1"/>
                </a:solidFill>
              </a:rPr>
              <a:t>: JAVA_HOME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変数値</a:t>
            </a:r>
            <a:r>
              <a:rPr lang="en-US" altLang="ja-JP" dirty="0">
                <a:solidFill>
                  <a:schemeClr val="tx1"/>
                </a:solidFill>
              </a:rPr>
              <a:t>: C:\Program Files\Java\jdk-21</a:t>
            </a:r>
            <a:r>
              <a:rPr lang="ja-JP" altLang="en-US" dirty="0">
                <a:solidFill>
                  <a:schemeClr val="tx1"/>
                </a:solidFill>
              </a:rPr>
              <a:t>（実際格納場所）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</a:t>
            </a:r>
            <a:r>
              <a:rPr lang="en-US" altLang="ja-JP" dirty="0">
                <a:solidFill>
                  <a:schemeClr val="tx1"/>
                </a:solidFill>
              </a:rPr>
              <a:t>Path </a:t>
            </a:r>
            <a:r>
              <a:rPr lang="ja-JP" altLang="en-US" dirty="0">
                <a:solidFill>
                  <a:schemeClr val="tx1"/>
                </a:solidFill>
              </a:rPr>
              <a:t>を編集 → 新規追加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</a:t>
            </a:r>
            <a:r>
              <a:rPr lang="en-US" altLang="ja-JP" dirty="0">
                <a:solidFill>
                  <a:schemeClr val="tx1"/>
                </a:solidFill>
              </a:rPr>
              <a:t>%JAVA_HOME%\bin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１－３．バージョン確認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</a:t>
            </a:r>
            <a:r>
              <a:rPr lang="en-US" altLang="ja-JP" dirty="0">
                <a:solidFill>
                  <a:schemeClr val="tx1"/>
                </a:solidFill>
              </a:rPr>
              <a:t>java –version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右の図の通りに表示すれば、正しくインストール完了</a:t>
            </a:r>
            <a:endParaRPr lang="en-US" altLang="ja-JP" dirty="0">
              <a:solidFill>
                <a:schemeClr val="tx1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F3A01CF-CA8B-E7FC-7785-36AC28C9F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565" y="4560689"/>
            <a:ext cx="5044110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90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D3455-60EA-DD69-3ABB-712621500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FE5D8B-FE0A-C10F-EBF3-DE9DF50AA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負荷試験想定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062725-234A-1D2E-5E32-0600757A267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5491" y="772629"/>
            <a:ext cx="11151029" cy="5873977"/>
          </a:xfrm>
        </p:spPr>
        <p:txBody>
          <a:bodyPr/>
          <a:lstStyle/>
          <a:p>
            <a:r>
              <a:rPr lang="ja-JP" altLang="en-US" sz="2400" b="1" dirty="0">
                <a:solidFill>
                  <a:srgbClr val="002060"/>
                </a:solidFill>
              </a:rPr>
              <a:t>試験シナリオ</a:t>
            </a:r>
            <a:endParaRPr lang="en-US" altLang="ja-JP" sz="2400" b="1" dirty="0">
              <a:solidFill>
                <a:srgbClr val="002060"/>
              </a:solidFill>
            </a:endParaRPr>
          </a:p>
          <a:p>
            <a:r>
              <a:rPr lang="ja-JP" altLang="en-US" b="1" u="sng" dirty="0">
                <a:solidFill>
                  <a:schemeClr val="tx1"/>
                </a:solidFill>
              </a:rPr>
              <a:t>２．</a:t>
            </a:r>
            <a:r>
              <a:rPr lang="en-US" altLang="ja-JP" b="1" u="sng" dirty="0">
                <a:solidFill>
                  <a:schemeClr val="tx1"/>
                </a:solidFill>
              </a:rPr>
              <a:t>JMeter</a:t>
            </a:r>
            <a:r>
              <a:rPr lang="ja-JP" altLang="en-US" b="1" u="sng" dirty="0">
                <a:solidFill>
                  <a:schemeClr val="tx1"/>
                </a:solidFill>
              </a:rPr>
              <a:t>ツール準備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２－１．ダウンロード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次のリンクからダウンロード　→　</a:t>
            </a:r>
            <a:r>
              <a:rPr lang="en-US" altLang="ja-JP" dirty="0">
                <a:solidFill>
                  <a:schemeClr val="tx1"/>
                </a:solidFill>
              </a:rPr>
              <a:t>https://jmeter.apache.org/download_jmeter.cgi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２－２．インストール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インストールはダウンロードしたバイナリを解凍し、任意のディレクトリに配置。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２－３．起動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</a:t>
            </a:r>
            <a:r>
              <a:rPr lang="en-US" altLang="ja-JP" dirty="0">
                <a:solidFill>
                  <a:schemeClr val="tx1"/>
                </a:solidFill>
              </a:rPr>
              <a:t>\apache-jmeter-5.6.3\bin\jmeter.cmd</a:t>
            </a:r>
            <a:r>
              <a:rPr lang="ja-JP" altLang="en-US" dirty="0">
                <a:solidFill>
                  <a:schemeClr val="tx1"/>
                </a:solidFill>
              </a:rPr>
              <a:t>ファイルをクリックして起動する。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起動にあたり以下が設定されていることが前提条件となる。そうでないと起動エラーとなる。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・</a:t>
            </a:r>
            <a:r>
              <a:rPr lang="en-US" altLang="ja-JP" dirty="0">
                <a:solidFill>
                  <a:schemeClr val="tx1"/>
                </a:solidFill>
              </a:rPr>
              <a:t>jdk </a:t>
            </a:r>
            <a:r>
              <a:rPr lang="ja-JP" altLang="en-US" dirty="0">
                <a:solidFill>
                  <a:schemeClr val="tx1"/>
                </a:solidFill>
              </a:rPr>
              <a:t>の </a:t>
            </a:r>
            <a:r>
              <a:rPr lang="en-US" altLang="ja-JP" dirty="0">
                <a:solidFill>
                  <a:schemeClr val="tx1"/>
                </a:solidFill>
              </a:rPr>
              <a:t>PATH </a:t>
            </a:r>
            <a:r>
              <a:rPr lang="ja-JP" altLang="en-US" dirty="0">
                <a:solidFill>
                  <a:schemeClr val="tx1"/>
                </a:solidFill>
              </a:rPr>
              <a:t>が通っていること</a:t>
            </a:r>
          </a:p>
          <a:p>
            <a:r>
              <a:rPr lang="ja-JP" altLang="en-US" dirty="0">
                <a:solidFill>
                  <a:schemeClr val="tx1"/>
                </a:solidFill>
              </a:rPr>
              <a:t>　・</a:t>
            </a:r>
            <a:r>
              <a:rPr lang="en-US" altLang="ja-JP" dirty="0">
                <a:solidFill>
                  <a:schemeClr val="tx1"/>
                </a:solidFill>
              </a:rPr>
              <a:t>JAVA_HOME </a:t>
            </a:r>
            <a:r>
              <a:rPr lang="ja-JP" altLang="en-US" dirty="0">
                <a:solidFill>
                  <a:schemeClr val="tx1"/>
                </a:solidFill>
              </a:rPr>
              <a:t>の環境変数が設定されていること</a:t>
            </a:r>
            <a:endParaRPr lang="en-US" altLang="ja-JP" dirty="0">
              <a:solidFill>
                <a:schemeClr val="tx1"/>
              </a:solidFill>
            </a:endParaRPr>
          </a:p>
          <a:p>
            <a:endParaRPr lang="en-US" altLang="ja-JP" dirty="0">
              <a:solidFill>
                <a:schemeClr val="tx1"/>
              </a:solidFill>
            </a:endParaRPr>
          </a:p>
          <a:p>
            <a:r>
              <a:rPr lang="ja-JP" altLang="en-US" b="1" u="sng" dirty="0">
                <a:solidFill>
                  <a:schemeClr val="tx1"/>
                </a:solidFill>
              </a:rPr>
              <a:t>３．負荷試験実施</a:t>
            </a:r>
            <a:endParaRPr lang="en-US" altLang="ja-JP" b="1" u="sng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　</a:t>
            </a:r>
            <a:r>
              <a:rPr lang="en-US" altLang="ja-JP" dirty="0">
                <a:solidFill>
                  <a:schemeClr val="tx1"/>
                </a:solidFill>
              </a:rPr>
              <a:t>Microsoft</a:t>
            </a:r>
            <a:r>
              <a:rPr lang="ja-JP" altLang="en-US" dirty="0">
                <a:solidFill>
                  <a:schemeClr val="tx1"/>
                </a:solidFill>
              </a:rPr>
              <a:t>様公開の手順を参考にテストを実施</a:t>
            </a:r>
          </a:p>
          <a:p>
            <a:endParaRPr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514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7DEBF-8CC9-0299-F813-5FE1AD97F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B56164-E323-B725-02E3-0C5F916AA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Microsoft</a:t>
            </a:r>
            <a:r>
              <a:rPr kumimoji="1" lang="ja-JP" altLang="en-US" dirty="0"/>
              <a:t>様への相談事項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2395E2-1DBE-E6BB-828B-EC02CA0BCD2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0485" y="3288145"/>
            <a:ext cx="11151029" cy="1588654"/>
          </a:xfrm>
        </p:spPr>
        <p:txBody>
          <a:bodyPr anchor="ctr"/>
          <a:lstStyle/>
          <a:p>
            <a:pPr marL="457200" indent="-457200">
              <a:buFont typeface="+mj-lt"/>
              <a:buAutoNum type="arabicPeriod"/>
            </a:pPr>
            <a:r>
              <a:rPr lang="ja-JP" altLang="en-US" sz="2400" b="1" dirty="0"/>
              <a:t>本資料の内容で負荷試験を行うにあたり、抜け漏れ、問題等ありますでしょうか。</a:t>
            </a:r>
            <a:endParaRPr lang="en-US" altLang="ja-JP" sz="2400" b="1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400" b="1" dirty="0"/>
              <a:t>他により良い方法があればご教示いただけますと幸いです。</a:t>
            </a:r>
            <a:endParaRPr lang="en-US" altLang="ja-JP" sz="2400" b="1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400" b="1" dirty="0"/>
              <a:t>そもそも</a:t>
            </a:r>
            <a:r>
              <a:rPr lang="en-US" altLang="ja-JP" sz="2400" b="1" dirty="0"/>
              <a:t>SharePoint List</a:t>
            </a:r>
            <a:r>
              <a:rPr lang="ja-JP" altLang="en-US" sz="2400" b="1" dirty="0"/>
              <a:t>で</a:t>
            </a:r>
            <a:r>
              <a:rPr lang="en-US" altLang="ja-JP" sz="2400" b="1" dirty="0"/>
              <a:t>320</a:t>
            </a:r>
            <a:r>
              <a:rPr lang="ja-JP" altLang="en-US" sz="2400" b="1" dirty="0"/>
              <a:t>万件</a:t>
            </a:r>
            <a:r>
              <a:rPr lang="en-US" altLang="ja-JP" sz="2400" b="1" dirty="0"/>
              <a:t>×10</a:t>
            </a:r>
            <a:r>
              <a:rPr lang="ja-JP" altLang="en-US" sz="2400" b="1" dirty="0"/>
              <a:t>列のデータを扱うことは現実的でしょうか。</a:t>
            </a:r>
            <a:endParaRPr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2982106432"/>
      </p:ext>
    </p:extLst>
  </p:cSld>
  <p:clrMapOvr>
    <a:masterClrMapping/>
  </p:clrMapOvr>
</p:sld>
</file>

<file path=ppt/theme/theme1.xml><?xml version="1.0" encoding="utf-8"?>
<a:theme xmlns:a="http://schemas.openxmlformats.org/drawingml/2006/main" name="2_ロードマップ_20240625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メイリオ‗SegoeUI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  <a:effectLst/>
      </a:spPr>
      <a:bodyPr lIns="36000" tIns="36000" rIns="36000" bIns="36000" rtlCol="0" anchor="ctr"/>
      <a:lstStyle>
        <a:defPPr algn="ctr">
          <a:lnSpc>
            <a:spcPct val="130000"/>
          </a:lnSpc>
          <a:defRPr kumimoji="1" dirty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spcAft>
            <a:spcPts val="600"/>
          </a:spcAft>
          <a:defRPr kumimoji="1" sz="1600"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99936C955C572449FBA586A1F65E746" ma:contentTypeVersion="0" ma:contentTypeDescription="新しいドキュメントを作成します。" ma:contentTypeScope="" ma:versionID="46f5656d19aa72b4fb0dad4cae3849d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9eb99ccec9652907e05478db3a2656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53DF93-71F7-4C81-94D7-B340FF6AD7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FEAD264-B0DF-4F89-9C03-F416C6E7F1AD}">
  <ds:schemaRefs>
    <ds:schemaRef ds:uri="http://purl.org/dc/dcmitype/"/>
    <ds:schemaRef ds:uri="http://schemas.microsoft.com/office/2006/documentManagement/types"/>
    <ds:schemaRef ds:uri="ca991050-39ed-4252-bec3-2fcfe0e2ed53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85e69d7a-c07c-48b6-8973-f1ebaf7dc52d"/>
    <ds:schemaRef ds:uri="http://schemas.microsoft.com/office/2006/metadata/properties"/>
    <ds:schemaRef ds:uri="http://purl.org/dc/terms/"/>
    <ds:schemaRef ds:uri="464e4d21-e142-4634-928e-3c8592f7d0da"/>
    <ds:schemaRef ds:uri="d81cfc68-712c-4b5b-a9c5-b63ee44356dd"/>
  </ds:schemaRefs>
</ds:datastoreItem>
</file>

<file path=customXml/itemProps3.xml><?xml version="1.0" encoding="utf-8"?>
<ds:datastoreItem xmlns:ds="http://schemas.openxmlformats.org/officeDocument/2006/customXml" ds:itemID="{1EB63C3D-715A-476D-8E37-BD139DCFC70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7a81c19-a273-44e1-9693-b110b3b63ca9}" enabled="0" method="" siteId="{a7a81c19-a273-44e1-9693-b110b3b63ca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5307</TotalTime>
  <Words>1979</Words>
  <Application>Microsoft Office PowerPoint</Application>
  <PresentationFormat>Widescreen</PresentationFormat>
  <Paragraphs>340</Paragraphs>
  <Slides>15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2_ロードマップ_20240625</vt:lpstr>
      <vt:lpstr>経営KPI+店舗プロセスKPI 要件概要</vt:lpstr>
      <vt:lpstr>目次</vt:lpstr>
      <vt:lpstr>相談の背景と目的</vt:lpstr>
      <vt:lpstr>要件概要_業務概要</vt:lpstr>
      <vt:lpstr>要件概要_対象範囲・利用者(5W1H)</vt:lpstr>
      <vt:lpstr>システム構成_システム構成図</vt:lpstr>
      <vt:lpstr>システム構成_データ連携図</vt:lpstr>
      <vt:lpstr>利用規模・負荷条件</vt:lpstr>
      <vt:lpstr>利用規模・負荷条件</vt:lpstr>
      <vt:lpstr>性能要求・判定基準</vt:lpstr>
      <vt:lpstr>性能要求・判定基準</vt:lpstr>
      <vt:lpstr>負荷試験想定</vt:lpstr>
      <vt:lpstr>負荷試験想定</vt:lpstr>
      <vt:lpstr>負荷試験想定</vt:lpstr>
      <vt:lpstr>Microsoft様への相談事項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山本　智</dc:creator>
  <cp:lastModifiedBy>山本　智</cp:lastModifiedBy>
  <cp:revision>81</cp:revision>
  <dcterms:created xsi:type="dcterms:W3CDTF">2026-01-21T03:52:55Z</dcterms:created>
  <dcterms:modified xsi:type="dcterms:W3CDTF">2026-07-28T00:15:17Z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0x010100599936C955C572449FBA586A1F65E746</vt:lpwstr>
  </property>
  <property fmtid="{D5CDD505-2E9C-101B-9397-08002B2CF9AE}" pid="3" name="MediaServiceImageTags">
    <vt:lpwstr/>
  </property>
</Properties>
</file>