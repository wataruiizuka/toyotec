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60" r:id="rId5"/>
    <p:sldId id="261" r:id="rId6"/>
    <p:sldId id="262" r:id="rId7"/>
    <p:sldId id="263" r:id="rId8"/>
    <p:sldId id="264" r:id="rId9"/>
    <p:sldId id="259" r:id="rId10"/>
    <p:sldId id="257" r:id="rId11"/>
    <p:sldId id="25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788355-962D-0E37-DAC3-C8ED570C2035}" v="25" dt="2026-08-03T15:06:26.260"/>
    <p1510:client id="{DC5ADD4F-BBE1-B9E3-A206-96988CFD5530}" v="11" dt="2026-08-03T16:13:50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295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TOYOTEC データ活用基盤プロジェクト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全体スケジュール（2026年6月〜9月・号口リリースまで）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81200" y="1261879"/>
            <a:ext cx="98904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本プロジェクト（2026年6月〜9月・GA/号口リリースまで）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81200" y="1463047"/>
            <a:ext cx="899132" cy="274320"/>
          </a:xfrm>
          <a:prstGeom prst="rect">
            <a:avLst/>
          </a:prstGeom>
          <a:solidFill>
            <a:srgbClr val="E4E9F0"/>
          </a:solidFill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981200" y="1463047"/>
            <a:ext cx="899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6月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880332" y="1463047"/>
            <a:ext cx="899132" cy="274320"/>
          </a:xfrm>
          <a:prstGeom prst="rect">
            <a:avLst/>
          </a:prstGeom>
          <a:solidFill>
            <a:srgbClr val="E4E9F0"/>
          </a:solidFill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880332" y="1463047"/>
            <a:ext cx="899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7月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779465" y="1463047"/>
            <a:ext cx="899132" cy="274320"/>
          </a:xfrm>
          <a:prstGeom prst="rect">
            <a:avLst/>
          </a:prstGeom>
          <a:solidFill>
            <a:srgbClr val="F0F3F8"/>
          </a:solidFill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779465" y="1463047"/>
            <a:ext cx="899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8/3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78597" y="1463047"/>
            <a:ext cx="8991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678597" y="1463047"/>
            <a:ext cx="899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8/10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577729" y="1463047"/>
            <a:ext cx="899132" cy="274320"/>
          </a:xfrm>
          <a:prstGeom prst="rect">
            <a:avLst/>
          </a:prstGeom>
          <a:solidFill>
            <a:srgbClr val="F0F3F8"/>
          </a:solidFill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577729" y="1463047"/>
            <a:ext cx="899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8/17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76861" y="1463047"/>
            <a:ext cx="8991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476861" y="1463047"/>
            <a:ext cx="899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8/24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75994" y="1463047"/>
            <a:ext cx="899132" cy="274320"/>
          </a:xfrm>
          <a:prstGeom prst="rect">
            <a:avLst/>
          </a:prstGeom>
          <a:solidFill>
            <a:srgbClr val="F0F3F8"/>
          </a:solidFill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375994" y="1463047"/>
            <a:ext cx="899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8/31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75126" y="1463047"/>
            <a:ext cx="8991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8275126" y="1463047"/>
            <a:ext cx="899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9/7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174258" y="1463047"/>
            <a:ext cx="899132" cy="274320"/>
          </a:xfrm>
          <a:prstGeom prst="rect">
            <a:avLst/>
          </a:prstGeom>
          <a:solidFill>
            <a:srgbClr val="F0F3F8"/>
          </a:solidFill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9174258" y="1463047"/>
            <a:ext cx="899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9/14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073391" y="1463047"/>
            <a:ext cx="8991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073391" y="1463047"/>
            <a:ext cx="899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9/21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972523" y="1463047"/>
            <a:ext cx="899132" cy="274320"/>
          </a:xfrm>
          <a:prstGeom prst="rect">
            <a:avLst/>
          </a:prstGeom>
          <a:solidFill>
            <a:srgbClr val="F0F3F8"/>
          </a:solidFill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0972523" y="1463047"/>
            <a:ext cx="899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9/28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1792231"/>
            <a:ext cx="143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イベント／</a:t>
            </a:r>
            <a:r>
              <a:rPr lang="ja-JP" altLang="en-US" sz="90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協力相談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981200" y="1769171"/>
            <a:ext cx="9890455" cy="658368"/>
          </a:xfrm>
          <a:prstGeom prst="rect">
            <a:avLst/>
          </a:prstGeom>
          <a:solidFill>
            <a:srgbClr val="FAF9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5626340" y="1835001"/>
            <a:ext cx="109728" cy="109728"/>
          </a:xfrm>
          <a:prstGeom prst="ellipse">
            <a:avLst/>
          </a:prstGeom>
          <a:solidFill>
            <a:srgbClr val="6B4FA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619605" y="176062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ja-JP" sz="650" b="1" dirty="0" err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VE</a:t>
            </a:r>
            <a:r>
              <a:rPr lang="en-US" sz="650" b="1" dirty="0" err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環境性能拡張調整</a:t>
            </a:r>
            <a:endParaRPr lang="en-US" sz="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53354" y="1847630"/>
            <a:ext cx="109728" cy="109728"/>
          </a:xfrm>
          <a:prstGeom prst="ellipse">
            <a:avLst/>
          </a:prstGeom>
          <a:solidFill>
            <a:srgbClr val="6B4FA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4674532" y="1805206"/>
            <a:ext cx="10511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ja-JP" sz="65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TMC</a:t>
            </a:r>
            <a:r>
              <a:rPr lang="ja-JP" altLang="en-US" sz="65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様（</a:t>
            </a:r>
            <a:r>
              <a:rPr lang="en-US" sz="650" b="1" dirty="0" err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Oracle側</a:t>
            </a:r>
            <a:r>
              <a:rPr lang="ja-JP" altLang="en-US" sz="65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）</a:t>
            </a:r>
            <a:endParaRPr lang="en-US" altLang="ja-JP" sz="650" b="1" dirty="0">
              <a:solidFill>
                <a:srgbClr val="6B4FA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65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650" b="1" dirty="0" err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完全性チェック</a:t>
            </a:r>
            <a:r>
              <a:rPr lang="ja-JP" altLang="en-US" sz="65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案</a:t>
            </a:r>
            <a:r>
              <a:rPr lang="en-US" sz="65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相談</a:t>
            </a:r>
            <a:endParaRPr lang="en-US" sz="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56782" y="2082453"/>
            <a:ext cx="109728" cy="109728"/>
          </a:xfrm>
          <a:prstGeom prst="ellipse">
            <a:avLst/>
          </a:prstGeom>
          <a:solidFill>
            <a:srgbClr val="6B4FA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7226810" y="20743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 err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断面データ</a:t>
            </a:r>
            <a:endParaRPr lang="en-US" sz="650" b="1" dirty="0">
              <a:solidFill>
                <a:srgbClr val="6B4FA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650" b="1" dirty="0" err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取得</a:t>
            </a:r>
            <a:r>
              <a:rPr lang="ja-JP" altLang="en-US" sz="65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開始</a:t>
            </a:r>
            <a:endParaRPr lang="en-US" sz="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162068" y="2034747"/>
            <a:ext cx="109728" cy="109728"/>
          </a:xfrm>
          <a:prstGeom prst="ellipse">
            <a:avLst/>
          </a:prstGeom>
          <a:solidFill>
            <a:srgbClr val="6B4FA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8194484" y="1954437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 err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本番環境性能拡張</a:t>
            </a:r>
            <a:r>
              <a:rPr lang="ja-JP" altLang="en-US" sz="65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調整</a:t>
            </a:r>
            <a:endParaRPr lang="en-US" sz="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590869" y="1836343"/>
            <a:ext cx="109728" cy="109728"/>
          </a:xfrm>
          <a:prstGeom prst="ellipse">
            <a:avLst/>
          </a:prstGeom>
          <a:solidFill>
            <a:srgbClr val="6B4FA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7511006" y="1760116"/>
            <a:ext cx="14251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 err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PKなしテーブル対応（VE</a:t>
            </a:r>
            <a:r>
              <a:rPr lang="en-US" sz="65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）</a:t>
            </a:r>
            <a:endParaRPr lang="en-US" sz="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962129" y="1835189"/>
            <a:ext cx="109728" cy="109728"/>
          </a:xfrm>
          <a:prstGeom prst="ellipse">
            <a:avLst/>
          </a:prstGeom>
          <a:solidFill>
            <a:srgbClr val="6B4FA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9955873" y="1755901"/>
            <a:ext cx="13242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 err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PKなし対応（本番</a:t>
            </a:r>
            <a:r>
              <a:rPr lang="ja-JP" altLang="en-US" sz="65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sz="65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9/20）</a:t>
            </a:r>
            <a:endParaRPr lang="en-US" sz="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964283" y="2046608"/>
            <a:ext cx="109728" cy="109728"/>
          </a:xfrm>
          <a:prstGeom prst="ellipse">
            <a:avLst/>
          </a:prstGeom>
          <a:solidFill>
            <a:srgbClr val="6B4FA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9980503" y="1976543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 err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SCN同期（本番</a:t>
            </a:r>
            <a:r>
              <a:rPr lang="ja-JP" altLang="en-US" sz="65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sz="65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9/20）</a:t>
            </a:r>
            <a:endParaRPr lang="en-US" sz="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7199" y="2505463"/>
            <a:ext cx="15165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基盤構築・環境整備（Bronze/Silver基盤・CI/CD）</a:t>
            </a:r>
            <a:endParaRPr lang="en-US" sz="73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981200" y="2585930"/>
            <a:ext cx="9890455" cy="204826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1981200" y="2571300"/>
            <a:ext cx="1798265" cy="234086"/>
          </a:xfrm>
          <a:prstGeom prst="roundRect">
            <a:avLst>
              <a:gd name="adj" fmla="val 13672"/>
            </a:avLst>
          </a:prstGeom>
          <a:solidFill>
            <a:srgbClr val="00B0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457200" y="2871223"/>
            <a:ext cx="1450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データ連携環境整備＆実装（CDC）</a:t>
            </a:r>
            <a:endParaRPr lang="en-US" sz="73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981200" y="2951690"/>
            <a:ext cx="9890455" cy="204826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1981199" y="2937060"/>
            <a:ext cx="4495659" cy="234086"/>
          </a:xfrm>
          <a:prstGeom prst="roundRect">
            <a:avLst>
              <a:gd name="adj" fmla="val 1367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457200" y="3236983"/>
            <a:ext cx="1450848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700" b="1" dirty="0" err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Gold層</a:t>
            </a:r>
            <a:r>
              <a:rPr lang="en-US" sz="7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 </a:t>
            </a:r>
            <a:r>
              <a:rPr lang="en-US" sz="700" b="1" dirty="0" err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設計（ClouderaPS＆Whizen</a:t>
            </a:r>
            <a:r>
              <a:rPr lang="en-US" sz="7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）</a:t>
            </a:r>
          </a:p>
        </p:txBody>
      </p:sp>
      <p:sp>
        <p:nvSpPr>
          <p:cNvPr id="50" name="Shape 48"/>
          <p:cNvSpPr/>
          <p:nvPr/>
        </p:nvSpPr>
        <p:spPr>
          <a:xfrm>
            <a:off x="1981200" y="3317450"/>
            <a:ext cx="9890455" cy="204826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2430766" y="3302820"/>
            <a:ext cx="1348699" cy="234086"/>
          </a:xfrm>
          <a:prstGeom prst="roundRect">
            <a:avLst>
              <a:gd name="adj" fmla="val 13672"/>
            </a:avLst>
          </a:prstGeom>
          <a:solidFill>
            <a:srgbClr val="00B0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457200" y="3602743"/>
            <a:ext cx="1450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Gold層 実装（ETL構築）</a:t>
            </a:r>
            <a:endParaRPr lang="en-US" sz="73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981200" y="3683210"/>
            <a:ext cx="9890455" cy="204826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3"/>
          <p:cNvSpPr/>
          <p:nvPr/>
        </p:nvSpPr>
        <p:spPr>
          <a:xfrm>
            <a:off x="3322265" y="3668580"/>
            <a:ext cx="4053729" cy="234086"/>
          </a:xfrm>
          <a:prstGeom prst="roundRect">
            <a:avLst>
              <a:gd name="adj" fmla="val 1367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457200" y="3968503"/>
            <a:ext cx="1450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30" b="1" dirty="0" err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データ完全性チェック開発＆実施</a:t>
            </a:r>
            <a:endParaRPr lang="en-US" sz="73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981200" y="4048970"/>
            <a:ext cx="9890455" cy="204826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56"/>
          <p:cNvSpPr/>
          <p:nvPr/>
        </p:nvSpPr>
        <p:spPr>
          <a:xfrm>
            <a:off x="3322265" y="4034340"/>
            <a:ext cx="5851992" cy="234086"/>
          </a:xfrm>
          <a:prstGeom prst="roundRect">
            <a:avLst>
              <a:gd name="adj" fmla="val 1367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457200" y="4334263"/>
            <a:ext cx="1450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性能試験・チューニング（CLO・p95検証）</a:t>
            </a:r>
            <a:endParaRPr lang="en-US" sz="73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981200" y="4414730"/>
            <a:ext cx="9890455" cy="204826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59"/>
          <p:cNvSpPr/>
          <p:nvPr/>
        </p:nvSpPr>
        <p:spPr>
          <a:xfrm>
            <a:off x="6476861" y="4400100"/>
            <a:ext cx="3597149" cy="234086"/>
          </a:xfrm>
          <a:prstGeom prst="roundRect">
            <a:avLst>
              <a:gd name="adj" fmla="val 1367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457200" y="4700023"/>
            <a:ext cx="1450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各種手順書整備</a:t>
            </a:r>
            <a:endParaRPr lang="en-US" sz="73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981200" y="4780490"/>
            <a:ext cx="9890455" cy="204826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7370700" y="4765860"/>
            <a:ext cx="4011672" cy="234086"/>
          </a:xfrm>
          <a:prstGeom prst="roundRect">
            <a:avLst>
              <a:gd name="adj" fmla="val 1367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457200" y="5065783"/>
            <a:ext cx="1450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VE環境リハーサル</a:t>
            </a:r>
            <a:endParaRPr lang="en-US" sz="73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1981200" y="5146250"/>
            <a:ext cx="9890455" cy="204826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7" name="Shape 65"/>
          <p:cNvSpPr/>
          <p:nvPr/>
        </p:nvSpPr>
        <p:spPr>
          <a:xfrm>
            <a:off x="7375994" y="5131620"/>
            <a:ext cx="3596529" cy="234086"/>
          </a:xfrm>
          <a:prstGeom prst="roundRect">
            <a:avLst>
              <a:gd name="adj" fmla="val 13672"/>
            </a:avLst>
          </a:prstGeom>
          <a:solidFill>
            <a:srgbClr val="F566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8" name="Text 66"/>
          <p:cNvSpPr/>
          <p:nvPr/>
        </p:nvSpPr>
        <p:spPr>
          <a:xfrm>
            <a:off x="457200" y="5431543"/>
            <a:ext cx="1450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本番移行・号口リリース</a:t>
            </a:r>
            <a:endParaRPr lang="en-US" sz="73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1981200" y="5512010"/>
            <a:ext cx="9890455" cy="204826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0" name="Shape 68"/>
          <p:cNvSpPr/>
          <p:nvPr/>
        </p:nvSpPr>
        <p:spPr>
          <a:xfrm>
            <a:off x="8275125" y="5497380"/>
            <a:ext cx="3107247" cy="234086"/>
          </a:xfrm>
          <a:prstGeom prst="roundRect">
            <a:avLst>
              <a:gd name="adj" fmla="val 13672"/>
            </a:avLst>
          </a:prstGeom>
          <a:solidFill>
            <a:srgbClr val="F566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69"/>
          <p:cNvSpPr/>
          <p:nvPr/>
        </p:nvSpPr>
        <p:spPr>
          <a:xfrm>
            <a:off x="3779465" y="1463047"/>
            <a:ext cx="0" cy="4334256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70"/>
          <p:cNvSpPr/>
          <p:nvPr/>
        </p:nvSpPr>
        <p:spPr>
          <a:xfrm>
            <a:off x="3322265" y="581559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現在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（8/3）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383945" y="1463047"/>
            <a:ext cx="0" cy="4334256"/>
          </a:xfrm>
          <a:prstGeom prst="line">
            <a:avLst/>
          </a:prstGeom>
          <a:noFill/>
          <a:ln w="12700">
            <a:solidFill>
              <a:srgbClr val="F5660F"/>
            </a:solidFill>
            <a:prstDash val="lg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2"/>
          <p:cNvSpPr/>
          <p:nvPr/>
        </p:nvSpPr>
        <p:spPr>
          <a:xfrm>
            <a:off x="7238834" y="1444759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★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6598754" y="5815591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8月末：VE環境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750" b="1" dirty="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Release目標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8154569" y="1463047"/>
            <a:ext cx="0" cy="4334256"/>
          </a:xfrm>
          <a:prstGeom prst="line">
            <a:avLst/>
          </a:prstGeom>
          <a:noFill/>
          <a:ln w="12700">
            <a:solidFill>
              <a:srgbClr val="F5660F"/>
            </a:solidFill>
            <a:prstDash val="lg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8017413" y="1444759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★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7763814" y="5824341"/>
            <a:ext cx="10617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9月中：リハーサル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750" b="1" dirty="0" err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開始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11382372" y="1463047"/>
            <a:ext cx="0" cy="4334256"/>
          </a:xfrm>
          <a:prstGeom prst="line">
            <a:avLst/>
          </a:prstGeom>
          <a:noFill/>
          <a:ln w="12700">
            <a:solidFill>
              <a:srgbClr val="F5660F"/>
            </a:solidFill>
            <a:prstDash val="lg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Text 78"/>
          <p:cNvSpPr/>
          <p:nvPr/>
        </p:nvSpPr>
        <p:spPr>
          <a:xfrm>
            <a:off x="11245212" y="1444759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★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10332034" y="5815591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9月末：号口リリース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r">
              <a:buNone/>
            </a:pPr>
            <a:r>
              <a:rPr lang="en-US" sz="750" b="1" dirty="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（GA / Service-In）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457200" y="6401270"/>
            <a:ext cx="182880" cy="128016"/>
          </a:xfrm>
          <a:prstGeom prst="roundRect">
            <a:avLst>
              <a:gd name="adj" fmla="val 14286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3" name="Text 81"/>
          <p:cNvSpPr/>
          <p:nvPr/>
        </p:nvSpPr>
        <p:spPr>
          <a:xfrm>
            <a:off x="608684" y="6355550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実施中・確定タスク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1653942" y="6401270"/>
            <a:ext cx="182880" cy="128016"/>
          </a:xfrm>
          <a:prstGeom prst="roundRect">
            <a:avLst>
              <a:gd name="adj" fmla="val 14286"/>
            </a:avLst>
          </a:prstGeom>
          <a:solidFill>
            <a:srgbClr val="00B0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5" name="Text 83"/>
          <p:cNvSpPr/>
          <p:nvPr/>
        </p:nvSpPr>
        <p:spPr>
          <a:xfrm>
            <a:off x="1823930" y="6355550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完了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2267285" y="6401270"/>
            <a:ext cx="182880" cy="128016"/>
          </a:xfrm>
          <a:prstGeom prst="roundRect">
            <a:avLst>
              <a:gd name="adj" fmla="val 14286"/>
            </a:avLst>
          </a:prstGeom>
          <a:solidFill>
            <a:srgbClr val="F566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7" name="Text 85"/>
          <p:cNvSpPr/>
          <p:nvPr/>
        </p:nvSpPr>
        <p:spPr>
          <a:xfrm>
            <a:off x="2409167" y="6355550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移行・切替（重点）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3491009" y="6410414"/>
            <a:ext cx="118872" cy="118872"/>
          </a:xfrm>
          <a:prstGeom prst="ellipse">
            <a:avLst/>
          </a:prstGeom>
          <a:solidFill>
            <a:srgbClr val="6B4F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9" name="Text 87"/>
          <p:cNvSpPr/>
          <p:nvPr/>
        </p:nvSpPr>
        <p:spPr>
          <a:xfrm>
            <a:off x="3586299" y="635555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個別イベント（相談・調整等</a:t>
            </a:r>
            <a:r>
              <a:rPr lang="en-US" sz="85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）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4997350" y="636365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★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5164014" y="635555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主要マイルストーン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544685" y="783692"/>
            <a:ext cx="11247120" cy="308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TMC</a:t>
            </a:r>
            <a:r>
              <a:rPr lang="ja-JP" altLang="en-US" sz="1000" i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様</a:t>
            </a:r>
            <a:r>
              <a:rPr lang="en-US" sz="1000" i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側</a:t>
            </a:r>
            <a:r>
              <a:rPr lang="ja-JP" altLang="en-US" sz="1000" i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との</a:t>
            </a:r>
            <a:r>
              <a:rPr lang="en-US" sz="1000" i="1" dirty="0" err="1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協力</a:t>
            </a:r>
            <a:r>
              <a:rPr lang="ja-JP" altLang="en-US" sz="1000" i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相談</a:t>
            </a:r>
            <a:r>
              <a:rPr lang="en-US" sz="1000" i="1" dirty="0" err="1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事項</a:t>
            </a:r>
            <a:r>
              <a:rPr lang="ja-JP" altLang="en-US" sz="1000" i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（</a:t>
            </a:r>
            <a:r>
              <a:rPr lang="en-US" altLang="ja-JP" sz="1000" i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8</a:t>
            </a:r>
            <a:r>
              <a:rPr lang="ja-JP" altLang="en-US" sz="1000" i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月中旬期限：完全性チェック実施案・断面データ出力スピードアップ案相談。　</a:t>
            </a:r>
            <a:r>
              <a:rPr lang="en-US" altLang="ja-JP" sz="1000" i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9月20日が期限</a:t>
            </a:r>
            <a:r>
              <a:rPr lang="ja-JP" altLang="en-US" sz="1000" i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：</a:t>
            </a:r>
            <a:r>
              <a:rPr lang="en-US" sz="1000" i="1" dirty="0" err="1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PKなしテーブル対応・SCN同期の本番環境反映</a:t>
            </a:r>
            <a:r>
              <a:rPr lang="ja-JP" altLang="en-US" sz="1000" i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r>
              <a:rPr lang="en-US" sz="1000" i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）</a:t>
            </a:r>
            <a:endParaRPr lang="en-US" sz="10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7" name="Text 40">
            <a:extLst>
              <a:ext uri="{FF2B5EF4-FFF2-40B4-BE49-F238E27FC236}">
                <a16:creationId xmlns:a16="http://schemas.microsoft.com/office/drawing/2014/main" id="{47D4CD06-1C2D-EF37-7D01-D896ECB89167}"/>
              </a:ext>
            </a:extLst>
          </p:cNvPr>
          <p:cNvSpPr/>
          <p:nvPr/>
        </p:nvSpPr>
        <p:spPr>
          <a:xfrm>
            <a:off x="3581723" y="5130299"/>
            <a:ext cx="14508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ja-JP" sz="6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※</a:t>
            </a:r>
            <a:r>
              <a:rPr lang="en-US" sz="650" dirty="0" err="1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SCN同期</a:t>
            </a:r>
            <a:r>
              <a:rPr lang="ja-JP" altLang="en-US" sz="6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済み（</a:t>
            </a:r>
            <a:r>
              <a:rPr lang="en-US" altLang="ja-JP" sz="6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VE</a:t>
            </a:r>
            <a:r>
              <a:rPr lang="ja-JP" altLang="en-US" sz="65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）</a:t>
            </a:r>
            <a:endParaRPr lang="en-US" sz="650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9" name="Text 32">
            <a:extLst>
              <a:ext uri="{FF2B5EF4-FFF2-40B4-BE49-F238E27FC236}">
                <a16:creationId xmlns:a16="http://schemas.microsoft.com/office/drawing/2014/main" id="{8DCA7439-AFA4-ECC4-5A49-AAF9032C741C}"/>
              </a:ext>
            </a:extLst>
          </p:cNvPr>
          <p:cNvSpPr/>
          <p:nvPr/>
        </p:nvSpPr>
        <p:spPr>
          <a:xfrm>
            <a:off x="4705615" y="2079779"/>
            <a:ext cx="9068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 err="1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断面データ</a:t>
            </a:r>
            <a:r>
              <a:rPr lang="ja-JP" altLang="en-US" sz="65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抽出</a:t>
            </a:r>
            <a:endParaRPr lang="en-US" altLang="ja-JP" sz="650" b="1" dirty="0">
              <a:solidFill>
                <a:srgbClr val="6B4FA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  <a:p>
            <a:pPr marL="0" indent="0">
              <a:buNone/>
            </a:pPr>
            <a:r>
              <a:rPr lang="ja-JP" altLang="en-US" sz="650" b="1" dirty="0">
                <a:solidFill>
                  <a:srgbClr val="6B4F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高速化相談</a:t>
            </a:r>
            <a:endParaRPr lang="en-US" sz="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1" name="Shape 29">
            <a:extLst>
              <a:ext uri="{FF2B5EF4-FFF2-40B4-BE49-F238E27FC236}">
                <a16:creationId xmlns:a16="http://schemas.microsoft.com/office/drawing/2014/main" id="{E61698E5-B962-E2F3-7F86-199B0E30DDC6}"/>
              </a:ext>
            </a:extLst>
          </p:cNvPr>
          <p:cNvSpPr/>
          <p:nvPr/>
        </p:nvSpPr>
        <p:spPr>
          <a:xfrm>
            <a:off x="4642245" y="2103219"/>
            <a:ext cx="109728" cy="109728"/>
          </a:xfrm>
          <a:prstGeom prst="ellipse">
            <a:avLst/>
          </a:prstGeom>
          <a:solidFill>
            <a:srgbClr val="6B4FA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85125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TOYOTEC データ活用基盤プロジェクト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イベント／協力依頼事項 一覧</a:t>
            </a:r>
            <a:endParaRPr lang="en-US" sz="2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全体スケジュール上の「イベント／協力依頼」行に対応する詳細一覧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086221"/>
              </p:ext>
            </p:extLst>
          </p:nvPr>
        </p:nvGraphicFramePr>
        <p:xfrm>
          <a:off x="457200" y="1371600"/>
          <a:ext cx="11247120" cy="477316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タイトル</a:t>
                      </a:r>
                      <a:endParaRPr 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概要</a:t>
                      </a:r>
                      <a:endParaRPr 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対象環境</a:t>
                      </a:r>
                      <a:endParaRPr 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期日</a:t>
                      </a:r>
                      <a:endParaRPr 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対応先</a:t>
                      </a:r>
                      <a:endParaRPr 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完全性チェック案相談</a:t>
                      </a:r>
                      <a:endParaRPr 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データ整合性チェックの仕組み（CDP→Oracle接続可否の前提含む）をTMC/</a:t>
                      </a:r>
                      <a:r>
                        <a:rPr lang="en-US" sz="900" dirty="0" err="1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Oracle側と確認・協議</a:t>
                      </a:r>
                      <a:r>
                        <a:rPr lang="ja-JP" alt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（</a:t>
                      </a:r>
                      <a:r>
                        <a:rPr lang="ja-JP" altLang="en-US" sz="900" dirty="0">
                          <a:solidFill>
                            <a:srgbClr val="FF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詳細は別紙１、別紙２を参照</a:t>
                      </a:r>
                      <a:r>
                        <a:rPr lang="ja-JP" alt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）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4FA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VE／本番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A93A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近日中</a:t>
                      </a:r>
                      <a:endParaRPr lang="en-US" sz="95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（</a:t>
                      </a:r>
                      <a:r>
                        <a:rPr lang="ja-JP" altLang="en-US" sz="900" b="1" dirty="0">
                          <a:solidFill>
                            <a:srgbClr val="C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実施案相談</a:t>
                      </a: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要）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TMC／Oracle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altLang="en-US" sz="10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断面データ抽出高速化</a:t>
                      </a: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相談</a:t>
                      </a:r>
                      <a:endParaRPr 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Oracleレプリカからの断面データ抽出高速化（並列化・実行時間帯緩和等）をTMC様と交渉</a:t>
                      </a:r>
                      <a:r>
                        <a:rPr lang="ja-JP" alt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（</a:t>
                      </a:r>
                      <a:r>
                        <a:rPr lang="ja-JP" altLang="en-US" sz="900" dirty="0">
                          <a:solidFill>
                            <a:srgbClr val="FF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詳細は別紙３を参照</a:t>
                      </a:r>
                      <a:r>
                        <a:rPr lang="ja-JP" alt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4FA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本番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A93A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8月中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900" b="1" dirty="0">
                          <a:solidFill>
                            <a:srgbClr val="C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（</a:t>
                      </a:r>
                      <a:r>
                        <a:rPr lang="ja-JP" altLang="en-US" sz="900" b="1" dirty="0">
                          <a:solidFill>
                            <a:srgbClr val="C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実施案相談</a:t>
                      </a:r>
                      <a:r>
                        <a:rPr lang="en-US" altLang="ja-JP" sz="900" b="1" dirty="0">
                          <a:solidFill>
                            <a:srgbClr val="C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要）</a:t>
                      </a:r>
                      <a:endParaRPr lang="en-US" altLang="ja-JP" sz="900" b="1" dirty="0">
                        <a:solidFill>
                          <a:srgbClr val="C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TMC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VE環境性能拡張調整</a:t>
                      </a:r>
                      <a:endParaRPr 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性能試験・p95検証に向けたVE環境のリソース拡張調整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4FA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VE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A93A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8月末まで</a:t>
                      </a:r>
                      <a:endParaRPr lang="en-US" sz="95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ja-JP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TOYOTEC（肖）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PKなしテーブル対応（VE）</a:t>
                      </a:r>
                      <a:endParaRPr 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主キーなしテーブルへの対応を、TMC突元様がVE環境で実施</a:t>
                      </a:r>
                      <a:r>
                        <a:rPr lang="ja-JP" alt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予定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4FA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VE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A93A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8月末〜9月頭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(</a:t>
                      </a:r>
                      <a:r>
                        <a:rPr lang="en-US" altLang="ja-JP" sz="900" b="1" dirty="0">
                          <a:solidFill>
                            <a:srgbClr val="C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実施</a:t>
                      </a:r>
                      <a:r>
                        <a:rPr lang="ja-JP" altLang="en-US" sz="900" b="1" dirty="0">
                          <a:solidFill>
                            <a:srgbClr val="C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予定</a:t>
                      </a:r>
                      <a:r>
                        <a:rPr lang="en-US" altLang="ja-JP" sz="900" b="1" dirty="0">
                          <a:solidFill>
                            <a:srgbClr val="C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)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TMC（突元様）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断面データ取得開始</a:t>
                      </a:r>
                      <a:endParaRPr 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本番環境向けの断面データ再取得を開始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4FA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本番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A93A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9月</a:t>
                      </a:r>
                      <a:r>
                        <a:rPr lang="ja-JP" altLang="en-US" sz="950" dirty="0">
                          <a:solidFill>
                            <a:srgbClr val="8A93A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上旬</a:t>
                      </a:r>
                      <a:endParaRPr lang="en-US" sz="95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TMC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本番環境性能拡張調整</a:t>
                      </a:r>
                      <a:endParaRPr 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本番環境における性能拡張（スケーリング）の調整・実施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4FA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本番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A93A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9月</a:t>
                      </a:r>
                      <a:r>
                        <a:rPr lang="ja-JP" altLang="en-US" sz="950" dirty="0">
                          <a:solidFill>
                            <a:srgbClr val="8A93A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上旬</a:t>
                      </a:r>
                      <a:endParaRPr lang="en-US" sz="95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ja-JP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TOYOTEC（肖）</a:t>
                      </a:r>
                      <a:endParaRPr lang="en-US" altLang="ja-JP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PKなし対応（本番）</a:t>
                      </a:r>
                      <a:endParaRPr 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PKなしテーブル対応を本番環境まで拡張。9月末号口の前提条件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4FA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本番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9月20日まで</a:t>
                      </a:r>
                      <a:endParaRPr lang="en-US" sz="900" dirty="0">
                        <a:solidFill>
                          <a:srgbClr val="C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TMC（突元様）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SCN同期（本番）</a:t>
                      </a:r>
                      <a:endParaRPr 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SCN同期をVE環境から本番環境へ展開。VE環境は同期済み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4FA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本番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9月20日まで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-120"/>
                        </a:rPr>
                        <a:t>TMC</a:t>
                      </a:r>
                      <a:endParaRPr 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419088"/>
            <a:ext cx="201168" cy="146304"/>
          </a:xfrm>
          <a:prstGeom prst="roundRect">
            <a:avLst>
              <a:gd name="adj" fmla="val 12500"/>
            </a:avLst>
          </a:prstGeom>
          <a:solidFill>
            <a:srgbClr val="FDE6D6"/>
          </a:solidFill>
          <a:ln w="95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713232" y="638251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9月20日締切（9月末号口リリースの前提条件）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29200" y="6382512"/>
            <a:ext cx="6675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A93A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※期日は現時点の目安です。詳細確定次第、随時更新します。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6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TOYOTEC データ活用基盤 ／ Oracle側 確認・調整用資料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79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完全性チェックの</a:t>
            </a:r>
            <a:r>
              <a:rPr lang="ja-JP" altLang="en-US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案１</a:t>
            </a:r>
            <a:r>
              <a:rPr lang="en-US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前提：CDP→Oracle</a:t>
            </a:r>
            <a:r>
              <a:rPr lang="en-US" altLang="ja-JP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ja-JP" altLang="en-US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レプリカ</a:t>
            </a:r>
            <a:r>
              <a:rPr lang="en-US" altLang="ja-JP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b="1" dirty="0" err="1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直接接続不可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64333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前提：</a:t>
            </a:r>
            <a:r>
              <a:rPr lang="en-US" sz="105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「Oracle側がCDPからの接続を許可しない」という制約がある場合の設計。CDP→Oracleへの発信は行わず、Oracle側からCDP提供APIを呼び出す形で完結させる。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457200" y="20731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20731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1325880" y="20273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463040" y="2146252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463040" y="21462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874520" y="2100532"/>
            <a:ext cx="4434840" cy="5394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Kuduテーブルの「5分前スナップショット」を常時Icebergへ移行・保持する。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57200" y="294178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566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94178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1325880" y="28960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463040" y="3014932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463040" y="30149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874520" y="2969212"/>
            <a:ext cx="4434840" cy="5394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5000"/>
              </a:lnSpc>
            </a:pPr>
            <a:r>
              <a:rPr lang="en-US" sz="1000" err="1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Flashback照会の前に、CDP提供APIでSCN_Xを問い合わせる</a:t>
            </a:r>
            <a:r>
              <a:rPr lang="en-US" sz="1000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。</a:t>
            </a:r>
            <a:endParaRPr lang="en-US" sz="1000">
              <a:solidFill>
                <a:srgbClr val="000000"/>
              </a:solidFill>
              <a:latin typeface="Arial"/>
              <a:ea typeface="Calibri" panose="020F0502020204030204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000" err="1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両者が同一時点</a:t>
            </a:r>
            <a:r>
              <a:rPr lang="en-US" sz="1000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(SCN)</a:t>
            </a:r>
            <a:r>
              <a:rPr lang="en-US" sz="1000" err="1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のデータを比較する前提を揃える</a:t>
            </a:r>
            <a:r>
              <a:rPr lang="en-US" sz="1000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。</a:t>
            </a:r>
            <a:endParaRPr lang="en-US" sz="1000">
              <a:latin typeface="Arial"/>
              <a:ea typeface="Calibri"/>
              <a:cs typeface="Arial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81046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566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8104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1325880" y="37647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1463040" y="3883612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1463040" y="38836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1874520" y="3837892"/>
            <a:ext cx="4434840" cy="5394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5000"/>
              </a:lnSpc>
            </a:pPr>
            <a:r>
              <a:rPr lang="en-US" sz="1000" err="1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SCN_Xで該当データを取得し、ハッシュ値を算出</a:t>
            </a:r>
            <a:r>
              <a:rPr lang="en-US" sz="1000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。</a:t>
            </a:r>
            <a:endParaRPr lang="en-US" sz="1000">
              <a:solidFill>
                <a:srgbClr val="000000"/>
              </a:solidFill>
              <a:latin typeface="Arial"/>
              <a:ea typeface="Calibri" panose="020F0502020204030204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000" err="1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CDP提供APIを通じてハッシュ値をCDPへ送信する</a:t>
            </a:r>
            <a:r>
              <a:rPr lang="en-US" sz="1000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。</a:t>
            </a:r>
            <a:endParaRPr lang="en-US" sz="1000">
              <a:latin typeface="Arial"/>
              <a:ea typeface="Calibri"/>
              <a:cs typeface="Arial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467914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57200" y="46791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1325880" y="46334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463040" y="4752292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1463040" y="47522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1874520" y="4706572"/>
            <a:ext cx="4434840" cy="5394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5000"/>
              </a:lnSpc>
            </a:pPr>
            <a:r>
              <a:rPr lang="en-US" sz="1000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③で受領したハッシュ値と①</a:t>
            </a:r>
            <a:r>
              <a:rPr lang="ja-JP" altLang="en-US" sz="1000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のスナップショットから同等データ</a:t>
            </a:r>
            <a:endParaRPr lang="en-US" altLang="ja-JP" sz="100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r>
              <a:rPr lang="en-US" sz="1000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(ハッシュ一致分)を抽出・比較。結果をKuduまたはMySQLに登録する。</a:t>
            </a:r>
            <a:endParaRPr lang="en-US" sz="1000">
              <a:latin typeface="Arial"/>
              <a:ea typeface="Calibri"/>
              <a:cs typeface="Arial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325880" y="54106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②③はOracle側で実行するが、実行ツール自体はCDP側が用意しOracle側に提供する。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6720840" y="202738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FDE6D6"/>
          </a:solidFill>
          <a:ln w="12700">
            <a:solidFill>
              <a:srgbClr val="F0B4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858000" y="207310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56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Oracle側との調整内容</a:t>
            </a:r>
            <a:endParaRPr lang="en-US" sz="1150"/>
          </a:p>
        </p:txBody>
      </p:sp>
      <p:sp>
        <p:nvSpPr>
          <p:cNvPr id="32" name="Text 30"/>
          <p:cNvSpPr/>
          <p:nvPr/>
        </p:nvSpPr>
        <p:spPr>
          <a:xfrm>
            <a:off x="6858000" y="2365708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API仕様（SCN照会・ハッシュ受信）の合意
</a:t>
            </a:r>
            <a:endParaRPr lang="en-US" sz="950"/>
          </a:p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CDP提供ツール（SCN照会～送信バッチ）のOracle側環境への導入可否
</a:t>
            </a:r>
            <a:endParaRPr lang="en-US" sz="950"/>
          </a:p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Flashback Query利用に必要なUNDO_RETENTION等の設定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6720840" y="3609292"/>
            <a:ext cx="4983480" cy="1737360"/>
          </a:xfrm>
          <a:prstGeom prst="roundRect">
            <a:avLst>
              <a:gd name="adj" fmla="val 3158"/>
            </a:avLst>
          </a:prstGeom>
          <a:solidFill>
            <a:srgbClr val="F6F8FB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858000" y="365501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両側の作業内容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6858000" y="39567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CDP側</a:t>
            </a:r>
            <a:endParaRPr lang="en-US" sz="950"/>
          </a:p>
        </p:txBody>
      </p:sp>
      <p:sp>
        <p:nvSpPr>
          <p:cNvPr id="36" name="Text 34"/>
          <p:cNvSpPr/>
          <p:nvPr/>
        </p:nvSpPr>
        <p:spPr>
          <a:xfrm>
            <a:off x="7635240" y="393847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スナップショット基盤構築／API開発（SCN照会受付・ハッシュ受信）／比較ロジック・結果格納の実装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6858000" y="450540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56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Oracle側</a:t>
            </a:r>
            <a:endParaRPr lang="en-US" sz="950"/>
          </a:p>
        </p:txBody>
      </p:sp>
      <p:sp>
        <p:nvSpPr>
          <p:cNvPr id="38" name="Text 36"/>
          <p:cNvSpPr/>
          <p:nvPr/>
        </p:nvSpPr>
        <p:spPr>
          <a:xfrm>
            <a:off x="7635240" y="448711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CDP提供ツールの導入／SCN照会・Flashback実行権限の付与／UNDO_RETENTION等の設定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　－　仕組み①（現行想定）</a:t>
            </a:r>
            <a:endParaRPr lang="en-US" sz="850"/>
          </a:p>
        </p:txBody>
      </p:sp>
      <p:sp>
        <p:nvSpPr>
          <p:cNvPr id="42" name="Shape 28">
            <a:extLst>
              <a:ext uri="{FF2B5EF4-FFF2-40B4-BE49-F238E27FC236}">
                <a16:creationId xmlns:a16="http://schemas.microsoft.com/office/drawing/2014/main" id="{542C5EB2-BCD5-1125-36B0-EFBC79A3262C}"/>
              </a:ext>
            </a:extLst>
          </p:cNvPr>
          <p:cNvSpPr/>
          <p:nvPr/>
        </p:nvSpPr>
        <p:spPr>
          <a:xfrm>
            <a:off x="9716061" y="50563"/>
            <a:ext cx="2396836" cy="1064130"/>
          </a:xfrm>
          <a:prstGeom prst="roundRect">
            <a:avLst>
              <a:gd name="adj" fmla="val 8000"/>
            </a:avLst>
          </a:prstGeom>
          <a:solidFill>
            <a:srgbClr val="FF0000"/>
          </a:solidFill>
          <a:ln w="12700">
            <a:solidFill>
              <a:srgbClr val="FFCCFF"/>
            </a:solidFill>
            <a:prstDash val="solid"/>
          </a:ln>
        </p:spPr>
        <p:txBody>
          <a:bodyPr anchor="ctr"/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別紙１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6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TOYOTEC データ活用基盤 ／ </a:t>
            </a:r>
            <a:r>
              <a:rPr lang="en-US" sz="1050" b="1" dirty="0" err="1">
                <a:solidFill>
                  <a:srgbClr val="F56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Oracle側</a:t>
            </a:r>
            <a:r>
              <a:rPr lang="en-US" sz="1050" b="1" dirty="0">
                <a:solidFill>
                  <a:srgbClr val="F56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 err="1">
                <a:solidFill>
                  <a:srgbClr val="F56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確認・調整用資料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75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完全性チェックの</a:t>
            </a:r>
            <a:r>
              <a:rPr lang="ja-JP" altLang="en-US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案２</a:t>
            </a:r>
            <a:r>
              <a:rPr lang="en-US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ja-JP" altLang="en-US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</a:t>
            </a:r>
            <a:r>
              <a:rPr lang="en-US" sz="2100" b="1" dirty="0" err="1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代替案</a:t>
            </a:r>
            <a:r>
              <a:rPr lang="ja-JP" altLang="en-US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2100" b="1" dirty="0">
              <a:solidFill>
                <a:srgbClr val="1F386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2100" b="1" dirty="0" err="1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CDP→Oracle</a:t>
            </a:r>
            <a:r>
              <a:rPr lang="en-US" altLang="ja-JP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ja-JP" altLang="en-US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レプリカ</a:t>
            </a:r>
            <a:r>
              <a:rPr lang="en-US" altLang="ja-JP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2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b="1" dirty="0" err="1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直接接続が可能な場合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2461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前提：</a:t>
            </a:r>
            <a:r>
              <a:rPr lang="en-US" sz="105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CDPからOracleへの直接接続が許可される場合の、よりシンプルな設計。CDPが自らSCNを管理し、Oracleへ直接Flashback照会・比較まで完結できる。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457200" y="16759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6759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1325880" y="1630208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463040" y="1749080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463040" y="1749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874520" y="1703360"/>
            <a:ext cx="443484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CDPが自身のSCN基準値（Silverが保持するCDC由来のSCN等）を決定する。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57200" y="254460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5446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1325880" y="2498888"/>
            <a:ext cx="5120640" cy="82296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463040" y="2617760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463040" y="2617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874520" y="2572040"/>
            <a:ext cx="4434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CDPからOracleへ直接接続し、AS OF SCN Flashbackクエリを発行してデータを取得、ハッシュ値を算出する（Oracle側にツール導入は不要）。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57200" y="35504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5504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1325880" y="3504728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1463040" y="3623600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1463040" y="3623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1874520" y="3577880"/>
            <a:ext cx="443484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①のKuduスナップショットと②の結果を比較。結果をKuduまたはMySQLに登録する。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1325880" y="42819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全ステップをCDP側で完結でき、Oracle側で新規ツール開発・導入は不要になる。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6720840" y="1630208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E5F2E6"/>
          </a:solidFill>
          <a:ln w="12700">
            <a:solidFill>
              <a:srgbClr val="BEDD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858000" y="1675928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Oracle側との調整内容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6858000" y="1968536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CDPからのネットワーク接続許可（FW／セキュリティグループ）
</a:t>
            </a:r>
            <a:endParaRPr lang="en-US" sz="950"/>
          </a:p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Oracle DBアカウント発行（SELECT + FLASHBACK QUERY権限）
</a:t>
            </a:r>
            <a:endParaRPr lang="en-US" sz="950"/>
          </a:p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UNDO_RETENTION等Flashback関連設定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6720840" y="302924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F6F8FB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858000" y="307496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両側の作業内容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>
          <a:xfrm>
            <a:off x="6858000" y="33767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CDP側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7635240" y="33584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SCN管理／Flashbackクエリ発行／ハッシュ比較ロジックの実装（Oracle接続含む）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6858000" y="3897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Oracle側</a:t>
            </a:r>
            <a:endParaRPr lang="en-US" sz="950"/>
          </a:p>
        </p:txBody>
      </p:sp>
      <p:sp>
        <p:nvSpPr>
          <p:cNvPr id="32" name="Text 30"/>
          <p:cNvSpPr/>
          <p:nvPr/>
        </p:nvSpPr>
        <p:spPr>
          <a:xfrm>
            <a:off x="7635240" y="387963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接続許可／アカウント発行／UNDO設定のみ（ツール開発は不要）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457200" y="4819992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85800" y="484632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Oracle側へのご確認事項</a:t>
            </a:r>
            <a:endParaRPr lang="en-US" sz="1300"/>
          </a:p>
        </p:txBody>
      </p:sp>
      <p:sp>
        <p:nvSpPr>
          <p:cNvPr id="35" name="Text 33"/>
          <p:cNvSpPr/>
          <p:nvPr/>
        </p:nvSpPr>
        <p:spPr>
          <a:xfrm>
            <a:off x="685800" y="51663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E4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現在、社内より「Oracle側がCDPからの接続を許可していない」と伺っておりますが、</a:t>
            </a:r>
            <a:r>
              <a:rPr lang="en-US" sz="1050" b="1">
                <a:solidFill>
                  <a:srgbClr val="F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現時点でもこの制約は事実として存在しますでしょうか。</a:t>
            </a:r>
            <a:endParaRPr lang="en-US" sz="1050"/>
          </a:p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E4E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もし直接接続が可能であれば、仕組み②（Oracle側での新規ツール開発が不要なシンプルな構成）を採用したいと考えております。ご確認のほど、よろしくお願いいたします。</a:t>
            </a:r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　－　仕組み②（代替案）＋ Oracle側確認事項</a:t>
            </a:r>
            <a:endParaRPr lang="en-US" sz="850"/>
          </a:p>
        </p:txBody>
      </p:sp>
      <p:sp>
        <p:nvSpPr>
          <p:cNvPr id="43" name="Shape 28">
            <a:extLst>
              <a:ext uri="{FF2B5EF4-FFF2-40B4-BE49-F238E27FC236}">
                <a16:creationId xmlns:a16="http://schemas.microsoft.com/office/drawing/2014/main" id="{C75F47FC-5FED-E3AE-EBEA-37B3C4109F99}"/>
              </a:ext>
            </a:extLst>
          </p:cNvPr>
          <p:cNvSpPr/>
          <p:nvPr/>
        </p:nvSpPr>
        <p:spPr>
          <a:xfrm>
            <a:off x="9716061" y="50563"/>
            <a:ext cx="2396836" cy="1064130"/>
          </a:xfrm>
          <a:prstGeom prst="roundRect">
            <a:avLst>
              <a:gd name="adj" fmla="val 8000"/>
            </a:avLst>
          </a:prstGeom>
          <a:solidFill>
            <a:srgbClr val="FF0000"/>
          </a:solidFill>
          <a:ln w="12700">
            <a:solidFill>
              <a:srgbClr val="FFCCFF"/>
            </a:solidFill>
            <a:prstDash val="solid"/>
          </a:ln>
        </p:spPr>
        <p:txBody>
          <a:bodyPr anchor="ctr"/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別紙２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本番切替に向けた相談資料　／　Oracleレプリカ断面データ取得の高速化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Oracleレプリカ断面データ取得の高速化</a:t>
            </a:r>
            <a:r>
              <a:rPr lang="en-US" sz="24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―　</a:t>
            </a:r>
            <a:r>
              <a:rPr lang="en-US" sz="2400" b="1" dirty="0" err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TMC様との相談ポイント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AFC2D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現状：</a:t>
            </a:r>
            <a:r>
              <a:rPr lang="en-US" sz="20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初期ロード 約１１週間</a:t>
            </a:r>
            <a:endParaRPr lang="en-US" sz="13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74920" y="12344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→</a:t>
            </a:r>
            <a:endParaRPr lang="en-US" sz="2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5715000" y="1234440"/>
            <a:ext cx="5806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FFD9B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目標：</a:t>
            </a:r>
            <a:r>
              <a:rPr lang="en-US" sz="20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約１.５〜２週間</a:t>
            </a:r>
            <a:r>
              <a:rPr lang="en-US" sz="1100">
                <a:solidFill>
                  <a:srgbClr val="AFC2D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（４並列・営業日毎日実行の試算）</a:t>
            </a:r>
            <a:endParaRPr lang="en-US" sz="13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13232" y="2770632"/>
            <a:ext cx="457200" cy="457200"/>
          </a:xfrm>
          <a:prstGeom prst="ellipse">
            <a:avLst/>
          </a:prstGeom>
          <a:solidFill>
            <a:srgbClr val="F566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13232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</a:t>
            </a:r>
            <a:endParaRPr lang="en-US" sz="1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400" b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相談</a:t>
            </a:r>
            <a:r>
              <a:rPr lang="en-US" sz="1400" b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①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3232" y="3291840"/>
            <a:ext cx="30083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レプリカ抽出の影響整理と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500" b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実行時間帯の緩和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3232" y="4114800"/>
            <a:ext cx="300837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抽出対象は基幹系ではなくレプリカDBであることを明確化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抽出時のリソース実測データを提示し、本番への影響がないことを提示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「非営業日のみ」→「営業日・日中・夜間も実行可」へ緩和を協議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97680" y="25146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4553712" y="2770632"/>
            <a:ext cx="457200" cy="457200"/>
          </a:xfrm>
          <a:prstGeom prst="ellipse">
            <a:avLst/>
          </a:prstGeom>
          <a:solidFill>
            <a:srgbClr val="F566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553712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2</a:t>
            </a:r>
            <a:endParaRPr lang="en-US" sz="1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20640" y="2788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ja-JP" altLang="en-US" sz="1400" b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相談</a:t>
            </a:r>
            <a:r>
              <a:rPr lang="en-US" sz="1400" b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②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53712" y="3291840"/>
            <a:ext cx="30083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並列化と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500" b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1日あたり上限の引き上げ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53712" y="4114800"/>
            <a:ext cx="300837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現状：10販社／日 → 目標：並列実行で40販社／日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まず2並列のパイロットで実績を作り、段階的に拡大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220販社：約11週間 → 約1.5〜2週間へ短縮見込み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38160" y="25146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394192" y="2770632"/>
            <a:ext cx="457200" cy="457200"/>
          </a:xfrm>
          <a:prstGeom prst="ellipse">
            <a:avLst/>
          </a:prstGeom>
          <a:solidFill>
            <a:srgbClr val="F566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394192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</a:t>
            </a:r>
            <a:endParaRPr lang="en-US" sz="1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961120" y="2788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ja-JP" altLang="en-US" sz="1400" b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相談</a:t>
            </a:r>
            <a:r>
              <a:rPr lang="en-US" sz="1400" b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③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94192" y="3291840"/>
            <a:ext cx="30083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抽出ジョブの自動化と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500" b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実行権限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94192" y="4114800"/>
            <a:ext cx="300837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スケジューラ登録による自動ジョブ化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TOYOTEC側からの実行トリガー／完了の自動通知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ジョブ定義変更の手順・承認フローの簡素化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補足効果：</a:t>
            </a:r>
            <a:r>
              <a:rPr lang="en-US" sz="105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深夜の手作業を撤廃／異常時はテーブル単位での自動リトライに対応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C8A87FDF-E471-67A7-0853-2331E41EB3B5}"/>
              </a:ext>
            </a:extLst>
          </p:cNvPr>
          <p:cNvSpPr/>
          <p:nvPr/>
        </p:nvSpPr>
        <p:spPr>
          <a:xfrm>
            <a:off x="9716061" y="50563"/>
            <a:ext cx="2396836" cy="1064130"/>
          </a:xfrm>
          <a:prstGeom prst="roundRect">
            <a:avLst>
              <a:gd name="adj" fmla="val 8000"/>
            </a:avLst>
          </a:prstGeom>
          <a:solidFill>
            <a:srgbClr val="FF0000"/>
          </a:solidFill>
          <a:ln w="12700">
            <a:solidFill>
              <a:srgbClr val="FFCCFF"/>
            </a:solidFill>
            <a:prstDash val="solid"/>
          </a:ln>
        </p:spPr>
        <p:txBody>
          <a:bodyPr anchor="ctr"/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別紙３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6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 ベース ／ Epic (E1〜E20) 進捗集計　最新時点（前回 8/3 比）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プロジェクト進捗報告　―　Milestone別 消化状況サマリー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1307592"/>
            <a:ext cx="28117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47.9%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3C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全体進捗（167 / 349 issues closed）　※前回47.3%から+0.6pt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68980" y="1307592"/>
            <a:ext cx="28117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　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360420" y="1691640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3C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完了 Epic（100%）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68980" y="1344168"/>
            <a:ext cx="0" cy="557784"/>
          </a:xfrm>
          <a:prstGeom prst="line">
            <a:avLst/>
          </a:prstGeom>
          <a:noFill/>
          <a:ln w="12700">
            <a:solidFill>
              <a:srgbClr val="3A55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080760" y="1307592"/>
            <a:ext cx="28117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　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172200" y="1691640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3C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進行中 Epic（1〜99%）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0760" y="1344168"/>
            <a:ext cx="0" cy="557784"/>
          </a:xfrm>
          <a:prstGeom prst="line">
            <a:avLst/>
          </a:prstGeom>
          <a:noFill/>
          <a:ln w="12700">
            <a:solidFill>
              <a:srgbClr val="3A55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892540" y="1307592"/>
            <a:ext cx="28117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　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83980" y="1691640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3C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未着手 Epic（0%）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892540" y="1344168"/>
            <a:ext cx="0" cy="557784"/>
          </a:xfrm>
          <a:prstGeom prst="line">
            <a:avLst/>
          </a:prstGeom>
          <a:noFill/>
          <a:ln w="12700">
            <a:solidFill>
              <a:srgbClr val="3A55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1945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フェーズ別 進捗率（Epic内 issue消化率で加重平均）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基盤準備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75234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E1・E18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880360" y="2560320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2880360" y="2560320"/>
            <a:ext cx="3328416" cy="256032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647688" y="253288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02666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層構築（設計・実装）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26440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E7・E8・E16・E17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880360" y="3072384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2880360" y="3072384"/>
            <a:ext cx="2487168" cy="256032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647688" y="304495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CI/CD・移行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77647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E19・E13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80360" y="3584448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2880360" y="3584448"/>
            <a:ext cx="2048256" cy="256032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647688" y="3557016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0507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層構築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28853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E6・E9・E10・E12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80360" y="4096512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2880360" y="4096512"/>
            <a:ext cx="1865376" cy="256032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647688" y="406908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5628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運用・品質・ドキュメント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48006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E11・E14・E15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880360" y="4608576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2880360" y="4608576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F566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6647688" y="458114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50749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/ Bronze 連携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531266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E2・E3・E4・E5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880360" y="5120640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2880360" y="512064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F566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6647688" y="509320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55869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スコープ外委託 (Whizen)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582472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880360" y="5632704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2880360" y="5632704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647688" y="560527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06640" y="2514600"/>
            <a:ext cx="429768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7635240" y="2743200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8046720" y="2715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順調に進捗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662672" y="3108960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E7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層構築（Iceberg, Star Schema）　</a:t>
            </a: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90%（73/81 closed）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662672" y="3401568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E9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完全性チェック (per-HANSYA)　</a:t>
            </a: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84%（39/46 closed）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662672" y="3694176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環境準備・基盤構築　</a:t>
            </a: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83%（5/6 closed）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662672" y="3986784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E19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CI/CD・デプロイ自動化　</a:t>
            </a: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75%（15/20 closed）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406640" y="4480560"/>
            <a:ext cx="429768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Shape 58"/>
          <p:cNvSpPr/>
          <p:nvPr/>
        </p:nvSpPr>
        <p:spPr>
          <a:xfrm>
            <a:off x="7635240" y="470916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8046720" y="46817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要注意（未着手・遅延）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662672" y="5074920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E14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設計レビュー・ドキュメント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33%（22 open）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662672" y="5367528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E15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権限管理・運用手順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10%（18 open）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662672" y="5660136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E4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Stage-2 Flink SQL Job (per-table)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0%（17 open）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662672" y="5952744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E12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性能試験 (Silver+Auto Scaling)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0%（15 open）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留意点：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Gold層構築(E7)が87%→90%に前進(73/81 closed)。他Epicは前回(8/3)から大きな変動なし。設計レビュー・ドキュメント(E14)は22件openで依然最多、権限管理(E15)も18件openで高止まりしており、8月末の切替目標に向け、この2Epicへの優先着手が引き続き必要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6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 ベース ／ Epic (E1〜E20) 進捗集計　2026/7/27 </a:t>
            </a:r>
            <a:r>
              <a:rPr lang="en-US" sz="1100" b="1" dirty="0" err="1">
                <a:solidFill>
                  <a:srgbClr val="F56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プロジェクト進捗報告　―　Milestone別 消化状況サマリー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1307592"/>
            <a:ext cx="28117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42.5%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3C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全体進捗（144 / 339 issues closed）　※前回32%から+10.5pt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68980" y="1307592"/>
            <a:ext cx="28117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　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360420" y="1691640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3C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完了 Epic（100%）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68980" y="1344168"/>
            <a:ext cx="0" cy="557784"/>
          </a:xfrm>
          <a:prstGeom prst="line">
            <a:avLst/>
          </a:prstGeom>
          <a:noFill/>
          <a:ln w="12700">
            <a:solidFill>
              <a:srgbClr val="3A55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080760" y="1307592"/>
            <a:ext cx="28117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　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172200" y="1691640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3C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進行中 Epic（1〜99%）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0760" y="1344168"/>
            <a:ext cx="0" cy="557784"/>
          </a:xfrm>
          <a:prstGeom prst="line">
            <a:avLst/>
          </a:prstGeom>
          <a:noFill/>
          <a:ln w="12700">
            <a:solidFill>
              <a:srgbClr val="3A55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892540" y="1307592"/>
            <a:ext cx="28117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　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83980" y="1691640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3C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未着手 Epic（0%）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892540" y="1344168"/>
            <a:ext cx="0" cy="557784"/>
          </a:xfrm>
          <a:prstGeom prst="line">
            <a:avLst/>
          </a:prstGeom>
          <a:noFill/>
          <a:ln w="12700">
            <a:solidFill>
              <a:srgbClr val="3A55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1945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フェーズ別 進捗率（Epic内 issue消化率で加重平均）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基盤準備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75234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E1・E18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880360" y="2560320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2880360" y="2560320"/>
            <a:ext cx="3328416" cy="256032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647688" y="253288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02666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層構築（設計・実装）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26440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E7・E8・E16・E17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880360" y="3072384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2880360" y="3072384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647688" y="304495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CI/CD・移行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77647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E19・E13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80360" y="3584448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2880360" y="3584448"/>
            <a:ext cx="2048256" cy="256032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647688" y="3557016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0507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層構築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28853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E6・E9・E10・E12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80360" y="4096512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2880360" y="4096512"/>
            <a:ext cx="1426464" cy="256032"/>
          </a:xfrm>
          <a:prstGeom prst="roundRect">
            <a:avLst>
              <a:gd name="adj" fmla="val 14286"/>
            </a:avLst>
          </a:prstGeom>
          <a:solidFill>
            <a:srgbClr val="F566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647688" y="406908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5628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運用・品質・ドキュメント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48006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E11・E14・E15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880360" y="4608576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2880360" y="4608576"/>
            <a:ext cx="694944" cy="256032"/>
          </a:xfrm>
          <a:prstGeom prst="roundRect">
            <a:avLst>
              <a:gd name="adj" fmla="val 14286"/>
            </a:avLst>
          </a:prstGeom>
          <a:solidFill>
            <a:srgbClr val="F566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6647688" y="458114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50749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/ Bronze 連携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531266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E2・E3・E4・E5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880360" y="5120640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2880360" y="512064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F566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6647688" y="509320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55869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スコープ外委託 (Whizen)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582472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880360" y="5632704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6647688" y="560527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06640" y="2514600"/>
            <a:ext cx="429768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7635240" y="2743200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8046720" y="2715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順調に進捗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662672" y="3108960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E18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Cloudera PS Engagement　</a:t>
            </a: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100%（5/5 closed）※新たに完了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662672" y="3401568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入力整備　</a:t>
            </a: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100%（5/5 closed）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662672" y="3694176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E9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完全性チェック (per-HANSYA)　</a:t>
            </a: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70%（26/37 closed）※前回5%から急上昇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662672" y="3986784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E7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層構築（Iceberg, Star Schema）　</a:t>
            </a: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81%（66/81 closed）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406640" y="4480560"/>
            <a:ext cx="429768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7635240" y="470916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8046720" y="46817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要注意（未着手・遅延）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662672" y="5074920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E14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設計レビュー・ドキュメント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30%（23 open）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662672" y="5367528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E15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権限管理・運用手順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10%（18 open）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662672" y="5660136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E4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Stage-2 Flink SQL Job (per-table)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0%（17 open）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662672" y="5952744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E12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性能試験 (Silver+Auto Scaling)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0%（15 open）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留意点：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性チェック(E9)がper-HANSYA展開で急上昇し、Silver層フェーズ全体も2%→39%に改善。一方、設計レビュー・ドキュメント(E14)と権限管理(E15)はopen件数が最多で、8月末の切替目標に向けたボトルネックとして優先着手が必要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6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 ベース ／ Epic (E1〜E20) 進捗集計　2026/7/15 時点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プロジェクト進捗報告　―　Milestone別 消化状況サマリー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1307592"/>
            <a:ext cx="28117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3C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全体進捗（99 / 306 issues closed）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68980" y="1307592"/>
            <a:ext cx="28117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　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06140" y="1691640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3C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完了 Epic（100%）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8980" y="1344168"/>
            <a:ext cx="0" cy="557784"/>
          </a:xfrm>
          <a:prstGeom prst="line">
            <a:avLst/>
          </a:prstGeom>
          <a:noFill/>
          <a:ln w="12700">
            <a:solidFill>
              <a:srgbClr val="3A55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080760" y="1307592"/>
            <a:ext cx="28117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　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17920" y="1691640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3C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進行中 Epic（1〜99%）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1344168"/>
            <a:ext cx="0" cy="557784"/>
          </a:xfrm>
          <a:prstGeom prst="line">
            <a:avLst/>
          </a:prstGeom>
          <a:noFill/>
          <a:ln w="12700">
            <a:solidFill>
              <a:srgbClr val="3A55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892540" y="1307592"/>
            <a:ext cx="28117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　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029700" y="1691640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3C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未着手 Epic（0%）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92540" y="1344168"/>
            <a:ext cx="0" cy="557784"/>
          </a:xfrm>
          <a:prstGeom prst="line">
            <a:avLst/>
          </a:prstGeom>
          <a:noFill/>
          <a:ln w="12700">
            <a:solidFill>
              <a:srgbClr val="3A55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1945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フェーズ別 進捗率（Epic内 issue消化率で加重平均）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層構築（設計・実装）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75234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E7・E8・E16・E17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880360" y="2560320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2880360" y="2560320"/>
            <a:ext cx="2231136" cy="256032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647688" y="253288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02666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CI/CD・移行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26440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E19・E13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880360" y="3072384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2880360" y="3072384"/>
            <a:ext cx="2048256" cy="256032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647688" y="304495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基盤準備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77647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E1・E18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80360" y="3584448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2880360" y="3584448"/>
            <a:ext cx="1133856" cy="256032"/>
          </a:xfrm>
          <a:prstGeom prst="roundRect">
            <a:avLst>
              <a:gd name="adj" fmla="val 14286"/>
            </a:avLst>
          </a:prstGeom>
          <a:solidFill>
            <a:srgbClr val="F566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647688" y="3557016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0507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/ Bronze 連携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28853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E2・E3・E4・E5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80360" y="4096512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2880360" y="409651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F566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647688" y="406908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5628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層構築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48006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E6・E9・E10・E12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880360" y="4608576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2880360" y="4608576"/>
            <a:ext cx="109728" cy="256032"/>
          </a:xfrm>
          <a:prstGeom prst="roundRect">
            <a:avLst>
              <a:gd name="adj" fmla="val 3333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6647688" y="458114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50749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運用・品質・ドキュメント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531266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E11・E14・E15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880360" y="5120640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2880360" y="5120640"/>
            <a:ext cx="109728" cy="256032"/>
          </a:xfrm>
          <a:prstGeom prst="roundRect">
            <a:avLst>
              <a:gd name="adj" fmla="val 3333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6647688" y="509320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55869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スコープ外委託 (Whizen)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582472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880360" y="5632704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E3E7E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6647688" y="560527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06640" y="2514600"/>
            <a:ext cx="429768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7635240" y="2743200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8046720" y="2715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順調に進捗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662672" y="3108960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入力整備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100%（5/5 closed）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662672" y="3401568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E7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層構築（Iceberg, Star Schema）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81%（65/80 closed）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662672" y="3694176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E19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CI/CD・デプロイ自動化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75%（15/20 closed）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662672" y="3986784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環境準備・基盤構築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66%（4/6 closed）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406640" y="4480560"/>
            <a:ext cx="429768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7635240" y="470916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8046720" y="46817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要注意（未着手・遅延）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662672" y="5074920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E14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設計レビュー・ドキュメント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0%（23 open）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662672" y="5367528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E9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完全性チェック (per-HANSYA)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5%（19 open）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662672" y="5660136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E15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権限管理・運用手順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5%（16 open）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662672" y="5952744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E12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性能試験 (Silver+Auto Scaling)　</a:t>
            </a:r>
            <a:r>
              <a:rPr lang="en-US" sz="95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0%（15 open）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留意点：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層の設計・実装は先行して進捗している一方、Silver 層構築（Kudu）・完全性チェック・運用整備はほぼ未着手。8月末の切替目標に向けたクリティカルパスとして優先着手が必要。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f43fea-595c-40cf-98d5-c8ada8a3edd3">
      <Terms xmlns="http://schemas.microsoft.com/office/infopath/2007/PartnerControls"/>
    </lcf76f155ced4ddcb4097134ff3c332f>
    <TaxCatchAll xmlns="0a8f712b-9db7-4852-95e9-93a858a983a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76DC5BCE6722B40BBC38C6F5BC23283" ma:contentTypeVersion="11" ma:contentTypeDescription="新しいドキュメントを作成します。" ma:contentTypeScope="" ma:versionID="991d861482a7b1cda241820d61f6d1c7">
  <xsd:schema xmlns:xsd="http://www.w3.org/2001/XMLSchema" xmlns:xs="http://www.w3.org/2001/XMLSchema" xmlns:p="http://schemas.microsoft.com/office/2006/metadata/properties" xmlns:ns2="a5f43fea-595c-40cf-98d5-c8ada8a3edd3" xmlns:ns3="0a8f712b-9db7-4852-95e9-93a858a983aa" targetNamespace="http://schemas.microsoft.com/office/2006/metadata/properties" ma:root="true" ma:fieldsID="c295f8262a52a8387618d8995b989a95" ns2:_="" ns3:_="">
    <xsd:import namespace="a5f43fea-595c-40cf-98d5-c8ada8a3edd3"/>
    <xsd:import namespace="0a8f712b-9db7-4852-95e9-93a858a983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f43fea-595c-40cf-98d5-c8ada8a3ed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f56b7fa4-99ed-4b60-8ecb-017b4d53c61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8f712b-9db7-4852-95e9-93a858a983a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3c037e0-c63b-407b-b4db-496bba9a2141}" ma:internalName="TaxCatchAll" ma:showField="CatchAllData" ma:web="0a8f712b-9db7-4852-95e9-93a858a983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D0163E-A9BE-44F5-865B-80EE120B6D69}">
  <ds:schemaRefs>
    <ds:schemaRef ds:uri="http://schemas.microsoft.com/office/2006/metadata/properties"/>
    <ds:schemaRef ds:uri="http://schemas.microsoft.com/office/infopath/2007/PartnerControls"/>
    <ds:schemaRef ds:uri="a5f43fea-595c-40cf-98d5-c8ada8a3edd3"/>
    <ds:schemaRef ds:uri="0a8f712b-9db7-4852-95e9-93a858a983aa"/>
  </ds:schemaRefs>
</ds:datastoreItem>
</file>

<file path=customXml/itemProps2.xml><?xml version="1.0" encoding="utf-8"?>
<ds:datastoreItem xmlns:ds="http://schemas.openxmlformats.org/officeDocument/2006/customXml" ds:itemID="{66BBB94C-23A2-4AC8-802D-CBEBFCAA86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f43fea-595c-40cf-98d5-c8ada8a3edd3"/>
    <ds:schemaRef ds:uri="0a8f712b-9db7-4852-95e9-93a858a983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B96604-1EDD-4AAC-B07B-86D8D4EA50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1753</Words>
  <Application>Microsoft Office PowerPoint</Application>
  <PresentationFormat>Widescreen</PresentationFormat>
  <Paragraphs>340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近藤 龍</cp:lastModifiedBy>
  <cp:revision>23</cp:revision>
  <dcterms:created xsi:type="dcterms:W3CDTF">2026-07-15T01:35:33Z</dcterms:created>
  <dcterms:modified xsi:type="dcterms:W3CDTF">2026-08-16T23:57:28Z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0x010100476DC5BCE6722B40BBC38C6F5BC23283</vt:lpwstr>
  </property>
  <property fmtid="{D5CDD505-2E9C-101B-9397-08002B2CF9AE}" pid="3" name="MediaServiceImageTags">
    <vt:lpwstr/>
  </property>
</Properties>
</file>