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7" r:id="rId9"/>
    <p:sldId id="260" r:id="rId10"/>
    <p:sldId id="269" r:id="rId11"/>
    <p:sldId id="261" r:id="rId12"/>
    <p:sldId id="262" r:id="rId13"/>
    <p:sldId id="268" r:id="rId14"/>
    <p:sldId id="263" r:id="rId15"/>
    <p:sldId id="266" r:id="rId16"/>
  </p:sldIdLst>
  <p:sldSz cx="12192000" cy="6858000"/>
  <p:notesSz cx="6858000" cy="9144000"/>
  <p:embeddedFontLst>
    <p:embeddedFont>
      <p:font typeface="Arial Black" panose="020B0A04020102020204" pitchFamily="34" charset="0"/>
      <p:regular r:id="rId18"/>
      <p:bold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od/flpiOSOUzycST62NRKQSMH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A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04BF9-6328-D146-9C61-630838C3754D}" v="684" dt="2026-09-15T05:45:19.085"/>
    <p1510:client id="{FD970B92-E6A0-EE71-3F6B-99E6AFF11BBA}" v="1" dt="2026-09-14T06:08:18.258"/>
  </p1510:revLst>
</p1510:revInfo>
</file>

<file path=ppt/tableStyles.xml><?xml version="1.0" encoding="utf-8"?>
<a:tblStyleLst xmlns:a="http://schemas.openxmlformats.org/drawingml/2006/main" def="{10BFCE54-A599-4904-9D1C-BB4B60250363}">
  <a:tblStyle styleId="{10BFCE54-A599-4904-9D1C-BB4B6025036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Verdana"/>
              <a:buNone/>
            </a:pPr>
            <a:fld id="{00000000-1234-1234-1234-123412341234}" type="slidenum">
              <a:rPr lang="en-US" altLang="ja-JP" sz="13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fld>
            <a:endParaRPr sz="13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87830097c_1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g3f87830097c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7830097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f8783009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7830097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f8783009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7830097c_1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87830097c_1_3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f87830097c_1_3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891B207D-0DDF-036F-9DC0-43A507B2D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7830097c_0_0:notes">
            <a:extLst>
              <a:ext uri="{FF2B5EF4-FFF2-40B4-BE49-F238E27FC236}">
                <a16:creationId xmlns:a16="http://schemas.microsoft.com/office/drawing/2014/main" id="{EF695FE4-268D-E1D4-239B-04ED5A4BD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f87830097c_0_0:notes">
            <a:extLst>
              <a:ext uri="{FF2B5EF4-FFF2-40B4-BE49-F238E27FC236}">
                <a16:creationId xmlns:a16="http://schemas.microsoft.com/office/drawing/2014/main" id="{DE83FEE9-9A7E-5FBC-98A4-B25B1A0CA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905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87830097c_1_2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3f87830097c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Verdana"/>
              <a:buNone/>
            </a:pPr>
            <a:fld id="{00000000-1234-1234-1234-123412341234}" type="slidenum">
              <a:rPr lang="en-US" altLang="ja-JP" sz="13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12</a:t>
            </a:fld>
            <a:endParaRPr sz="13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>
            <a:spLocks noGrp="1"/>
          </p:cNvSpPr>
          <p:nvPr>
            <p:ph type="ctrTitle"/>
          </p:nvPr>
        </p:nvSpPr>
        <p:spPr>
          <a:xfrm>
            <a:off x="917376" y="1566810"/>
            <a:ext cx="10389334" cy="203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Arial"/>
              <a:buNone/>
              <a:defRPr sz="72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 b="1">
                <a:solidFill>
                  <a:srgbClr val="3F3F3F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  <p:sp>
        <p:nvSpPr>
          <p:cNvPr id="18" name="Google Shape;18;p11"/>
          <p:cNvSpPr/>
          <p:nvPr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5400" tIns="47700" rIns="95400" bIns="47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0736" y="6201068"/>
            <a:ext cx="2350528" cy="375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184" cy="73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 b="1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425491" y="919261"/>
            <a:ext cx="11151029" cy="342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99555" algn="l">
              <a:spcBef>
                <a:spcPts val="853"/>
              </a:spcBef>
              <a:spcAft>
                <a:spcPts val="0"/>
              </a:spcAft>
              <a:buClr>
                <a:srgbClr val="3F3F3F"/>
              </a:buClr>
              <a:buSzPts val="4267"/>
              <a:buChar char="•"/>
              <a:defRPr b="1">
                <a:solidFill>
                  <a:srgbClr val="3F3F3F"/>
                </a:solidFill>
              </a:defRPr>
            </a:lvl1pPr>
            <a:lvl2pPr marL="914400" lvl="1" indent="-465646" algn="l">
              <a:spcBef>
                <a:spcPts val="747"/>
              </a:spcBef>
              <a:spcAft>
                <a:spcPts val="0"/>
              </a:spcAft>
              <a:buClr>
                <a:srgbClr val="3F3F3F"/>
              </a:buClr>
              <a:buSzPts val="3733"/>
              <a:buChar char="–"/>
              <a:defRPr b="1">
                <a:solidFill>
                  <a:srgbClr val="3F3F3F"/>
                </a:solidFill>
              </a:defRPr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b="1">
                <a:solidFill>
                  <a:srgbClr val="3F3F3F"/>
                </a:solidFill>
              </a:defRPr>
            </a:lvl3pPr>
            <a:lvl4pPr marL="1828800" lvl="3" indent="-397955" algn="l">
              <a:spcBef>
                <a:spcPts val="533"/>
              </a:spcBef>
              <a:spcAft>
                <a:spcPts val="0"/>
              </a:spcAft>
              <a:buClr>
                <a:srgbClr val="3F3F3F"/>
              </a:buClr>
              <a:buSzPts val="2667"/>
              <a:buChar char="–"/>
              <a:defRPr b="1">
                <a:solidFill>
                  <a:srgbClr val="3F3F3F"/>
                </a:solidFill>
              </a:defRPr>
            </a:lvl4pPr>
            <a:lvl5pPr marL="2286000" lvl="4" indent="-397955" algn="l">
              <a:spcBef>
                <a:spcPts val="533"/>
              </a:spcBef>
              <a:spcAft>
                <a:spcPts val="0"/>
              </a:spcAft>
              <a:buClr>
                <a:srgbClr val="3F3F3F"/>
              </a:buClr>
              <a:buSzPts val="2667"/>
              <a:buChar char="»"/>
              <a:defRPr b="1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/>
          <p:nvPr/>
        </p:nvSpPr>
        <p:spPr>
          <a:xfrm rot="10800000">
            <a:off x="0" y="668408"/>
            <a:ext cx="12192000" cy="45719"/>
          </a:xfrm>
          <a:prstGeom prst="rect">
            <a:avLst/>
          </a:prstGeom>
          <a:gradFill>
            <a:gsLst>
              <a:gs pos="0">
                <a:schemeClr val="lt1"/>
              </a:gs>
              <a:gs pos="86000">
                <a:srgbClr val="FF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txBody>
          <a:bodyPr spcFirstLastPara="1" wrap="square" lIns="95400" tIns="47700" rIns="95400" bIns="47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12"/>
          <p:cNvPicPr preferRelativeResize="0"/>
          <p:nvPr/>
        </p:nvPicPr>
        <p:blipFill rotWithShape="1">
          <a:blip r:embed="rId2">
            <a:alphaModFix/>
          </a:blip>
          <a:srcRect t="17269" b="22490"/>
          <a:stretch/>
        </p:blipFill>
        <p:spPr>
          <a:xfrm>
            <a:off x="10908100" y="133678"/>
            <a:ext cx="1283900" cy="44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2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 rtl="0">
              <a:spcBef>
                <a:spcPts val="0"/>
              </a:spcBef>
              <a:buNone/>
              <a:defRPr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  <p:sp>
        <p:nvSpPr>
          <p:cNvPr id="26" name="Google Shape;26;p12"/>
          <p:cNvSpPr/>
          <p:nvPr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5400" tIns="47700" rIns="95400" bIns="47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219877" y="-13393"/>
            <a:ext cx="10972800" cy="56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Arial"/>
              <a:buNone/>
              <a:defRPr sz="5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9555" algn="l" rtl="0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sz="42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6" algn="l" rtl="0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5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/>
        </p:nvSpPr>
        <p:spPr>
          <a:xfrm>
            <a:off x="4434960" y="5578324"/>
            <a:ext cx="3322080" cy="34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333"/>
              <a:buFont typeface="Arial"/>
              <a:buNone/>
            </a:pPr>
            <a:r>
              <a:rPr lang="ja-JP" sz="1333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2026年　8月 27日</a:t>
            </a:r>
            <a:endParaRPr/>
          </a:p>
        </p:txBody>
      </p:sp>
      <p:sp>
        <p:nvSpPr>
          <p:cNvPr id="33" name="Google Shape;33;p1"/>
          <p:cNvSpPr txBox="1">
            <a:spLocks noGrp="1"/>
          </p:cNvSpPr>
          <p:nvPr>
            <p:ph type="ctrTitle"/>
          </p:nvPr>
        </p:nvSpPr>
        <p:spPr>
          <a:xfrm>
            <a:off x="917376" y="1566810"/>
            <a:ext cx="10389334" cy="203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Arial"/>
              <a:buNone/>
            </a:pPr>
            <a:r>
              <a:rPr lang="ja-JP" sz="6000"/>
              <a:t>次期J 活動実績データ</a:t>
            </a:r>
            <a:br>
              <a:rPr lang="ja-JP" sz="6000"/>
            </a:br>
            <a:r>
              <a:rPr lang="ja-JP" sz="6000"/>
              <a:t>データ連携進行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914400" y="4896772"/>
            <a:ext cx="1036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000" b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株式会社トヨテック　DX推進PJ</a:t>
            </a:r>
            <a:endParaRPr sz="2000" b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184" cy="73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ja-JP" sz="2800"/>
              <a:t>［ご相談］技術検証の実施内容につきまして</a:t>
            </a:r>
            <a:endParaRPr sz="2800"/>
          </a:p>
        </p:txBody>
      </p:sp>
      <p:sp>
        <p:nvSpPr>
          <p:cNvPr id="40" name="Google Shape;40;p2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2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latin typeface="Arial Black"/>
                <a:ea typeface="Arial Black"/>
                <a:cs typeface="Arial Black"/>
                <a:sym typeface="Arial Black"/>
              </a:rPr>
              <a:t>2</a:t>
            </a:fld>
            <a:endParaRPr sz="2133"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41" name="Google Shape;41;p2"/>
          <p:cNvGraphicFramePr/>
          <p:nvPr/>
        </p:nvGraphicFramePr>
        <p:xfrm>
          <a:off x="664987" y="1193773"/>
          <a:ext cx="10417675" cy="4042075"/>
        </p:xfrm>
        <a:graphic>
          <a:graphicData uri="http://schemas.openxmlformats.org/drawingml/2006/table">
            <a:tbl>
              <a:tblPr>
                <a:noFill/>
                <a:tableStyleId>{10BFCE54-A599-4904-9D1C-BB4B60250363}</a:tableStyleId>
              </a:tblPr>
              <a:tblGrid>
                <a:gridCol w="34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領域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実証移行の判断クライテリア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① Azure側受信技術検証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Salesforceイベント配信 &amp; Azure Event Consumer構成イメージとNW要件を両社で合意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② データ要件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連携対象オブジェクト / 項目 / 更新件数（件/日、件/h）が定量的に確定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③ 非機能要件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許容遅延・順序保証・リトライ方針が握れている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④ 対象範囲・粒度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「ポイント付与対象」となる活動データの粒度が定義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⑤ ライセンス構成</a:t>
                      </a:r>
                      <a:endParaRPr/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ja-JP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5万件/日 超過の見込みと必要SKUのコスト目線が合意</a:t>
                      </a:r>
                      <a:endParaRPr sz="1800" b="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775" marR="74775" marT="37400" marB="37400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Google Shape;42;p2"/>
          <p:cNvSpPr/>
          <p:nvPr/>
        </p:nvSpPr>
        <p:spPr>
          <a:xfrm>
            <a:off x="664924" y="1561800"/>
            <a:ext cx="10417800" cy="9573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550686" y="5535629"/>
            <a:ext cx="1109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ご提案いただいたSalesforce↔Azure間の通信検証ですが、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弊社ではデータ活用基盤への接続を加味すると、Kafkaコネクタの開発・動作検証を行いたく思っており、ご説明をさせていただきます。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64986" y="696777"/>
            <a:ext cx="8567504" cy="49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Salesforce様 前回ご提案内容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87830097c_1_64"/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ja-JP" sz="2400"/>
              <a:t>全販社 構成イメージ / NW要件（Salesforce CDC Pub/Sub API）　</a:t>
            </a:r>
            <a:endParaRPr sz="2400"/>
          </a:p>
        </p:txBody>
      </p:sp>
      <p:sp>
        <p:nvSpPr>
          <p:cNvPr id="50" name="Google Shape;50;g3f87830097c_1_64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latin typeface="Arial Black"/>
                <a:ea typeface="Arial Black"/>
                <a:cs typeface="Arial Black"/>
                <a:sym typeface="Arial Black"/>
              </a:rPr>
              <a:t>3</a:t>
            </a:fld>
            <a:endParaRPr sz="2133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" name="Google Shape;51;g3f87830097c_1_64"/>
          <p:cNvSpPr/>
          <p:nvPr/>
        </p:nvSpPr>
        <p:spPr>
          <a:xfrm>
            <a:off x="4925375" y="1131000"/>
            <a:ext cx="6398700" cy="4220100"/>
          </a:xfrm>
          <a:prstGeom prst="rect">
            <a:avLst/>
          </a:prstGeom>
          <a:solidFill>
            <a:srgbClr val="DAEEF3"/>
          </a:solidFill>
          <a:ln w="8900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41975" rIns="83975" bIns="419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3"/>
              <a:buFont typeface="Arial"/>
              <a:buNone/>
            </a:pPr>
            <a:endParaRPr sz="165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87830097c_1_64"/>
          <p:cNvSpPr/>
          <p:nvPr/>
        </p:nvSpPr>
        <p:spPr>
          <a:xfrm>
            <a:off x="5106975" y="1585675"/>
            <a:ext cx="6095700" cy="3594900"/>
          </a:xfrm>
          <a:prstGeom prst="roundRect">
            <a:avLst>
              <a:gd name="adj" fmla="val 142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7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g3f87830097c_1_64"/>
          <p:cNvGrpSpPr/>
          <p:nvPr/>
        </p:nvGrpSpPr>
        <p:grpSpPr>
          <a:xfrm>
            <a:off x="5128450" y="1243740"/>
            <a:ext cx="1677982" cy="263400"/>
            <a:chOff x="1704469" y="829379"/>
            <a:chExt cx="1677982" cy="263400"/>
          </a:xfrm>
        </p:grpSpPr>
        <p:sp>
          <p:nvSpPr>
            <p:cNvPr id="54" name="Google Shape;54;g3f87830097c_1_64"/>
            <p:cNvSpPr txBox="1"/>
            <p:nvPr/>
          </p:nvSpPr>
          <p:spPr>
            <a:xfrm>
              <a:off x="1887251" y="829379"/>
              <a:ext cx="1495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25" tIns="46000" rIns="92025" bIns="46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7"/>
                <a:buFont typeface="Arial"/>
                <a:buNone/>
              </a:pPr>
              <a:r>
                <a:rPr lang="ja-JP" sz="110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Azureテナント</a:t>
              </a:r>
              <a:endParaRPr/>
            </a:p>
          </p:txBody>
        </p:sp>
        <p:pic>
          <p:nvPicPr>
            <p:cNvPr id="55" name="Google Shape;55;g3f87830097c_1_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04469" y="837850"/>
              <a:ext cx="217370" cy="2173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" name="Google Shape;56;g3f87830097c_1_64"/>
          <p:cNvGrpSpPr/>
          <p:nvPr/>
        </p:nvGrpSpPr>
        <p:grpSpPr>
          <a:xfrm>
            <a:off x="5286468" y="1680696"/>
            <a:ext cx="1198272" cy="174379"/>
            <a:chOff x="1344140" y="1073487"/>
            <a:chExt cx="1198272" cy="174379"/>
          </a:xfrm>
        </p:grpSpPr>
        <p:pic>
          <p:nvPicPr>
            <p:cNvPr id="57" name="Google Shape;57;g3f87830097c_1_6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44140" y="1076666"/>
              <a:ext cx="171200" cy="17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g3f87830097c_1_64"/>
            <p:cNvSpPr/>
            <p:nvPr/>
          </p:nvSpPr>
          <p:spPr>
            <a:xfrm>
              <a:off x="1552112" y="1073487"/>
              <a:ext cx="990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toyotecdap</a:t>
              </a:r>
              <a:endParaRPr sz="1500"/>
            </a:p>
          </p:txBody>
        </p:sp>
      </p:grpSp>
      <p:sp>
        <p:nvSpPr>
          <p:cNvPr id="59" name="Google Shape;59;g3f87830097c_1_64"/>
          <p:cNvSpPr/>
          <p:nvPr/>
        </p:nvSpPr>
        <p:spPr>
          <a:xfrm>
            <a:off x="5266650" y="1959750"/>
            <a:ext cx="5721300" cy="3044700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25075" cap="flat" cmpd="sng">
            <a:solidFill>
              <a:srgbClr val="C0E4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7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g3f87830097c_1_64"/>
          <p:cNvGrpSpPr/>
          <p:nvPr/>
        </p:nvGrpSpPr>
        <p:grpSpPr>
          <a:xfrm>
            <a:off x="5405691" y="2041234"/>
            <a:ext cx="2732334" cy="217375"/>
            <a:chOff x="2225175" y="1691128"/>
            <a:chExt cx="2732334" cy="217375"/>
          </a:xfrm>
        </p:grpSpPr>
        <p:pic>
          <p:nvPicPr>
            <p:cNvPr id="61" name="Google Shape;61;g3f87830097c_1_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25175" y="1691128"/>
              <a:ext cx="217375" cy="217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g3f87830097c_1_64"/>
            <p:cNvSpPr/>
            <p:nvPr/>
          </p:nvSpPr>
          <p:spPr>
            <a:xfrm>
              <a:off x="2482509" y="1720519"/>
              <a:ext cx="2475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rg-toyotecdap  </a:t>
              </a:r>
              <a:r>
                <a:rPr lang="ja-JP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CDPデータ活用基盤</a:t>
              </a:r>
              <a:endParaRPr sz="1500"/>
            </a:p>
          </p:txBody>
        </p:sp>
      </p:grpSp>
      <p:sp>
        <p:nvSpPr>
          <p:cNvPr id="63" name="Google Shape;63;g3f87830097c_1_64"/>
          <p:cNvSpPr/>
          <p:nvPr/>
        </p:nvSpPr>
        <p:spPr>
          <a:xfrm>
            <a:off x="6458056" y="1303900"/>
            <a:ext cx="990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TOYOTEC DAP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f87830097c_1_64"/>
          <p:cNvSpPr/>
          <p:nvPr/>
        </p:nvSpPr>
        <p:spPr>
          <a:xfrm>
            <a:off x="7133521" y="2433150"/>
            <a:ext cx="3708900" cy="2383200"/>
          </a:xfrm>
          <a:prstGeom prst="roundRect">
            <a:avLst>
              <a:gd name="adj" fmla="val 183"/>
            </a:avLst>
          </a:prstGeom>
          <a:noFill/>
          <a:ln w="8900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7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87830097c_1_64"/>
          <p:cNvSpPr/>
          <p:nvPr/>
        </p:nvSpPr>
        <p:spPr>
          <a:xfrm>
            <a:off x="5425600" y="2433150"/>
            <a:ext cx="1635600" cy="2383200"/>
          </a:xfrm>
          <a:prstGeom prst="roundRect">
            <a:avLst>
              <a:gd name="adj" fmla="val 183"/>
            </a:avLst>
          </a:prstGeom>
          <a:noFill/>
          <a:ln w="8900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7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g3f87830097c_1_64"/>
          <p:cNvGrpSpPr/>
          <p:nvPr/>
        </p:nvGrpSpPr>
        <p:grpSpPr>
          <a:xfrm>
            <a:off x="8511025" y="3236869"/>
            <a:ext cx="989689" cy="829385"/>
            <a:chOff x="8382889" y="2910479"/>
            <a:chExt cx="1076100" cy="901800"/>
          </a:xfrm>
        </p:grpSpPr>
        <p:sp>
          <p:nvSpPr>
            <p:cNvPr id="67" name="Google Shape;67;g3f87830097c_1_64"/>
            <p:cNvSpPr/>
            <p:nvPr/>
          </p:nvSpPr>
          <p:spPr>
            <a:xfrm>
              <a:off x="8382889" y="2910479"/>
              <a:ext cx="1076100" cy="901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8750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825" tIns="78825" rIns="78825" bIns="7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8"/>
                <a:buFont typeface="Arial"/>
                <a:buNone/>
              </a:pPr>
              <a:endParaRPr sz="120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" name="Google Shape;68;g3f87830097c_1_64" title="nifi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96061" y="3251932"/>
              <a:ext cx="523882" cy="2181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" name="Google Shape;69;g3f87830097c_1_64"/>
          <p:cNvGrpSpPr/>
          <p:nvPr/>
        </p:nvGrpSpPr>
        <p:grpSpPr>
          <a:xfrm>
            <a:off x="7366384" y="3251788"/>
            <a:ext cx="989689" cy="829385"/>
            <a:chOff x="6764757" y="2926700"/>
            <a:chExt cx="1076100" cy="901800"/>
          </a:xfrm>
        </p:grpSpPr>
        <p:sp>
          <p:nvSpPr>
            <p:cNvPr id="70" name="Google Shape;70;g3f87830097c_1_64"/>
            <p:cNvSpPr/>
            <p:nvPr/>
          </p:nvSpPr>
          <p:spPr>
            <a:xfrm>
              <a:off x="6764757" y="2926700"/>
              <a:ext cx="1076100" cy="901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8750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825" tIns="78825" rIns="78825" bIns="7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8"/>
                <a:buFont typeface="Arial"/>
                <a:buNone/>
              </a:pPr>
              <a:endParaRPr sz="9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" name="Google Shape;71;g3f87830097c_1_64" title="kafka.png"/>
            <p:cNvPicPr preferRelativeResize="0"/>
            <p:nvPr/>
          </p:nvPicPr>
          <p:blipFill rotWithShape="1">
            <a:blip r:embed="rId7">
              <a:alphaModFix/>
            </a:blip>
            <a:srcRect r="63665"/>
            <a:stretch/>
          </p:blipFill>
          <p:spPr>
            <a:xfrm>
              <a:off x="7095532" y="3260223"/>
              <a:ext cx="414527" cy="4392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g3f87830097c_1_64"/>
            <p:cNvSpPr txBox="1"/>
            <p:nvPr/>
          </p:nvSpPr>
          <p:spPr>
            <a:xfrm>
              <a:off x="7077929" y="2985568"/>
              <a:ext cx="449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lang="ja-JP" sz="1104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Kafka</a:t>
              </a:r>
              <a:endParaRPr sz="1288"/>
            </a:p>
          </p:txBody>
        </p:sp>
      </p:grpSp>
      <p:grpSp>
        <p:nvGrpSpPr>
          <p:cNvPr id="73" name="Google Shape;73;g3f87830097c_1_64"/>
          <p:cNvGrpSpPr/>
          <p:nvPr/>
        </p:nvGrpSpPr>
        <p:grpSpPr>
          <a:xfrm>
            <a:off x="9655666" y="3241820"/>
            <a:ext cx="1007736" cy="829385"/>
            <a:chOff x="9986980" y="2926700"/>
            <a:chExt cx="1095723" cy="901800"/>
          </a:xfrm>
        </p:grpSpPr>
        <p:sp>
          <p:nvSpPr>
            <p:cNvPr id="74" name="Google Shape;74;g3f87830097c_1_64"/>
            <p:cNvSpPr/>
            <p:nvPr/>
          </p:nvSpPr>
          <p:spPr>
            <a:xfrm>
              <a:off x="9986980" y="2926700"/>
              <a:ext cx="1076100" cy="901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8750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825" tIns="78825" rIns="78825" bIns="7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8"/>
                <a:buFont typeface="Arial"/>
                <a:buNone/>
              </a:pPr>
              <a:endParaRPr sz="120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3f87830097c_1_64"/>
            <p:cNvSpPr/>
            <p:nvPr/>
          </p:nvSpPr>
          <p:spPr>
            <a:xfrm>
              <a:off x="10358684" y="3341904"/>
              <a:ext cx="332669" cy="256358"/>
            </a:xfrm>
            <a:prstGeom prst="flowChartMagneticDisk">
              <a:avLst/>
            </a:prstGeom>
            <a:solidFill>
              <a:schemeClr val="lt1"/>
            </a:solidFill>
            <a:ln w="875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4075" tIns="84075" rIns="84075" bIns="84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8"/>
                <a:buFont typeface="Arial"/>
                <a:buNone/>
              </a:pPr>
              <a:endParaRPr sz="12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" name="Google Shape;76;g3f87830097c_1_64"/>
            <p:cNvGrpSpPr/>
            <p:nvPr/>
          </p:nvGrpSpPr>
          <p:grpSpPr>
            <a:xfrm>
              <a:off x="10124740" y="3035326"/>
              <a:ext cx="957963" cy="255068"/>
              <a:chOff x="3369819" y="3596009"/>
              <a:chExt cx="957963" cy="255068"/>
            </a:xfrm>
          </p:grpSpPr>
          <p:sp>
            <p:nvSpPr>
              <p:cNvPr id="77" name="Google Shape;77;g3f87830097c_1_64"/>
              <p:cNvSpPr txBox="1"/>
              <p:nvPr/>
            </p:nvSpPr>
            <p:spPr>
              <a:xfrm>
                <a:off x="3755382" y="3628046"/>
                <a:ext cx="5724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63"/>
                  <a:buFont typeface="Arial"/>
                  <a:buNone/>
                </a:pPr>
                <a:r>
                  <a:rPr lang="ja-JP" sz="1104" b="1" i="0" u="none" strike="noStrike" cap="non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Kudu</a:t>
                </a:r>
                <a:endParaRPr sz="1288"/>
              </a:p>
            </p:txBody>
          </p:sp>
          <p:pic>
            <p:nvPicPr>
              <p:cNvPr id="78" name="Google Shape;78;g3f87830097c_1_64" title="kudu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3369819" y="3596009"/>
                <a:ext cx="386005" cy="2550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9" name="Google Shape;79;g3f87830097c_1_64"/>
          <p:cNvGrpSpPr/>
          <p:nvPr/>
        </p:nvGrpSpPr>
        <p:grpSpPr>
          <a:xfrm>
            <a:off x="5557551" y="3251792"/>
            <a:ext cx="1374584" cy="829385"/>
            <a:chOff x="2726486" y="3307376"/>
            <a:chExt cx="1494600" cy="901800"/>
          </a:xfrm>
        </p:grpSpPr>
        <p:sp>
          <p:nvSpPr>
            <p:cNvPr id="80" name="Google Shape;80;g3f87830097c_1_64"/>
            <p:cNvSpPr/>
            <p:nvPr/>
          </p:nvSpPr>
          <p:spPr>
            <a:xfrm>
              <a:off x="2726486" y="3307376"/>
              <a:ext cx="1494600" cy="901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8750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825" tIns="78825" rIns="78825" bIns="7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8"/>
                <a:buFont typeface="Arial"/>
                <a:buNone/>
              </a:pPr>
              <a:endParaRPr sz="9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f87830097c_1_64"/>
            <p:cNvSpPr txBox="1"/>
            <p:nvPr/>
          </p:nvSpPr>
          <p:spPr>
            <a:xfrm>
              <a:off x="2780859" y="3369801"/>
              <a:ext cx="1361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lang="ja-JP" sz="1104" b="1" i="0" u="none" strike="noStrike" cap="non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Kafka Connector</a:t>
              </a:r>
              <a:endParaRPr sz="1104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f87830097c_1_64"/>
            <p:cNvSpPr/>
            <p:nvPr/>
          </p:nvSpPr>
          <p:spPr>
            <a:xfrm>
              <a:off x="2834371" y="3684699"/>
              <a:ext cx="1265400" cy="3723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87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825" tIns="78825" rIns="78825" bIns="7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8"/>
                <a:buFont typeface="Arial"/>
                <a:buNone/>
              </a:pPr>
              <a:r>
                <a:rPr lang="ja-JP" sz="92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 Connector</a:t>
              </a:r>
              <a:endParaRPr sz="9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g3f87830097c_1_64"/>
          <p:cNvGrpSpPr/>
          <p:nvPr/>
        </p:nvGrpSpPr>
        <p:grpSpPr>
          <a:xfrm>
            <a:off x="7230803" y="2506765"/>
            <a:ext cx="2786952" cy="247309"/>
            <a:chOff x="7535603" y="2582965"/>
            <a:chExt cx="2786952" cy="247309"/>
          </a:xfrm>
        </p:grpSpPr>
        <p:sp>
          <p:nvSpPr>
            <p:cNvPr id="84" name="Google Shape;84;g3f87830097c_1_64"/>
            <p:cNvSpPr/>
            <p:nvPr/>
          </p:nvSpPr>
          <p:spPr>
            <a:xfrm>
              <a:off x="7847555" y="2629669"/>
              <a:ext cx="2475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192.168.20.0/25</a:t>
              </a:r>
              <a:endParaRPr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" name="Google Shape;85;g3f87830097c_1_6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535603" y="2582965"/>
              <a:ext cx="247309" cy="24730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" name="Google Shape;86;g3f87830097c_1_6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84556" y="2503412"/>
            <a:ext cx="247309" cy="2473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g3f87830097c_1_64"/>
          <p:cNvCxnSpPr>
            <a:stCxn id="80" idx="3"/>
            <a:endCxn id="70" idx="1"/>
          </p:cNvCxnSpPr>
          <p:nvPr/>
        </p:nvCxnSpPr>
        <p:spPr>
          <a:xfrm>
            <a:off x="6932135" y="3666485"/>
            <a:ext cx="434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8" name="Google Shape;88;g3f87830097c_1_64"/>
          <p:cNvSpPr/>
          <p:nvPr/>
        </p:nvSpPr>
        <p:spPr>
          <a:xfrm>
            <a:off x="617900" y="1131000"/>
            <a:ext cx="3475200" cy="4220100"/>
          </a:xfrm>
          <a:prstGeom prst="rect">
            <a:avLst/>
          </a:prstGeom>
          <a:solidFill>
            <a:srgbClr val="F8E8D9"/>
          </a:solidFill>
          <a:ln w="8900" cap="flat" cmpd="sng">
            <a:solidFill>
              <a:srgbClr val="F0D1B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41975" rIns="83975" bIns="419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3"/>
              <a:buFont typeface="Arial"/>
              <a:buNone/>
            </a:pPr>
            <a:endParaRPr sz="165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g3f87830097c_1_64" title="salesforc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9690" y="1197281"/>
            <a:ext cx="978458" cy="60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f87830097c_1_64"/>
          <p:cNvSpPr/>
          <p:nvPr/>
        </p:nvSpPr>
        <p:spPr>
          <a:xfrm>
            <a:off x="1934171" y="2019550"/>
            <a:ext cx="842700" cy="3044700"/>
          </a:xfrm>
          <a:prstGeom prst="roundRect">
            <a:avLst>
              <a:gd name="adj" fmla="val 18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87830097c_1_64"/>
          <p:cNvSpPr/>
          <p:nvPr/>
        </p:nvSpPr>
        <p:spPr>
          <a:xfrm>
            <a:off x="2931229" y="2019550"/>
            <a:ext cx="842700" cy="3044700"/>
          </a:xfrm>
          <a:prstGeom prst="roundRect">
            <a:avLst>
              <a:gd name="adj" fmla="val 18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87830097c_1_64"/>
          <p:cNvSpPr/>
          <p:nvPr/>
        </p:nvSpPr>
        <p:spPr>
          <a:xfrm>
            <a:off x="937075" y="2019550"/>
            <a:ext cx="842700" cy="3044700"/>
          </a:xfrm>
          <a:prstGeom prst="roundRect">
            <a:avLst>
              <a:gd name="adj" fmla="val 18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87830097c_1_64"/>
          <p:cNvSpPr/>
          <p:nvPr/>
        </p:nvSpPr>
        <p:spPr>
          <a:xfrm>
            <a:off x="3084772" y="3422006"/>
            <a:ext cx="543333" cy="471142"/>
          </a:xfrm>
          <a:prstGeom prst="flowChartMagneticDrum">
            <a:avLst/>
          </a:prstGeom>
          <a:solidFill>
            <a:schemeClr val="lt1"/>
          </a:solidFill>
          <a:ln w="214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250" tIns="38625" rIns="77250" bIns="38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2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87830097c_1_64"/>
          <p:cNvSpPr txBox="1"/>
          <p:nvPr/>
        </p:nvSpPr>
        <p:spPr>
          <a:xfrm>
            <a:off x="2068525" y="3346462"/>
            <a:ext cx="594000" cy="217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3"/>
              <a:buFont typeface="Arial"/>
              <a:buNone/>
            </a:pPr>
            <a:r>
              <a:rPr lang="ja-JP" sz="1014" b="1" i="0" u="none" strike="noStrike" cap="none">
                <a:solidFill>
                  <a:schemeClr val="lt1"/>
                </a:solidFill>
              </a:rPr>
              <a:t>publish</a:t>
            </a:r>
            <a:endParaRPr sz="1014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95" name="Google Shape;95;g3f87830097c_1_64"/>
          <p:cNvSpPr/>
          <p:nvPr/>
        </p:nvSpPr>
        <p:spPr>
          <a:xfrm>
            <a:off x="1091278" y="3425695"/>
            <a:ext cx="570000" cy="50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14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250" tIns="38625" rIns="77250" bIns="38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2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g3f87830097c_1_64"/>
          <p:cNvCxnSpPr/>
          <p:nvPr/>
        </p:nvCxnSpPr>
        <p:spPr>
          <a:xfrm>
            <a:off x="1675600" y="3666488"/>
            <a:ext cx="1310400" cy="0"/>
          </a:xfrm>
          <a:prstGeom prst="straightConnector1">
            <a:avLst/>
          </a:prstGeom>
          <a:noFill/>
          <a:ln w="1610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7" name="Google Shape;97;g3f87830097c_1_64"/>
          <p:cNvSpPr txBox="1"/>
          <p:nvPr/>
        </p:nvSpPr>
        <p:spPr>
          <a:xfrm>
            <a:off x="1999338" y="3840580"/>
            <a:ext cx="7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rPr lang="ja-JP" sz="120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変更検知</a:t>
            </a:r>
            <a:endParaRPr sz="120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87830097c_1_64"/>
          <p:cNvSpPr txBox="1"/>
          <p:nvPr/>
        </p:nvSpPr>
        <p:spPr>
          <a:xfrm>
            <a:off x="1979350" y="2248350"/>
            <a:ext cx="702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rPr lang="ja-JP" sz="11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CDC</a:t>
            </a:r>
            <a:endParaRPr sz="1100" b="1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87830097c_1_64"/>
          <p:cNvSpPr txBox="1"/>
          <p:nvPr/>
        </p:nvSpPr>
        <p:spPr>
          <a:xfrm>
            <a:off x="2914585" y="2156100"/>
            <a:ext cx="842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rPr lang="ja-JP" sz="11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br>
              <a:rPr lang="ja-JP" sz="1100" b="1">
                <a:solidFill>
                  <a:srgbClr val="666666"/>
                </a:solidFill>
              </a:rPr>
            </a:br>
            <a:r>
              <a:rPr lang="ja-JP" sz="11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  <a:endParaRPr sz="1100" b="1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87830097c_1_64"/>
          <p:cNvSpPr txBox="1"/>
          <p:nvPr/>
        </p:nvSpPr>
        <p:spPr>
          <a:xfrm>
            <a:off x="982253" y="2248350"/>
            <a:ext cx="702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rPr lang="ja-JP" sz="11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SObject</a:t>
            </a:r>
            <a:endParaRPr sz="1100" b="1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g3f87830097c_1_64"/>
          <p:cNvCxnSpPr/>
          <p:nvPr/>
        </p:nvCxnSpPr>
        <p:spPr>
          <a:xfrm rot="10800000">
            <a:off x="3865176" y="3729166"/>
            <a:ext cx="1669200" cy="0"/>
          </a:xfrm>
          <a:prstGeom prst="straightConnector1">
            <a:avLst/>
          </a:prstGeom>
          <a:noFill/>
          <a:ln w="19050" cap="flat" cmpd="sng">
            <a:solidFill>
              <a:srgbClr val="4EA72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" name="Google Shape;102;g3f87830097c_1_64"/>
          <p:cNvSpPr txBox="1"/>
          <p:nvPr/>
        </p:nvSpPr>
        <p:spPr>
          <a:xfrm>
            <a:off x="3782475" y="3356907"/>
            <a:ext cx="1728000" cy="24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 b="1">
                <a:solidFill>
                  <a:schemeClr val="lt1"/>
                </a:solidFill>
              </a:rPr>
              <a:t>subscribe (grpc + avro)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103" name="Google Shape;103;g3f87830097c_1_64"/>
          <p:cNvSpPr/>
          <p:nvPr/>
        </p:nvSpPr>
        <p:spPr>
          <a:xfrm>
            <a:off x="5510475" y="3060625"/>
            <a:ext cx="2924100" cy="1195500"/>
          </a:xfrm>
          <a:prstGeom prst="roundRect">
            <a:avLst>
              <a:gd name="adj" fmla="val 183"/>
            </a:avLst>
          </a:prstGeom>
          <a:noFill/>
          <a:ln w="25400" cap="flat" cmpd="sng">
            <a:solidFill>
              <a:srgbClr val="42B7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g3f87830097c_1_64"/>
          <p:cNvGrpSpPr/>
          <p:nvPr/>
        </p:nvGrpSpPr>
        <p:grpSpPr>
          <a:xfrm>
            <a:off x="7972665" y="5511200"/>
            <a:ext cx="2136300" cy="663900"/>
            <a:chOff x="1381875" y="5511200"/>
            <a:chExt cx="2136300" cy="663900"/>
          </a:xfrm>
        </p:grpSpPr>
        <p:sp>
          <p:nvSpPr>
            <p:cNvPr id="105" name="Google Shape;105;g3f87830097c_1_64"/>
            <p:cNvSpPr/>
            <p:nvPr/>
          </p:nvSpPr>
          <p:spPr>
            <a:xfrm>
              <a:off x="1381875" y="5511200"/>
              <a:ext cx="2136300" cy="663900"/>
            </a:xfrm>
            <a:prstGeom prst="roundRect">
              <a:avLst>
                <a:gd name="adj" fmla="val 12521"/>
              </a:avLst>
            </a:prstGeom>
            <a:solidFill>
              <a:srgbClr val="42B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g3f87830097c_1_64"/>
            <p:cNvSpPr txBox="1"/>
            <p:nvPr/>
          </p:nvSpPr>
          <p:spPr>
            <a:xfrm>
              <a:off x="2117350" y="5737710"/>
              <a:ext cx="1198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 b="1">
                  <a:solidFill>
                    <a:schemeClr val="lt1"/>
                  </a:solidFill>
                </a:rPr>
                <a:t>開発 SCOPE</a:t>
              </a:r>
              <a:endParaRPr sz="1600" b="1">
                <a:solidFill>
                  <a:schemeClr val="lt1"/>
                </a:solidFill>
              </a:endParaRPr>
            </a:p>
          </p:txBody>
        </p:sp>
        <p:sp>
          <p:nvSpPr>
            <p:cNvPr id="107" name="Google Shape;107;g3f87830097c_1_64"/>
            <p:cNvSpPr/>
            <p:nvPr/>
          </p:nvSpPr>
          <p:spPr>
            <a:xfrm>
              <a:off x="1512556" y="5626110"/>
              <a:ext cx="434100" cy="4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8" name="Google Shape;108;g3f87830097c_1_64" title="Vector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581923" y="5697777"/>
              <a:ext cx="284751" cy="29075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9" name="Google Shape;109;g3f87830097c_1_64"/>
          <p:cNvCxnSpPr>
            <a:stCxn id="105" idx="0"/>
          </p:cNvCxnSpPr>
          <p:nvPr/>
        </p:nvCxnSpPr>
        <p:spPr>
          <a:xfrm rot="10800000">
            <a:off x="7700415" y="4231700"/>
            <a:ext cx="1340400" cy="1279500"/>
          </a:xfrm>
          <a:prstGeom prst="straightConnector1">
            <a:avLst/>
          </a:prstGeom>
          <a:noFill/>
          <a:ln w="19050" cap="flat" cmpd="sng">
            <a:solidFill>
              <a:srgbClr val="42B7DA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0" name="Google Shape;110;g3f87830097c_1_64"/>
          <p:cNvCxnSpPr/>
          <p:nvPr/>
        </p:nvCxnSpPr>
        <p:spPr>
          <a:xfrm rot="10800000" flipH="1">
            <a:off x="2285556" y="3825366"/>
            <a:ext cx="1629000" cy="1949400"/>
          </a:xfrm>
          <a:prstGeom prst="straightConnector1">
            <a:avLst/>
          </a:prstGeom>
          <a:noFill/>
          <a:ln w="19050" cap="flat" cmpd="sng">
            <a:solidFill>
              <a:srgbClr val="1155CC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11" name="Google Shape;111;g3f87830097c_1_64"/>
          <p:cNvGrpSpPr/>
          <p:nvPr/>
        </p:nvGrpSpPr>
        <p:grpSpPr>
          <a:xfrm>
            <a:off x="1937825" y="5511210"/>
            <a:ext cx="2400600" cy="663900"/>
            <a:chOff x="2931275" y="5212325"/>
            <a:chExt cx="2400600" cy="663900"/>
          </a:xfrm>
        </p:grpSpPr>
        <p:sp>
          <p:nvSpPr>
            <p:cNvPr id="112" name="Google Shape;112;g3f87830097c_1_64"/>
            <p:cNvSpPr/>
            <p:nvPr/>
          </p:nvSpPr>
          <p:spPr>
            <a:xfrm>
              <a:off x="2931275" y="5212325"/>
              <a:ext cx="2400600" cy="663900"/>
            </a:xfrm>
            <a:prstGeom prst="roundRect">
              <a:avLst>
                <a:gd name="adj" fmla="val 12521"/>
              </a:avLst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g3f87830097c_1_64"/>
            <p:cNvSpPr txBox="1"/>
            <p:nvPr/>
          </p:nvSpPr>
          <p:spPr>
            <a:xfrm>
              <a:off x="3666750" y="5496425"/>
              <a:ext cx="1527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 b="1">
                  <a:solidFill>
                    <a:schemeClr val="lt1"/>
                  </a:solidFill>
                </a:rPr>
                <a:t>API認証の設定</a:t>
              </a:r>
              <a:endParaRPr sz="1600" b="1">
                <a:solidFill>
                  <a:schemeClr val="lt1"/>
                </a:solidFill>
              </a:endParaRPr>
            </a:p>
          </p:txBody>
        </p:sp>
        <p:sp>
          <p:nvSpPr>
            <p:cNvPr id="114" name="Google Shape;114;g3f87830097c_1_64"/>
            <p:cNvSpPr txBox="1"/>
            <p:nvPr/>
          </p:nvSpPr>
          <p:spPr>
            <a:xfrm>
              <a:off x="3666750" y="5327225"/>
              <a:ext cx="11982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100" b="1">
                  <a:solidFill>
                    <a:srgbClr val="EFEFEF"/>
                  </a:solidFill>
                </a:rPr>
                <a:t>認証 SCOPE</a:t>
              </a:r>
              <a:endParaRPr sz="1100" b="1">
                <a:solidFill>
                  <a:srgbClr val="EFEFEF"/>
                </a:solidFill>
              </a:endParaRPr>
            </a:p>
          </p:txBody>
        </p:sp>
        <p:grpSp>
          <p:nvGrpSpPr>
            <p:cNvPr id="115" name="Google Shape;115;g3f87830097c_1_64"/>
            <p:cNvGrpSpPr/>
            <p:nvPr/>
          </p:nvGrpSpPr>
          <p:grpSpPr>
            <a:xfrm>
              <a:off x="3061956" y="5327225"/>
              <a:ext cx="434100" cy="434100"/>
              <a:chOff x="2996731" y="4792050"/>
              <a:chExt cx="434100" cy="434100"/>
            </a:xfrm>
          </p:grpSpPr>
          <p:sp>
            <p:nvSpPr>
              <p:cNvPr id="116" name="Google Shape;116;g3f87830097c_1_64"/>
              <p:cNvSpPr/>
              <p:nvPr/>
            </p:nvSpPr>
            <p:spPr>
              <a:xfrm>
                <a:off x="2996731" y="4792050"/>
                <a:ext cx="434100" cy="4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7" name="Google Shape;117;g3f87830097c_1_64" title="シールド_firewall.png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3062075" y="4873225"/>
                <a:ext cx="284750" cy="284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118" name="Google Shape;118;g3f87830097c_1_64"/>
          <p:cNvCxnSpPr>
            <a:stCxn id="119" idx="0"/>
          </p:cNvCxnSpPr>
          <p:nvPr/>
        </p:nvCxnSpPr>
        <p:spPr>
          <a:xfrm rot="10800000">
            <a:off x="4251481" y="3825291"/>
            <a:ext cx="661200" cy="1833900"/>
          </a:xfrm>
          <a:prstGeom prst="straightConnector1">
            <a:avLst/>
          </a:prstGeom>
          <a:noFill/>
          <a:ln w="19050" cap="flat" cmpd="sng">
            <a:solidFill>
              <a:srgbClr val="4EA72E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0" name="Google Shape;120;g3f87830097c_1_64"/>
          <p:cNvGrpSpPr/>
          <p:nvPr/>
        </p:nvGrpSpPr>
        <p:grpSpPr>
          <a:xfrm>
            <a:off x="4564950" y="5511200"/>
            <a:ext cx="3181200" cy="663900"/>
            <a:chOff x="4505400" y="4656850"/>
            <a:chExt cx="3181200" cy="663900"/>
          </a:xfrm>
        </p:grpSpPr>
        <p:sp>
          <p:nvSpPr>
            <p:cNvPr id="121" name="Google Shape;121;g3f87830097c_1_64"/>
            <p:cNvSpPr/>
            <p:nvPr/>
          </p:nvSpPr>
          <p:spPr>
            <a:xfrm>
              <a:off x="4505400" y="4656850"/>
              <a:ext cx="3181200" cy="663900"/>
            </a:xfrm>
            <a:prstGeom prst="roundRect">
              <a:avLst>
                <a:gd name="adj" fmla="val 12521"/>
              </a:avLst>
            </a:prstGeom>
            <a:solidFill>
              <a:srgbClr val="4EA7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" name="Google Shape;122;g3f87830097c_1_64"/>
            <p:cNvGrpSpPr/>
            <p:nvPr/>
          </p:nvGrpSpPr>
          <p:grpSpPr>
            <a:xfrm>
              <a:off x="4636081" y="4771750"/>
              <a:ext cx="434100" cy="434100"/>
              <a:chOff x="4682550" y="4771750"/>
              <a:chExt cx="434100" cy="434100"/>
            </a:xfrm>
          </p:grpSpPr>
          <p:sp>
            <p:nvSpPr>
              <p:cNvPr id="123" name="Google Shape;123;g3f87830097c_1_64"/>
              <p:cNvSpPr/>
              <p:nvPr/>
            </p:nvSpPr>
            <p:spPr>
              <a:xfrm>
                <a:off x="4682550" y="4771750"/>
                <a:ext cx="434100" cy="4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9" name="Google Shape;119;g3f87830097c_1_64" title="シールド2.png"/>
              <p:cNvPicPr preferRelativeResize="0"/>
              <p:nvPr/>
            </p:nvPicPr>
            <p:blipFill>
              <a:blip r:embed="rId13">
                <a:alphaModFix/>
              </a:blip>
              <a:stretch>
                <a:fillRect/>
              </a:stretch>
            </p:blipFill>
            <p:spPr>
              <a:xfrm>
                <a:off x="4717050" y="4804841"/>
                <a:ext cx="365100" cy="3679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4" name="Google Shape;124;g3f87830097c_1_64"/>
            <p:cNvSpPr txBox="1"/>
            <p:nvPr/>
          </p:nvSpPr>
          <p:spPr>
            <a:xfrm>
              <a:off x="5240875" y="4940950"/>
              <a:ext cx="2007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 b="1">
                  <a:solidFill>
                    <a:schemeClr val="lt1"/>
                  </a:solidFill>
                </a:rPr>
                <a:t>Outbound通信の許可</a:t>
              </a:r>
              <a:endParaRPr sz="4467" b="1">
                <a:solidFill>
                  <a:schemeClr val="lt1"/>
                </a:solidFill>
              </a:endParaRPr>
            </a:p>
          </p:txBody>
        </p:sp>
        <p:sp>
          <p:nvSpPr>
            <p:cNvPr id="125" name="Google Shape;125;g3f87830097c_1_64"/>
            <p:cNvSpPr txBox="1"/>
            <p:nvPr/>
          </p:nvSpPr>
          <p:spPr>
            <a:xfrm>
              <a:off x="5240875" y="4771750"/>
              <a:ext cx="21255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100" b="1">
                  <a:solidFill>
                    <a:srgbClr val="EFEFEF"/>
                  </a:solidFill>
                </a:rPr>
                <a:t>ネットワーク SCOPE</a:t>
              </a:r>
              <a:endParaRPr sz="500">
                <a:solidFill>
                  <a:srgbClr val="EFEFEF"/>
                </a:solidFill>
              </a:endParaRPr>
            </a:p>
          </p:txBody>
        </p:sp>
      </p:grpSp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14CD05FD-D6D3-3179-6C1B-4D4463FA4314}"/>
              </a:ext>
            </a:extLst>
          </p:cNvPr>
          <p:cNvSpPr/>
          <p:nvPr/>
        </p:nvSpPr>
        <p:spPr>
          <a:xfrm>
            <a:off x="2365280" y="-2038936"/>
            <a:ext cx="3297936" cy="758516"/>
          </a:xfrm>
          <a:prstGeom prst="wedgeRectCallout">
            <a:avLst>
              <a:gd name="adj1" fmla="val -37113"/>
              <a:gd name="adj2" fmla="val 940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Salesforce</a:t>
            </a:r>
            <a:r>
              <a:rPr kumimoji="1" lang="ja-JP" altLang="en-US"/>
              <a:t>から送ってもらうか</a:t>
            </a:r>
            <a:endParaRPr kumimoji="1" lang="en-US" altLang="ja-JP"/>
          </a:p>
          <a:p>
            <a:pPr algn="ctr"/>
            <a:r>
              <a:rPr kumimoji="1" lang="en-US" altLang="ja-JP"/>
              <a:t>Azure</a:t>
            </a:r>
            <a:r>
              <a:rPr kumimoji="1" lang="ja-JP" altLang="en-US"/>
              <a:t>から取りに行くか</a:t>
            </a:r>
            <a:endParaRPr kumimoji="1" lang="en-US" altLang="ja-JP"/>
          </a:p>
        </p:txBody>
      </p:sp>
      <p:sp>
        <p:nvSpPr>
          <p:cNvPr id="4" name="Google Shape;49;g3f87830097c_1_64">
            <a:extLst>
              <a:ext uri="{FF2B5EF4-FFF2-40B4-BE49-F238E27FC236}">
                <a16:creationId xmlns:a16="http://schemas.microsoft.com/office/drawing/2014/main" id="{1A7F0A6C-344D-89E6-2F5B-748201D93220}"/>
              </a:ext>
            </a:extLst>
          </p:cNvPr>
          <p:cNvSpPr txBox="1">
            <a:spLocks/>
          </p:cNvSpPr>
          <p:nvPr/>
        </p:nvSpPr>
        <p:spPr>
          <a:xfrm>
            <a:off x="-2548883" y="7347921"/>
            <a:ext cx="10657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 b="1" i="0" u="none" strike="noStrike" cap="none" spc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r>
              <a:rPr lang="ja-JP" altLang="en-US" sz="2400"/>
              <a:t>TM東京</a:t>
            </a:r>
          </a:p>
          <a:p>
            <a:pPr>
              <a:buSzPts val="2400"/>
            </a:pPr>
            <a:r>
              <a:rPr lang="ja-JP" altLang="en-US" sz="2400"/>
              <a:t>活動実積（頻度）、見込み</a:t>
            </a:r>
            <a:endParaRPr lang="ja-JP"/>
          </a:p>
          <a:p>
            <a:pPr>
              <a:buSzPts val="2400"/>
            </a:pPr>
            <a:endParaRPr lang="ja-JP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7830097c_0_0"/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ja-JP" sz="2400"/>
              <a:t>マイルストーン　全販社（STG環境想定）</a:t>
            </a:r>
            <a:r>
              <a:rPr lang="ja-JP" altLang="en-US" sz="2400"/>
              <a:t>　</a:t>
            </a:r>
            <a:r>
              <a:rPr lang="en-US" altLang="ja-JP" sz="2400"/>
              <a:t>9/2 </a:t>
            </a:r>
            <a:r>
              <a:rPr lang="ja-JP" altLang="en-US" sz="2400"/>
              <a:t>更新</a:t>
            </a:r>
            <a:endParaRPr sz="2400">
              <a:solidFill>
                <a:srgbClr val="404040"/>
              </a:solidFill>
            </a:endParaRPr>
          </a:p>
        </p:txBody>
      </p:sp>
      <p:sp>
        <p:nvSpPr>
          <p:cNvPr id="132" name="Google Shape;132;g3f87830097c_0_0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latin typeface="Arial Black"/>
                <a:ea typeface="Arial Black"/>
                <a:cs typeface="Arial Black"/>
                <a:sym typeface="Arial Black"/>
              </a:rPr>
              <a:t>4</a:t>
            </a:fld>
            <a:endParaRPr sz="2133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25E6C228-C884-A5A3-A437-59B535FBEBF6}"/>
              </a:ext>
            </a:extLst>
          </p:cNvPr>
          <p:cNvGrpSpPr/>
          <p:nvPr/>
        </p:nvGrpSpPr>
        <p:grpSpPr>
          <a:xfrm>
            <a:off x="362828" y="1008426"/>
            <a:ext cx="10230925" cy="415500"/>
            <a:chOff x="284000" y="857422"/>
            <a:chExt cx="10230925" cy="415500"/>
          </a:xfrm>
        </p:grpSpPr>
        <p:sp>
          <p:nvSpPr>
            <p:cNvPr id="130" name="Google Shape;130;g3f87830097c_0_0"/>
            <p:cNvSpPr/>
            <p:nvPr/>
          </p:nvSpPr>
          <p:spPr>
            <a:xfrm>
              <a:off x="284000" y="865072"/>
              <a:ext cx="1253100" cy="400200"/>
            </a:xfrm>
            <a:prstGeom prst="roundRect">
              <a:avLst>
                <a:gd name="adj" fmla="val 16667"/>
              </a:avLst>
            </a:pr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B81FB3C6-3B32-45FC-3102-F1742B69FA69}"/>
                </a:ext>
              </a:extLst>
            </p:cNvPr>
            <p:cNvGrpSpPr/>
            <p:nvPr/>
          </p:nvGrpSpPr>
          <p:grpSpPr>
            <a:xfrm>
              <a:off x="2084475" y="906322"/>
              <a:ext cx="8430450" cy="300363"/>
              <a:chOff x="2084475" y="906322"/>
              <a:chExt cx="8430450" cy="300363"/>
            </a:xfrm>
          </p:grpSpPr>
          <p:sp>
            <p:nvSpPr>
              <p:cNvPr id="133" name="Google Shape;133;g3f87830097c_0_0"/>
              <p:cNvSpPr txBox="1"/>
              <p:nvPr/>
            </p:nvSpPr>
            <p:spPr>
              <a:xfrm>
                <a:off x="2084475" y="906322"/>
                <a:ext cx="10845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1～4</a:t>
                </a:r>
                <a:endParaRPr sz="1300"/>
              </a:p>
            </p:txBody>
          </p:sp>
          <p:sp>
            <p:nvSpPr>
              <p:cNvPr id="134" name="Google Shape;134;g3f87830097c_0_0"/>
              <p:cNvSpPr txBox="1"/>
              <p:nvPr/>
            </p:nvSpPr>
            <p:spPr>
              <a:xfrm>
                <a:off x="3882877" y="906322"/>
                <a:ext cx="10845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　7</a:t>
                </a:r>
                <a:r>
                  <a:rPr lang="ja-JP" sz="1500" b="1">
                    <a:solidFill>
                      <a:srgbClr val="3F3F3F"/>
                    </a:solidFill>
                  </a:rPr>
                  <a:t>〜</a:t>
                </a: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11</a:t>
                </a:r>
                <a:endParaRPr sz="1300"/>
              </a:p>
            </p:txBody>
          </p:sp>
          <p:sp>
            <p:nvSpPr>
              <p:cNvPr id="135" name="Google Shape;135;g3f87830097c_0_0"/>
              <p:cNvSpPr txBox="1"/>
              <p:nvPr/>
            </p:nvSpPr>
            <p:spPr>
              <a:xfrm>
                <a:off x="5833650" y="906322"/>
                <a:ext cx="15777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　14～</a:t>
                </a:r>
                <a:r>
                  <a:rPr lang="ja-JP" sz="1500" b="1">
                    <a:solidFill>
                      <a:srgbClr val="3F3F3F"/>
                    </a:solidFill>
                  </a:rPr>
                  <a:t>18</a:t>
                </a:r>
                <a:endParaRPr sz="2100" b="1">
                  <a:solidFill>
                    <a:srgbClr val="FF0B0B"/>
                  </a:solidFill>
                </a:endParaRPr>
              </a:p>
            </p:txBody>
          </p:sp>
          <p:sp>
            <p:nvSpPr>
              <p:cNvPr id="136" name="Google Shape;136;g3f87830097c_0_0"/>
              <p:cNvSpPr txBox="1"/>
              <p:nvPr/>
            </p:nvSpPr>
            <p:spPr>
              <a:xfrm>
                <a:off x="7700703" y="916285"/>
                <a:ext cx="10845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　21～</a:t>
                </a:r>
                <a:r>
                  <a:rPr lang="ja-JP" sz="1500" b="1">
                    <a:solidFill>
                      <a:srgbClr val="3F3F3F"/>
                    </a:solidFill>
                  </a:rPr>
                  <a:t>25</a:t>
                </a:r>
                <a:endParaRPr sz="1500" b="1">
                  <a:solidFill>
                    <a:srgbClr val="3F3F3F"/>
                  </a:solidFill>
                </a:endParaRPr>
              </a:p>
            </p:txBody>
          </p:sp>
          <p:sp>
            <p:nvSpPr>
              <p:cNvPr id="137" name="Google Shape;137;g3f87830097c_0_0"/>
              <p:cNvSpPr txBox="1"/>
              <p:nvPr/>
            </p:nvSpPr>
            <p:spPr>
              <a:xfrm>
                <a:off x="9430425" y="906322"/>
                <a:ext cx="10845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　2</a:t>
                </a:r>
                <a:r>
                  <a:rPr lang="en-US" alt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r>
                  <a:rPr lang="ja-JP" sz="1500" b="1">
                    <a:solidFill>
                      <a:srgbClr val="3F3F3F"/>
                    </a:solidFill>
                  </a:rPr>
                  <a:t>〜30</a:t>
                </a:r>
                <a:endParaRPr sz="1500" b="1">
                  <a:solidFill>
                    <a:srgbClr val="3F3F3F"/>
                  </a:solidFill>
                </a:endParaRPr>
              </a:p>
            </p:txBody>
          </p:sp>
        </p:grpSp>
        <p:sp>
          <p:nvSpPr>
            <p:cNvPr id="138" name="Google Shape;138;g3f87830097c_0_0"/>
            <p:cNvSpPr txBox="1"/>
            <p:nvPr/>
          </p:nvSpPr>
          <p:spPr>
            <a:xfrm>
              <a:off x="528350" y="857422"/>
              <a:ext cx="7644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ja-JP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9月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5" name="Google Shape;145;g3f87830097c_0_0"/>
          <p:cNvCxnSpPr>
            <a:cxnSpLocks/>
          </p:cNvCxnSpPr>
          <p:nvPr/>
        </p:nvCxnSpPr>
        <p:spPr>
          <a:xfrm>
            <a:off x="326878" y="1574093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146;g3f87830097c_0_0"/>
          <p:cNvCxnSpPr>
            <a:cxnSpLocks/>
          </p:cNvCxnSpPr>
          <p:nvPr/>
        </p:nvCxnSpPr>
        <p:spPr>
          <a:xfrm>
            <a:off x="326878" y="2970825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g3f87830097c_0_0"/>
          <p:cNvCxnSpPr>
            <a:cxnSpLocks/>
          </p:cNvCxnSpPr>
          <p:nvPr/>
        </p:nvCxnSpPr>
        <p:spPr>
          <a:xfrm>
            <a:off x="326878" y="3610890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g3f87830097c_0_0"/>
          <p:cNvCxnSpPr>
            <a:cxnSpLocks/>
          </p:cNvCxnSpPr>
          <p:nvPr/>
        </p:nvCxnSpPr>
        <p:spPr>
          <a:xfrm>
            <a:off x="326878" y="4273201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g3f87830097c_0_0"/>
          <p:cNvCxnSpPr>
            <a:cxnSpLocks/>
          </p:cNvCxnSpPr>
          <p:nvPr/>
        </p:nvCxnSpPr>
        <p:spPr>
          <a:xfrm>
            <a:off x="326878" y="4950790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g3f87830097c_0_0"/>
          <p:cNvCxnSpPr>
            <a:cxnSpLocks/>
          </p:cNvCxnSpPr>
          <p:nvPr/>
        </p:nvCxnSpPr>
        <p:spPr>
          <a:xfrm>
            <a:off x="326878" y="5608023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AD5BB18-0290-28DE-0F10-83013A96C942}"/>
              </a:ext>
            </a:extLst>
          </p:cNvPr>
          <p:cNvGrpSpPr/>
          <p:nvPr/>
        </p:nvGrpSpPr>
        <p:grpSpPr>
          <a:xfrm>
            <a:off x="381735" y="1617795"/>
            <a:ext cx="4115391" cy="624300"/>
            <a:chOff x="302907" y="1522920"/>
            <a:chExt cx="4115391" cy="624300"/>
          </a:xfrm>
        </p:grpSpPr>
        <p:sp>
          <p:nvSpPr>
            <p:cNvPr id="140" name="Google Shape;140;g3f87830097c_0_0"/>
            <p:cNvSpPr txBox="1"/>
            <p:nvPr/>
          </p:nvSpPr>
          <p:spPr>
            <a:xfrm>
              <a:off x="302907" y="1522920"/>
              <a:ext cx="879300" cy="6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</a:pPr>
              <a:r>
                <a:rPr lang="ja-JP" sz="13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NW</a:t>
              </a:r>
              <a:endParaRPr sz="1300"/>
            </a:p>
          </p:txBody>
        </p:sp>
        <p:grpSp>
          <p:nvGrpSpPr>
            <p:cNvPr id="152" name="Google Shape;152;g3f87830097c_0_0"/>
            <p:cNvGrpSpPr/>
            <p:nvPr/>
          </p:nvGrpSpPr>
          <p:grpSpPr>
            <a:xfrm>
              <a:off x="1815121" y="1593850"/>
              <a:ext cx="2603177" cy="523800"/>
              <a:chOff x="1645925" y="1593850"/>
              <a:chExt cx="2603177" cy="523800"/>
            </a:xfrm>
          </p:grpSpPr>
          <p:sp>
            <p:nvSpPr>
              <p:cNvPr id="153" name="Google Shape;153;g3f87830097c_0_0"/>
              <p:cNvSpPr/>
              <p:nvPr/>
            </p:nvSpPr>
            <p:spPr>
              <a:xfrm>
                <a:off x="1645925" y="1593850"/>
                <a:ext cx="2381400" cy="523800"/>
              </a:xfrm>
              <a:prstGeom prst="rect">
                <a:avLst/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g3f87830097c_0_0"/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" name="Google Shape;160;g3f87830097c_0_0"/>
            <p:cNvSpPr txBox="1"/>
            <p:nvPr/>
          </p:nvSpPr>
          <p:spPr>
            <a:xfrm>
              <a:off x="1886239" y="1676925"/>
              <a:ext cx="2148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b="1">
                  <a:solidFill>
                    <a:schemeClr val="tx1"/>
                  </a:solidFill>
                </a:rPr>
                <a:t>Outbound通信の許可</a:t>
              </a:r>
              <a:endParaRPr sz="4267">
                <a:solidFill>
                  <a:schemeClr val="tx1"/>
                </a:solidFill>
              </a:endParaRPr>
            </a:p>
          </p:txBody>
        </p:sp>
        <p:sp>
          <p:nvSpPr>
            <p:cNvPr id="161" name="Google Shape;161;g3f87830097c_0_0"/>
            <p:cNvSpPr txBox="1"/>
            <p:nvPr/>
          </p:nvSpPr>
          <p:spPr>
            <a:xfrm>
              <a:off x="1886239" y="1874462"/>
              <a:ext cx="2148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 b="1">
                  <a:solidFill>
                    <a:srgbClr val="0B5394"/>
                  </a:solidFill>
                </a:rPr>
                <a:t>7営業日</a:t>
              </a:r>
              <a:endParaRPr sz="4067">
                <a:solidFill>
                  <a:srgbClr val="0B5394"/>
                </a:solidFill>
              </a:endParaRP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B1CC063-A436-7480-A021-366FF8885F1D}"/>
              </a:ext>
            </a:extLst>
          </p:cNvPr>
          <p:cNvGrpSpPr/>
          <p:nvPr/>
        </p:nvGrpSpPr>
        <p:grpSpPr>
          <a:xfrm>
            <a:off x="381735" y="2986591"/>
            <a:ext cx="4983374" cy="624300"/>
            <a:chOff x="302907" y="2610357"/>
            <a:chExt cx="4983374" cy="624300"/>
          </a:xfrm>
        </p:grpSpPr>
        <p:sp>
          <p:nvSpPr>
            <p:cNvPr id="156" name="Google Shape;156;g3f87830097c_0_0"/>
            <p:cNvSpPr/>
            <p:nvPr/>
          </p:nvSpPr>
          <p:spPr>
            <a:xfrm rot="5400000">
              <a:off x="4581598" y="2808152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25A3A2B4-7357-A39A-285D-FF5CBF57441F}"/>
                </a:ext>
              </a:extLst>
            </p:cNvPr>
            <p:cNvGrpSpPr/>
            <p:nvPr/>
          </p:nvGrpSpPr>
          <p:grpSpPr>
            <a:xfrm>
              <a:off x="302907" y="2610357"/>
              <a:ext cx="4983374" cy="624300"/>
              <a:chOff x="302907" y="2610357"/>
              <a:chExt cx="4983374" cy="624300"/>
            </a:xfrm>
          </p:grpSpPr>
          <p:sp>
            <p:nvSpPr>
              <p:cNvPr id="141" name="Google Shape;141;g3f87830097c_0_0"/>
              <p:cNvSpPr txBox="1"/>
              <p:nvPr/>
            </p:nvSpPr>
            <p:spPr>
              <a:xfrm>
                <a:off x="302907" y="2610357"/>
                <a:ext cx="879300" cy="62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None/>
                </a:pPr>
                <a:r>
                  <a:rPr lang="ja-JP" sz="13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認証</a:t>
                </a:r>
                <a:endParaRPr sz="1300"/>
              </a:p>
            </p:txBody>
          </p:sp>
          <p:sp>
            <p:nvSpPr>
              <p:cNvPr id="155" name="Google Shape;155;g3f87830097c_0_0"/>
              <p:cNvSpPr/>
              <p:nvPr/>
            </p:nvSpPr>
            <p:spPr>
              <a:xfrm>
                <a:off x="4432846" y="2665364"/>
                <a:ext cx="291551" cy="5238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g3f87830097c_0_0"/>
              <p:cNvSpPr txBox="1"/>
              <p:nvPr/>
            </p:nvSpPr>
            <p:spPr>
              <a:xfrm>
                <a:off x="3957281" y="2723390"/>
                <a:ext cx="13290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ja-JP" b="1">
                    <a:solidFill>
                      <a:schemeClr val="tx1"/>
                    </a:solidFill>
                  </a:rPr>
                  <a:t>API認証の設定</a:t>
                </a:r>
                <a:endParaRPr sz="4267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Google Shape;163;g3f87830097c_0_0"/>
              <p:cNvSpPr txBox="1"/>
              <p:nvPr/>
            </p:nvSpPr>
            <p:spPr>
              <a:xfrm>
                <a:off x="3957281" y="2946319"/>
                <a:ext cx="13290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ja-JP" sz="1200" b="1">
                    <a:solidFill>
                      <a:srgbClr val="0B5394"/>
                    </a:solidFill>
                  </a:rPr>
                  <a:t>1</a:t>
                </a:r>
                <a:r>
                  <a:rPr lang="ja-JP" sz="1200" b="1">
                    <a:solidFill>
                      <a:srgbClr val="0B5394"/>
                    </a:solidFill>
                  </a:rPr>
                  <a:t>営業日</a:t>
                </a:r>
                <a:endParaRPr sz="4067">
                  <a:solidFill>
                    <a:srgbClr val="0B5394"/>
                  </a:solidFill>
                </a:endParaRPr>
              </a:p>
            </p:txBody>
          </p:sp>
        </p:grpSp>
      </p:grpSp>
      <p:cxnSp>
        <p:nvCxnSpPr>
          <p:cNvPr id="164" name="Google Shape;164;g3f87830097c_0_0"/>
          <p:cNvCxnSpPr>
            <a:cxnSpLocks/>
          </p:cNvCxnSpPr>
          <p:nvPr/>
        </p:nvCxnSpPr>
        <p:spPr>
          <a:xfrm>
            <a:off x="4505228" y="1439913"/>
            <a:ext cx="0" cy="42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165" name="Google Shape;165;g3f87830097c_0_0"/>
          <p:cNvCxnSpPr>
            <a:cxnSpLocks/>
          </p:cNvCxnSpPr>
          <p:nvPr/>
        </p:nvCxnSpPr>
        <p:spPr>
          <a:xfrm>
            <a:off x="6548928" y="1439913"/>
            <a:ext cx="0" cy="42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166" name="Google Shape;166;g3f87830097c_0_0"/>
          <p:cNvCxnSpPr>
            <a:cxnSpLocks/>
          </p:cNvCxnSpPr>
          <p:nvPr/>
        </p:nvCxnSpPr>
        <p:spPr>
          <a:xfrm>
            <a:off x="10126603" y="1439913"/>
            <a:ext cx="0" cy="42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322BC7-7C83-E91A-5E95-4CF00A17225E}"/>
              </a:ext>
            </a:extLst>
          </p:cNvPr>
          <p:cNvGrpSpPr/>
          <p:nvPr/>
        </p:nvGrpSpPr>
        <p:grpSpPr>
          <a:xfrm>
            <a:off x="381735" y="4294959"/>
            <a:ext cx="6192966" cy="624300"/>
            <a:chOff x="302907" y="3437654"/>
            <a:chExt cx="6192966" cy="624300"/>
          </a:xfrm>
        </p:grpSpPr>
        <p:sp>
          <p:nvSpPr>
            <p:cNvPr id="139" name="Google Shape;139;g3f87830097c_0_0"/>
            <p:cNvSpPr txBox="1"/>
            <p:nvPr/>
          </p:nvSpPr>
          <p:spPr>
            <a:xfrm>
              <a:off x="302907" y="3437654"/>
              <a:ext cx="879300" cy="6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</a:pPr>
              <a:r>
                <a:rPr lang="ja-JP" sz="13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開発</a:t>
              </a:r>
              <a:endParaRPr sz="1300"/>
            </a:p>
          </p:txBody>
        </p:sp>
        <p:grpSp>
          <p:nvGrpSpPr>
            <p:cNvPr id="167" name="Google Shape;167;g3f87830097c_0_0"/>
            <p:cNvGrpSpPr/>
            <p:nvPr/>
          </p:nvGrpSpPr>
          <p:grpSpPr>
            <a:xfrm>
              <a:off x="1815125" y="3489827"/>
              <a:ext cx="4680748" cy="523813"/>
              <a:chOff x="-431646" y="1593850"/>
              <a:chExt cx="4680748" cy="523813"/>
            </a:xfrm>
          </p:grpSpPr>
          <p:sp>
            <p:nvSpPr>
              <p:cNvPr id="168" name="Google Shape;168;g3f87830097c_0_0"/>
              <p:cNvSpPr/>
              <p:nvPr/>
            </p:nvSpPr>
            <p:spPr>
              <a:xfrm>
                <a:off x="-431646" y="1593863"/>
                <a:ext cx="4458900" cy="523800"/>
              </a:xfrm>
              <a:prstGeom prst="rect">
                <a:avLst/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g3f87830097c_0_0"/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0" name="Google Shape;170;g3f87830097c_0_0"/>
            <p:cNvSpPr txBox="1"/>
            <p:nvPr/>
          </p:nvSpPr>
          <p:spPr>
            <a:xfrm>
              <a:off x="3181134" y="3560576"/>
              <a:ext cx="2148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b="1">
                  <a:solidFill>
                    <a:schemeClr val="tx1"/>
                  </a:solidFill>
                </a:rPr>
                <a:t>Kafka Connectorの実装</a:t>
              </a:r>
              <a:endParaRPr sz="4267">
                <a:solidFill>
                  <a:schemeClr val="tx1"/>
                </a:solidFill>
              </a:endParaRPr>
            </a:p>
          </p:txBody>
        </p:sp>
        <p:sp>
          <p:nvSpPr>
            <p:cNvPr id="171" name="Google Shape;171;g3f87830097c_0_0"/>
            <p:cNvSpPr txBox="1"/>
            <p:nvPr/>
          </p:nvSpPr>
          <p:spPr>
            <a:xfrm>
              <a:off x="3181134" y="3758114"/>
              <a:ext cx="2148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 b="1">
                  <a:solidFill>
                    <a:srgbClr val="0B5394"/>
                  </a:solidFill>
                </a:rPr>
                <a:t>14営業日</a:t>
              </a:r>
              <a:endParaRPr sz="4067">
                <a:solidFill>
                  <a:srgbClr val="0B5394"/>
                </a:solidFill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9EC33A4-640E-51CB-3851-287CC39B6EA1}"/>
              </a:ext>
            </a:extLst>
          </p:cNvPr>
          <p:cNvGrpSpPr/>
          <p:nvPr/>
        </p:nvGrpSpPr>
        <p:grpSpPr>
          <a:xfrm>
            <a:off x="381734" y="4982322"/>
            <a:ext cx="7941440" cy="624300"/>
            <a:chOff x="302906" y="5092249"/>
            <a:chExt cx="7941440" cy="624300"/>
          </a:xfrm>
        </p:grpSpPr>
        <p:sp>
          <p:nvSpPr>
            <p:cNvPr id="142" name="Google Shape;142;g3f87830097c_0_0"/>
            <p:cNvSpPr txBox="1"/>
            <p:nvPr/>
          </p:nvSpPr>
          <p:spPr>
            <a:xfrm>
              <a:off x="302906" y="5092249"/>
              <a:ext cx="1415525" cy="6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</a:pPr>
              <a:r>
                <a:rPr lang="ja-JP" sz="13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テスト</a:t>
              </a:r>
              <a:r>
                <a:rPr lang="ja-JP" altLang="en-US" sz="13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・評価</a:t>
              </a:r>
              <a:endParaRPr sz="1300"/>
            </a:p>
          </p:txBody>
        </p:sp>
        <p:grpSp>
          <p:nvGrpSpPr>
            <p:cNvPr id="157" name="Google Shape;157;g3f87830097c_0_0"/>
            <p:cNvGrpSpPr/>
            <p:nvPr/>
          </p:nvGrpSpPr>
          <p:grpSpPr>
            <a:xfrm>
              <a:off x="7018544" y="5138814"/>
              <a:ext cx="1225802" cy="523800"/>
              <a:chOff x="3092119" y="1593850"/>
              <a:chExt cx="1225802" cy="523800"/>
            </a:xfrm>
          </p:grpSpPr>
          <p:sp>
            <p:nvSpPr>
              <p:cNvPr id="158" name="Google Shape;158;g3f87830097c_0_0"/>
              <p:cNvSpPr/>
              <p:nvPr/>
            </p:nvSpPr>
            <p:spPr>
              <a:xfrm>
                <a:off x="3092119" y="1593850"/>
                <a:ext cx="1004100" cy="5238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g3f87830097c_0_0"/>
              <p:cNvSpPr/>
              <p:nvPr/>
            </p:nvSpPr>
            <p:spPr>
              <a:xfrm rot="5400000">
                <a:off x="3936921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6" name="Google Shape;176;g3f87830097c_0_0"/>
            <p:cNvSpPr txBox="1"/>
            <p:nvPr/>
          </p:nvSpPr>
          <p:spPr>
            <a:xfrm>
              <a:off x="6821569" y="5212033"/>
              <a:ext cx="1329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b="1">
                  <a:solidFill>
                    <a:schemeClr val="tx1"/>
                  </a:solidFill>
                </a:rPr>
                <a:t>結合試験</a:t>
              </a:r>
              <a:endParaRPr sz="4267">
                <a:solidFill>
                  <a:schemeClr val="tx1"/>
                </a:solidFill>
              </a:endParaRPr>
            </a:p>
          </p:txBody>
        </p:sp>
        <p:sp>
          <p:nvSpPr>
            <p:cNvPr id="177" name="Google Shape;177;g3f87830097c_0_0"/>
            <p:cNvSpPr txBox="1"/>
            <p:nvPr/>
          </p:nvSpPr>
          <p:spPr>
            <a:xfrm>
              <a:off x="6821569" y="5426496"/>
              <a:ext cx="1329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 b="1">
                  <a:solidFill>
                    <a:srgbClr val="0B5394"/>
                  </a:solidFill>
                </a:rPr>
                <a:t>3営業日</a:t>
              </a:r>
              <a:endParaRPr sz="4067">
                <a:solidFill>
                  <a:srgbClr val="0B5394"/>
                </a:solidFill>
              </a:endParaRPr>
            </a:p>
          </p:txBody>
        </p:sp>
      </p:grpSp>
      <p:cxnSp>
        <p:nvCxnSpPr>
          <p:cNvPr id="178" name="Google Shape;178;g3f87830097c_0_0"/>
          <p:cNvCxnSpPr>
            <a:cxnSpLocks/>
          </p:cNvCxnSpPr>
          <p:nvPr/>
        </p:nvCxnSpPr>
        <p:spPr>
          <a:xfrm>
            <a:off x="8348946" y="1439913"/>
            <a:ext cx="0" cy="42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CFBC66C-9BBE-8872-BBE2-B8DD1D1C14B9}"/>
              </a:ext>
            </a:extLst>
          </p:cNvPr>
          <p:cNvGrpSpPr/>
          <p:nvPr/>
        </p:nvGrpSpPr>
        <p:grpSpPr>
          <a:xfrm>
            <a:off x="3732891" y="5766343"/>
            <a:ext cx="8278137" cy="624300"/>
            <a:chOff x="3654063" y="5464431"/>
            <a:chExt cx="8278137" cy="624300"/>
          </a:xfrm>
        </p:grpSpPr>
        <p:sp>
          <p:nvSpPr>
            <p:cNvPr id="179" name="Google Shape;179;g3f87830097c_0_0"/>
            <p:cNvSpPr txBox="1"/>
            <p:nvPr/>
          </p:nvSpPr>
          <p:spPr>
            <a:xfrm>
              <a:off x="3654063" y="5531031"/>
              <a:ext cx="15777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300" b="1">
                  <a:solidFill>
                    <a:srgbClr val="434343"/>
                  </a:solidFill>
                </a:rPr>
                <a:t>9/9　</a:t>
              </a:r>
              <a:br>
                <a:rPr lang="ja-JP" sz="1100" b="1">
                  <a:solidFill>
                    <a:srgbClr val="434343"/>
                  </a:solidFill>
                </a:rPr>
              </a:br>
              <a:r>
                <a:rPr lang="ja-JP" sz="1100" b="1">
                  <a:solidFill>
                    <a:srgbClr val="434343"/>
                  </a:solidFill>
                </a:rPr>
                <a:t>Outbound通信</a:t>
              </a:r>
              <a:br>
                <a:rPr lang="ja-JP" sz="1100" b="1">
                  <a:solidFill>
                    <a:srgbClr val="434343"/>
                  </a:solidFill>
                </a:rPr>
              </a:br>
              <a:r>
                <a:rPr lang="ja-JP" sz="1100" b="1">
                  <a:solidFill>
                    <a:srgbClr val="434343"/>
                  </a:solidFill>
                </a:rPr>
                <a:t>完了</a:t>
              </a:r>
              <a:endParaRPr sz="3967">
                <a:solidFill>
                  <a:srgbClr val="434343"/>
                </a:solidFill>
              </a:endParaRPr>
            </a:p>
          </p:txBody>
        </p:sp>
        <p:sp>
          <p:nvSpPr>
            <p:cNvPr id="180" name="Google Shape;180;g3f87830097c_0_0"/>
            <p:cNvSpPr txBox="1"/>
            <p:nvPr/>
          </p:nvSpPr>
          <p:spPr>
            <a:xfrm>
              <a:off x="5681250" y="5531031"/>
              <a:ext cx="1577700" cy="53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300" b="1">
                  <a:solidFill>
                    <a:srgbClr val="434343"/>
                  </a:solidFill>
                </a:rPr>
                <a:t>9/18</a:t>
              </a:r>
              <a:br>
                <a:rPr lang="ja-JP" sz="1100" b="1">
                  <a:solidFill>
                    <a:srgbClr val="434343"/>
                  </a:solidFill>
                </a:rPr>
              </a:br>
              <a:r>
                <a:rPr lang="en-US" altLang="ja-JP" sz="1100" b="1">
                  <a:solidFill>
                    <a:srgbClr val="434343"/>
                  </a:solidFill>
                </a:rPr>
                <a:t>API</a:t>
              </a:r>
              <a:r>
                <a:rPr lang="ja-JP" altLang="en-US" sz="1100" b="1">
                  <a:solidFill>
                    <a:srgbClr val="434343"/>
                  </a:solidFill>
                </a:rPr>
                <a:t>認証 </a:t>
              </a:r>
              <a:r>
                <a:rPr lang="en-US" altLang="ja-JP" sz="1100" b="1">
                  <a:solidFill>
                    <a:srgbClr val="434343"/>
                  </a:solidFill>
                </a:rPr>
                <a:t>/ </a:t>
              </a:r>
              <a:r>
                <a:rPr lang="ja-JP" sz="1100" b="1">
                  <a:solidFill>
                    <a:srgbClr val="434343"/>
                  </a:solidFill>
                </a:rPr>
                <a:t>開発</a:t>
              </a:r>
              <a:endParaRPr lang="en-US" altLang="ja-JP" sz="1100" b="1">
                <a:solidFill>
                  <a:srgbClr val="434343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100" b="1">
                  <a:solidFill>
                    <a:srgbClr val="434343"/>
                  </a:solidFill>
                </a:rPr>
                <a:t>完了</a:t>
              </a:r>
              <a:endParaRPr sz="3967">
                <a:solidFill>
                  <a:srgbClr val="434343"/>
                </a:solidFill>
              </a:endParaRPr>
            </a:p>
          </p:txBody>
        </p:sp>
        <p:sp>
          <p:nvSpPr>
            <p:cNvPr id="181" name="Google Shape;181;g3f87830097c_0_0"/>
            <p:cNvSpPr txBox="1"/>
            <p:nvPr/>
          </p:nvSpPr>
          <p:spPr>
            <a:xfrm>
              <a:off x="7559565" y="5531031"/>
              <a:ext cx="1404809" cy="5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300" b="1">
                  <a:solidFill>
                    <a:srgbClr val="434343"/>
                  </a:solidFill>
                </a:rPr>
                <a:t>9/25</a:t>
              </a:r>
              <a:br>
                <a:rPr lang="ja-JP" sz="1100" b="1">
                  <a:solidFill>
                    <a:srgbClr val="434343"/>
                  </a:solidFill>
                </a:rPr>
              </a:br>
              <a:r>
                <a:rPr lang="ja-JP" sz="1100" b="1">
                  <a:solidFill>
                    <a:srgbClr val="434343"/>
                  </a:solidFill>
                </a:rPr>
                <a:t>結合試験</a:t>
              </a:r>
              <a:br>
                <a:rPr lang="ja-JP" sz="1100" b="1">
                  <a:solidFill>
                    <a:srgbClr val="434343"/>
                  </a:solidFill>
                </a:rPr>
              </a:br>
              <a:r>
                <a:rPr lang="ja-JP" sz="1100" b="1">
                  <a:solidFill>
                    <a:srgbClr val="434343"/>
                  </a:solidFill>
                </a:rPr>
                <a:t>完了</a:t>
              </a:r>
              <a:endParaRPr sz="3967">
                <a:solidFill>
                  <a:srgbClr val="434343"/>
                </a:solidFill>
              </a:endParaRPr>
            </a:p>
          </p:txBody>
        </p:sp>
        <p:sp>
          <p:nvSpPr>
            <p:cNvPr id="182" name="Google Shape;182;g3f87830097c_0_0"/>
            <p:cNvSpPr/>
            <p:nvPr/>
          </p:nvSpPr>
          <p:spPr>
            <a:xfrm>
              <a:off x="9735625" y="5464431"/>
              <a:ext cx="624300" cy="624300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3" name="Google Shape;183;g3f87830097c_0_0" descr="スクリーンショット 2026-03-05 7.03.35.png"/>
            <p:cNvPicPr preferRelativeResize="0"/>
            <p:nvPr/>
          </p:nvPicPr>
          <p:blipFill rotWithShape="1">
            <a:blip r:embed="rId3">
              <a:alphaModFix/>
            </a:blip>
            <a:srcRect b="-1999"/>
            <a:stretch/>
          </p:blipFill>
          <p:spPr>
            <a:xfrm>
              <a:off x="9819496" y="5558921"/>
              <a:ext cx="476382" cy="415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g3f87830097c_0_0"/>
            <p:cNvSpPr txBox="1"/>
            <p:nvPr/>
          </p:nvSpPr>
          <p:spPr>
            <a:xfrm>
              <a:off x="10520700" y="5505669"/>
              <a:ext cx="1411500" cy="53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altLang="ja-JP" sz="1300" b="1">
                  <a:solidFill>
                    <a:srgbClr val="434343"/>
                  </a:solidFill>
                </a:rPr>
                <a:t>10</a:t>
              </a:r>
              <a:r>
                <a:rPr lang="ja-JP" sz="1300" b="1">
                  <a:solidFill>
                    <a:srgbClr val="434343"/>
                  </a:solidFill>
                </a:rPr>
                <a:t>/</a:t>
              </a:r>
              <a:r>
                <a:rPr lang="en-US" altLang="ja-JP" sz="1300" b="1">
                  <a:solidFill>
                    <a:srgbClr val="434343"/>
                  </a:solidFill>
                </a:rPr>
                <a:t>1 15:00-15:30</a:t>
              </a:r>
              <a:br>
                <a:rPr lang="ja-JP" sz="1100" b="1"/>
              </a:br>
              <a:r>
                <a:rPr lang="ja-JP" sz="1100" b="1">
                  <a:solidFill>
                    <a:srgbClr val="434343"/>
                  </a:solidFill>
                </a:rPr>
                <a:t>藤原社長</a:t>
              </a:r>
              <a:endParaRPr sz="1100" b="1">
                <a:solidFill>
                  <a:srgbClr val="434343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100" b="1">
                  <a:solidFill>
                    <a:srgbClr val="434343"/>
                  </a:solidFill>
                </a:rPr>
                <a:t>チェック</a:t>
              </a:r>
              <a:endParaRPr sz="1100" b="1">
                <a:solidFill>
                  <a:srgbClr val="434343"/>
                </a:solidFill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A945035-4917-B172-B5BF-4EC8A85F2EEC}"/>
              </a:ext>
            </a:extLst>
          </p:cNvPr>
          <p:cNvGrpSpPr/>
          <p:nvPr/>
        </p:nvGrpSpPr>
        <p:grpSpPr>
          <a:xfrm>
            <a:off x="389320" y="2314895"/>
            <a:ext cx="4115392" cy="624300"/>
            <a:chOff x="302906" y="1522920"/>
            <a:chExt cx="4115392" cy="624300"/>
          </a:xfrm>
        </p:grpSpPr>
        <p:sp>
          <p:nvSpPr>
            <p:cNvPr id="11" name="Google Shape;140;g3f87830097c_0_0">
              <a:extLst>
                <a:ext uri="{FF2B5EF4-FFF2-40B4-BE49-F238E27FC236}">
                  <a16:creationId xmlns:a16="http://schemas.microsoft.com/office/drawing/2014/main" id="{00EC24F0-8B41-3E2C-A491-134C23E93FBC}"/>
                </a:ext>
              </a:extLst>
            </p:cNvPr>
            <p:cNvSpPr txBox="1"/>
            <p:nvPr/>
          </p:nvSpPr>
          <p:spPr>
            <a:xfrm>
              <a:off x="302906" y="1522920"/>
              <a:ext cx="1103703" cy="6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</a:pPr>
              <a:r>
                <a:rPr lang="ja-JP" altLang="en-US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アカウント</a:t>
              </a:r>
              <a:endParaRPr/>
            </a:p>
          </p:txBody>
        </p:sp>
        <p:grpSp>
          <p:nvGrpSpPr>
            <p:cNvPr id="12" name="Google Shape;152;g3f87830097c_0_0">
              <a:extLst>
                <a:ext uri="{FF2B5EF4-FFF2-40B4-BE49-F238E27FC236}">
                  <a16:creationId xmlns:a16="http://schemas.microsoft.com/office/drawing/2014/main" id="{1F571DFA-73CC-C838-2BD8-768069D1E437}"/>
                </a:ext>
              </a:extLst>
            </p:cNvPr>
            <p:cNvGrpSpPr/>
            <p:nvPr/>
          </p:nvGrpSpPr>
          <p:grpSpPr>
            <a:xfrm>
              <a:off x="1815121" y="1593850"/>
              <a:ext cx="2603177" cy="523800"/>
              <a:chOff x="1645925" y="1593850"/>
              <a:chExt cx="2603177" cy="523800"/>
            </a:xfrm>
          </p:grpSpPr>
          <p:sp>
            <p:nvSpPr>
              <p:cNvPr id="15" name="Google Shape;153;g3f87830097c_0_0">
                <a:extLst>
                  <a:ext uri="{FF2B5EF4-FFF2-40B4-BE49-F238E27FC236}">
                    <a16:creationId xmlns:a16="http://schemas.microsoft.com/office/drawing/2014/main" id="{AA89BEF6-872A-3F4C-E7A5-1179A6BE84A5}"/>
                  </a:ext>
                </a:extLst>
              </p:cNvPr>
              <p:cNvSpPr/>
              <p:nvPr/>
            </p:nvSpPr>
            <p:spPr>
              <a:xfrm>
                <a:off x="1645925" y="1593850"/>
                <a:ext cx="2381400" cy="523800"/>
              </a:xfrm>
              <a:prstGeom prst="rect">
                <a:avLst/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54;g3f87830097c_0_0">
                <a:extLst>
                  <a:ext uri="{FF2B5EF4-FFF2-40B4-BE49-F238E27FC236}">
                    <a16:creationId xmlns:a16="http://schemas.microsoft.com/office/drawing/2014/main" id="{DBEB2762-FC6C-FF02-1EA6-A6C01182040F}"/>
                  </a:ext>
                </a:extLst>
              </p:cNvPr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160;g3f87830097c_0_0">
              <a:extLst>
                <a:ext uri="{FF2B5EF4-FFF2-40B4-BE49-F238E27FC236}">
                  <a16:creationId xmlns:a16="http://schemas.microsoft.com/office/drawing/2014/main" id="{1FE8E5AA-624D-960D-BD94-551E0F838C43}"/>
                </a:ext>
              </a:extLst>
            </p:cNvPr>
            <p:cNvSpPr txBox="1"/>
            <p:nvPr/>
          </p:nvSpPr>
          <p:spPr>
            <a:xfrm>
              <a:off x="1886239" y="1732122"/>
              <a:ext cx="21486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b="1">
                  <a:solidFill>
                    <a:schemeClr val="tx1"/>
                  </a:solidFill>
                </a:rPr>
                <a:t>アカウントの手配</a:t>
              </a:r>
              <a:endParaRPr sz="4267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Google Shape;146;g3f87830097c_0_0">
            <a:extLst>
              <a:ext uri="{FF2B5EF4-FFF2-40B4-BE49-F238E27FC236}">
                <a16:creationId xmlns:a16="http://schemas.microsoft.com/office/drawing/2014/main" id="{3B577DA4-BF44-EB3A-781E-C84CFB0DF6E5}"/>
              </a:ext>
            </a:extLst>
          </p:cNvPr>
          <p:cNvCxnSpPr>
            <a:cxnSpLocks/>
          </p:cNvCxnSpPr>
          <p:nvPr/>
        </p:nvCxnSpPr>
        <p:spPr>
          <a:xfrm>
            <a:off x="326878" y="2283363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B98177FB-2C7F-469F-F6D3-D6E58036D271}"/>
              </a:ext>
            </a:extLst>
          </p:cNvPr>
          <p:cNvGrpSpPr/>
          <p:nvPr/>
        </p:nvGrpSpPr>
        <p:grpSpPr>
          <a:xfrm>
            <a:off x="8698588" y="5028887"/>
            <a:ext cx="1422777" cy="523800"/>
            <a:chOff x="7981585" y="4926411"/>
            <a:chExt cx="1422777" cy="523800"/>
          </a:xfrm>
        </p:grpSpPr>
        <p:sp>
          <p:nvSpPr>
            <p:cNvPr id="27" name="Google Shape;158;g3f87830097c_0_0">
              <a:extLst>
                <a:ext uri="{FF2B5EF4-FFF2-40B4-BE49-F238E27FC236}">
                  <a16:creationId xmlns:a16="http://schemas.microsoft.com/office/drawing/2014/main" id="{960FBFAE-0ABF-C7D2-F085-2D3A536F90BA}"/>
                </a:ext>
              </a:extLst>
            </p:cNvPr>
            <p:cNvSpPr/>
            <p:nvPr/>
          </p:nvSpPr>
          <p:spPr>
            <a:xfrm>
              <a:off x="8178560" y="4926411"/>
              <a:ext cx="1004100" cy="5238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9;g3f87830097c_0_0">
              <a:extLst>
                <a:ext uri="{FF2B5EF4-FFF2-40B4-BE49-F238E27FC236}">
                  <a16:creationId xmlns:a16="http://schemas.microsoft.com/office/drawing/2014/main" id="{A1ECB5BB-04FB-7DD2-2DB3-A5D282A96320}"/>
                </a:ext>
              </a:extLst>
            </p:cNvPr>
            <p:cNvSpPr/>
            <p:nvPr/>
          </p:nvSpPr>
          <p:spPr>
            <a:xfrm rot="5400000">
              <a:off x="9023362" y="5069211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6;g3f87830097c_0_0">
              <a:extLst>
                <a:ext uri="{FF2B5EF4-FFF2-40B4-BE49-F238E27FC236}">
                  <a16:creationId xmlns:a16="http://schemas.microsoft.com/office/drawing/2014/main" id="{FCA2EF00-4A72-E736-BAAB-95D2F43EC4E4}"/>
                </a:ext>
              </a:extLst>
            </p:cNvPr>
            <p:cNvSpPr txBox="1"/>
            <p:nvPr/>
          </p:nvSpPr>
          <p:spPr>
            <a:xfrm>
              <a:off x="7981585" y="4999630"/>
              <a:ext cx="1329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b="1">
                  <a:solidFill>
                    <a:schemeClr val="tx1"/>
                  </a:solidFill>
                </a:rPr>
                <a:t>データ確認</a:t>
              </a:r>
              <a:endParaRPr sz="4267">
                <a:solidFill>
                  <a:schemeClr val="tx1"/>
                </a:solidFill>
              </a:endParaRPr>
            </a:p>
          </p:txBody>
        </p:sp>
        <p:sp>
          <p:nvSpPr>
            <p:cNvPr id="33" name="Google Shape;177;g3f87830097c_0_0">
              <a:extLst>
                <a:ext uri="{FF2B5EF4-FFF2-40B4-BE49-F238E27FC236}">
                  <a16:creationId xmlns:a16="http://schemas.microsoft.com/office/drawing/2014/main" id="{E7CF6A6E-4242-0160-9C64-C3D1F849E6D0}"/>
                </a:ext>
              </a:extLst>
            </p:cNvPr>
            <p:cNvSpPr txBox="1"/>
            <p:nvPr/>
          </p:nvSpPr>
          <p:spPr>
            <a:xfrm>
              <a:off x="7981585" y="5214093"/>
              <a:ext cx="1329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 b="1">
                  <a:solidFill>
                    <a:srgbClr val="0B5394"/>
                  </a:solidFill>
                </a:rPr>
                <a:t>3営業日</a:t>
              </a:r>
              <a:endParaRPr sz="4067">
                <a:solidFill>
                  <a:srgbClr val="0B5394"/>
                </a:solidFill>
              </a:endParaRP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CF53A291-EC73-BB28-BEB4-F166B0A67DBE}"/>
              </a:ext>
            </a:extLst>
          </p:cNvPr>
          <p:cNvGrpSpPr/>
          <p:nvPr/>
        </p:nvGrpSpPr>
        <p:grpSpPr>
          <a:xfrm>
            <a:off x="10675317" y="1669063"/>
            <a:ext cx="972403" cy="953051"/>
            <a:chOff x="10260527" y="-1694793"/>
            <a:chExt cx="972403" cy="953051"/>
          </a:xfrm>
        </p:grpSpPr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25FAE8C8-4516-362C-6238-A9CD5A4C4B6E}"/>
                </a:ext>
              </a:extLst>
            </p:cNvPr>
            <p:cNvSpPr/>
            <p:nvPr/>
          </p:nvSpPr>
          <p:spPr>
            <a:xfrm>
              <a:off x="10260527" y="-1694793"/>
              <a:ext cx="972403" cy="9530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85" name="Google Shape;185;g3f87830097c_0_0"/>
            <p:cNvGrpSpPr/>
            <p:nvPr/>
          </p:nvGrpSpPr>
          <p:grpSpPr>
            <a:xfrm>
              <a:off x="10778052" y="-1556614"/>
              <a:ext cx="346621" cy="205492"/>
              <a:chOff x="3365540" y="1593850"/>
              <a:chExt cx="883562" cy="523813"/>
            </a:xfrm>
            <a:solidFill>
              <a:schemeClr val="bg1">
                <a:lumMod val="85000"/>
              </a:schemeClr>
            </a:solidFill>
          </p:grpSpPr>
          <p:sp>
            <p:nvSpPr>
              <p:cNvPr id="186" name="Google Shape;186;g3f87830097c_0_0"/>
              <p:cNvSpPr/>
              <p:nvPr/>
            </p:nvSpPr>
            <p:spPr>
              <a:xfrm>
                <a:off x="3365540" y="1593863"/>
                <a:ext cx="661714" cy="5238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  <p:sp>
            <p:nvSpPr>
              <p:cNvPr id="187" name="Google Shape;187;g3f87830097c_0_0"/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</p:grpSp>
        <p:grpSp>
          <p:nvGrpSpPr>
            <p:cNvPr id="188" name="Google Shape;188;g3f87830097c_0_0"/>
            <p:cNvGrpSpPr/>
            <p:nvPr/>
          </p:nvGrpSpPr>
          <p:grpSpPr>
            <a:xfrm>
              <a:off x="10778052" y="-1308552"/>
              <a:ext cx="346621" cy="205492"/>
              <a:chOff x="3365540" y="1593850"/>
              <a:chExt cx="883562" cy="52381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89" name="Google Shape;189;g3f87830097c_0_0"/>
              <p:cNvSpPr/>
              <p:nvPr/>
            </p:nvSpPr>
            <p:spPr>
              <a:xfrm>
                <a:off x="3365540" y="1593863"/>
                <a:ext cx="661714" cy="5238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  <p:sp>
            <p:nvSpPr>
              <p:cNvPr id="190" name="Google Shape;190;g3f87830097c_0_0"/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</p:grpSp>
        <p:sp>
          <p:nvSpPr>
            <p:cNvPr id="191" name="Google Shape;191;g3f87830097c_0_0"/>
            <p:cNvSpPr txBox="1"/>
            <p:nvPr/>
          </p:nvSpPr>
          <p:spPr>
            <a:xfrm>
              <a:off x="10320851" y="-1525868"/>
              <a:ext cx="403449" cy="1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b="1">
                  <a:solidFill>
                    <a:sysClr val="windowText" lastClr="000000"/>
                  </a:solidFill>
                </a:rPr>
                <a:t>準備中</a:t>
              </a:r>
              <a:endParaRPr sz="3767">
                <a:solidFill>
                  <a:sysClr val="windowText" lastClr="000000"/>
                </a:solidFill>
              </a:endParaRPr>
            </a:p>
          </p:txBody>
        </p:sp>
        <p:sp>
          <p:nvSpPr>
            <p:cNvPr id="192" name="Google Shape;192;g3f87830097c_0_0"/>
            <p:cNvSpPr txBox="1"/>
            <p:nvPr/>
          </p:nvSpPr>
          <p:spPr>
            <a:xfrm>
              <a:off x="10320851" y="-1277806"/>
              <a:ext cx="403449" cy="1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b="1">
                  <a:solidFill>
                    <a:sysClr val="windowText" lastClr="000000"/>
                  </a:solidFill>
                </a:rPr>
                <a:t>進行中</a:t>
              </a:r>
              <a:endParaRPr sz="3767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5" name="Google Shape;188;g3f87830097c_0_0">
              <a:extLst>
                <a:ext uri="{FF2B5EF4-FFF2-40B4-BE49-F238E27FC236}">
                  <a16:creationId xmlns:a16="http://schemas.microsoft.com/office/drawing/2014/main" id="{11893DBA-F282-B8F4-C297-66B2D8994AAA}"/>
                </a:ext>
              </a:extLst>
            </p:cNvPr>
            <p:cNvGrpSpPr/>
            <p:nvPr/>
          </p:nvGrpSpPr>
          <p:grpSpPr>
            <a:xfrm>
              <a:off x="10778053" y="-1064895"/>
              <a:ext cx="346621" cy="205492"/>
              <a:chOff x="3365540" y="1593850"/>
              <a:chExt cx="883562" cy="523813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36" name="Google Shape;189;g3f87830097c_0_0">
                <a:extLst>
                  <a:ext uri="{FF2B5EF4-FFF2-40B4-BE49-F238E27FC236}">
                    <a16:creationId xmlns:a16="http://schemas.microsoft.com/office/drawing/2014/main" id="{268220C7-74D8-AC8A-6838-B0F75BC62338}"/>
                  </a:ext>
                </a:extLst>
              </p:cNvPr>
              <p:cNvSpPr/>
              <p:nvPr/>
            </p:nvSpPr>
            <p:spPr>
              <a:xfrm>
                <a:off x="3365540" y="1593863"/>
                <a:ext cx="661714" cy="5238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  <p:sp>
            <p:nvSpPr>
              <p:cNvPr id="37" name="Google Shape;190;g3f87830097c_0_0">
                <a:extLst>
                  <a:ext uri="{FF2B5EF4-FFF2-40B4-BE49-F238E27FC236}">
                    <a16:creationId xmlns:a16="http://schemas.microsoft.com/office/drawing/2014/main" id="{C169CA07-A869-BD26-46C5-0055BA2B6381}"/>
                  </a:ext>
                </a:extLst>
              </p:cNvPr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</p:grpSp>
        <p:sp>
          <p:nvSpPr>
            <p:cNvPr id="39" name="Google Shape;192;g3f87830097c_0_0">
              <a:extLst>
                <a:ext uri="{FF2B5EF4-FFF2-40B4-BE49-F238E27FC236}">
                  <a16:creationId xmlns:a16="http://schemas.microsoft.com/office/drawing/2014/main" id="{325164B6-9D46-1303-F68B-9465FD97EAE7}"/>
                </a:ext>
              </a:extLst>
            </p:cNvPr>
            <p:cNvSpPr txBox="1"/>
            <p:nvPr/>
          </p:nvSpPr>
          <p:spPr>
            <a:xfrm>
              <a:off x="10320851" y="-1034149"/>
              <a:ext cx="403449" cy="1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b="1">
                  <a:solidFill>
                    <a:sysClr val="windowText" lastClr="000000"/>
                  </a:solidFill>
                </a:rPr>
                <a:t>完了</a:t>
              </a:r>
              <a:endParaRPr sz="3767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04385E41-054B-1ECC-4946-CBE4F6E87177}"/>
              </a:ext>
            </a:extLst>
          </p:cNvPr>
          <p:cNvGrpSpPr/>
          <p:nvPr/>
        </p:nvGrpSpPr>
        <p:grpSpPr>
          <a:xfrm>
            <a:off x="381735" y="3648414"/>
            <a:ext cx="6265937" cy="624300"/>
            <a:chOff x="302907" y="4192481"/>
            <a:chExt cx="6265937" cy="62430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2126F026-7113-3F71-BBF0-F4BA7DEF2FF6}"/>
                </a:ext>
              </a:extLst>
            </p:cNvPr>
            <p:cNvGrpSpPr/>
            <p:nvPr/>
          </p:nvGrpSpPr>
          <p:grpSpPr>
            <a:xfrm>
              <a:off x="302907" y="4192481"/>
              <a:ext cx="6265937" cy="624300"/>
              <a:chOff x="302907" y="4264952"/>
              <a:chExt cx="6265937" cy="624300"/>
            </a:xfrm>
          </p:grpSpPr>
          <p:sp>
            <p:nvSpPr>
              <p:cNvPr id="144" name="Google Shape;144;g3f87830097c_0_0"/>
              <p:cNvSpPr txBox="1"/>
              <p:nvPr/>
            </p:nvSpPr>
            <p:spPr>
              <a:xfrm>
                <a:off x="302907" y="4264952"/>
                <a:ext cx="1215300" cy="62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None/>
                </a:pPr>
                <a:r>
                  <a:rPr lang="ja-JP" sz="13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Salesforce</a:t>
                </a:r>
                <a:endParaRPr sz="13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2" name="Google Shape;172;g3f87830097c_0_0"/>
              <p:cNvGrpSpPr/>
              <p:nvPr/>
            </p:nvGrpSpPr>
            <p:grpSpPr>
              <a:xfrm>
                <a:off x="4973027" y="4314327"/>
                <a:ext cx="786913" cy="523813"/>
                <a:chOff x="2726256" y="1593850"/>
                <a:chExt cx="786913" cy="523813"/>
              </a:xfrm>
            </p:grpSpPr>
            <p:sp>
              <p:nvSpPr>
                <p:cNvPr id="173" name="Google Shape;173;g3f87830097c_0_0"/>
                <p:cNvSpPr/>
                <p:nvPr/>
              </p:nvSpPr>
              <p:spPr>
                <a:xfrm>
                  <a:off x="2726256" y="1593863"/>
                  <a:ext cx="551302" cy="523800"/>
                </a:xfrm>
                <a:prstGeom prst="rect">
                  <a:avLst/>
                </a:prstGeom>
                <a:solidFill>
                  <a:srgbClr val="D9D9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g3f87830097c_0_0"/>
                <p:cNvSpPr/>
                <p:nvPr/>
              </p:nvSpPr>
              <p:spPr>
                <a:xfrm rot="5400000">
                  <a:off x="3132169" y="1736650"/>
                  <a:ext cx="523800" cy="238200"/>
                </a:xfrm>
                <a:prstGeom prst="triangle">
                  <a:avLst>
                    <a:gd name="adj" fmla="val 53121"/>
                  </a:avLst>
                </a:prstGeom>
                <a:solidFill>
                  <a:srgbClr val="D9D9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5" name="Google Shape;175;g3f87830097c_0_0"/>
              <p:cNvSpPr txBox="1"/>
              <p:nvPr/>
            </p:nvSpPr>
            <p:spPr>
              <a:xfrm>
                <a:off x="4003717" y="4372771"/>
                <a:ext cx="2565127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ja-JP" b="1">
                    <a:solidFill>
                      <a:srgbClr val="404040"/>
                    </a:solidFill>
                  </a:rPr>
                  <a:t>CDC / Platform Event の設定</a:t>
                </a:r>
                <a:endParaRPr b="1">
                  <a:solidFill>
                    <a:srgbClr val="404040"/>
                  </a:solidFill>
                </a:endParaRPr>
              </a:p>
            </p:txBody>
          </p:sp>
        </p:grpSp>
        <p:sp>
          <p:nvSpPr>
            <p:cNvPr id="43" name="Google Shape;163;g3f87830097c_0_0">
              <a:extLst>
                <a:ext uri="{FF2B5EF4-FFF2-40B4-BE49-F238E27FC236}">
                  <a16:creationId xmlns:a16="http://schemas.microsoft.com/office/drawing/2014/main" id="{654213A6-9B49-96C0-03C2-666E09DC2550}"/>
                </a:ext>
              </a:extLst>
            </p:cNvPr>
            <p:cNvSpPr txBox="1"/>
            <p:nvPr/>
          </p:nvSpPr>
          <p:spPr>
            <a:xfrm>
              <a:off x="4880753" y="4543106"/>
              <a:ext cx="813049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ja-JP" sz="1200" b="1">
                  <a:solidFill>
                    <a:srgbClr val="0B5394"/>
                  </a:solidFill>
                </a:rPr>
                <a:t>2</a:t>
              </a:r>
              <a:r>
                <a:rPr lang="ja-JP" sz="1200" b="1">
                  <a:solidFill>
                    <a:srgbClr val="0B5394"/>
                  </a:solidFill>
                </a:rPr>
                <a:t>営業日</a:t>
              </a:r>
              <a:endParaRPr sz="4067">
                <a:solidFill>
                  <a:srgbClr val="0B5394"/>
                </a:solidFill>
              </a:endParaRPr>
            </a:p>
          </p:txBody>
        </p:sp>
      </p:grpSp>
      <p:cxnSp>
        <p:nvCxnSpPr>
          <p:cNvPr id="45" name="Google Shape;164;g3f87830097c_0_0">
            <a:extLst>
              <a:ext uri="{FF2B5EF4-FFF2-40B4-BE49-F238E27FC236}">
                <a16:creationId xmlns:a16="http://schemas.microsoft.com/office/drawing/2014/main" id="{838F0470-D603-2759-0AB9-BF8B5771722E}"/>
              </a:ext>
            </a:extLst>
          </p:cNvPr>
          <p:cNvCxnSpPr>
            <a:cxnSpLocks/>
          </p:cNvCxnSpPr>
          <p:nvPr/>
        </p:nvCxnSpPr>
        <p:spPr>
          <a:xfrm>
            <a:off x="4780855" y="1439913"/>
            <a:ext cx="0" cy="4248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0" name="Google Shape;179;g3f87830097c_0_0">
            <a:extLst>
              <a:ext uri="{FF2B5EF4-FFF2-40B4-BE49-F238E27FC236}">
                <a16:creationId xmlns:a16="http://schemas.microsoft.com/office/drawing/2014/main" id="{654C0C68-5C67-7BC5-9E5D-6FCBC512E69F}"/>
              </a:ext>
            </a:extLst>
          </p:cNvPr>
          <p:cNvSpPr txBox="1"/>
          <p:nvPr/>
        </p:nvSpPr>
        <p:spPr>
          <a:xfrm>
            <a:off x="1670103" y="5806345"/>
            <a:ext cx="15777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>
                <a:solidFill>
                  <a:srgbClr val="434343"/>
                </a:solidFill>
              </a:rPr>
              <a:t>本日</a:t>
            </a:r>
            <a:r>
              <a:rPr lang="en-US" altLang="ja-JP" sz="1300" b="1">
                <a:solidFill>
                  <a:srgbClr val="434343"/>
                </a:solidFill>
              </a:rPr>
              <a:t>9/3</a:t>
            </a:r>
            <a:endParaRPr sz="3967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7830097c_0_0"/>
          <p:cNvSpPr/>
          <p:nvPr/>
        </p:nvSpPr>
        <p:spPr>
          <a:xfrm>
            <a:off x="284000" y="966875"/>
            <a:ext cx="1253100" cy="400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f87830097c_0_0"/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ja-JP" sz="2400"/>
              <a:t>マイルストーン　全販社（STG環境想定）</a:t>
            </a:r>
            <a:endParaRPr sz="2400">
              <a:solidFill>
                <a:srgbClr val="404040"/>
              </a:solidFill>
            </a:endParaRPr>
          </a:p>
        </p:txBody>
      </p:sp>
      <p:sp>
        <p:nvSpPr>
          <p:cNvPr id="132" name="Google Shape;132;g3f87830097c_0_0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latin typeface="Arial Black"/>
                <a:ea typeface="Arial Black"/>
                <a:cs typeface="Arial Black"/>
                <a:sym typeface="Arial Black"/>
              </a:rPr>
              <a:t>5</a:t>
            </a:fld>
            <a:endParaRPr sz="2133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3" name="Google Shape;133;g3f87830097c_0_0"/>
          <p:cNvSpPr txBox="1"/>
          <p:nvPr/>
        </p:nvSpPr>
        <p:spPr>
          <a:xfrm>
            <a:off x="2084475" y="1008125"/>
            <a:ext cx="1084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1～4</a:t>
            </a:r>
            <a:endParaRPr sz="1300"/>
          </a:p>
        </p:txBody>
      </p:sp>
      <p:sp>
        <p:nvSpPr>
          <p:cNvPr id="134" name="Google Shape;134;g3f87830097c_0_0"/>
          <p:cNvSpPr txBox="1"/>
          <p:nvPr/>
        </p:nvSpPr>
        <p:spPr>
          <a:xfrm>
            <a:off x="3882877" y="1008125"/>
            <a:ext cx="1084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7</a:t>
            </a:r>
            <a:r>
              <a:rPr lang="ja-JP" sz="1500" b="1">
                <a:solidFill>
                  <a:srgbClr val="3F3F3F"/>
                </a:solidFill>
              </a:rPr>
              <a:t>〜</a:t>
            </a: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/>
          </a:p>
        </p:txBody>
      </p:sp>
      <p:sp>
        <p:nvSpPr>
          <p:cNvPr id="135" name="Google Shape;135;g3f87830097c_0_0"/>
          <p:cNvSpPr txBox="1"/>
          <p:nvPr/>
        </p:nvSpPr>
        <p:spPr>
          <a:xfrm>
            <a:off x="5833650" y="1008125"/>
            <a:ext cx="15777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14～</a:t>
            </a:r>
            <a:r>
              <a:rPr lang="ja-JP" sz="1500" b="1">
                <a:solidFill>
                  <a:srgbClr val="3F3F3F"/>
                </a:solidFill>
              </a:rPr>
              <a:t>18</a:t>
            </a:r>
            <a:endParaRPr sz="2100" b="1">
              <a:solidFill>
                <a:srgbClr val="FF0B0B"/>
              </a:solidFill>
            </a:endParaRPr>
          </a:p>
        </p:txBody>
      </p:sp>
      <p:sp>
        <p:nvSpPr>
          <p:cNvPr id="136" name="Google Shape;136;g3f87830097c_0_0"/>
          <p:cNvSpPr txBox="1"/>
          <p:nvPr/>
        </p:nvSpPr>
        <p:spPr>
          <a:xfrm>
            <a:off x="7555838" y="1008125"/>
            <a:ext cx="1084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21～</a:t>
            </a:r>
            <a:r>
              <a:rPr lang="ja-JP" sz="1500" b="1">
                <a:solidFill>
                  <a:srgbClr val="3F3F3F"/>
                </a:solidFill>
              </a:rPr>
              <a:t>25</a:t>
            </a:r>
            <a:endParaRPr sz="1500" b="1">
              <a:solidFill>
                <a:srgbClr val="3F3F3F"/>
              </a:solidFill>
            </a:endParaRPr>
          </a:p>
        </p:txBody>
      </p:sp>
      <p:sp>
        <p:nvSpPr>
          <p:cNvPr id="137" name="Google Shape;137;g3f87830097c_0_0"/>
          <p:cNvSpPr txBox="1"/>
          <p:nvPr/>
        </p:nvSpPr>
        <p:spPr>
          <a:xfrm>
            <a:off x="9430425" y="1008125"/>
            <a:ext cx="1084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27</a:t>
            </a:r>
            <a:r>
              <a:rPr lang="ja-JP" sz="1500" b="1">
                <a:solidFill>
                  <a:srgbClr val="3F3F3F"/>
                </a:solidFill>
              </a:rPr>
              <a:t>〜30</a:t>
            </a:r>
            <a:endParaRPr sz="1500" b="1">
              <a:solidFill>
                <a:srgbClr val="3F3F3F"/>
              </a:solidFill>
            </a:endParaRPr>
          </a:p>
        </p:txBody>
      </p:sp>
      <p:sp>
        <p:nvSpPr>
          <p:cNvPr id="138" name="Google Shape;138;g3f87830097c_0_0"/>
          <p:cNvSpPr txBox="1"/>
          <p:nvPr/>
        </p:nvSpPr>
        <p:spPr>
          <a:xfrm>
            <a:off x="528350" y="959225"/>
            <a:ext cx="764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ja-JP"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9月</a:t>
            </a:r>
            <a:endParaRPr sz="1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87830097c_0_0"/>
          <p:cNvSpPr txBox="1"/>
          <p:nvPr/>
        </p:nvSpPr>
        <p:spPr>
          <a:xfrm>
            <a:off x="302907" y="3177515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開発</a:t>
            </a:r>
            <a:endParaRPr sz="1300"/>
          </a:p>
        </p:txBody>
      </p:sp>
      <p:sp>
        <p:nvSpPr>
          <p:cNvPr id="140" name="Google Shape;140;g3f87830097c_0_0"/>
          <p:cNvSpPr txBox="1"/>
          <p:nvPr/>
        </p:nvSpPr>
        <p:spPr>
          <a:xfrm>
            <a:off x="302907" y="1522920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NW</a:t>
            </a:r>
            <a:endParaRPr sz="1300"/>
          </a:p>
        </p:txBody>
      </p:sp>
      <p:sp>
        <p:nvSpPr>
          <p:cNvPr id="141" name="Google Shape;141;g3f87830097c_0_0"/>
          <p:cNvSpPr txBox="1"/>
          <p:nvPr/>
        </p:nvSpPr>
        <p:spPr>
          <a:xfrm>
            <a:off x="302907" y="2350218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認証</a:t>
            </a:r>
            <a:endParaRPr sz="1300"/>
          </a:p>
        </p:txBody>
      </p:sp>
      <p:sp>
        <p:nvSpPr>
          <p:cNvPr id="142" name="Google Shape;142;g3f87830097c_0_0"/>
          <p:cNvSpPr txBox="1"/>
          <p:nvPr/>
        </p:nvSpPr>
        <p:spPr>
          <a:xfrm>
            <a:off x="302907" y="4832110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テスト</a:t>
            </a:r>
            <a:endParaRPr sz="1300"/>
          </a:p>
        </p:txBody>
      </p:sp>
      <p:sp>
        <p:nvSpPr>
          <p:cNvPr id="143" name="Google Shape;143;g3f87830097c_0_0"/>
          <p:cNvSpPr txBox="1"/>
          <p:nvPr/>
        </p:nvSpPr>
        <p:spPr>
          <a:xfrm>
            <a:off x="302907" y="5659408"/>
            <a:ext cx="1167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リリース</a:t>
            </a:r>
            <a:endParaRPr sz="1300"/>
          </a:p>
        </p:txBody>
      </p:sp>
      <p:sp>
        <p:nvSpPr>
          <p:cNvPr id="144" name="Google Shape;144;g3f87830097c_0_0"/>
          <p:cNvSpPr txBox="1"/>
          <p:nvPr/>
        </p:nvSpPr>
        <p:spPr>
          <a:xfrm>
            <a:off x="302907" y="4004813"/>
            <a:ext cx="1215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Salesforce</a:t>
            </a:r>
            <a:endParaRPr sz="13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g3f87830097c_0_0"/>
          <p:cNvCxnSpPr/>
          <p:nvPr/>
        </p:nvCxnSpPr>
        <p:spPr>
          <a:xfrm>
            <a:off x="248050" y="1430375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146;g3f87830097c_0_0"/>
          <p:cNvCxnSpPr/>
          <p:nvPr/>
        </p:nvCxnSpPr>
        <p:spPr>
          <a:xfrm>
            <a:off x="248050" y="2254867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g3f87830097c_0_0"/>
          <p:cNvCxnSpPr/>
          <p:nvPr/>
        </p:nvCxnSpPr>
        <p:spPr>
          <a:xfrm>
            <a:off x="248050" y="3079358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g3f87830097c_0_0"/>
          <p:cNvCxnSpPr/>
          <p:nvPr/>
        </p:nvCxnSpPr>
        <p:spPr>
          <a:xfrm>
            <a:off x="248050" y="3903850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g3f87830097c_0_0"/>
          <p:cNvCxnSpPr/>
          <p:nvPr/>
        </p:nvCxnSpPr>
        <p:spPr>
          <a:xfrm>
            <a:off x="248050" y="4728342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g3f87830097c_0_0"/>
          <p:cNvCxnSpPr/>
          <p:nvPr/>
        </p:nvCxnSpPr>
        <p:spPr>
          <a:xfrm>
            <a:off x="248050" y="5552833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g3f87830097c_0_0"/>
          <p:cNvCxnSpPr/>
          <p:nvPr/>
        </p:nvCxnSpPr>
        <p:spPr>
          <a:xfrm>
            <a:off x="248050" y="6377325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2" name="Google Shape;152;g3f87830097c_0_0"/>
          <p:cNvGrpSpPr/>
          <p:nvPr/>
        </p:nvGrpSpPr>
        <p:grpSpPr>
          <a:xfrm>
            <a:off x="1815121" y="1593850"/>
            <a:ext cx="2603177" cy="523800"/>
            <a:chOff x="1645925" y="1593850"/>
            <a:chExt cx="2603177" cy="523800"/>
          </a:xfrm>
        </p:grpSpPr>
        <p:sp>
          <p:nvSpPr>
            <p:cNvPr id="153" name="Google Shape;153;g3f87830097c_0_0"/>
            <p:cNvSpPr/>
            <p:nvPr/>
          </p:nvSpPr>
          <p:spPr>
            <a:xfrm>
              <a:off x="1645925" y="1593850"/>
              <a:ext cx="23814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g3f87830097c_0_0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g3f87830097c_0_0"/>
          <p:cNvSpPr/>
          <p:nvPr/>
        </p:nvSpPr>
        <p:spPr>
          <a:xfrm>
            <a:off x="3448219" y="2405225"/>
            <a:ext cx="764400" cy="523800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f87830097c_0_0"/>
          <p:cNvSpPr/>
          <p:nvPr/>
        </p:nvSpPr>
        <p:spPr>
          <a:xfrm rot="5400000">
            <a:off x="4053396" y="2548013"/>
            <a:ext cx="523800" cy="238200"/>
          </a:xfrm>
          <a:prstGeom prst="triangle">
            <a:avLst>
              <a:gd name="adj" fmla="val 53121"/>
            </a:avLst>
          </a:prstGeom>
          <a:solidFill>
            <a:srgbClr val="DAEE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" name="Google Shape;157;g3f87830097c_0_0"/>
          <p:cNvGrpSpPr/>
          <p:nvPr/>
        </p:nvGrpSpPr>
        <p:grpSpPr>
          <a:xfrm>
            <a:off x="6949725" y="4878675"/>
            <a:ext cx="1225802" cy="523800"/>
            <a:chOff x="3023300" y="1593850"/>
            <a:chExt cx="1225802" cy="523800"/>
          </a:xfrm>
        </p:grpSpPr>
        <p:sp>
          <p:nvSpPr>
            <p:cNvPr id="158" name="Google Shape;158;g3f87830097c_0_0"/>
            <p:cNvSpPr/>
            <p:nvPr/>
          </p:nvSpPr>
          <p:spPr>
            <a:xfrm>
              <a:off x="3023300" y="1593850"/>
              <a:ext cx="10041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g3f87830097c_0_0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" name="Google Shape;160;g3f87830097c_0_0"/>
          <p:cNvSpPr txBox="1"/>
          <p:nvPr/>
        </p:nvSpPr>
        <p:spPr>
          <a:xfrm>
            <a:off x="1886239" y="1676925"/>
            <a:ext cx="214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Outbound通信の許可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161" name="Google Shape;161;g3f87830097c_0_0"/>
          <p:cNvSpPr txBox="1"/>
          <p:nvPr/>
        </p:nvSpPr>
        <p:spPr>
          <a:xfrm>
            <a:off x="1886239" y="1874462"/>
            <a:ext cx="214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7営業日</a:t>
            </a:r>
            <a:endParaRPr sz="4067">
              <a:solidFill>
                <a:srgbClr val="0B5394"/>
              </a:solidFill>
            </a:endParaRPr>
          </a:p>
        </p:txBody>
      </p:sp>
      <p:sp>
        <p:nvSpPr>
          <p:cNvPr id="162" name="Google Shape;162;g3f87830097c_0_0"/>
          <p:cNvSpPr txBox="1"/>
          <p:nvPr/>
        </p:nvSpPr>
        <p:spPr>
          <a:xfrm>
            <a:off x="2959844" y="2475950"/>
            <a:ext cx="132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API認証の設定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163" name="Google Shape;163;g3f87830097c_0_0"/>
          <p:cNvSpPr txBox="1"/>
          <p:nvPr/>
        </p:nvSpPr>
        <p:spPr>
          <a:xfrm>
            <a:off x="2959844" y="2673481"/>
            <a:ext cx="132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3営業日</a:t>
            </a:r>
            <a:endParaRPr sz="4067">
              <a:solidFill>
                <a:srgbClr val="0B5394"/>
              </a:solidFill>
            </a:endParaRPr>
          </a:p>
        </p:txBody>
      </p:sp>
      <p:cxnSp>
        <p:nvCxnSpPr>
          <p:cNvPr id="164" name="Google Shape;164;g3f87830097c_0_0"/>
          <p:cNvCxnSpPr/>
          <p:nvPr/>
        </p:nvCxnSpPr>
        <p:spPr>
          <a:xfrm>
            <a:off x="4426400" y="1399825"/>
            <a:ext cx="0" cy="425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165" name="Google Shape;165;g3f87830097c_0_0"/>
          <p:cNvCxnSpPr/>
          <p:nvPr/>
        </p:nvCxnSpPr>
        <p:spPr>
          <a:xfrm>
            <a:off x="6470100" y="1399825"/>
            <a:ext cx="0" cy="425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166" name="Google Shape;166;g3f87830097c_0_0"/>
          <p:cNvCxnSpPr/>
          <p:nvPr/>
        </p:nvCxnSpPr>
        <p:spPr>
          <a:xfrm>
            <a:off x="10047775" y="1399825"/>
            <a:ext cx="0" cy="425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grpSp>
        <p:nvGrpSpPr>
          <p:cNvPr id="167" name="Google Shape;167;g3f87830097c_0_0"/>
          <p:cNvGrpSpPr/>
          <p:nvPr/>
        </p:nvGrpSpPr>
        <p:grpSpPr>
          <a:xfrm>
            <a:off x="1815125" y="3229688"/>
            <a:ext cx="4680748" cy="523813"/>
            <a:chOff x="-431646" y="1593850"/>
            <a:chExt cx="4680748" cy="523813"/>
          </a:xfrm>
        </p:grpSpPr>
        <p:sp>
          <p:nvSpPr>
            <p:cNvPr id="168" name="Google Shape;168;g3f87830097c_0_0"/>
            <p:cNvSpPr/>
            <p:nvPr/>
          </p:nvSpPr>
          <p:spPr>
            <a:xfrm>
              <a:off x="-431646" y="1593863"/>
              <a:ext cx="44589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g3f87830097c_0_0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Google Shape;170;g3f87830097c_0_0"/>
          <p:cNvSpPr txBox="1"/>
          <p:nvPr/>
        </p:nvSpPr>
        <p:spPr>
          <a:xfrm>
            <a:off x="2946664" y="3300437"/>
            <a:ext cx="214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Kafka Connectorの実装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171" name="Google Shape;171;g3f87830097c_0_0"/>
          <p:cNvSpPr txBox="1"/>
          <p:nvPr/>
        </p:nvSpPr>
        <p:spPr>
          <a:xfrm>
            <a:off x="2946664" y="3497975"/>
            <a:ext cx="214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14営業日</a:t>
            </a:r>
            <a:endParaRPr sz="4067">
              <a:solidFill>
                <a:srgbClr val="0B5394"/>
              </a:solidFill>
            </a:endParaRPr>
          </a:p>
        </p:txBody>
      </p:sp>
      <p:grpSp>
        <p:nvGrpSpPr>
          <p:cNvPr id="172" name="Google Shape;172;g3f87830097c_0_0"/>
          <p:cNvGrpSpPr/>
          <p:nvPr/>
        </p:nvGrpSpPr>
        <p:grpSpPr>
          <a:xfrm>
            <a:off x="1815125" y="4054188"/>
            <a:ext cx="4680748" cy="523813"/>
            <a:chOff x="-431646" y="1593850"/>
            <a:chExt cx="4680748" cy="523813"/>
          </a:xfrm>
        </p:grpSpPr>
        <p:sp>
          <p:nvSpPr>
            <p:cNvPr id="173" name="Google Shape;173;g3f87830097c_0_0"/>
            <p:cNvSpPr/>
            <p:nvPr/>
          </p:nvSpPr>
          <p:spPr>
            <a:xfrm>
              <a:off x="-431646" y="1593863"/>
              <a:ext cx="4458900" cy="523800"/>
            </a:xfrm>
            <a:prstGeom prst="rect">
              <a:avLst/>
            </a:prstGeom>
            <a:solidFill>
              <a:srgbClr val="F8E1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g3f87830097c_0_0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F8E1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g3f87830097c_0_0"/>
          <p:cNvSpPr txBox="1"/>
          <p:nvPr/>
        </p:nvSpPr>
        <p:spPr>
          <a:xfrm>
            <a:off x="2302399" y="4208394"/>
            <a:ext cx="39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404040"/>
                </a:solidFill>
              </a:rPr>
              <a:t>CDC / Platform Event の設定</a:t>
            </a:r>
            <a:endParaRPr b="1">
              <a:solidFill>
                <a:srgbClr val="404040"/>
              </a:solidFill>
            </a:endParaRPr>
          </a:p>
        </p:txBody>
      </p:sp>
      <p:sp>
        <p:nvSpPr>
          <p:cNvPr id="176" name="Google Shape;176;g3f87830097c_0_0"/>
          <p:cNvSpPr txBox="1"/>
          <p:nvPr/>
        </p:nvSpPr>
        <p:spPr>
          <a:xfrm>
            <a:off x="6752750" y="4960360"/>
            <a:ext cx="132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結合試験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177" name="Google Shape;177;g3f87830097c_0_0"/>
          <p:cNvSpPr txBox="1"/>
          <p:nvPr/>
        </p:nvSpPr>
        <p:spPr>
          <a:xfrm>
            <a:off x="6752750" y="5157891"/>
            <a:ext cx="132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3営業日</a:t>
            </a:r>
            <a:endParaRPr sz="4067">
              <a:solidFill>
                <a:srgbClr val="0B5394"/>
              </a:solidFill>
            </a:endParaRPr>
          </a:p>
        </p:txBody>
      </p:sp>
      <p:cxnSp>
        <p:nvCxnSpPr>
          <p:cNvPr id="178" name="Google Shape;178;g3f87830097c_0_0"/>
          <p:cNvCxnSpPr/>
          <p:nvPr/>
        </p:nvCxnSpPr>
        <p:spPr>
          <a:xfrm>
            <a:off x="8175525" y="1399825"/>
            <a:ext cx="0" cy="425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sp>
        <p:nvSpPr>
          <p:cNvPr id="179" name="Google Shape;179;g3f87830097c_0_0"/>
          <p:cNvSpPr txBox="1"/>
          <p:nvPr/>
        </p:nvSpPr>
        <p:spPr>
          <a:xfrm>
            <a:off x="3708581" y="5735975"/>
            <a:ext cx="1577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1">
                <a:solidFill>
                  <a:srgbClr val="434343"/>
                </a:solidFill>
              </a:rPr>
              <a:t>9/9　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Outbound通信/API認証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完了</a:t>
            </a:r>
            <a:endParaRPr sz="3967">
              <a:solidFill>
                <a:srgbClr val="434343"/>
              </a:solidFill>
            </a:endParaRPr>
          </a:p>
        </p:txBody>
      </p:sp>
      <p:sp>
        <p:nvSpPr>
          <p:cNvPr id="180" name="Google Shape;180;g3f87830097c_0_0"/>
          <p:cNvSpPr txBox="1"/>
          <p:nvPr/>
        </p:nvSpPr>
        <p:spPr>
          <a:xfrm>
            <a:off x="5681250" y="5735975"/>
            <a:ext cx="157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1">
                <a:solidFill>
                  <a:srgbClr val="434343"/>
                </a:solidFill>
              </a:rPr>
              <a:t>9/18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開発完了</a:t>
            </a:r>
            <a:endParaRPr sz="3967">
              <a:solidFill>
                <a:srgbClr val="434343"/>
              </a:solidFill>
            </a:endParaRPr>
          </a:p>
        </p:txBody>
      </p:sp>
      <p:sp>
        <p:nvSpPr>
          <p:cNvPr id="181" name="Google Shape;181;g3f87830097c_0_0"/>
          <p:cNvSpPr txBox="1"/>
          <p:nvPr/>
        </p:nvSpPr>
        <p:spPr>
          <a:xfrm>
            <a:off x="7386675" y="5735975"/>
            <a:ext cx="1577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1">
                <a:solidFill>
                  <a:srgbClr val="434343"/>
                </a:solidFill>
              </a:rPr>
              <a:t>9/25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結合試験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完了</a:t>
            </a:r>
            <a:endParaRPr sz="3967">
              <a:solidFill>
                <a:srgbClr val="434343"/>
              </a:solidFill>
            </a:endParaRPr>
          </a:p>
        </p:txBody>
      </p:sp>
      <p:sp>
        <p:nvSpPr>
          <p:cNvPr id="182" name="Google Shape;182;g3f87830097c_0_0"/>
          <p:cNvSpPr/>
          <p:nvPr/>
        </p:nvSpPr>
        <p:spPr>
          <a:xfrm>
            <a:off x="9735625" y="5669375"/>
            <a:ext cx="624300" cy="6243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g3f87830097c_0_0" descr="スクリーンショット 2026-03-05 7.03.35.png"/>
          <p:cNvPicPr preferRelativeResize="0"/>
          <p:nvPr/>
        </p:nvPicPr>
        <p:blipFill rotWithShape="1">
          <a:blip r:embed="rId3">
            <a:alphaModFix/>
          </a:blip>
          <a:srcRect b="-1999"/>
          <a:stretch/>
        </p:blipFill>
        <p:spPr>
          <a:xfrm>
            <a:off x="9819496" y="5763865"/>
            <a:ext cx="476382" cy="415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87830097c_0_0"/>
          <p:cNvSpPr txBox="1"/>
          <p:nvPr/>
        </p:nvSpPr>
        <p:spPr>
          <a:xfrm>
            <a:off x="10520700" y="5774075"/>
            <a:ext cx="14115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ja-JP" sz="1300" b="1">
                <a:solidFill>
                  <a:srgbClr val="434343"/>
                </a:solidFill>
              </a:rPr>
              <a:t>10</a:t>
            </a:r>
            <a:r>
              <a:rPr lang="ja-JP" sz="1300" b="1">
                <a:solidFill>
                  <a:srgbClr val="434343"/>
                </a:solidFill>
              </a:rPr>
              <a:t>/</a:t>
            </a:r>
            <a:r>
              <a:rPr lang="en-US" altLang="ja-JP" sz="1300" b="1">
                <a:solidFill>
                  <a:srgbClr val="434343"/>
                </a:solidFill>
              </a:rPr>
              <a:t>1 15:00-15:30</a:t>
            </a:r>
            <a:br>
              <a:rPr lang="ja-JP" sz="1100" b="1"/>
            </a:br>
            <a:r>
              <a:rPr lang="ja-JP" sz="1100" b="1">
                <a:solidFill>
                  <a:srgbClr val="434343"/>
                </a:solidFill>
              </a:rPr>
              <a:t>藤原社長</a:t>
            </a:r>
            <a:endParaRPr sz="11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 b="1">
                <a:solidFill>
                  <a:srgbClr val="434343"/>
                </a:solidFill>
              </a:rPr>
              <a:t>チェック</a:t>
            </a:r>
            <a:endParaRPr sz="1100" b="1">
              <a:solidFill>
                <a:srgbClr val="434343"/>
              </a:solidFill>
            </a:endParaRPr>
          </a:p>
        </p:txBody>
      </p:sp>
      <p:grpSp>
        <p:nvGrpSpPr>
          <p:cNvPr id="185" name="Google Shape;185;g3f87830097c_0_0"/>
          <p:cNvGrpSpPr/>
          <p:nvPr/>
        </p:nvGrpSpPr>
        <p:grpSpPr>
          <a:xfrm>
            <a:off x="11006511" y="1654341"/>
            <a:ext cx="476349" cy="205492"/>
            <a:chOff x="3034854" y="1593850"/>
            <a:chExt cx="1214248" cy="523813"/>
          </a:xfrm>
        </p:grpSpPr>
        <p:sp>
          <p:nvSpPr>
            <p:cNvPr id="186" name="Google Shape;186;g3f87830097c_0_0"/>
            <p:cNvSpPr/>
            <p:nvPr/>
          </p:nvSpPr>
          <p:spPr>
            <a:xfrm>
              <a:off x="3034854" y="1593863"/>
              <a:ext cx="9924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35875" tIns="35875" rIns="35875" bIns="35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9"/>
            </a:p>
          </p:txBody>
        </p:sp>
        <p:sp>
          <p:nvSpPr>
            <p:cNvPr id="187" name="Google Shape;187;g3f87830097c_0_0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35875" tIns="35875" rIns="35875" bIns="35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9"/>
            </a:p>
          </p:txBody>
        </p:sp>
      </p:grpSp>
      <p:grpSp>
        <p:nvGrpSpPr>
          <p:cNvPr id="188" name="Google Shape;188;g3f87830097c_0_0"/>
          <p:cNvGrpSpPr/>
          <p:nvPr/>
        </p:nvGrpSpPr>
        <p:grpSpPr>
          <a:xfrm>
            <a:off x="11006511" y="1901606"/>
            <a:ext cx="476349" cy="205492"/>
            <a:chOff x="3034854" y="1593850"/>
            <a:chExt cx="1214248" cy="523813"/>
          </a:xfrm>
        </p:grpSpPr>
        <p:sp>
          <p:nvSpPr>
            <p:cNvPr id="189" name="Google Shape;189;g3f87830097c_0_0"/>
            <p:cNvSpPr/>
            <p:nvPr/>
          </p:nvSpPr>
          <p:spPr>
            <a:xfrm>
              <a:off x="3034854" y="1593863"/>
              <a:ext cx="992400" cy="523800"/>
            </a:xfrm>
            <a:prstGeom prst="rect">
              <a:avLst/>
            </a:prstGeom>
            <a:solidFill>
              <a:srgbClr val="F8E1CA"/>
            </a:solidFill>
            <a:ln>
              <a:noFill/>
            </a:ln>
          </p:spPr>
          <p:txBody>
            <a:bodyPr spcFirstLastPara="1" wrap="square" lIns="35875" tIns="35875" rIns="35875" bIns="35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9"/>
            </a:p>
          </p:txBody>
        </p:sp>
        <p:sp>
          <p:nvSpPr>
            <p:cNvPr id="190" name="Google Shape;190;g3f87830097c_0_0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F8E1CA"/>
            </a:solidFill>
            <a:ln>
              <a:noFill/>
            </a:ln>
          </p:spPr>
          <p:txBody>
            <a:bodyPr spcFirstLastPara="1" wrap="square" lIns="35875" tIns="35875" rIns="35875" bIns="35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9"/>
            </a:p>
          </p:txBody>
        </p:sp>
      </p:grpSp>
      <p:sp>
        <p:nvSpPr>
          <p:cNvPr id="191" name="Google Shape;191;g3f87830097c_0_0"/>
          <p:cNvSpPr txBox="1"/>
          <p:nvPr/>
        </p:nvSpPr>
        <p:spPr>
          <a:xfrm>
            <a:off x="10308826" y="1692323"/>
            <a:ext cx="624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1">
                <a:solidFill>
                  <a:srgbClr val="0B5394"/>
                </a:solidFill>
              </a:rPr>
              <a:t>トヨテック</a:t>
            </a:r>
            <a:endParaRPr sz="3767">
              <a:solidFill>
                <a:srgbClr val="0B5394"/>
              </a:solidFill>
            </a:endParaRPr>
          </a:p>
        </p:txBody>
      </p:sp>
      <p:sp>
        <p:nvSpPr>
          <p:cNvPr id="192" name="Google Shape;192;g3f87830097c_0_0"/>
          <p:cNvSpPr txBox="1"/>
          <p:nvPr/>
        </p:nvSpPr>
        <p:spPr>
          <a:xfrm>
            <a:off x="10164212" y="1930825"/>
            <a:ext cx="732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1">
                <a:solidFill>
                  <a:srgbClr val="0B5394"/>
                </a:solidFill>
              </a:rPr>
              <a:t>Salesforce様</a:t>
            </a:r>
            <a:endParaRPr sz="3767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184" cy="73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</a:pPr>
            <a:r>
              <a:rPr lang="ja-JP"/>
              <a:t>お願いしたいこと</a:t>
            </a:r>
            <a:endParaRPr/>
          </a:p>
        </p:txBody>
      </p:sp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2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latin typeface="Arial Black"/>
                <a:ea typeface="Arial Black"/>
                <a:cs typeface="Arial Black"/>
                <a:sym typeface="Arial Black"/>
              </a:rPr>
              <a:t>6</a:t>
            </a:fld>
            <a:endParaRPr sz="2133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9" name="Google Shape;19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2940" y="5201920"/>
            <a:ext cx="3986260" cy="131773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"/>
          <p:cNvSpPr txBox="1"/>
          <p:nvPr/>
        </p:nvSpPr>
        <p:spPr>
          <a:xfrm>
            <a:off x="667050" y="1071400"/>
            <a:ext cx="10857900" cy="415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お願いしたいこと</a:t>
            </a:r>
            <a:endParaRPr sz="15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667050" y="2588658"/>
            <a:ext cx="2807670" cy="8280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3760800" y="2538700"/>
            <a:ext cx="776415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Kafka Connectorでの接続のため、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Salesforce側での設定方法や認証方式についてご案内をお願いいたします。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IP制限の設定などもあるようでしたら合わせてご教示ください。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67050" y="1623779"/>
            <a:ext cx="2807670" cy="8280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667050" y="2802558"/>
            <a:ext cx="472800" cy="400200"/>
          </a:xfrm>
          <a:prstGeom prst="rect">
            <a:avLst/>
          </a:prstGeom>
          <a:solidFill>
            <a:srgbClr val="1881C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67050" y="1837679"/>
            <a:ext cx="472800" cy="400200"/>
          </a:xfrm>
          <a:prstGeom prst="rect">
            <a:avLst/>
          </a:prstGeom>
          <a:solidFill>
            <a:srgbClr val="1881C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139850" y="2605608"/>
            <a:ext cx="2222888" cy="794100"/>
          </a:xfrm>
          <a:prstGeom prst="rect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Pub/Sub API 利用方法の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ご案内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1139850" y="1640729"/>
            <a:ext cx="1994960" cy="794100"/>
          </a:xfrm>
          <a:prstGeom prst="rect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CDC / Platform Eventの設定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3760800" y="1662307"/>
            <a:ext cx="79029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CDCイベントの発行とBrokerへCDCデータを蓄積する設定をお願いいたします。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弊社側で必要な作業もありましたらご案内をお願いいたします</a:t>
            </a:r>
            <a:r>
              <a:rPr lang="ja-JP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5A9C-96B6-E4BC-3675-29D25715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テストシナリオ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09562-40AA-2706-6CF9-B64E409F8C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9BBE1-946E-2377-F7D3-E53273CB05D7}"/>
              </a:ext>
            </a:extLst>
          </p:cNvPr>
          <p:cNvSpPr txBox="1"/>
          <p:nvPr/>
        </p:nvSpPr>
        <p:spPr>
          <a:xfrm>
            <a:off x="424296" y="926522"/>
            <a:ext cx="8295409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/>
              <a:t>正常系</a:t>
            </a:r>
            <a:endParaRPr lang="en-US"/>
          </a:p>
          <a:p>
            <a:r>
              <a:rPr lang="ja-JP" altLang="en-US"/>
              <a:t>・連携するデータ量が合っているか</a:t>
            </a:r>
          </a:p>
          <a:p>
            <a:r>
              <a:rPr lang="ja-JP" altLang="en-US"/>
              <a:t>　・データの件数、行数</a:t>
            </a:r>
          </a:p>
          <a:p>
            <a:r>
              <a:rPr lang="ja-JP" altLang="en-US"/>
              <a:t>　　・マスタ系</a:t>
            </a:r>
          </a:p>
          <a:p>
            <a:r>
              <a:rPr lang="ja-JP" altLang="en-US"/>
              <a:t>　　　・最新</a:t>
            </a:r>
          </a:p>
          <a:p>
            <a:r>
              <a:rPr lang="ja-JP" altLang="en-US"/>
              <a:t>　　・トランザクション系</a:t>
            </a:r>
          </a:p>
          <a:p>
            <a:r>
              <a:rPr lang="ja-JP" altLang="en-US"/>
              <a:t>　　　・更新差分の件数を確認する方法はSalesforce側で準備があるかに依存</a:t>
            </a:r>
          </a:p>
          <a:p>
            <a:r>
              <a:rPr lang="ja-JP" altLang="en-US"/>
              <a:t>・指定した日付の範囲が合っているか</a:t>
            </a:r>
          </a:p>
          <a:p>
            <a:r>
              <a:rPr lang="ja-JP" altLang="en-US"/>
              <a:t>　・</a:t>
            </a:r>
            <a:r>
              <a:rPr lang="ja-JP"/>
              <a:t>10月を指定したときにまだデータがないので、実行されたら0件が正</a:t>
            </a:r>
          </a:p>
          <a:p>
            <a:r>
              <a:rPr lang="ja-JP"/>
              <a:t>　</a:t>
            </a:r>
            <a:r>
              <a:rPr lang="ja-JP" altLang="en-US"/>
              <a:t>・</a:t>
            </a:r>
            <a:r>
              <a:rPr lang="ja-JP"/>
              <a:t>0件だからと言ってエラーにならない</a:t>
            </a:r>
          </a:p>
          <a:p>
            <a:r>
              <a:rPr lang="ja-JP" altLang="en-US"/>
              <a:t>・テーブルとカラムが合っているか</a:t>
            </a:r>
          </a:p>
          <a:p>
            <a:r>
              <a:rPr lang="ja-JP" altLang="en-US"/>
              <a:t>　・Salesforceの値とCDPの値を比較し、一致するか</a:t>
            </a:r>
          </a:p>
          <a:p>
            <a:r>
              <a:rPr lang="ja-JP" altLang="en-US"/>
              <a:t>・データ型の確認</a:t>
            </a:r>
          </a:p>
          <a:p>
            <a:r>
              <a:rPr lang="ja-JP" altLang="en-US"/>
              <a:t>　・全部文字列か、Salesforce側でデータ型に変換されているか</a:t>
            </a:r>
          </a:p>
          <a:p>
            <a:r>
              <a:rPr lang="ja-JP"/>
              <a:t>　・Salesforceの値とCDPの値を比較し、一致するか</a:t>
            </a:r>
            <a:r>
              <a:rPr lang="ja-JP" altLang="en-US"/>
              <a:t>　※変換が必要な場合は次のレイヤー</a:t>
            </a:r>
          </a:p>
          <a:p>
            <a:r>
              <a:rPr lang="ja-JP" altLang="en-US"/>
              <a:t>・NULLの扱い</a:t>
            </a:r>
          </a:p>
          <a:p>
            <a:r>
              <a:rPr lang="ja-JP" altLang="en-US"/>
              <a:t>　・文字列で来るか、空で来るか　※処理が失敗する（空で来る</a:t>
            </a:r>
            <a:r>
              <a:rPr lang="ja-JP"/>
              <a:t>想定</a:t>
            </a:r>
            <a:r>
              <a:rPr lang="ja-JP" altLang="en-US"/>
              <a:t>）</a:t>
            </a:r>
          </a:p>
          <a:p>
            <a:r>
              <a:rPr lang="ja-JP" altLang="en-US"/>
              <a:t>・JSON形式（文字列）の扱い（カスタムオブジェクト）</a:t>
            </a:r>
          </a:p>
          <a:p>
            <a:r>
              <a:rPr lang="ja-JP" altLang="en-US"/>
              <a:t>　・プロパティの順番は関係ない、内包している値が一致しているか</a:t>
            </a:r>
          </a:p>
          <a:p>
            <a:r>
              <a:rPr lang="ja-JP" altLang="en-US"/>
              <a:t>・連携元と連携先のマッピングが正しいか</a:t>
            </a:r>
          </a:p>
          <a:p>
            <a:r>
              <a:rPr lang="ja-JP" altLang="en-US"/>
              <a:t>　・基本はSalesforce上のオブジェクト名を利用</a:t>
            </a:r>
          </a:p>
          <a:p>
            <a:r>
              <a:rPr lang="ja-JP" altLang="en-US"/>
              <a:t>　・各販社のSalesforceごとにスキーマが切られる</a:t>
            </a:r>
          </a:p>
          <a:p>
            <a:r>
              <a:rPr lang="ja-JP" altLang="en-US"/>
              <a:t>　・カスタムオブジェクトを統一したとしても、データが充足しているとは限らない</a:t>
            </a:r>
          </a:p>
          <a:p>
            <a:r>
              <a:rPr lang="ja-JP" altLang="en-US"/>
              <a:t>　　・キーがずれる可能性もある</a:t>
            </a:r>
          </a:p>
          <a:p>
            <a:r>
              <a:rPr lang="ja-JP" altLang="en-US"/>
              <a:t>　　・A社とB社で利用できるデータが異なる</a:t>
            </a:r>
          </a:p>
          <a:p>
            <a:r>
              <a:rPr lang="ja-JP" altLang="en-US"/>
              <a:t>　　・実際に使うときに統合することを考える（Siver, Goldを作るときの話）</a:t>
            </a:r>
          </a:p>
          <a:p>
            <a:endParaRPr lang="ja-JP" altLang="en-US"/>
          </a:p>
          <a:p>
            <a:r>
              <a:rPr lang="ja-JP" altLang="en-US"/>
              <a:t>異常系</a:t>
            </a:r>
          </a:p>
          <a:p>
            <a:r>
              <a:rPr lang="ja-JP" altLang="en-US"/>
              <a:t>・データ量が想定よりも多い / 少ない</a:t>
            </a:r>
          </a:p>
          <a:p>
            <a:r>
              <a:rPr lang="ja-JP" altLang="en-US"/>
              <a:t>　・エラーログの出力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54602-3939-15AB-2760-E1E866F26C98}"/>
              </a:ext>
            </a:extLst>
          </p:cNvPr>
          <p:cNvSpPr txBox="1"/>
          <p:nvPr/>
        </p:nvSpPr>
        <p:spPr>
          <a:xfrm>
            <a:off x="5810250" y="-935182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・データ完全性</a:t>
            </a:r>
            <a:br>
              <a:rPr lang="en-US"/>
            </a:br>
            <a:r>
              <a:rPr lang="en-US"/>
              <a:t>　・</a:t>
            </a:r>
            <a:r>
              <a:rPr lang="en-US" err="1"/>
              <a:t>Kafkaで受信したデータとSalesforceのEvent</a:t>
            </a:r>
            <a:r>
              <a:rPr lang="en-US"/>
              <a:t> </a:t>
            </a:r>
            <a:r>
              <a:rPr lang="en-US" err="1"/>
              <a:t>Busに蓄積されたデータを比較し、欠損がないか確認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59DED-71C6-AA61-2E27-62365BB4D8F0}"/>
              </a:ext>
            </a:extLst>
          </p:cNvPr>
          <p:cNvSpPr txBox="1"/>
          <p:nvPr/>
        </p:nvSpPr>
        <p:spPr>
          <a:xfrm>
            <a:off x="8174181" y="1619249"/>
            <a:ext cx="3567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/>
              <a:t>観点、項目、具体的な確認方法</a:t>
            </a:r>
          </a:p>
        </p:txBody>
      </p:sp>
    </p:spTree>
    <p:extLst>
      <p:ext uri="{BB962C8B-B14F-4D97-AF65-F5344CB8AC3E}">
        <p14:creationId xmlns:p14="http://schemas.microsoft.com/office/powerpoint/2010/main" val="1189409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>
            <a:spLocks noGrp="1"/>
          </p:cNvSpPr>
          <p:nvPr>
            <p:ph type="title"/>
          </p:nvPr>
        </p:nvSpPr>
        <p:spPr>
          <a:xfrm>
            <a:off x="425491" y="3062171"/>
            <a:ext cx="10657184" cy="73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</a:pPr>
            <a:r>
              <a:rPr lang="ja-JP"/>
              <a:t>Appendix</a:t>
            </a:r>
            <a:endParaRPr/>
          </a:p>
        </p:txBody>
      </p:sp>
      <p:sp>
        <p:nvSpPr>
          <p:cNvPr id="214" name="Google Shape;214;p6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2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latin typeface="Arial Black"/>
                <a:ea typeface="Arial Black"/>
                <a:cs typeface="Arial Black"/>
                <a:sym typeface="Arial Black"/>
              </a:rPr>
              <a:t>8</a:t>
            </a:fld>
            <a:endParaRPr sz="2133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87830097c_1_316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3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/>
              <a:t>9</a:t>
            </a:fld>
            <a:endParaRPr/>
          </a:p>
        </p:txBody>
      </p:sp>
      <p:sp>
        <p:nvSpPr>
          <p:cNvPr id="221" name="Google Shape;221;g3f87830097c_1_316"/>
          <p:cNvSpPr txBox="1">
            <a:spLocks noGrp="1"/>
          </p:cNvSpPr>
          <p:nvPr>
            <p:ph type="title"/>
          </p:nvPr>
        </p:nvSpPr>
        <p:spPr>
          <a:xfrm>
            <a:off x="425450" y="20638"/>
            <a:ext cx="106569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ja-JP" sz="2400"/>
              <a:t>1販社 構成イメージ / NW要件（Salesforce REST API/Bulk API ）　</a:t>
            </a:r>
            <a:endParaRPr sz="2400"/>
          </a:p>
        </p:txBody>
      </p:sp>
      <p:sp>
        <p:nvSpPr>
          <p:cNvPr id="222" name="Google Shape;222;g3f87830097c_1_316"/>
          <p:cNvSpPr/>
          <p:nvPr/>
        </p:nvSpPr>
        <p:spPr>
          <a:xfrm>
            <a:off x="4925375" y="1131000"/>
            <a:ext cx="4251600" cy="4220100"/>
          </a:xfrm>
          <a:prstGeom prst="rect">
            <a:avLst/>
          </a:prstGeom>
          <a:solidFill>
            <a:srgbClr val="DAEEF3"/>
          </a:solidFill>
          <a:ln w="8900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41975" rIns="83975" bIns="419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3"/>
              <a:buFont typeface="Arial"/>
              <a:buNone/>
            </a:pPr>
            <a:endParaRPr sz="165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87830097c_1_316"/>
          <p:cNvSpPr/>
          <p:nvPr/>
        </p:nvSpPr>
        <p:spPr>
          <a:xfrm>
            <a:off x="5106975" y="1585675"/>
            <a:ext cx="3832200" cy="3594900"/>
          </a:xfrm>
          <a:prstGeom prst="roundRect">
            <a:avLst>
              <a:gd name="adj" fmla="val 142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7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g3f87830097c_1_316"/>
          <p:cNvGrpSpPr/>
          <p:nvPr/>
        </p:nvGrpSpPr>
        <p:grpSpPr>
          <a:xfrm>
            <a:off x="5128450" y="1243740"/>
            <a:ext cx="1677982" cy="263400"/>
            <a:chOff x="1704469" y="829379"/>
            <a:chExt cx="1677982" cy="263400"/>
          </a:xfrm>
        </p:grpSpPr>
        <p:sp>
          <p:nvSpPr>
            <p:cNvPr id="225" name="Google Shape;225;g3f87830097c_1_316"/>
            <p:cNvSpPr txBox="1"/>
            <p:nvPr/>
          </p:nvSpPr>
          <p:spPr>
            <a:xfrm>
              <a:off x="1887251" y="829379"/>
              <a:ext cx="1495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25" tIns="46000" rIns="92025" bIns="46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7"/>
                <a:buFont typeface="Arial"/>
                <a:buNone/>
              </a:pPr>
              <a:r>
                <a:rPr lang="ja-JP" sz="1107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Azureテナント</a:t>
              </a:r>
              <a:endParaRPr/>
            </a:p>
          </p:txBody>
        </p:sp>
        <p:pic>
          <p:nvPicPr>
            <p:cNvPr id="226" name="Google Shape;226;g3f87830097c_1_3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04469" y="837850"/>
              <a:ext cx="217370" cy="2173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" name="Google Shape;227;g3f87830097c_1_316"/>
          <p:cNvGrpSpPr/>
          <p:nvPr/>
        </p:nvGrpSpPr>
        <p:grpSpPr>
          <a:xfrm>
            <a:off x="5286468" y="1680696"/>
            <a:ext cx="1198272" cy="174379"/>
            <a:chOff x="1344140" y="1073487"/>
            <a:chExt cx="1198272" cy="174379"/>
          </a:xfrm>
        </p:grpSpPr>
        <p:pic>
          <p:nvPicPr>
            <p:cNvPr id="228" name="Google Shape;228;g3f87830097c_1_3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44140" y="1076666"/>
              <a:ext cx="171200" cy="17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g3f87830097c_1_316"/>
            <p:cNvSpPr/>
            <p:nvPr/>
          </p:nvSpPr>
          <p:spPr>
            <a:xfrm>
              <a:off x="1552112" y="1073487"/>
              <a:ext cx="990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-JP" sz="11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toyotecdap</a:t>
              </a:r>
              <a:endParaRPr sz="1500"/>
            </a:p>
          </p:txBody>
        </p:sp>
      </p:grpSp>
      <p:sp>
        <p:nvSpPr>
          <p:cNvPr id="230" name="Google Shape;230;g3f87830097c_1_316"/>
          <p:cNvSpPr/>
          <p:nvPr/>
        </p:nvSpPr>
        <p:spPr>
          <a:xfrm>
            <a:off x="5266650" y="1959750"/>
            <a:ext cx="3494100" cy="3044700"/>
          </a:xfrm>
          <a:prstGeom prst="roundRect">
            <a:avLst>
              <a:gd name="adj" fmla="val 407"/>
            </a:avLst>
          </a:prstGeom>
          <a:solidFill>
            <a:srgbClr val="FFFFFF"/>
          </a:solidFill>
          <a:ln w="25075" cap="flat" cmpd="sng">
            <a:solidFill>
              <a:srgbClr val="C0E4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7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g3f87830097c_1_316"/>
          <p:cNvGrpSpPr/>
          <p:nvPr/>
        </p:nvGrpSpPr>
        <p:grpSpPr>
          <a:xfrm>
            <a:off x="5405691" y="2041234"/>
            <a:ext cx="2732334" cy="217375"/>
            <a:chOff x="2225175" y="1691128"/>
            <a:chExt cx="2732334" cy="217375"/>
          </a:xfrm>
        </p:grpSpPr>
        <p:pic>
          <p:nvPicPr>
            <p:cNvPr id="232" name="Google Shape;232;g3f87830097c_1_3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25175" y="1691128"/>
              <a:ext cx="217375" cy="217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g3f87830097c_1_316"/>
            <p:cNvSpPr/>
            <p:nvPr/>
          </p:nvSpPr>
          <p:spPr>
            <a:xfrm>
              <a:off x="2482509" y="1720519"/>
              <a:ext cx="2475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rg-toyotecdap  </a:t>
              </a:r>
              <a:r>
                <a:rPr lang="ja-JP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CDPデータ活用基盤</a:t>
              </a:r>
              <a:endParaRPr sz="1500"/>
            </a:p>
          </p:txBody>
        </p:sp>
      </p:grpSp>
      <p:sp>
        <p:nvSpPr>
          <p:cNvPr id="234" name="Google Shape;234;g3f87830097c_1_316"/>
          <p:cNvSpPr/>
          <p:nvPr/>
        </p:nvSpPr>
        <p:spPr>
          <a:xfrm>
            <a:off x="6458056" y="1303900"/>
            <a:ext cx="990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TOYOTEC DAP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f87830097c_1_316"/>
          <p:cNvSpPr/>
          <p:nvPr/>
        </p:nvSpPr>
        <p:spPr>
          <a:xfrm>
            <a:off x="5405375" y="2433150"/>
            <a:ext cx="3181200" cy="2383200"/>
          </a:xfrm>
          <a:prstGeom prst="roundRect">
            <a:avLst>
              <a:gd name="adj" fmla="val 183"/>
            </a:avLst>
          </a:prstGeom>
          <a:noFill/>
          <a:ln w="8900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80075" tIns="80075" rIns="80075" bIns="80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7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g3f87830097c_1_316"/>
          <p:cNvGrpSpPr/>
          <p:nvPr/>
        </p:nvGrpSpPr>
        <p:grpSpPr>
          <a:xfrm>
            <a:off x="5502655" y="2506765"/>
            <a:ext cx="2786952" cy="247309"/>
            <a:chOff x="7535603" y="2582965"/>
            <a:chExt cx="2786952" cy="247309"/>
          </a:xfrm>
        </p:grpSpPr>
        <p:sp>
          <p:nvSpPr>
            <p:cNvPr id="237" name="Google Shape;237;g3f87830097c_1_316"/>
            <p:cNvSpPr/>
            <p:nvPr/>
          </p:nvSpPr>
          <p:spPr>
            <a:xfrm>
              <a:off x="7847555" y="2629669"/>
              <a:ext cx="2475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6000" rIns="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ja-JP" sz="9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192.168.20.0/25</a:t>
              </a:r>
              <a:endParaRPr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" name="Google Shape;238;g3f87830097c_1_3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535603" y="2582965"/>
              <a:ext cx="247309" cy="2473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g3f87830097c_1_316"/>
          <p:cNvSpPr/>
          <p:nvPr/>
        </p:nvSpPr>
        <p:spPr>
          <a:xfrm>
            <a:off x="1896125" y="1131000"/>
            <a:ext cx="2484000" cy="4220100"/>
          </a:xfrm>
          <a:prstGeom prst="rect">
            <a:avLst/>
          </a:prstGeom>
          <a:solidFill>
            <a:srgbClr val="F8E8D9"/>
          </a:solidFill>
          <a:ln w="8900" cap="flat" cmpd="sng">
            <a:solidFill>
              <a:srgbClr val="F0D1B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41975" rIns="83975" bIns="419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3"/>
              <a:buFont typeface="Arial"/>
              <a:buNone/>
            </a:pPr>
            <a:endParaRPr sz="165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g3f87830097c_1_316" title="salesforc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7915" y="1197281"/>
            <a:ext cx="978458" cy="60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f87830097c_1_316"/>
          <p:cNvSpPr/>
          <p:nvPr/>
        </p:nvSpPr>
        <p:spPr>
          <a:xfrm>
            <a:off x="3212396" y="2019550"/>
            <a:ext cx="842700" cy="3044700"/>
          </a:xfrm>
          <a:prstGeom prst="roundRect">
            <a:avLst>
              <a:gd name="adj" fmla="val 18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f87830097c_1_316"/>
          <p:cNvSpPr/>
          <p:nvPr/>
        </p:nvSpPr>
        <p:spPr>
          <a:xfrm>
            <a:off x="2215300" y="2019550"/>
            <a:ext cx="842700" cy="3044700"/>
          </a:xfrm>
          <a:prstGeom prst="roundRect">
            <a:avLst>
              <a:gd name="adj" fmla="val 18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f87830097c_1_316"/>
          <p:cNvSpPr/>
          <p:nvPr/>
        </p:nvSpPr>
        <p:spPr>
          <a:xfrm>
            <a:off x="2369503" y="3425695"/>
            <a:ext cx="570000" cy="50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14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250" tIns="38625" rIns="77250" bIns="38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2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87830097c_1_316"/>
          <p:cNvSpPr txBox="1"/>
          <p:nvPr/>
        </p:nvSpPr>
        <p:spPr>
          <a:xfrm>
            <a:off x="3257575" y="2248350"/>
            <a:ext cx="702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rPr lang="ja-JP" sz="1100" b="1">
                <a:solidFill>
                  <a:srgbClr val="666666"/>
                </a:solidFill>
              </a:rPr>
              <a:t>API</a:t>
            </a:r>
            <a:endParaRPr sz="1100" b="1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f87830097c_1_316"/>
          <p:cNvSpPr txBox="1"/>
          <p:nvPr/>
        </p:nvSpPr>
        <p:spPr>
          <a:xfrm>
            <a:off x="2260478" y="2248350"/>
            <a:ext cx="702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rPr lang="ja-JP" sz="1100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SObject</a:t>
            </a:r>
            <a:endParaRPr sz="1100" b="1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g3f87830097c_1_316"/>
          <p:cNvCxnSpPr/>
          <p:nvPr/>
        </p:nvCxnSpPr>
        <p:spPr>
          <a:xfrm rot="10800000">
            <a:off x="3006475" y="3729175"/>
            <a:ext cx="2295600" cy="0"/>
          </a:xfrm>
          <a:prstGeom prst="straightConnector1">
            <a:avLst/>
          </a:prstGeom>
          <a:noFill/>
          <a:ln w="19050" cap="flat" cmpd="sng">
            <a:solidFill>
              <a:srgbClr val="4EA72E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7" name="Google Shape;247;g3f87830097c_1_316"/>
          <p:cNvSpPr txBox="1"/>
          <p:nvPr/>
        </p:nvSpPr>
        <p:spPr>
          <a:xfrm>
            <a:off x="3367675" y="3385782"/>
            <a:ext cx="1728000" cy="24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 sz="1100" b="1">
                <a:solidFill>
                  <a:schemeClr val="lt1"/>
                </a:solidFill>
              </a:rPr>
              <a:t>https + json</a:t>
            </a:r>
            <a:endParaRPr sz="1100" b="1">
              <a:solidFill>
                <a:schemeClr val="lt1"/>
              </a:solidFill>
            </a:endParaRPr>
          </a:p>
        </p:txBody>
      </p:sp>
      <p:grpSp>
        <p:nvGrpSpPr>
          <p:cNvPr id="248" name="Google Shape;248;g3f87830097c_1_316"/>
          <p:cNvGrpSpPr/>
          <p:nvPr/>
        </p:nvGrpSpPr>
        <p:grpSpPr>
          <a:xfrm>
            <a:off x="7972665" y="5511200"/>
            <a:ext cx="2136300" cy="663900"/>
            <a:chOff x="1381875" y="5511200"/>
            <a:chExt cx="2136300" cy="663900"/>
          </a:xfrm>
        </p:grpSpPr>
        <p:sp>
          <p:nvSpPr>
            <p:cNvPr id="249" name="Google Shape;249;g3f87830097c_1_316"/>
            <p:cNvSpPr/>
            <p:nvPr/>
          </p:nvSpPr>
          <p:spPr>
            <a:xfrm>
              <a:off x="1381875" y="5511200"/>
              <a:ext cx="2136300" cy="663900"/>
            </a:xfrm>
            <a:prstGeom prst="roundRect">
              <a:avLst>
                <a:gd name="adj" fmla="val 12521"/>
              </a:avLst>
            </a:prstGeom>
            <a:solidFill>
              <a:srgbClr val="42B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g3f87830097c_1_316"/>
            <p:cNvSpPr txBox="1"/>
            <p:nvPr/>
          </p:nvSpPr>
          <p:spPr>
            <a:xfrm>
              <a:off x="2117350" y="5737710"/>
              <a:ext cx="1198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 b="1">
                  <a:solidFill>
                    <a:schemeClr val="lt1"/>
                  </a:solidFill>
                </a:rPr>
                <a:t>開発 SCOPE</a:t>
              </a:r>
              <a:endParaRPr sz="1600" b="1">
                <a:solidFill>
                  <a:schemeClr val="lt1"/>
                </a:solidFill>
              </a:endParaRPr>
            </a:p>
          </p:txBody>
        </p:sp>
        <p:sp>
          <p:nvSpPr>
            <p:cNvPr id="251" name="Google Shape;251;g3f87830097c_1_316"/>
            <p:cNvSpPr/>
            <p:nvPr/>
          </p:nvSpPr>
          <p:spPr>
            <a:xfrm>
              <a:off x="1512556" y="5626110"/>
              <a:ext cx="434100" cy="4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2" name="Google Shape;252;g3f87830097c_1_316" title="Vector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581923" y="5697777"/>
              <a:ext cx="284751" cy="29075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3" name="Google Shape;253;g3f87830097c_1_316"/>
          <p:cNvCxnSpPr/>
          <p:nvPr/>
        </p:nvCxnSpPr>
        <p:spPr>
          <a:xfrm rot="10800000">
            <a:off x="6976898" y="4162400"/>
            <a:ext cx="2143200" cy="1348800"/>
          </a:xfrm>
          <a:prstGeom prst="straightConnector1">
            <a:avLst/>
          </a:prstGeom>
          <a:noFill/>
          <a:ln w="19050" cap="flat" cmpd="sng">
            <a:solidFill>
              <a:srgbClr val="42B7DA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4" name="Google Shape;254;g3f87830097c_1_316"/>
          <p:cNvCxnSpPr/>
          <p:nvPr/>
        </p:nvCxnSpPr>
        <p:spPr>
          <a:xfrm rot="10800000" flipH="1">
            <a:off x="2305377" y="3815466"/>
            <a:ext cx="1975800" cy="1959300"/>
          </a:xfrm>
          <a:prstGeom prst="straightConnector1">
            <a:avLst/>
          </a:prstGeom>
          <a:noFill/>
          <a:ln w="19050" cap="flat" cmpd="sng">
            <a:solidFill>
              <a:srgbClr val="1155CC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55" name="Google Shape;255;g3f87830097c_1_316"/>
          <p:cNvGrpSpPr/>
          <p:nvPr/>
        </p:nvGrpSpPr>
        <p:grpSpPr>
          <a:xfrm>
            <a:off x="1937825" y="5511210"/>
            <a:ext cx="2400600" cy="663900"/>
            <a:chOff x="2931275" y="5212325"/>
            <a:chExt cx="2400600" cy="663900"/>
          </a:xfrm>
        </p:grpSpPr>
        <p:sp>
          <p:nvSpPr>
            <p:cNvPr id="256" name="Google Shape;256;g3f87830097c_1_316"/>
            <p:cNvSpPr/>
            <p:nvPr/>
          </p:nvSpPr>
          <p:spPr>
            <a:xfrm>
              <a:off x="2931275" y="5212325"/>
              <a:ext cx="2400600" cy="663900"/>
            </a:xfrm>
            <a:prstGeom prst="roundRect">
              <a:avLst>
                <a:gd name="adj" fmla="val 12521"/>
              </a:avLst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g3f87830097c_1_316"/>
            <p:cNvSpPr txBox="1"/>
            <p:nvPr/>
          </p:nvSpPr>
          <p:spPr>
            <a:xfrm>
              <a:off x="3666750" y="5496425"/>
              <a:ext cx="1527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 b="1">
                  <a:solidFill>
                    <a:schemeClr val="lt1"/>
                  </a:solidFill>
                </a:rPr>
                <a:t>API認証の設定</a:t>
              </a:r>
              <a:endParaRPr sz="1600" b="1">
                <a:solidFill>
                  <a:schemeClr val="lt1"/>
                </a:solidFill>
              </a:endParaRPr>
            </a:p>
          </p:txBody>
        </p:sp>
        <p:sp>
          <p:nvSpPr>
            <p:cNvPr id="258" name="Google Shape;258;g3f87830097c_1_316"/>
            <p:cNvSpPr txBox="1"/>
            <p:nvPr/>
          </p:nvSpPr>
          <p:spPr>
            <a:xfrm>
              <a:off x="3666750" y="5327225"/>
              <a:ext cx="11982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100" b="1">
                  <a:solidFill>
                    <a:srgbClr val="EFEFEF"/>
                  </a:solidFill>
                </a:rPr>
                <a:t>認証 SCOPE</a:t>
              </a:r>
              <a:endParaRPr sz="1100" b="1">
                <a:solidFill>
                  <a:srgbClr val="EFEFEF"/>
                </a:solidFill>
              </a:endParaRPr>
            </a:p>
          </p:txBody>
        </p:sp>
        <p:grpSp>
          <p:nvGrpSpPr>
            <p:cNvPr id="259" name="Google Shape;259;g3f87830097c_1_316"/>
            <p:cNvGrpSpPr/>
            <p:nvPr/>
          </p:nvGrpSpPr>
          <p:grpSpPr>
            <a:xfrm>
              <a:off x="3061956" y="5327225"/>
              <a:ext cx="434100" cy="434100"/>
              <a:chOff x="2996731" y="4792050"/>
              <a:chExt cx="434100" cy="434100"/>
            </a:xfrm>
          </p:grpSpPr>
          <p:sp>
            <p:nvSpPr>
              <p:cNvPr id="260" name="Google Shape;260;g3f87830097c_1_316"/>
              <p:cNvSpPr/>
              <p:nvPr/>
            </p:nvSpPr>
            <p:spPr>
              <a:xfrm>
                <a:off x="2996731" y="4792050"/>
                <a:ext cx="434100" cy="4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61" name="Google Shape;261;g3f87830097c_1_316" title="シールド_firewall.png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3062075" y="4873225"/>
                <a:ext cx="284750" cy="284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262" name="Google Shape;262;g3f87830097c_1_316"/>
          <p:cNvCxnSpPr/>
          <p:nvPr/>
        </p:nvCxnSpPr>
        <p:spPr>
          <a:xfrm rot="10800000">
            <a:off x="4707306" y="3775741"/>
            <a:ext cx="661200" cy="1833900"/>
          </a:xfrm>
          <a:prstGeom prst="straightConnector1">
            <a:avLst/>
          </a:prstGeom>
          <a:noFill/>
          <a:ln w="19050" cap="flat" cmpd="sng">
            <a:solidFill>
              <a:srgbClr val="4EA72E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63" name="Google Shape;263;g3f87830097c_1_316"/>
          <p:cNvGrpSpPr/>
          <p:nvPr/>
        </p:nvGrpSpPr>
        <p:grpSpPr>
          <a:xfrm>
            <a:off x="4564950" y="5511200"/>
            <a:ext cx="3181200" cy="663900"/>
            <a:chOff x="4505400" y="4656850"/>
            <a:chExt cx="3181200" cy="663900"/>
          </a:xfrm>
        </p:grpSpPr>
        <p:sp>
          <p:nvSpPr>
            <p:cNvPr id="264" name="Google Shape;264;g3f87830097c_1_316"/>
            <p:cNvSpPr/>
            <p:nvPr/>
          </p:nvSpPr>
          <p:spPr>
            <a:xfrm>
              <a:off x="4505400" y="4656850"/>
              <a:ext cx="3181200" cy="663900"/>
            </a:xfrm>
            <a:prstGeom prst="roundRect">
              <a:avLst>
                <a:gd name="adj" fmla="val 12521"/>
              </a:avLst>
            </a:prstGeom>
            <a:solidFill>
              <a:srgbClr val="4EA7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g3f87830097c_1_316"/>
            <p:cNvGrpSpPr/>
            <p:nvPr/>
          </p:nvGrpSpPr>
          <p:grpSpPr>
            <a:xfrm>
              <a:off x="4636081" y="4771750"/>
              <a:ext cx="434100" cy="434100"/>
              <a:chOff x="4682550" y="4771750"/>
              <a:chExt cx="434100" cy="434100"/>
            </a:xfrm>
          </p:grpSpPr>
          <p:sp>
            <p:nvSpPr>
              <p:cNvPr id="266" name="Google Shape;266;g3f87830097c_1_316"/>
              <p:cNvSpPr/>
              <p:nvPr/>
            </p:nvSpPr>
            <p:spPr>
              <a:xfrm>
                <a:off x="4682550" y="4771750"/>
                <a:ext cx="434100" cy="434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67" name="Google Shape;267;g3f87830097c_1_316" title="シールド2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717050" y="4804841"/>
                <a:ext cx="365100" cy="3679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68" name="Google Shape;268;g3f87830097c_1_316"/>
            <p:cNvSpPr txBox="1"/>
            <p:nvPr/>
          </p:nvSpPr>
          <p:spPr>
            <a:xfrm>
              <a:off x="5240875" y="4940950"/>
              <a:ext cx="2007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 b="1">
                  <a:solidFill>
                    <a:schemeClr val="lt1"/>
                  </a:solidFill>
                </a:rPr>
                <a:t>Outbound通信の許可</a:t>
              </a:r>
              <a:endParaRPr sz="4467" b="1">
                <a:solidFill>
                  <a:schemeClr val="lt1"/>
                </a:solidFill>
              </a:endParaRPr>
            </a:p>
          </p:txBody>
        </p:sp>
        <p:sp>
          <p:nvSpPr>
            <p:cNvPr id="269" name="Google Shape;269;g3f87830097c_1_316"/>
            <p:cNvSpPr txBox="1"/>
            <p:nvPr/>
          </p:nvSpPr>
          <p:spPr>
            <a:xfrm>
              <a:off x="5240875" y="4771750"/>
              <a:ext cx="21255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100" b="1">
                  <a:solidFill>
                    <a:srgbClr val="EFEFEF"/>
                  </a:solidFill>
                </a:rPr>
                <a:t>ネットワーク SCOPE</a:t>
              </a:r>
              <a:endParaRPr sz="500">
                <a:solidFill>
                  <a:srgbClr val="EFEFEF"/>
                </a:solidFill>
              </a:endParaRPr>
            </a:p>
          </p:txBody>
        </p:sp>
      </p:grpSp>
      <p:grpSp>
        <p:nvGrpSpPr>
          <p:cNvPr id="270" name="Google Shape;270;g3f87830097c_1_316"/>
          <p:cNvGrpSpPr/>
          <p:nvPr/>
        </p:nvGrpSpPr>
        <p:grpSpPr>
          <a:xfrm>
            <a:off x="7206491" y="3241820"/>
            <a:ext cx="1007736" cy="829385"/>
            <a:chOff x="9986980" y="2926700"/>
            <a:chExt cx="1095723" cy="901800"/>
          </a:xfrm>
        </p:grpSpPr>
        <p:sp>
          <p:nvSpPr>
            <p:cNvPr id="271" name="Google Shape;271;g3f87830097c_1_316"/>
            <p:cNvSpPr/>
            <p:nvPr/>
          </p:nvSpPr>
          <p:spPr>
            <a:xfrm>
              <a:off x="9986980" y="2926700"/>
              <a:ext cx="1076100" cy="901800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8750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825" tIns="78825" rIns="78825" bIns="7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8"/>
                <a:buFont typeface="Arial"/>
                <a:buNone/>
              </a:pPr>
              <a:endParaRPr sz="120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f87830097c_1_316"/>
            <p:cNvSpPr/>
            <p:nvPr/>
          </p:nvSpPr>
          <p:spPr>
            <a:xfrm>
              <a:off x="10358684" y="3341904"/>
              <a:ext cx="332669" cy="256358"/>
            </a:xfrm>
            <a:prstGeom prst="flowChartMagneticDisk">
              <a:avLst/>
            </a:prstGeom>
            <a:solidFill>
              <a:schemeClr val="lt1"/>
            </a:solidFill>
            <a:ln w="875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4075" tIns="84075" rIns="84075" bIns="84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8"/>
                <a:buFont typeface="Arial"/>
                <a:buNone/>
              </a:pPr>
              <a:endParaRPr sz="12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3" name="Google Shape;273;g3f87830097c_1_316"/>
            <p:cNvGrpSpPr/>
            <p:nvPr/>
          </p:nvGrpSpPr>
          <p:grpSpPr>
            <a:xfrm>
              <a:off x="10124740" y="3035326"/>
              <a:ext cx="957963" cy="255068"/>
              <a:chOff x="3369819" y="3596009"/>
              <a:chExt cx="957963" cy="255068"/>
            </a:xfrm>
          </p:grpSpPr>
          <p:sp>
            <p:nvSpPr>
              <p:cNvPr id="274" name="Google Shape;274;g3f87830097c_1_316"/>
              <p:cNvSpPr txBox="1"/>
              <p:nvPr/>
            </p:nvSpPr>
            <p:spPr>
              <a:xfrm>
                <a:off x="3755382" y="3628046"/>
                <a:ext cx="5724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63"/>
                  <a:buFont typeface="Arial"/>
                  <a:buNone/>
                </a:pPr>
                <a:r>
                  <a:rPr lang="ja-JP" sz="1104" b="1" i="0" u="none" strike="noStrike" cap="none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Kudu</a:t>
                </a:r>
                <a:endParaRPr sz="1288"/>
              </a:p>
            </p:txBody>
          </p:sp>
          <p:pic>
            <p:nvPicPr>
              <p:cNvPr id="275" name="Google Shape;275;g3f87830097c_1_316" title="kudu.png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3369819" y="3596009"/>
                <a:ext cx="386005" cy="2550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76" name="Google Shape;276;g3f87830097c_1_316"/>
          <p:cNvGrpSpPr/>
          <p:nvPr/>
        </p:nvGrpSpPr>
        <p:grpSpPr>
          <a:xfrm>
            <a:off x="5771875" y="3236869"/>
            <a:ext cx="989689" cy="829385"/>
            <a:chOff x="5695675" y="3236869"/>
            <a:chExt cx="989689" cy="829385"/>
          </a:xfrm>
        </p:grpSpPr>
        <p:sp>
          <p:nvSpPr>
            <p:cNvPr id="277" name="Google Shape;277;g3f87830097c_1_316"/>
            <p:cNvSpPr/>
            <p:nvPr/>
          </p:nvSpPr>
          <p:spPr>
            <a:xfrm>
              <a:off x="5695675" y="3236869"/>
              <a:ext cx="989689" cy="829385"/>
            </a:xfrm>
            <a:prstGeom prst="roundRect">
              <a:avLst>
                <a:gd name="adj" fmla="val 12607"/>
              </a:avLst>
            </a:prstGeom>
            <a:solidFill>
              <a:srgbClr val="FFFFFF"/>
            </a:solidFill>
            <a:ln w="8750" cap="flat" cmpd="sng">
              <a:solidFill>
                <a:srgbClr val="C2D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825" tIns="78825" rIns="78825" bIns="7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8"/>
                <a:buFont typeface="Arial"/>
                <a:buNone/>
              </a:pPr>
              <a:endParaRPr sz="120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8" name="Google Shape;278;g3f87830097c_1_316" title="nifi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983699" y="3703303"/>
              <a:ext cx="481815" cy="200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g3f87830097c_1_316"/>
            <p:cNvSpPr txBox="1"/>
            <p:nvPr/>
          </p:nvSpPr>
          <p:spPr>
            <a:xfrm>
              <a:off x="5759825" y="3313696"/>
              <a:ext cx="84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950" b="1">
                  <a:solidFill>
                    <a:srgbClr val="595959"/>
                  </a:solidFill>
                </a:rPr>
                <a:t>Ni-Fi for </a:t>
              </a:r>
              <a:endParaRPr sz="950" b="1">
                <a:solidFill>
                  <a:srgbClr val="595959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950" b="1">
                  <a:solidFill>
                    <a:srgbClr val="595959"/>
                  </a:solidFill>
                </a:rPr>
                <a:t>Salesforce</a:t>
              </a:r>
              <a:endParaRPr sz="900" b="1">
                <a:solidFill>
                  <a:srgbClr val="595959"/>
                </a:solidFill>
              </a:endParaRPr>
            </a:p>
          </p:txBody>
        </p:sp>
      </p:grpSp>
      <p:sp>
        <p:nvSpPr>
          <p:cNvPr id="280" name="Google Shape;280;g3f87830097c_1_316"/>
          <p:cNvSpPr/>
          <p:nvPr/>
        </p:nvSpPr>
        <p:spPr>
          <a:xfrm>
            <a:off x="5586675" y="3060625"/>
            <a:ext cx="1404300" cy="1195500"/>
          </a:xfrm>
          <a:prstGeom prst="roundRect">
            <a:avLst>
              <a:gd name="adj" fmla="val 183"/>
            </a:avLst>
          </a:prstGeom>
          <a:noFill/>
          <a:ln w="25400" cap="flat" cmpd="sng">
            <a:solidFill>
              <a:srgbClr val="42B7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3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A74B3024-00C5-F435-873A-B1256E06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7830097c_0_0">
            <a:extLst>
              <a:ext uri="{FF2B5EF4-FFF2-40B4-BE49-F238E27FC236}">
                <a16:creationId xmlns:a16="http://schemas.microsoft.com/office/drawing/2014/main" id="{7994335C-A330-26B0-6DFF-10AB321D0F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400"/>
            </a:pPr>
            <a:r>
              <a:rPr lang="ja-JP" sz="2400"/>
              <a:t>マイルストーン　</a:t>
            </a:r>
            <a:r>
              <a:rPr lang="en-US" altLang="ja-JP" sz="2400"/>
              <a:t>1</a:t>
            </a:r>
            <a:r>
              <a:rPr lang="ja-JP" sz="2400"/>
              <a:t>販社（</a:t>
            </a:r>
            <a:r>
              <a:rPr lang="en-US" altLang="ja-JP" sz="2400"/>
              <a:t>TM</a:t>
            </a:r>
            <a:r>
              <a:rPr lang="ja-JP" altLang="en-US" sz="2400"/>
              <a:t>東京 </a:t>
            </a:r>
            <a:r>
              <a:rPr lang="en-US" altLang="ja-JP" sz="2400"/>
              <a:t>or</a:t>
            </a:r>
            <a:r>
              <a:rPr lang="ja-JP" altLang="en-US" sz="2400"/>
              <a:t> 佐賀 </a:t>
            </a:r>
            <a:r>
              <a:rPr lang="en-US" altLang="en-US" sz="2400"/>
              <a:t>/</a:t>
            </a:r>
            <a:r>
              <a:rPr lang="ja-JP" altLang="en-US" sz="2400"/>
              <a:t> </a:t>
            </a:r>
            <a:r>
              <a:rPr lang="ja-JP" sz="2400"/>
              <a:t>STG環境想定）</a:t>
            </a:r>
            <a:r>
              <a:rPr lang="ja-JP" altLang="en-US" sz="2400"/>
              <a:t>　</a:t>
            </a:r>
            <a:r>
              <a:rPr lang="en-US" altLang="ja-JP" sz="2400"/>
              <a:t>9/2 </a:t>
            </a:r>
            <a:r>
              <a:rPr lang="ja-JP" altLang="en-US" sz="2400"/>
              <a:t>更新</a:t>
            </a:r>
            <a:endParaRPr sz="2400">
              <a:solidFill>
                <a:srgbClr val="404040"/>
              </a:solidFill>
            </a:endParaRPr>
          </a:p>
        </p:txBody>
      </p:sp>
      <p:sp>
        <p:nvSpPr>
          <p:cNvPr id="132" name="Google Shape;132;g3f87830097c_0_0">
            <a:extLst>
              <a:ext uri="{FF2B5EF4-FFF2-40B4-BE49-F238E27FC236}">
                <a16:creationId xmlns:a16="http://schemas.microsoft.com/office/drawing/2014/main" id="{A9A2E46D-7266-D07C-CAAF-0FA3DBC3AE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latin typeface="Arial Black"/>
                <a:ea typeface="Arial Black"/>
                <a:cs typeface="Arial Black"/>
                <a:sym typeface="Arial Black"/>
              </a:rPr>
              <a:t>10</a:t>
            </a:fld>
            <a:endParaRPr sz="2133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E18C8CC-DE0B-0445-87C2-1925396ACDC4}"/>
              </a:ext>
            </a:extLst>
          </p:cNvPr>
          <p:cNvGrpSpPr/>
          <p:nvPr/>
        </p:nvGrpSpPr>
        <p:grpSpPr>
          <a:xfrm>
            <a:off x="362828" y="1008426"/>
            <a:ext cx="10230925" cy="415500"/>
            <a:chOff x="284000" y="857422"/>
            <a:chExt cx="10230925" cy="415500"/>
          </a:xfrm>
        </p:grpSpPr>
        <p:sp>
          <p:nvSpPr>
            <p:cNvPr id="130" name="Google Shape;130;g3f87830097c_0_0">
              <a:extLst>
                <a:ext uri="{FF2B5EF4-FFF2-40B4-BE49-F238E27FC236}">
                  <a16:creationId xmlns:a16="http://schemas.microsoft.com/office/drawing/2014/main" id="{501FB93B-D5C1-71DE-0F6B-A573FDAD186F}"/>
                </a:ext>
              </a:extLst>
            </p:cNvPr>
            <p:cNvSpPr/>
            <p:nvPr/>
          </p:nvSpPr>
          <p:spPr>
            <a:xfrm>
              <a:off x="284000" y="865072"/>
              <a:ext cx="1253100" cy="400200"/>
            </a:xfrm>
            <a:prstGeom prst="roundRect">
              <a:avLst>
                <a:gd name="adj" fmla="val 16667"/>
              </a:avLst>
            </a:pr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25BFD80D-2A0C-D77D-C0AD-CFBF81102E12}"/>
                </a:ext>
              </a:extLst>
            </p:cNvPr>
            <p:cNvGrpSpPr/>
            <p:nvPr/>
          </p:nvGrpSpPr>
          <p:grpSpPr>
            <a:xfrm>
              <a:off x="2084475" y="906322"/>
              <a:ext cx="8430450" cy="300363"/>
              <a:chOff x="2084475" y="906322"/>
              <a:chExt cx="8430450" cy="300363"/>
            </a:xfrm>
          </p:grpSpPr>
          <p:sp>
            <p:nvSpPr>
              <p:cNvPr id="133" name="Google Shape;133;g3f87830097c_0_0">
                <a:extLst>
                  <a:ext uri="{FF2B5EF4-FFF2-40B4-BE49-F238E27FC236}">
                    <a16:creationId xmlns:a16="http://schemas.microsoft.com/office/drawing/2014/main" id="{912D5398-A853-54BD-20E0-F76DAA6A1949}"/>
                  </a:ext>
                </a:extLst>
              </p:cNvPr>
              <p:cNvSpPr txBox="1"/>
              <p:nvPr/>
            </p:nvSpPr>
            <p:spPr>
              <a:xfrm>
                <a:off x="2084475" y="906322"/>
                <a:ext cx="10845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1～4</a:t>
                </a:r>
                <a:endParaRPr sz="1300"/>
              </a:p>
            </p:txBody>
          </p:sp>
          <p:sp>
            <p:nvSpPr>
              <p:cNvPr id="134" name="Google Shape;134;g3f87830097c_0_0">
                <a:extLst>
                  <a:ext uri="{FF2B5EF4-FFF2-40B4-BE49-F238E27FC236}">
                    <a16:creationId xmlns:a16="http://schemas.microsoft.com/office/drawing/2014/main" id="{06BBD482-E7B4-399A-1F3D-3B6DA63FA050}"/>
                  </a:ext>
                </a:extLst>
              </p:cNvPr>
              <p:cNvSpPr txBox="1"/>
              <p:nvPr/>
            </p:nvSpPr>
            <p:spPr>
              <a:xfrm>
                <a:off x="3882877" y="906322"/>
                <a:ext cx="10845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　7</a:t>
                </a:r>
                <a:r>
                  <a:rPr lang="ja-JP" sz="1500" b="1">
                    <a:solidFill>
                      <a:srgbClr val="3F3F3F"/>
                    </a:solidFill>
                  </a:rPr>
                  <a:t>〜</a:t>
                </a: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11</a:t>
                </a:r>
                <a:endParaRPr sz="1300"/>
              </a:p>
            </p:txBody>
          </p:sp>
          <p:sp>
            <p:nvSpPr>
              <p:cNvPr id="135" name="Google Shape;135;g3f87830097c_0_0">
                <a:extLst>
                  <a:ext uri="{FF2B5EF4-FFF2-40B4-BE49-F238E27FC236}">
                    <a16:creationId xmlns:a16="http://schemas.microsoft.com/office/drawing/2014/main" id="{6A5C3A55-6B59-16D0-0D17-8AAC4F40B095}"/>
                  </a:ext>
                </a:extLst>
              </p:cNvPr>
              <p:cNvSpPr txBox="1"/>
              <p:nvPr/>
            </p:nvSpPr>
            <p:spPr>
              <a:xfrm>
                <a:off x="5833650" y="906322"/>
                <a:ext cx="15777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　14～</a:t>
                </a:r>
                <a:r>
                  <a:rPr lang="ja-JP" sz="1500" b="1">
                    <a:solidFill>
                      <a:srgbClr val="3F3F3F"/>
                    </a:solidFill>
                  </a:rPr>
                  <a:t>18</a:t>
                </a:r>
                <a:endParaRPr sz="2100" b="1">
                  <a:solidFill>
                    <a:srgbClr val="FF0B0B"/>
                  </a:solidFill>
                </a:endParaRPr>
              </a:p>
            </p:txBody>
          </p:sp>
          <p:sp>
            <p:nvSpPr>
              <p:cNvPr id="136" name="Google Shape;136;g3f87830097c_0_0">
                <a:extLst>
                  <a:ext uri="{FF2B5EF4-FFF2-40B4-BE49-F238E27FC236}">
                    <a16:creationId xmlns:a16="http://schemas.microsoft.com/office/drawing/2014/main" id="{27BD0FC8-B170-1FC5-343A-C3A01E44045B}"/>
                  </a:ext>
                </a:extLst>
              </p:cNvPr>
              <p:cNvSpPr txBox="1"/>
              <p:nvPr/>
            </p:nvSpPr>
            <p:spPr>
              <a:xfrm>
                <a:off x="7700703" y="916285"/>
                <a:ext cx="10845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　21～</a:t>
                </a:r>
                <a:r>
                  <a:rPr lang="ja-JP" sz="1500" b="1">
                    <a:solidFill>
                      <a:srgbClr val="3F3F3F"/>
                    </a:solidFill>
                  </a:rPr>
                  <a:t>25</a:t>
                </a:r>
                <a:endParaRPr sz="1500" b="1">
                  <a:solidFill>
                    <a:srgbClr val="3F3F3F"/>
                  </a:solidFill>
                </a:endParaRPr>
              </a:p>
            </p:txBody>
          </p:sp>
          <p:sp>
            <p:nvSpPr>
              <p:cNvPr id="137" name="Google Shape;137;g3f87830097c_0_0">
                <a:extLst>
                  <a:ext uri="{FF2B5EF4-FFF2-40B4-BE49-F238E27FC236}">
                    <a16:creationId xmlns:a16="http://schemas.microsoft.com/office/drawing/2014/main" id="{22F36CA2-8E0A-FD2C-9C59-B2B266BDE96B}"/>
                  </a:ext>
                </a:extLst>
              </p:cNvPr>
              <p:cNvSpPr txBox="1"/>
              <p:nvPr/>
            </p:nvSpPr>
            <p:spPr>
              <a:xfrm>
                <a:off x="9430425" y="906322"/>
                <a:ext cx="1084500" cy="29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Arial"/>
                  <a:buNone/>
                </a:pPr>
                <a:r>
                  <a:rPr 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　2</a:t>
                </a:r>
                <a:r>
                  <a:rPr lang="en-US" altLang="ja-JP" sz="15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r>
                  <a:rPr lang="ja-JP" sz="1500" b="1">
                    <a:solidFill>
                      <a:srgbClr val="3F3F3F"/>
                    </a:solidFill>
                  </a:rPr>
                  <a:t>〜30</a:t>
                </a:r>
                <a:endParaRPr sz="1500" b="1">
                  <a:solidFill>
                    <a:srgbClr val="3F3F3F"/>
                  </a:solidFill>
                </a:endParaRPr>
              </a:p>
            </p:txBody>
          </p:sp>
        </p:grpSp>
        <p:sp>
          <p:nvSpPr>
            <p:cNvPr id="138" name="Google Shape;138;g3f87830097c_0_0">
              <a:extLst>
                <a:ext uri="{FF2B5EF4-FFF2-40B4-BE49-F238E27FC236}">
                  <a16:creationId xmlns:a16="http://schemas.microsoft.com/office/drawing/2014/main" id="{E035F076-607B-8BE6-436D-26CC2C88CAF9}"/>
                </a:ext>
              </a:extLst>
            </p:cNvPr>
            <p:cNvSpPr txBox="1"/>
            <p:nvPr/>
          </p:nvSpPr>
          <p:spPr>
            <a:xfrm>
              <a:off x="528350" y="857422"/>
              <a:ext cx="7644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ja-JP" sz="1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9月</a:t>
              </a:r>
              <a:endPara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5" name="Google Shape;145;g3f87830097c_0_0">
            <a:extLst>
              <a:ext uri="{FF2B5EF4-FFF2-40B4-BE49-F238E27FC236}">
                <a16:creationId xmlns:a16="http://schemas.microsoft.com/office/drawing/2014/main" id="{6E4D3E85-EFDB-2B4F-70E9-90B1CA6AA84E}"/>
              </a:ext>
            </a:extLst>
          </p:cNvPr>
          <p:cNvCxnSpPr>
            <a:cxnSpLocks/>
          </p:cNvCxnSpPr>
          <p:nvPr/>
        </p:nvCxnSpPr>
        <p:spPr>
          <a:xfrm>
            <a:off x="326878" y="1574093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146;g3f87830097c_0_0">
            <a:extLst>
              <a:ext uri="{FF2B5EF4-FFF2-40B4-BE49-F238E27FC236}">
                <a16:creationId xmlns:a16="http://schemas.microsoft.com/office/drawing/2014/main" id="{76F53CF0-EAD3-E057-6592-422461A6F2C2}"/>
              </a:ext>
            </a:extLst>
          </p:cNvPr>
          <p:cNvCxnSpPr>
            <a:cxnSpLocks/>
          </p:cNvCxnSpPr>
          <p:nvPr/>
        </p:nvCxnSpPr>
        <p:spPr>
          <a:xfrm>
            <a:off x="326878" y="2970825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g3f87830097c_0_0">
            <a:extLst>
              <a:ext uri="{FF2B5EF4-FFF2-40B4-BE49-F238E27FC236}">
                <a16:creationId xmlns:a16="http://schemas.microsoft.com/office/drawing/2014/main" id="{44C76169-A3B4-1125-31AB-E3711BA31002}"/>
              </a:ext>
            </a:extLst>
          </p:cNvPr>
          <p:cNvCxnSpPr>
            <a:cxnSpLocks/>
          </p:cNvCxnSpPr>
          <p:nvPr/>
        </p:nvCxnSpPr>
        <p:spPr>
          <a:xfrm>
            <a:off x="326878" y="3610890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g3f87830097c_0_0">
            <a:extLst>
              <a:ext uri="{FF2B5EF4-FFF2-40B4-BE49-F238E27FC236}">
                <a16:creationId xmlns:a16="http://schemas.microsoft.com/office/drawing/2014/main" id="{A7F819F5-9DC2-E2DF-3886-C33CB2814D15}"/>
              </a:ext>
            </a:extLst>
          </p:cNvPr>
          <p:cNvCxnSpPr>
            <a:cxnSpLocks/>
          </p:cNvCxnSpPr>
          <p:nvPr/>
        </p:nvCxnSpPr>
        <p:spPr>
          <a:xfrm>
            <a:off x="326878" y="4273201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g3f87830097c_0_0">
            <a:extLst>
              <a:ext uri="{FF2B5EF4-FFF2-40B4-BE49-F238E27FC236}">
                <a16:creationId xmlns:a16="http://schemas.microsoft.com/office/drawing/2014/main" id="{B67E9663-1F48-8650-0B36-C32326D54A75}"/>
              </a:ext>
            </a:extLst>
          </p:cNvPr>
          <p:cNvCxnSpPr>
            <a:cxnSpLocks/>
          </p:cNvCxnSpPr>
          <p:nvPr/>
        </p:nvCxnSpPr>
        <p:spPr>
          <a:xfrm>
            <a:off x="326878" y="4950790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g3f87830097c_0_0">
            <a:extLst>
              <a:ext uri="{FF2B5EF4-FFF2-40B4-BE49-F238E27FC236}">
                <a16:creationId xmlns:a16="http://schemas.microsoft.com/office/drawing/2014/main" id="{020512C5-98BE-1711-B534-FD39F6DC2F08}"/>
              </a:ext>
            </a:extLst>
          </p:cNvPr>
          <p:cNvCxnSpPr>
            <a:cxnSpLocks/>
          </p:cNvCxnSpPr>
          <p:nvPr/>
        </p:nvCxnSpPr>
        <p:spPr>
          <a:xfrm>
            <a:off x="326878" y="5608023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A325362-85AB-2522-4B3A-940DC9EFB8B3}"/>
              </a:ext>
            </a:extLst>
          </p:cNvPr>
          <p:cNvGrpSpPr/>
          <p:nvPr/>
        </p:nvGrpSpPr>
        <p:grpSpPr>
          <a:xfrm>
            <a:off x="381735" y="1617795"/>
            <a:ext cx="4115391" cy="624300"/>
            <a:chOff x="302907" y="1522920"/>
            <a:chExt cx="4115391" cy="624300"/>
          </a:xfrm>
        </p:grpSpPr>
        <p:sp>
          <p:nvSpPr>
            <p:cNvPr id="140" name="Google Shape;140;g3f87830097c_0_0">
              <a:extLst>
                <a:ext uri="{FF2B5EF4-FFF2-40B4-BE49-F238E27FC236}">
                  <a16:creationId xmlns:a16="http://schemas.microsoft.com/office/drawing/2014/main" id="{47B06977-759B-FD64-DDE3-F3CE942D0B1B}"/>
                </a:ext>
              </a:extLst>
            </p:cNvPr>
            <p:cNvSpPr txBox="1"/>
            <p:nvPr/>
          </p:nvSpPr>
          <p:spPr>
            <a:xfrm>
              <a:off x="302907" y="1522920"/>
              <a:ext cx="879300" cy="6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</a:pPr>
              <a:r>
                <a:rPr lang="ja-JP" sz="13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NW</a:t>
              </a:r>
              <a:endParaRPr sz="1300"/>
            </a:p>
          </p:txBody>
        </p:sp>
        <p:grpSp>
          <p:nvGrpSpPr>
            <p:cNvPr id="152" name="Google Shape;152;g3f87830097c_0_0">
              <a:extLst>
                <a:ext uri="{FF2B5EF4-FFF2-40B4-BE49-F238E27FC236}">
                  <a16:creationId xmlns:a16="http://schemas.microsoft.com/office/drawing/2014/main" id="{FD7118B7-A44C-BF75-DF4D-345ACCED29E3}"/>
                </a:ext>
              </a:extLst>
            </p:cNvPr>
            <p:cNvGrpSpPr/>
            <p:nvPr/>
          </p:nvGrpSpPr>
          <p:grpSpPr>
            <a:xfrm>
              <a:off x="1815121" y="1593850"/>
              <a:ext cx="2603177" cy="523800"/>
              <a:chOff x="1645925" y="1593850"/>
              <a:chExt cx="2603177" cy="523800"/>
            </a:xfrm>
          </p:grpSpPr>
          <p:sp>
            <p:nvSpPr>
              <p:cNvPr id="153" name="Google Shape;153;g3f87830097c_0_0">
                <a:extLst>
                  <a:ext uri="{FF2B5EF4-FFF2-40B4-BE49-F238E27FC236}">
                    <a16:creationId xmlns:a16="http://schemas.microsoft.com/office/drawing/2014/main" id="{C37E5B12-ECCF-337E-B31B-66B4EB72A804}"/>
                  </a:ext>
                </a:extLst>
              </p:cNvPr>
              <p:cNvSpPr/>
              <p:nvPr/>
            </p:nvSpPr>
            <p:spPr>
              <a:xfrm>
                <a:off x="1645925" y="1593850"/>
                <a:ext cx="2381400" cy="523800"/>
              </a:xfrm>
              <a:prstGeom prst="rect">
                <a:avLst/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g3f87830097c_0_0">
                <a:extLst>
                  <a:ext uri="{FF2B5EF4-FFF2-40B4-BE49-F238E27FC236}">
                    <a16:creationId xmlns:a16="http://schemas.microsoft.com/office/drawing/2014/main" id="{20BAC062-0106-D2F0-6FD8-BEC3C639A00E}"/>
                  </a:ext>
                </a:extLst>
              </p:cNvPr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" name="Google Shape;160;g3f87830097c_0_0">
              <a:extLst>
                <a:ext uri="{FF2B5EF4-FFF2-40B4-BE49-F238E27FC236}">
                  <a16:creationId xmlns:a16="http://schemas.microsoft.com/office/drawing/2014/main" id="{917AF00C-5B80-1036-A1A0-3E3A4E64DC17}"/>
                </a:ext>
              </a:extLst>
            </p:cNvPr>
            <p:cNvSpPr txBox="1"/>
            <p:nvPr/>
          </p:nvSpPr>
          <p:spPr>
            <a:xfrm>
              <a:off x="1886239" y="1676925"/>
              <a:ext cx="2148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b="1">
                  <a:solidFill>
                    <a:schemeClr val="tx1"/>
                  </a:solidFill>
                </a:rPr>
                <a:t>Outbound通信の許可</a:t>
              </a:r>
              <a:endParaRPr sz="4267">
                <a:solidFill>
                  <a:schemeClr val="tx1"/>
                </a:solidFill>
              </a:endParaRPr>
            </a:p>
          </p:txBody>
        </p:sp>
        <p:sp>
          <p:nvSpPr>
            <p:cNvPr id="161" name="Google Shape;161;g3f87830097c_0_0">
              <a:extLst>
                <a:ext uri="{FF2B5EF4-FFF2-40B4-BE49-F238E27FC236}">
                  <a16:creationId xmlns:a16="http://schemas.microsoft.com/office/drawing/2014/main" id="{63C7F532-3450-00C7-E819-AA1CEC0C9AF7}"/>
                </a:ext>
              </a:extLst>
            </p:cNvPr>
            <p:cNvSpPr txBox="1"/>
            <p:nvPr/>
          </p:nvSpPr>
          <p:spPr>
            <a:xfrm>
              <a:off x="1886239" y="1874462"/>
              <a:ext cx="2148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 b="1">
                  <a:solidFill>
                    <a:srgbClr val="0B5394"/>
                  </a:solidFill>
                </a:rPr>
                <a:t>7営業日</a:t>
              </a:r>
              <a:endParaRPr sz="4067">
                <a:solidFill>
                  <a:srgbClr val="0B5394"/>
                </a:solidFill>
              </a:endParaRP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5AADD31-44C6-74EA-3F59-CF6EB85D5324}"/>
              </a:ext>
            </a:extLst>
          </p:cNvPr>
          <p:cNvGrpSpPr/>
          <p:nvPr/>
        </p:nvGrpSpPr>
        <p:grpSpPr>
          <a:xfrm>
            <a:off x="381735" y="2986591"/>
            <a:ext cx="4983374" cy="624300"/>
            <a:chOff x="302907" y="2610357"/>
            <a:chExt cx="4983374" cy="624300"/>
          </a:xfrm>
        </p:grpSpPr>
        <p:sp>
          <p:nvSpPr>
            <p:cNvPr id="156" name="Google Shape;156;g3f87830097c_0_0">
              <a:extLst>
                <a:ext uri="{FF2B5EF4-FFF2-40B4-BE49-F238E27FC236}">
                  <a16:creationId xmlns:a16="http://schemas.microsoft.com/office/drawing/2014/main" id="{A56952F4-4C3A-78E3-91FC-1D06A429C3D2}"/>
                </a:ext>
              </a:extLst>
            </p:cNvPr>
            <p:cNvSpPr/>
            <p:nvPr/>
          </p:nvSpPr>
          <p:spPr>
            <a:xfrm rot="5400000">
              <a:off x="4581598" y="2808152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75937F79-5448-98AE-6E0A-0C0EC7CBABD8}"/>
                </a:ext>
              </a:extLst>
            </p:cNvPr>
            <p:cNvGrpSpPr/>
            <p:nvPr/>
          </p:nvGrpSpPr>
          <p:grpSpPr>
            <a:xfrm>
              <a:off x="302907" y="2610357"/>
              <a:ext cx="4983374" cy="624300"/>
              <a:chOff x="302907" y="2610357"/>
              <a:chExt cx="4983374" cy="624300"/>
            </a:xfrm>
          </p:grpSpPr>
          <p:sp>
            <p:nvSpPr>
              <p:cNvPr id="141" name="Google Shape;141;g3f87830097c_0_0">
                <a:extLst>
                  <a:ext uri="{FF2B5EF4-FFF2-40B4-BE49-F238E27FC236}">
                    <a16:creationId xmlns:a16="http://schemas.microsoft.com/office/drawing/2014/main" id="{DE6D62C9-F5A7-C964-ECDC-E9C5136FF9CF}"/>
                  </a:ext>
                </a:extLst>
              </p:cNvPr>
              <p:cNvSpPr txBox="1"/>
              <p:nvPr/>
            </p:nvSpPr>
            <p:spPr>
              <a:xfrm>
                <a:off x="302907" y="2610357"/>
                <a:ext cx="879300" cy="62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None/>
                </a:pPr>
                <a:r>
                  <a:rPr lang="ja-JP" sz="1300" b="1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認証</a:t>
                </a:r>
                <a:endParaRPr sz="1300"/>
              </a:p>
            </p:txBody>
          </p:sp>
          <p:sp>
            <p:nvSpPr>
              <p:cNvPr id="155" name="Google Shape;155;g3f87830097c_0_0">
                <a:extLst>
                  <a:ext uri="{FF2B5EF4-FFF2-40B4-BE49-F238E27FC236}">
                    <a16:creationId xmlns:a16="http://schemas.microsoft.com/office/drawing/2014/main" id="{FA8A15CC-7497-79F8-6633-E45B5BEB97D3}"/>
                  </a:ext>
                </a:extLst>
              </p:cNvPr>
              <p:cNvSpPr/>
              <p:nvPr/>
            </p:nvSpPr>
            <p:spPr>
              <a:xfrm>
                <a:off x="4432846" y="2665364"/>
                <a:ext cx="291551" cy="5238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g3f87830097c_0_0">
                <a:extLst>
                  <a:ext uri="{FF2B5EF4-FFF2-40B4-BE49-F238E27FC236}">
                    <a16:creationId xmlns:a16="http://schemas.microsoft.com/office/drawing/2014/main" id="{B294E8C5-7AF8-71CD-61F5-E61571EFCA42}"/>
                  </a:ext>
                </a:extLst>
              </p:cNvPr>
              <p:cNvSpPr txBox="1"/>
              <p:nvPr/>
            </p:nvSpPr>
            <p:spPr>
              <a:xfrm>
                <a:off x="3957281" y="2723390"/>
                <a:ext cx="13290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ja-JP" b="1">
                    <a:solidFill>
                      <a:schemeClr val="tx1"/>
                    </a:solidFill>
                  </a:rPr>
                  <a:t>API認証の設定</a:t>
                </a:r>
                <a:endParaRPr sz="4267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Google Shape;163;g3f87830097c_0_0">
                <a:extLst>
                  <a:ext uri="{FF2B5EF4-FFF2-40B4-BE49-F238E27FC236}">
                    <a16:creationId xmlns:a16="http://schemas.microsoft.com/office/drawing/2014/main" id="{E3C135F8-BE95-CC46-C65B-2760FB8AB679}"/>
                  </a:ext>
                </a:extLst>
              </p:cNvPr>
              <p:cNvSpPr txBox="1"/>
              <p:nvPr/>
            </p:nvSpPr>
            <p:spPr>
              <a:xfrm>
                <a:off x="3957281" y="2946319"/>
                <a:ext cx="13290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ja-JP" sz="1200" b="1">
                    <a:solidFill>
                      <a:srgbClr val="0B5394"/>
                    </a:solidFill>
                  </a:rPr>
                  <a:t>1</a:t>
                </a:r>
                <a:r>
                  <a:rPr lang="ja-JP" sz="1200" b="1">
                    <a:solidFill>
                      <a:srgbClr val="0B5394"/>
                    </a:solidFill>
                  </a:rPr>
                  <a:t>営業日</a:t>
                </a:r>
                <a:endParaRPr sz="4067">
                  <a:solidFill>
                    <a:srgbClr val="0B5394"/>
                  </a:solidFill>
                </a:endParaRPr>
              </a:p>
            </p:txBody>
          </p:sp>
        </p:grpSp>
      </p:grpSp>
      <p:cxnSp>
        <p:nvCxnSpPr>
          <p:cNvPr id="164" name="Google Shape;164;g3f87830097c_0_0">
            <a:extLst>
              <a:ext uri="{FF2B5EF4-FFF2-40B4-BE49-F238E27FC236}">
                <a16:creationId xmlns:a16="http://schemas.microsoft.com/office/drawing/2014/main" id="{BB87B69F-8118-9217-6A43-771A08904372}"/>
              </a:ext>
            </a:extLst>
          </p:cNvPr>
          <p:cNvCxnSpPr>
            <a:cxnSpLocks/>
          </p:cNvCxnSpPr>
          <p:nvPr/>
        </p:nvCxnSpPr>
        <p:spPr>
          <a:xfrm>
            <a:off x="4505228" y="1439913"/>
            <a:ext cx="0" cy="42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165" name="Google Shape;165;g3f87830097c_0_0">
            <a:extLst>
              <a:ext uri="{FF2B5EF4-FFF2-40B4-BE49-F238E27FC236}">
                <a16:creationId xmlns:a16="http://schemas.microsoft.com/office/drawing/2014/main" id="{B0637BD7-3DC0-5DCE-9902-CEDFC45B7E4C}"/>
              </a:ext>
            </a:extLst>
          </p:cNvPr>
          <p:cNvCxnSpPr>
            <a:cxnSpLocks/>
          </p:cNvCxnSpPr>
          <p:nvPr/>
        </p:nvCxnSpPr>
        <p:spPr>
          <a:xfrm>
            <a:off x="6548928" y="1439913"/>
            <a:ext cx="0" cy="424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sp>
        <p:nvSpPr>
          <p:cNvPr id="139" name="Google Shape;139;g3f87830097c_0_0">
            <a:extLst>
              <a:ext uri="{FF2B5EF4-FFF2-40B4-BE49-F238E27FC236}">
                <a16:creationId xmlns:a16="http://schemas.microsoft.com/office/drawing/2014/main" id="{5FE1E8E2-9EF9-04C5-EFD2-734712E3F19D}"/>
              </a:ext>
            </a:extLst>
          </p:cNvPr>
          <p:cNvSpPr txBox="1"/>
          <p:nvPr/>
        </p:nvSpPr>
        <p:spPr>
          <a:xfrm>
            <a:off x="381735" y="4294959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開発</a:t>
            </a:r>
            <a:endParaRPr sz="130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A68784D-9C2B-D0BC-FFEA-FB314FF425AE}"/>
              </a:ext>
            </a:extLst>
          </p:cNvPr>
          <p:cNvGrpSpPr/>
          <p:nvPr/>
        </p:nvGrpSpPr>
        <p:grpSpPr>
          <a:xfrm>
            <a:off x="381734" y="4982322"/>
            <a:ext cx="6161446" cy="624300"/>
            <a:chOff x="302906" y="5092249"/>
            <a:chExt cx="6161446" cy="624300"/>
          </a:xfrm>
        </p:grpSpPr>
        <p:sp>
          <p:nvSpPr>
            <p:cNvPr id="142" name="Google Shape;142;g3f87830097c_0_0">
              <a:extLst>
                <a:ext uri="{FF2B5EF4-FFF2-40B4-BE49-F238E27FC236}">
                  <a16:creationId xmlns:a16="http://schemas.microsoft.com/office/drawing/2014/main" id="{4EE8528C-00E5-1F11-D7DC-D7D39331D1B3}"/>
                </a:ext>
              </a:extLst>
            </p:cNvPr>
            <p:cNvSpPr txBox="1"/>
            <p:nvPr/>
          </p:nvSpPr>
          <p:spPr>
            <a:xfrm>
              <a:off x="302906" y="5092249"/>
              <a:ext cx="1415525" cy="6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</a:pPr>
              <a:r>
                <a:rPr lang="ja-JP" sz="13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テスト</a:t>
              </a:r>
              <a:r>
                <a:rPr lang="ja-JP" altLang="en-US" sz="13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・評価</a:t>
              </a:r>
              <a:endParaRPr sz="1300"/>
            </a:p>
          </p:txBody>
        </p:sp>
        <p:grpSp>
          <p:nvGrpSpPr>
            <p:cNvPr id="157" name="Google Shape;157;g3f87830097c_0_0">
              <a:extLst>
                <a:ext uri="{FF2B5EF4-FFF2-40B4-BE49-F238E27FC236}">
                  <a16:creationId xmlns:a16="http://schemas.microsoft.com/office/drawing/2014/main" id="{469CDD6C-571D-9248-30A7-0FC2D5C0E96A}"/>
                </a:ext>
              </a:extLst>
            </p:cNvPr>
            <p:cNvGrpSpPr/>
            <p:nvPr/>
          </p:nvGrpSpPr>
          <p:grpSpPr>
            <a:xfrm>
              <a:off x="5238550" y="5138814"/>
              <a:ext cx="1225802" cy="523800"/>
              <a:chOff x="1312125" y="1593850"/>
              <a:chExt cx="1225802" cy="523800"/>
            </a:xfrm>
          </p:grpSpPr>
          <p:sp>
            <p:nvSpPr>
              <p:cNvPr id="158" name="Google Shape;158;g3f87830097c_0_0">
                <a:extLst>
                  <a:ext uri="{FF2B5EF4-FFF2-40B4-BE49-F238E27FC236}">
                    <a16:creationId xmlns:a16="http://schemas.microsoft.com/office/drawing/2014/main" id="{AA6B8165-A89B-3FD7-5C60-5F1F2773E7E2}"/>
                  </a:ext>
                </a:extLst>
              </p:cNvPr>
              <p:cNvSpPr/>
              <p:nvPr/>
            </p:nvSpPr>
            <p:spPr>
              <a:xfrm>
                <a:off x="1312125" y="1593850"/>
                <a:ext cx="1004100" cy="5238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g3f87830097c_0_0">
                <a:extLst>
                  <a:ext uri="{FF2B5EF4-FFF2-40B4-BE49-F238E27FC236}">
                    <a16:creationId xmlns:a16="http://schemas.microsoft.com/office/drawing/2014/main" id="{09F43BBE-C9C5-5CED-A806-7D8480D07E10}"/>
                  </a:ext>
                </a:extLst>
              </p:cNvPr>
              <p:cNvSpPr/>
              <p:nvPr/>
            </p:nvSpPr>
            <p:spPr>
              <a:xfrm rot="5400000">
                <a:off x="2156927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6" name="Google Shape;176;g3f87830097c_0_0">
              <a:extLst>
                <a:ext uri="{FF2B5EF4-FFF2-40B4-BE49-F238E27FC236}">
                  <a16:creationId xmlns:a16="http://schemas.microsoft.com/office/drawing/2014/main" id="{65AFEE26-0637-CE4B-F285-B4C018E1B9B5}"/>
                </a:ext>
              </a:extLst>
            </p:cNvPr>
            <p:cNvSpPr txBox="1"/>
            <p:nvPr/>
          </p:nvSpPr>
          <p:spPr>
            <a:xfrm>
              <a:off x="5041575" y="5212033"/>
              <a:ext cx="1329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b="1">
                  <a:solidFill>
                    <a:schemeClr val="tx1"/>
                  </a:solidFill>
                </a:rPr>
                <a:t>結合試験</a:t>
              </a:r>
              <a:endParaRPr sz="4267">
                <a:solidFill>
                  <a:schemeClr val="tx1"/>
                </a:solidFill>
              </a:endParaRPr>
            </a:p>
          </p:txBody>
        </p:sp>
        <p:sp>
          <p:nvSpPr>
            <p:cNvPr id="177" name="Google Shape;177;g3f87830097c_0_0">
              <a:extLst>
                <a:ext uri="{FF2B5EF4-FFF2-40B4-BE49-F238E27FC236}">
                  <a16:creationId xmlns:a16="http://schemas.microsoft.com/office/drawing/2014/main" id="{3DF35FC5-3195-FD8A-21FC-1F7DA0A0F1D6}"/>
                </a:ext>
              </a:extLst>
            </p:cNvPr>
            <p:cNvSpPr txBox="1"/>
            <p:nvPr/>
          </p:nvSpPr>
          <p:spPr>
            <a:xfrm>
              <a:off x="5041575" y="5426496"/>
              <a:ext cx="1329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 b="1">
                  <a:solidFill>
                    <a:srgbClr val="0B5394"/>
                  </a:solidFill>
                </a:rPr>
                <a:t>3営業日</a:t>
              </a:r>
              <a:endParaRPr sz="4067">
                <a:solidFill>
                  <a:srgbClr val="0B5394"/>
                </a:solidFill>
              </a:endParaRPr>
            </a:p>
          </p:txBody>
        </p:sp>
      </p:grpSp>
      <p:sp>
        <p:nvSpPr>
          <p:cNvPr id="179" name="Google Shape;179;g3f87830097c_0_0">
            <a:extLst>
              <a:ext uri="{FF2B5EF4-FFF2-40B4-BE49-F238E27FC236}">
                <a16:creationId xmlns:a16="http://schemas.microsoft.com/office/drawing/2014/main" id="{AAD0827D-26C9-6DFD-6645-EBDFFA00AEDA}"/>
              </a:ext>
            </a:extLst>
          </p:cNvPr>
          <p:cNvSpPr txBox="1"/>
          <p:nvPr/>
        </p:nvSpPr>
        <p:spPr>
          <a:xfrm>
            <a:off x="3732891" y="5832943"/>
            <a:ext cx="1577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1">
                <a:solidFill>
                  <a:srgbClr val="434343"/>
                </a:solidFill>
              </a:rPr>
              <a:t>9/9　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Outbound通信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完了</a:t>
            </a:r>
            <a:endParaRPr sz="3967">
              <a:solidFill>
                <a:srgbClr val="434343"/>
              </a:solidFill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6F6D12B-2ED7-B453-DD5E-CBAD703BCAE0}"/>
              </a:ext>
            </a:extLst>
          </p:cNvPr>
          <p:cNvGrpSpPr/>
          <p:nvPr/>
        </p:nvGrpSpPr>
        <p:grpSpPr>
          <a:xfrm>
            <a:off x="389320" y="2314895"/>
            <a:ext cx="4115392" cy="624300"/>
            <a:chOff x="302906" y="1522920"/>
            <a:chExt cx="4115392" cy="624300"/>
          </a:xfrm>
        </p:grpSpPr>
        <p:sp>
          <p:nvSpPr>
            <p:cNvPr id="11" name="Google Shape;140;g3f87830097c_0_0">
              <a:extLst>
                <a:ext uri="{FF2B5EF4-FFF2-40B4-BE49-F238E27FC236}">
                  <a16:creationId xmlns:a16="http://schemas.microsoft.com/office/drawing/2014/main" id="{9884491A-92B9-1ED8-FBCD-E76A6AC87AD7}"/>
                </a:ext>
              </a:extLst>
            </p:cNvPr>
            <p:cNvSpPr txBox="1"/>
            <p:nvPr/>
          </p:nvSpPr>
          <p:spPr>
            <a:xfrm>
              <a:off x="302906" y="1522920"/>
              <a:ext cx="1103703" cy="6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Arial"/>
                <a:buNone/>
              </a:pPr>
              <a:r>
                <a:rPr lang="ja-JP" altLang="en-US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アカウント</a:t>
              </a:r>
              <a:endParaRPr/>
            </a:p>
          </p:txBody>
        </p:sp>
        <p:grpSp>
          <p:nvGrpSpPr>
            <p:cNvPr id="12" name="Google Shape;152;g3f87830097c_0_0">
              <a:extLst>
                <a:ext uri="{FF2B5EF4-FFF2-40B4-BE49-F238E27FC236}">
                  <a16:creationId xmlns:a16="http://schemas.microsoft.com/office/drawing/2014/main" id="{3C127AC5-0295-54D3-223D-920CADD15676}"/>
                </a:ext>
              </a:extLst>
            </p:cNvPr>
            <p:cNvGrpSpPr/>
            <p:nvPr/>
          </p:nvGrpSpPr>
          <p:grpSpPr>
            <a:xfrm>
              <a:off x="1815121" y="1593850"/>
              <a:ext cx="2603177" cy="523800"/>
              <a:chOff x="1645925" y="1593850"/>
              <a:chExt cx="2603177" cy="523800"/>
            </a:xfrm>
          </p:grpSpPr>
          <p:sp>
            <p:nvSpPr>
              <p:cNvPr id="15" name="Google Shape;153;g3f87830097c_0_0">
                <a:extLst>
                  <a:ext uri="{FF2B5EF4-FFF2-40B4-BE49-F238E27FC236}">
                    <a16:creationId xmlns:a16="http://schemas.microsoft.com/office/drawing/2014/main" id="{37D7FAAB-A38E-EAA1-C208-C6BF8CC29E0A}"/>
                  </a:ext>
                </a:extLst>
              </p:cNvPr>
              <p:cNvSpPr/>
              <p:nvPr/>
            </p:nvSpPr>
            <p:spPr>
              <a:xfrm>
                <a:off x="1645925" y="1593850"/>
                <a:ext cx="2381400" cy="523800"/>
              </a:xfrm>
              <a:prstGeom prst="rect">
                <a:avLst/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54;g3f87830097c_0_0">
                <a:extLst>
                  <a:ext uri="{FF2B5EF4-FFF2-40B4-BE49-F238E27FC236}">
                    <a16:creationId xmlns:a16="http://schemas.microsoft.com/office/drawing/2014/main" id="{6FEEE61C-B23D-834F-7952-83E4C91B7719}"/>
                  </a:ext>
                </a:extLst>
              </p:cNvPr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solidFill>
                <a:srgbClr val="DAEE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160;g3f87830097c_0_0">
              <a:extLst>
                <a:ext uri="{FF2B5EF4-FFF2-40B4-BE49-F238E27FC236}">
                  <a16:creationId xmlns:a16="http://schemas.microsoft.com/office/drawing/2014/main" id="{CED881E6-6186-76F0-8070-A9644F5FCEC4}"/>
                </a:ext>
              </a:extLst>
            </p:cNvPr>
            <p:cNvSpPr txBox="1"/>
            <p:nvPr/>
          </p:nvSpPr>
          <p:spPr>
            <a:xfrm>
              <a:off x="1886239" y="1732122"/>
              <a:ext cx="21486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b="1">
                  <a:solidFill>
                    <a:schemeClr val="tx1"/>
                  </a:solidFill>
                </a:rPr>
                <a:t>アカウントの手配</a:t>
              </a:r>
              <a:endParaRPr sz="4267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Google Shape;146;g3f87830097c_0_0">
            <a:extLst>
              <a:ext uri="{FF2B5EF4-FFF2-40B4-BE49-F238E27FC236}">
                <a16:creationId xmlns:a16="http://schemas.microsoft.com/office/drawing/2014/main" id="{16DAD5FB-AD4D-3421-9DAF-D400E0FB7E8F}"/>
              </a:ext>
            </a:extLst>
          </p:cNvPr>
          <p:cNvCxnSpPr>
            <a:cxnSpLocks/>
          </p:cNvCxnSpPr>
          <p:nvPr/>
        </p:nvCxnSpPr>
        <p:spPr>
          <a:xfrm>
            <a:off x="326878" y="2283363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B616C6C-64F3-87E9-EA13-2B04DC8304C0}"/>
              </a:ext>
            </a:extLst>
          </p:cNvPr>
          <p:cNvGrpSpPr/>
          <p:nvPr/>
        </p:nvGrpSpPr>
        <p:grpSpPr>
          <a:xfrm>
            <a:off x="10675317" y="1669063"/>
            <a:ext cx="972403" cy="953051"/>
            <a:chOff x="10260527" y="-1694793"/>
            <a:chExt cx="972403" cy="953051"/>
          </a:xfrm>
        </p:grpSpPr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29F8CB75-2D0E-18FC-60D1-E33E5F546A53}"/>
                </a:ext>
              </a:extLst>
            </p:cNvPr>
            <p:cNvSpPr/>
            <p:nvPr/>
          </p:nvSpPr>
          <p:spPr>
            <a:xfrm>
              <a:off x="10260527" y="-1694793"/>
              <a:ext cx="972403" cy="9530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85" name="Google Shape;185;g3f87830097c_0_0">
              <a:extLst>
                <a:ext uri="{FF2B5EF4-FFF2-40B4-BE49-F238E27FC236}">
                  <a16:creationId xmlns:a16="http://schemas.microsoft.com/office/drawing/2014/main" id="{C2AF1883-2EAD-595E-584C-EF77DD19A79E}"/>
                </a:ext>
              </a:extLst>
            </p:cNvPr>
            <p:cNvGrpSpPr/>
            <p:nvPr/>
          </p:nvGrpSpPr>
          <p:grpSpPr>
            <a:xfrm>
              <a:off x="10778052" y="-1556614"/>
              <a:ext cx="346621" cy="205492"/>
              <a:chOff x="3365540" y="1593850"/>
              <a:chExt cx="883562" cy="523813"/>
            </a:xfrm>
            <a:solidFill>
              <a:schemeClr val="bg1">
                <a:lumMod val="85000"/>
              </a:schemeClr>
            </a:solidFill>
          </p:grpSpPr>
          <p:sp>
            <p:nvSpPr>
              <p:cNvPr id="186" name="Google Shape;186;g3f87830097c_0_0">
                <a:extLst>
                  <a:ext uri="{FF2B5EF4-FFF2-40B4-BE49-F238E27FC236}">
                    <a16:creationId xmlns:a16="http://schemas.microsoft.com/office/drawing/2014/main" id="{BC8388AB-C3DD-CC32-2346-F34F11F79819}"/>
                  </a:ext>
                </a:extLst>
              </p:cNvPr>
              <p:cNvSpPr/>
              <p:nvPr/>
            </p:nvSpPr>
            <p:spPr>
              <a:xfrm>
                <a:off x="3365540" y="1593863"/>
                <a:ext cx="661714" cy="5238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  <p:sp>
            <p:nvSpPr>
              <p:cNvPr id="187" name="Google Shape;187;g3f87830097c_0_0">
                <a:extLst>
                  <a:ext uri="{FF2B5EF4-FFF2-40B4-BE49-F238E27FC236}">
                    <a16:creationId xmlns:a16="http://schemas.microsoft.com/office/drawing/2014/main" id="{75B74086-4F92-C41D-5F20-F4822AF1E533}"/>
                  </a:ext>
                </a:extLst>
              </p:cNvPr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</p:grpSp>
        <p:grpSp>
          <p:nvGrpSpPr>
            <p:cNvPr id="188" name="Google Shape;188;g3f87830097c_0_0">
              <a:extLst>
                <a:ext uri="{FF2B5EF4-FFF2-40B4-BE49-F238E27FC236}">
                  <a16:creationId xmlns:a16="http://schemas.microsoft.com/office/drawing/2014/main" id="{C829FC9F-0FAF-4D12-3682-565A8515EBFF}"/>
                </a:ext>
              </a:extLst>
            </p:cNvPr>
            <p:cNvGrpSpPr/>
            <p:nvPr/>
          </p:nvGrpSpPr>
          <p:grpSpPr>
            <a:xfrm>
              <a:off x="10778052" y="-1308552"/>
              <a:ext cx="346621" cy="205492"/>
              <a:chOff x="3365540" y="1593850"/>
              <a:chExt cx="883562" cy="52381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89" name="Google Shape;189;g3f87830097c_0_0">
                <a:extLst>
                  <a:ext uri="{FF2B5EF4-FFF2-40B4-BE49-F238E27FC236}">
                    <a16:creationId xmlns:a16="http://schemas.microsoft.com/office/drawing/2014/main" id="{60D1A11A-60F0-F78C-B8A3-22A93134D6F9}"/>
                  </a:ext>
                </a:extLst>
              </p:cNvPr>
              <p:cNvSpPr/>
              <p:nvPr/>
            </p:nvSpPr>
            <p:spPr>
              <a:xfrm>
                <a:off x="3365540" y="1593863"/>
                <a:ext cx="661714" cy="5238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  <p:sp>
            <p:nvSpPr>
              <p:cNvPr id="190" name="Google Shape;190;g3f87830097c_0_0">
                <a:extLst>
                  <a:ext uri="{FF2B5EF4-FFF2-40B4-BE49-F238E27FC236}">
                    <a16:creationId xmlns:a16="http://schemas.microsoft.com/office/drawing/2014/main" id="{7148D36C-0893-32B5-576B-BBED2CD36E42}"/>
                  </a:ext>
                </a:extLst>
              </p:cNvPr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</p:grpSp>
        <p:sp>
          <p:nvSpPr>
            <p:cNvPr id="191" name="Google Shape;191;g3f87830097c_0_0">
              <a:extLst>
                <a:ext uri="{FF2B5EF4-FFF2-40B4-BE49-F238E27FC236}">
                  <a16:creationId xmlns:a16="http://schemas.microsoft.com/office/drawing/2014/main" id="{7C0A407F-0B6D-D684-878E-2B7BD77883CF}"/>
                </a:ext>
              </a:extLst>
            </p:cNvPr>
            <p:cNvSpPr txBox="1"/>
            <p:nvPr/>
          </p:nvSpPr>
          <p:spPr>
            <a:xfrm>
              <a:off x="10320851" y="-1525868"/>
              <a:ext cx="403449" cy="1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b="1">
                  <a:solidFill>
                    <a:sysClr val="windowText" lastClr="000000"/>
                  </a:solidFill>
                </a:rPr>
                <a:t>準備中</a:t>
              </a:r>
              <a:endParaRPr sz="3767">
                <a:solidFill>
                  <a:sysClr val="windowText" lastClr="000000"/>
                </a:solidFill>
              </a:endParaRPr>
            </a:p>
          </p:txBody>
        </p:sp>
        <p:sp>
          <p:nvSpPr>
            <p:cNvPr id="192" name="Google Shape;192;g3f87830097c_0_0">
              <a:extLst>
                <a:ext uri="{FF2B5EF4-FFF2-40B4-BE49-F238E27FC236}">
                  <a16:creationId xmlns:a16="http://schemas.microsoft.com/office/drawing/2014/main" id="{FA829BC5-5941-4A09-24E0-0A13EC7E3848}"/>
                </a:ext>
              </a:extLst>
            </p:cNvPr>
            <p:cNvSpPr txBox="1"/>
            <p:nvPr/>
          </p:nvSpPr>
          <p:spPr>
            <a:xfrm>
              <a:off x="10320851" y="-1277806"/>
              <a:ext cx="403449" cy="1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b="1">
                  <a:solidFill>
                    <a:sysClr val="windowText" lastClr="000000"/>
                  </a:solidFill>
                </a:rPr>
                <a:t>進行中</a:t>
              </a:r>
              <a:endParaRPr sz="3767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5" name="Google Shape;188;g3f87830097c_0_0">
              <a:extLst>
                <a:ext uri="{FF2B5EF4-FFF2-40B4-BE49-F238E27FC236}">
                  <a16:creationId xmlns:a16="http://schemas.microsoft.com/office/drawing/2014/main" id="{FF367A97-82E9-C39C-8843-B6C52E091B01}"/>
                </a:ext>
              </a:extLst>
            </p:cNvPr>
            <p:cNvGrpSpPr/>
            <p:nvPr/>
          </p:nvGrpSpPr>
          <p:grpSpPr>
            <a:xfrm>
              <a:off x="10778053" y="-1064895"/>
              <a:ext cx="346621" cy="205492"/>
              <a:chOff x="3365540" y="1593850"/>
              <a:chExt cx="883562" cy="523813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36" name="Google Shape;189;g3f87830097c_0_0">
                <a:extLst>
                  <a:ext uri="{FF2B5EF4-FFF2-40B4-BE49-F238E27FC236}">
                    <a16:creationId xmlns:a16="http://schemas.microsoft.com/office/drawing/2014/main" id="{95030D5B-60B7-596C-259B-1A349F987CC1}"/>
                  </a:ext>
                </a:extLst>
              </p:cNvPr>
              <p:cNvSpPr/>
              <p:nvPr/>
            </p:nvSpPr>
            <p:spPr>
              <a:xfrm>
                <a:off x="3365540" y="1593863"/>
                <a:ext cx="661714" cy="5238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  <p:sp>
            <p:nvSpPr>
              <p:cNvPr id="37" name="Google Shape;190;g3f87830097c_0_0">
                <a:extLst>
                  <a:ext uri="{FF2B5EF4-FFF2-40B4-BE49-F238E27FC236}">
                    <a16:creationId xmlns:a16="http://schemas.microsoft.com/office/drawing/2014/main" id="{584090A5-E698-3A98-163D-4C9C9F985901}"/>
                  </a:ext>
                </a:extLst>
              </p:cNvPr>
              <p:cNvSpPr/>
              <p:nvPr/>
            </p:nvSpPr>
            <p:spPr>
              <a:xfrm rot="5400000">
                <a:off x="3868102" y="1736650"/>
                <a:ext cx="523800" cy="238200"/>
              </a:xfrm>
              <a:prstGeom prst="triangle">
                <a:avLst>
                  <a:gd name="adj" fmla="val 53121"/>
                </a:avLst>
              </a:prstGeom>
              <a:grpFill/>
              <a:ln>
                <a:noFill/>
              </a:ln>
            </p:spPr>
            <p:txBody>
              <a:bodyPr spcFirstLastPara="1" wrap="square" lIns="35875" tIns="35875" rIns="35875" bIns="3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549"/>
              </a:p>
            </p:txBody>
          </p:sp>
        </p:grpSp>
        <p:sp>
          <p:nvSpPr>
            <p:cNvPr id="39" name="Google Shape;192;g3f87830097c_0_0">
              <a:extLst>
                <a:ext uri="{FF2B5EF4-FFF2-40B4-BE49-F238E27FC236}">
                  <a16:creationId xmlns:a16="http://schemas.microsoft.com/office/drawing/2014/main" id="{9638B291-35E6-E0E9-0CCD-45F989C10699}"/>
                </a:ext>
              </a:extLst>
            </p:cNvPr>
            <p:cNvSpPr txBox="1"/>
            <p:nvPr/>
          </p:nvSpPr>
          <p:spPr>
            <a:xfrm>
              <a:off x="10320851" y="-1034149"/>
              <a:ext cx="403449" cy="1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900" b="1">
                  <a:solidFill>
                    <a:sysClr val="windowText" lastClr="000000"/>
                  </a:solidFill>
                </a:rPr>
                <a:t>完了</a:t>
              </a:r>
              <a:endParaRPr sz="3767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0" name="Google Shape;179;g3f87830097c_0_0">
            <a:extLst>
              <a:ext uri="{FF2B5EF4-FFF2-40B4-BE49-F238E27FC236}">
                <a16:creationId xmlns:a16="http://schemas.microsoft.com/office/drawing/2014/main" id="{5B4C3313-844E-4EED-790A-68DE7B621E9E}"/>
              </a:ext>
            </a:extLst>
          </p:cNvPr>
          <p:cNvSpPr txBox="1"/>
          <p:nvPr/>
        </p:nvSpPr>
        <p:spPr>
          <a:xfrm>
            <a:off x="1670103" y="5806345"/>
            <a:ext cx="15777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00" b="1">
                <a:solidFill>
                  <a:srgbClr val="434343"/>
                </a:solidFill>
              </a:rPr>
              <a:t>本日</a:t>
            </a:r>
            <a:r>
              <a:rPr lang="en-US" altLang="ja-JP" sz="1300" b="1">
                <a:solidFill>
                  <a:srgbClr val="434343"/>
                </a:solidFill>
              </a:rPr>
              <a:t>9/3</a:t>
            </a:r>
            <a:endParaRPr sz="3967">
              <a:solidFill>
                <a:srgbClr val="434343"/>
              </a:solidFill>
            </a:endParaRPr>
          </a:p>
        </p:txBody>
      </p:sp>
      <p:grpSp>
        <p:nvGrpSpPr>
          <p:cNvPr id="3" name="Google Shape;317;g3f87830097c_1_246">
            <a:extLst>
              <a:ext uri="{FF2B5EF4-FFF2-40B4-BE49-F238E27FC236}">
                <a16:creationId xmlns:a16="http://schemas.microsoft.com/office/drawing/2014/main" id="{7C99DB50-6EEC-F6B7-B8C9-54F53AD9845C}"/>
              </a:ext>
            </a:extLst>
          </p:cNvPr>
          <p:cNvGrpSpPr/>
          <p:nvPr/>
        </p:nvGrpSpPr>
        <p:grpSpPr>
          <a:xfrm>
            <a:off x="1901534" y="4354462"/>
            <a:ext cx="3129842" cy="523813"/>
            <a:chOff x="1299553" y="1593850"/>
            <a:chExt cx="3129842" cy="523813"/>
          </a:xfrm>
        </p:grpSpPr>
        <p:sp>
          <p:nvSpPr>
            <p:cNvPr id="6" name="Google Shape;318;g3f87830097c_1_246">
              <a:extLst>
                <a:ext uri="{FF2B5EF4-FFF2-40B4-BE49-F238E27FC236}">
                  <a16:creationId xmlns:a16="http://schemas.microsoft.com/office/drawing/2014/main" id="{B306AACC-B893-D014-7ABB-EB3B50FAA5B3}"/>
                </a:ext>
              </a:extLst>
            </p:cNvPr>
            <p:cNvSpPr/>
            <p:nvPr/>
          </p:nvSpPr>
          <p:spPr>
            <a:xfrm>
              <a:off x="1299553" y="1593863"/>
              <a:ext cx="2891635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9;g3f87830097c_1_246">
              <a:extLst>
                <a:ext uri="{FF2B5EF4-FFF2-40B4-BE49-F238E27FC236}">
                  <a16:creationId xmlns:a16="http://schemas.microsoft.com/office/drawing/2014/main" id="{A44FE39C-5546-8477-B325-3B9683C171C1}"/>
                </a:ext>
              </a:extLst>
            </p:cNvPr>
            <p:cNvSpPr/>
            <p:nvPr/>
          </p:nvSpPr>
          <p:spPr>
            <a:xfrm rot="5400000">
              <a:off x="4048395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320;g3f87830097c_1_246">
            <a:extLst>
              <a:ext uri="{FF2B5EF4-FFF2-40B4-BE49-F238E27FC236}">
                <a16:creationId xmlns:a16="http://schemas.microsoft.com/office/drawing/2014/main" id="{55FB96AA-46DF-CB10-0F8B-3A1DF04831FC}"/>
              </a:ext>
            </a:extLst>
          </p:cNvPr>
          <p:cNvSpPr txBox="1"/>
          <p:nvPr/>
        </p:nvSpPr>
        <p:spPr>
          <a:xfrm>
            <a:off x="2119937" y="4425199"/>
            <a:ext cx="266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Ni-Fi for Salesforceの実装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19" name="Google Shape;321;g3f87830097c_1_246">
            <a:extLst>
              <a:ext uri="{FF2B5EF4-FFF2-40B4-BE49-F238E27FC236}">
                <a16:creationId xmlns:a16="http://schemas.microsoft.com/office/drawing/2014/main" id="{78B638BF-D9C2-AADE-6E5E-93C4B39439CE}"/>
              </a:ext>
            </a:extLst>
          </p:cNvPr>
          <p:cNvSpPr txBox="1"/>
          <p:nvPr/>
        </p:nvSpPr>
        <p:spPr>
          <a:xfrm>
            <a:off x="2348526" y="4622749"/>
            <a:ext cx="214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8営業日</a:t>
            </a:r>
            <a:endParaRPr sz="4067">
              <a:solidFill>
                <a:srgbClr val="0B5394"/>
              </a:solidFill>
            </a:endParaRPr>
          </a:p>
        </p:txBody>
      </p:sp>
      <p:sp>
        <p:nvSpPr>
          <p:cNvPr id="21" name="Google Shape;325;g3f87830097c_1_246">
            <a:extLst>
              <a:ext uri="{FF2B5EF4-FFF2-40B4-BE49-F238E27FC236}">
                <a16:creationId xmlns:a16="http://schemas.microsoft.com/office/drawing/2014/main" id="{740DB322-1221-53DF-21C8-ABDD8723BE88}"/>
              </a:ext>
            </a:extLst>
          </p:cNvPr>
          <p:cNvSpPr txBox="1"/>
          <p:nvPr/>
        </p:nvSpPr>
        <p:spPr>
          <a:xfrm>
            <a:off x="5754091" y="5807581"/>
            <a:ext cx="1577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1">
                <a:solidFill>
                  <a:srgbClr val="434343"/>
                </a:solidFill>
              </a:rPr>
              <a:t>9/17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結合試験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完了</a:t>
            </a:r>
            <a:endParaRPr sz="1100" b="1">
              <a:solidFill>
                <a:srgbClr val="434343"/>
              </a:solidFill>
            </a:endParaRPr>
          </a:p>
        </p:txBody>
      </p:sp>
      <p:cxnSp>
        <p:nvCxnSpPr>
          <p:cNvPr id="45" name="Google Shape;164;g3f87830097c_0_0">
            <a:extLst>
              <a:ext uri="{FF2B5EF4-FFF2-40B4-BE49-F238E27FC236}">
                <a16:creationId xmlns:a16="http://schemas.microsoft.com/office/drawing/2014/main" id="{5DD6DC67-B5A7-55A8-07D0-4D1415567558}"/>
              </a:ext>
            </a:extLst>
          </p:cNvPr>
          <p:cNvCxnSpPr>
            <a:cxnSpLocks/>
          </p:cNvCxnSpPr>
          <p:nvPr/>
        </p:nvCxnSpPr>
        <p:spPr>
          <a:xfrm>
            <a:off x="3961705" y="1439913"/>
            <a:ext cx="0" cy="4248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24621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87830097c_1_246"/>
          <p:cNvSpPr/>
          <p:nvPr/>
        </p:nvSpPr>
        <p:spPr>
          <a:xfrm>
            <a:off x="284000" y="966875"/>
            <a:ext cx="1253100" cy="400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f87830097c_1_246"/>
          <p:cNvSpPr txBox="1">
            <a:spLocks noGrp="1"/>
          </p:cNvSpPr>
          <p:nvPr>
            <p:ph type="title"/>
          </p:nvPr>
        </p:nvSpPr>
        <p:spPr>
          <a:xfrm>
            <a:off x="425491" y="20622"/>
            <a:ext cx="106572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lang="ja-JP" sz="2400"/>
              <a:t>マイルストーン　1販社（TM東京 or 佐賀）</a:t>
            </a:r>
            <a:endParaRPr sz="2400"/>
          </a:p>
        </p:txBody>
      </p:sp>
      <p:sp>
        <p:nvSpPr>
          <p:cNvPr id="287" name="Google Shape;287;g3f87830097c_1_246"/>
          <p:cNvSpPr txBox="1">
            <a:spLocks noGrp="1"/>
          </p:cNvSpPr>
          <p:nvPr>
            <p:ph type="sldNum" idx="12"/>
          </p:nvPr>
        </p:nvSpPr>
        <p:spPr>
          <a:xfrm>
            <a:off x="10533409" y="6468467"/>
            <a:ext cx="1659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latin typeface="Arial Black"/>
                <a:ea typeface="Arial Black"/>
                <a:cs typeface="Arial Black"/>
                <a:sym typeface="Arial Black"/>
              </a:rPr>
              <a:t>11</a:t>
            </a:fld>
            <a:endParaRPr sz="2133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8" name="Google Shape;288;g3f87830097c_1_246"/>
          <p:cNvSpPr txBox="1"/>
          <p:nvPr/>
        </p:nvSpPr>
        <p:spPr>
          <a:xfrm>
            <a:off x="2084475" y="1008125"/>
            <a:ext cx="1084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1～4</a:t>
            </a:r>
            <a:endParaRPr sz="1300"/>
          </a:p>
        </p:txBody>
      </p:sp>
      <p:sp>
        <p:nvSpPr>
          <p:cNvPr id="289" name="Google Shape;289;g3f87830097c_1_246"/>
          <p:cNvSpPr txBox="1"/>
          <p:nvPr/>
        </p:nvSpPr>
        <p:spPr>
          <a:xfrm>
            <a:off x="3882877" y="1008125"/>
            <a:ext cx="1084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7</a:t>
            </a:r>
            <a:r>
              <a:rPr lang="ja-JP" sz="1500" b="1">
                <a:solidFill>
                  <a:srgbClr val="3F3F3F"/>
                </a:solidFill>
              </a:rPr>
              <a:t>〜</a:t>
            </a: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00"/>
          </a:p>
        </p:txBody>
      </p:sp>
      <p:sp>
        <p:nvSpPr>
          <p:cNvPr id="290" name="Google Shape;290;g3f87830097c_1_246"/>
          <p:cNvSpPr txBox="1"/>
          <p:nvPr/>
        </p:nvSpPr>
        <p:spPr>
          <a:xfrm>
            <a:off x="5833650" y="1008125"/>
            <a:ext cx="15777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14～</a:t>
            </a:r>
            <a:r>
              <a:rPr lang="ja-JP" sz="1500" b="1">
                <a:solidFill>
                  <a:srgbClr val="3F3F3F"/>
                </a:solidFill>
              </a:rPr>
              <a:t>18</a:t>
            </a:r>
            <a:endParaRPr sz="2100" b="1">
              <a:solidFill>
                <a:srgbClr val="FF0B0B"/>
              </a:solidFill>
            </a:endParaRPr>
          </a:p>
        </p:txBody>
      </p:sp>
      <p:sp>
        <p:nvSpPr>
          <p:cNvPr id="291" name="Google Shape;291;g3f87830097c_1_246"/>
          <p:cNvSpPr txBox="1"/>
          <p:nvPr/>
        </p:nvSpPr>
        <p:spPr>
          <a:xfrm>
            <a:off x="7555838" y="1008125"/>
            <a:ext cx="1084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21～</a:t>
            </a:r>
            <a:r>
              <a:rPr lang="ja-JP" sz="1500" b="1">
                <a:solidFill>
                  <a:srgbClr val="3F3F3F"/>
                </a:solidFill>
              </a:rPr>
              <a:t>25</a:t>
            </a:r>
            <a:endParaRPr sz="1500" b="1">
              <a:solidFill>
                <a:srgbClr val="3F3F3F"/>
              </a:solidFill>
            </a:endParaRPr>
          </a:p>
        </p:txBody>
      </p:sp>
      <p:sp>
        <p:nvSpPr>
          <p:cNvPr id="292" name="Google Shape;292;g3f87830097c_1_246"/>
          <p:cNvSpPr txBox="1"/>
          <p:nvPr/>
        </p:nvSpPr>
        <p:spPr>
          <a:xfrm>
            <a:off x="9430425" y="1008125"/>
            <a:ext cx="1084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</a:pPr>
            <a:r>
              <a:rPr lang="ja-JP" sz="15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　27</a:t>
            </a:r>
            <a:r>
              <a:rPr lang="ja-JP" sz="1500" b="1">
                <a:solidFill>
                  <a:srgbClr val="3F3F3F"/>
                </a:solidFill>
              </a:rPr>
              <a:t>〜30</a:t>
            </a:r>
            <a:endParaRPr sz="1500" b="1">
              <a:solidFill>
                <a:srgbClr val="3F3F3F"/>
              </a:solidFill>
            </a:endParaRPr>
          </a:p>
        </p:txBody>
      </p:sp>
      <p:sp>
        <p:nvSpPr>
          <p:cNvPr id="293" name="Google Shape;293;g3f87830097c_1_246"/>
          <p:cNvSpPr txBox="1"/>
          <p:nvPr/>
        </p:nvSpPr>
        <p:spPr>
          <a:xfrm>
            <a:off x="528350" y="959225"/>
            <a:ext cx="764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ja-JP"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9月</a:t>
            </a:r>
            <a:endParaRPr sz="1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87830097c_1_246"/>
          <p:cNvSpPr txBox="1"/>
          <p:nvPr/>
        </p:nvSpPr>
        <p:spPr>
          <a:xfrm>
            <a:off x="302907" y="3177515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開発</a:t>
            </a:r>
            <a:endParaRPr sz="1300"/>
          </a:p>
        </p:txBody>
      </p:sp>
      <p:sp>
        <p:nvSpPr>
          <p:cNvPr id="295" name="Google Shape;295;g3f87830097c_1_246"/>
          <p:cNvSpPr txBox="1"/>
          <p:nvPr/>
        </p:nvSpPr>
        <p:spPr>
          <a:xfrm>
            <a:off x="302907" y="1522920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NW</a:t>
            </a:r>
            <a:endParaRPr sz="1300"/>
          </a:p>
        </p:txBody>
      </p:sp>
      <p:sp>
        <p:nvSpPr>
          <p:cNvPr id="296" name="Google Shape;296;g3f87830097c_1_246"/>
          <p:cNvSpPr txBox="1"/>
          <p:nvPr/>
        </p:nvSpPr>
        <p:spPr>
          <a:xfrm>
            <a:off x="302907" y="2350218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認証</a:t>
            </a:r>
            <a:endParaRPr sz="1300"/>
          </a:p>
        </p:txBody>
      </p:sp>
      <p:cxnSp>
        <p:nvCxnSpPr>
          <p:cNvPr id="297" name="Google Shape;297;g3f87830097c_1_246"/>
          <p:cNvCxnSpPr/>
          <p:nvPr/>
        </p:nvCxnSpPr>
        <p:spPr>
          <a:xfrm>
            <a:off x="248050" y="1430375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" name="Google Shape;298;g3f87830097c_1_246"/>
          <p:cNvCxnSpPr/>
          <p:nvPr/>
        </p:nvCxnSpPr>
        <p:spPr>
          <a:xfrm>
            <a:off x="248050" y="2254867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" name="Google Shape;299;g3f87830097c_1_246"/>
          <p:cNvCxnSpPr/>
          <p:nvPr/>
        </p:nvCxnSpPr>
        <p:spPr>
          <a:xfrm>
            <a:off x="248050" y="3079358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g3f87830097c_1_246"/>
          <p:cNvCxnSpPr/>
          <p:nvPr/>
        </p:nvCxnSpPr>
        <p:spPr>
          <a:xfrm>
            <a:off x="248050" y="3903850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" name="Google Shape;301;g3f87830097c_1_246"/>
          <p:cNvCxnSpPr/>
          <p:nvPr/>
        </p:nvCxnSpPr>
        <p:spPr>
          <a:xfrm>
            <a:off x="248050" y="4728342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302;g3f87830097c_1_246"/>
          <p:cNvCxnSpPr/>
          <p:nvPr/>
        </p:nvCxnSpPr>
        <p:spPr>
          <a:xfrm>
            <a:off x="248050" y="5552833"/>
            <a:ext cx="114009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3" name="Google Shape;303;g3f87830097c_1_246"/>
          <p:cNvGrpSpPr/>
          <p:nvPr/>
        </p:nvGrpSpPr>
        <p:grpSpPr>
          <a:xfrm>
            <a:off x="1815121" y="1593850"/>
            <a:ext cx="2603177" cy="523800"/>
            <a:chOff x="1645925" y="1593850"/>
            <a:chExt cx="2603177" cy="523800"/>
          </a:xfrm>
        </p:grpSpPr>
        <p:sp>
          <p:nvSpPr>
            <p:cNvPr id="304" name="Google Shape;304;g3f87830097c_1_246"/>
            <p:cNvSpPr/>
            <p:nvPr/>
          </p:nvSpPr>
          <p:spPr>
            <a:xfrm>
              <a:off x="1645925" y="1593850"/>
              <a:ext cx="23814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g3f87830097c_1_246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" name="Google Shape;306;g3f87830097c_1_246"/>
          <p:cNvSpPr/>
          <p:nvPr/>
        </p:nvSpPr>
        <p:spPr>
          <a:xfrm>
            <a:off x="3448219" y="2405225"/>
            <a:ext cx="764400" cy="523800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f87830097c_1_246"/>
          <p:cNvSpPr/>
          <p:nvPr/>
        </p:nvSpPr>
        <p:spPr>
          <a:xfrm rot="5400000">
            <a:off x="4053396" y="2548013"/>
            <a:ext cx="523800" cy="238200"/>
          </a:xfrm>
          <a:prstGeom prst="triangle">
            <a:avLst>
              <a:gd name="adj" fmla="val 53121"/>
            </a:avLst>
          </a:prstGeom>
          <a:solidFill>
            <a:srgbClr val="DAEE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8" name="Google Shape;308;g3f87830097c_1_246"/>
          <p:cNvGrpSpPr/>
          <p:nvPr/>
        </p:nvGrpSpPr>
        <p:grpSpPr>
          <a:xfrm>
            <a:off x="5212334" y="4062391"/>
            <a:ext cx="1225802" cy="523800"/>
            <a:chOff x="3023300" y="1593850"/>
            <a:chExt cx="1225802" cy="523800"/>
          </a:xfrm>
        </p:grpSpPr>
        <p:sp>
          <p:nvSpPr>
            <p:cNvPr id="309" name="Google Shape;309;g3f87830097c_1_246"/>
            <p:cNvSpPr/>
            <p:nvPr/>
          </p:nvSpPr>
          <p:spPr>
            <a:xfrm>
              <a:off x="3023300" y="1593850"/>
              <a:ext cx="10041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g3f87830097c_1_246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g3f87830097c_1_246"/>
          <p:cNvSpPr txBox="1"/>
          <p:nvPr/>
        </p:nvSpPr>
        <p:spPr>
          <a:xfrm>
            <a:off x="1886239" y="1676925"/>
            <a:ext cx="214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Outbound通信の許可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312" name="Google Shape;312;g3f87830097c_1_246"/>
          <p:cNvSpPr txBox="1"/>
          <p:nvPr/>
        </p:nvSpPr>
        <p:spPr>
          <a:xfrm>
            <a:off x="1886239" y="1874462"/>
            <a:ext cx="214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7営業日</a:t>
            </a:r>
            <a:endParaRPr sz="4067">
              <a:solidFill>
                <a:srgbClr val="0B5394"/>
              </a:solidFill>
            </a:endParaRPr>
          </a:p>
        </p:txBody>
      </p:sp>
      <p:sp>
        <p:nvSpPr>
          <p:cNvPr id="313" name="Google Shape;313;g3f87830097c_1_246"/>
          <p:cNvSpPr txBox="1"/>
          <p:nvPr/>
        </p:nvSpPr>
        <p:spPr>
          <a:xfrm>
            <a:off x="2959844" y="2475950"/>
            <a:ext cx="132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API認証の設定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314" name="Google Shape;314;g3f87830097c_1_246"/>
          <p:cNvSpPr txBox="1"/>
          <p:nvPr/>
        </p:nvSpPr>
        <p:spPr>
          <a:xfrm>
            <a:off x="2959844" y="2673481"/>
            <a:ext cx="132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3営業日</a:t>
            </a:r>
            <a:endParaRPr sz="4067">
              <a:solidFill>
                <a:srgbClr val="0B5394"/>
              </a:solidFill>
            </a:endParaRPr>
          </a:p>
        </p:txBody>
      </p:sp>
      <p:cxnSp>
        <p:nvCxnSpPr>
          <p:cNvPr id="315" name="Google Shape;315;g3f87830097c_1_246"/>
          <p:cNvCxnSpPr/>
          <p:nvPr/>
        </p:nvCxnSpPr>
        <p:spPr>
          <a:xfrm>
            <a:off x="4426400" y="1399825"/>
            <a:ext cx="0" cy="34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cxnSp>
        <p:nvCxnSpPr>
          <p:cNvPr id="316" name="Google Shape;316;g3f87830097c_1_246"/>
          <p:cNvCxnSpPr/>
          <p:nvPr/>
        </p:nvCxnSpPr>
        <p:spPr>
          <a:xfrm>
            <a:off x="6470100" y="1399825"/>
            <a:ext cx="0" cy="34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none" w="med" len="med"/>
          </a:ln>
        </p:spPr>
      </p:cxnSp>
      <p:grpSp>
        <p:nvGrpSpPr>
          <p:cNvPr id="317" name="Google Shape;317;g3f87830097c_1_246"/>
          <p:cNvGrpSpPr/>
          <p:nvPr/>
        </p:nvGrpSpPr>
        <p:grpSpPr>
          <a:xfrm>
            <a:off x="1815125" y="3229688"/>
            <a:ext cx="2949548" cy="523813"/>
            <a:chOff x="1299554" y="1593850"/>
            <a:chExt cx="2949548" cy="523813"/>
          </a:xfrm>
        </p:grpSpPr>
        <p:sp>
          <p:nvSpPr>
            <p:cNvPr id="318" name="Google Shape;318;g3f87830097c_1_246"/>
            <p:cNvSpPr/>
            <p:nvPr/>
          </p:nvSpPr>
          <p:spPr>
            <a:xfrm>
              <a:off x="1299554" y="1593863"/>
              <a:ext cx="27276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g3f87830097c_1_246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" name="Google Shape;320;g3f87830097c_1_246"/>
          <p:cNvSpPr txBox="1"/>
          <p:nvPr/>
        </p:nvSpPr>
        <p:spPr>
          <a:xfrm>
            <a:off x="1958650" y="3300425"/>
            <a:ext cx="266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Ni-Fi for Salesforceの実装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321" name="Google Shape;321;g3f87830097c_1_246"/>
          <p:cNvSpPr txBox="1"/>
          <p:nvPr/>
        </p:nvSpPr>
        <p:spPr>
          <a:xfrm>
            <a:off x="2187239" y="3497975"/>
            <a:ext cx="214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8営業日</a:t>
            </a:r>
            <a:endParaRPr sz="4067">
              <a:solidFill>
                <a:srgbClr val="0B5394"/>
              </a:solidFill>
            </a:endParaRPr>
          </a:p>
        </p:txBody>
      </p:sp>
      <p:sp>
        <p:nvSpPr>
          <p:cNvPr id="322" name="Google Shape;322;g3f87830097c_1_246"/>
          <p:cNvSpPr txBox="1"/>
          <p:nvPr/>
        </p:nvSpPr>
        <p:spPr>
          <a:xfrm>
            <a:off x="5015359" y="4144077"/>
            <a:ext cx="132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b="1">
                <a:solidFill>
                  <a:srgbClr val="0B5394"/>
                </a:solidFill>
              </a:rPr>
              <a:t>結合試験</a:t>
            </a:r>
            <a:endParaRPr sz="4267">
              <a:solidFill>
                <a:srgbClr val="0B5394"/>
              </a:solidFill>
            </a:endParaRPr>
          </a:p>
        </p:txBody>
      </p:sp>
      <p:sp>
        <p:nvSpPr>
          <p:cNvPr id="323" name="Google Shape;323;g3f87830097c_1_246"/>
          <p:cNvSpPr txBox="1"/>
          <p:nvPr/>
        </p:nvSpPr>
        <p:spPr>
          <a:xfrm>
            <a:off x="5015359" y="4341608"/>
            <a:ext cx="132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rgbClr val="0B5394"/>
                </a:solidFill>
              </a:rPr>
              <a:t>3営業日</a:t>
            </a:r>
            <a:endParaRPr sz="4067">
              <a:solidFill>
                <a:srgbClr val="0B5394"/>
              </a:solidFill>
            </a:endParaRPr>
          </a:p>
        </p:txBody>
      </p:sp>
      <p:sp>
        <p:nvSpPr>
          <p:cNvPr id="324" name="Google Shape;324;g3f87830097c_1_246"/>
          <p:cNvSpPr txBox="1"/>
          <p:nvPr/>
        </p:nvSpPr>
        <p:spPr>
          <a:xfrm>
            <a:off x="3715794" y="4881098"/>
            <a:ext cx="1577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1">
                <a:solidFill>
                  <a:srgbClr val="434343"/>
                </a:solidFill>
              </a:rPr>
              <a:t>9/9　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Outbound通信/API認証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完了</a:t>
            </a:r>
            <a:endParaRPr sz="3967">
              <a:solidFill>
                <a:srgbClr val="434343"/>
              </a:solidFill>
            </a:endParaRPr>
          </a:p>
        </p:txBody>
      </p:sp>
      <p:sp>
        <p:nvSpPr>
          <p:cNvPr id="325" name="Google Shape;325;g3f87830097c_1_246"/>
          <p:cNvSpPr txBox="1"/>
          <p:nvPr/>
        </p:nvSpPr>
        <p:spPr>
          <a:xfrm>
            <a:off x="5659406" y="4900092"/>
            <a:ext cx="1577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1">
                <a:solidFill>
                  <a:srgbClr val="434343"/>
                </a:solidFill>
              </a:rPr>
              <a:t>9/17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結合試験</a:t>
            </a:r>
            <a:br>
              <a:rPr lang="ja-JP" sz="1100" b="1">
                <a:solidFill>
                  <a:srgbClr val="434343"/>
                </a:solidFill>
              </a:rPr>
            </a:br>
            <a:r>
              <a:rPr lang="ja-JP" sz="1100" b="1">
                <a:solidFill>
                  <a:srgbClr val="434343"/>
                </a:solidFill>
              </a:rPr>
              <a:t>完了</a:t>
            </a:r>
            <a:endParaRPr sz="1100" b="1">
              <a:solidFill>
                <a:srgbClr val="434343"/>
              </a:solidFill>
            </a:endParaRPr>
          </a:p>
        </p:txBody>
      </p:sp>
      <p:grpSp>
        <p:nvGrpSpPr>
          <p:cNvPr id="326" name="Google Shape;326;g3f87830097c_1_246"/>
          <p:cNvGrpSpPr/>
          <p:nvPr/>
        </p:nvGrpSpPr>
        <p:grpSpPr>
          <a:xfrm>
            <a:off x="11006511" y="1730541"/>
            <a:ext cx="476349" cy="205492"/>
            <a:chOff x="3034854" y="1593850"/>
            <a:chExt cx="1214248" cy="523813"/>
          </a:xfrm>
        </p:grpSpPr>
        <p:sp>
          <p:nvSpPr>
            <p:cNvPr id="327" name="Google Shape;327;g3f87830097c_1_246"/>
            <p:cNvSpPr/>
            <p:nvPr/>
          </p:nvSpPr>
          <p:spPr>
            <a:xfrm>
              <a:off x="3034854" y="1593863"/>
              <a:ext cx="992400" cy="523800"/>
            </a:xfrm>
            <a:prstGeom prst="rect">
              <a:avLst/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35875" tIns="35875" rIns="35875" bIns="35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9"/>
            </a:p>
          </p:txBody>
        </p:sp>
        <p:sp>
          <p:nvSpPr>
            <p:cNvPr id="328" name="Google Shape;328;g3f87830097c_1_246"/>
            <p:cNvSpPr/>
            <p:nvPr/>
          </p:nvSpPr>
          <p:spPr>
            <a:xfrm rot="5400000">
              <a:off x="3868102" y="1736650"/>
              <a:ext cx="523800" cy="238200"/>
            </a:xfrm>
            <a:prstGeom prst="triangle">
              <a:avLst>
                <a:gd name="adj" fmla="val 53121"/>
              </a:avLst>
            </a:prstGeom>
            <a:solidFill>
              <a:srgbClr val="DAEEF3"/>
            </a:solidFill>
            <a:ln>
              <a:noFill/>
            </a:ln>
          </p:spPr>
          <p:txBody>
            <a:bodyPr spcFirstLastPara="1" wrap="square" lIns="35875" tIns="35875" rIns="35875" bIns="35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9"/>
            </a:p>
          </p:txBody>
        </p:sp>
      </p:grpSp>
      <p:sp>
        <p:nvSpPr>
          <p:cNvPr id="329" name="Google Shape;329;g3f87830097c_1_246"/>
          <p:cNvSpPr txBox="1"/>
          <p:nvPr/>
        </p:nvSpPr>
        <p:spPr>
          <a:xfrm>
            <a:off x="10308826" y="1768523"/>
            <a:ext cx="624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1">
                <a:solidFill>
                  <a:srgbClr val="0B5394"/>
                </a:solidFill>
              </a:rPr>
              <a:t>トヨテック</a:t>
            </a:r>
            <a:endParaRPr sz="3767">
              <a:solidFill>
                <a:srgbClr val="0B5394"/>
              </a:solidFill>
            </a:endParaRPr>
          </a:p>
        </p:txBody>
      </p:sp>
      <p:sp>
        <p:nvSpPr>
          <p:cNvPr id="330" name="Google Shape;330;g3f87830097c_1_246"/>
          <p:cNvSpPr txBox="1"/>
          <p:nvPr/>
        </p:nvSpPr>
        <p:spPr>
          <a:xfrm>
            <a:off x="302907" y="4055835"/>
            <a:ext cx="879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テスト</a:t>
            </a:r>
            <a:endParaRPr sz="1300"/>
          </a:p>
        </p:txBody>
      </p:sp>
      <p:sp>
        <p:nvSpPr>
          <p:cNvPr id="331" name="Google Shape;331;g3f87830097c_1_246"/>
          <p:cNvSpPr txBox="1"/>
          <p:nvPr/>
        </p:nvSpPr>
        <p:spPr>
          <a:xfrm>
            <a:off x="302907" y="4828445"/>
            <a:ext cx="11673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ja-JP" sz="13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リリース</a:t>
            </a:r>
            <a:endParaRPr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"/>
          <p:cNvSpPr txBox="1"/>
          <p:nvPr/>
        </p:nvSpPr>
        <p:spPr>
          <a:xfrm>
            <a:off x="10533409" y="6424248"/>
            <a:ext cx="16592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2133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fld>
            <a:endParaRPr sz="2133">
              <a:solidFill>
                <a:srgbClr val="7F7F7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1" name="Google Shape;42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6640" y="2859543"/>
            <a:ext cx="4222745" cy="1138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トヨテック標準テンプレ">
      <a:dk1>
        <a:srgbClr val="000000"/>
      </a:dk1>
      <a:lt1>
        <a:srgbClr val="FFFFFF"/>
      </a:lt1>
      <a:dk2>
        <a:srgbClr val="FF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9ce5c7-7ac0-470a-8fb0-80b8dfe33f1c">
      <Terms xmlns="http://schemas.microsoft.com/office/infopath/2007/PartnerControls"/>
    </lcf76f155ced4ddcb4097134ff3c332f>
    <TaxCatchAll xmlns="00dc9add-bb5d-4974-938e-6de906df2254" xsi:nil="true"/>
    <CONTENTS xmlns="879ce5c7-7ac0-470a-8fb0-80b8dfe33f1c" xsi:nil="true"/>
    <_x8cc7__x6599__x8aac__x660e_ xmlns="879ce5c7-7ac0-470a-8fb0-80b8dfe33f1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3F1E4B07BBC341A8F6905F09A2526F" ma:contentTypeVersion="17" ma:contentTypeDescription="新しいドキュメントを作成します。" ma:contentTypeScope="" ma:versionID="1437aaece15ac943c27d84c7bd287707">
  <xsd:schema xmlns:xsd="http://www.w3.org/2001/XMLSchema" xmlns:xs="http://www.w3.org/2001/XMLSchema" xmlns:p="http://schemas.microsoft.com/office/2006/metadata/properties" xmlns:ns2="879ce5c7-7ac0-470a-8fb0-80b8dfe33f1c" xmlns:ns3="00dc9add-bb5d-4974-938e-6de906df2254" targetNamespace="http://schemas.microsoft.com/office/2006/metadata/properties" ma:root="true" ma:fieldsID="a41d73b5ccc80413fe00e27c354e6c45" ns2:_="" ns3:_="">
    <xsd:import namespace="879ce5c7-7ac0-470a-8fb0-80b8dfe33f1c"/>
    <xsd:import namespace="00dc9add-bb5d-4974-938e-6de906df22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NTENTS" minOccurs="0"/>
                <xsd:element ref="ns2:_x8cc7__x6599__x8aac__x660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ce5c7-7ac0-470a-8fb0-80b8dfe33f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def91d17-8bee-472f-b8e3-30905430c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NTENTS" ma:index="22" nillable="true" ma:displayName="CONTENTS" ma:format="Dropdown" ma:internalName="CONTENTS">
      <xsd:simpleType>
        <xsd:restriction base="dms:Text">
          <xsd:maxLength value="255"/>
        </xsd:restriction>
      </xsd:simpleType>
    </xsd:element>
    <xsd:element name="_x8cc7__x6599__x8aac__x660e_" ma:index="23" nillable="true" ma:displayName="資料説明" ma:format="Dropdown" ma:internalName="_x8cc7__x6599__x8aac__x660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c9add-bb5d-4974-938e-6de906df22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5f91764-4324-4dd1-9de8-4bb0ffe7790b}" ma:internalName="TaxCatchAll" ma:showField="CatchAllData" ma:web="00dc9add-bb5d-4974-938e-6de906df22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7A7291-B246-483B-B0AA-007779A512CE}">
  <ds:schemaRefs>
    <ds:schemaRef ds:uri="00dc9add-bb5d-4974-938e-6de906df2254"/>
    <ds:schemaRef ds:uri="879ce5c7-7ac0-470a-8fb0-80b8dfe33f1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2D8361-5581-4A9A-BA6C-BE71D90E4C8A}">
  <ds:schemaRefs>
    <ds:schemaRef ds:uri="00dc9add-bb5d-4974-938e-6de906df2254"/>
    <ds:schemaRef ds:uri="879ce5c7-7ac0-470a-8fb0-80b8dfe33f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2A1013-12EA-47FA-93D0-13BBFCC941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​​テーマ</vt:lpstr>
      <vt:lpstr>次期J 活動実績データ データ連携進行</vt:lpstr>
      <vt:lpstr>［ご相談］技術検証の実施内容につきまして</vt:lpstr>
      <vt:lpstr>全販社 構成イメージ / NW要件（Salesforce CDC Pub/Sub API）　</vt:lpstr>
      <vt:lpstr>マイルストーン　全販社（STG環境想定）　9/2 更新</vt:lpstr>
      <vt:lpstr>マイルストーン　全販社（STG環境想定）</vt:lpstr>
      <vt:lpstr>お願いしたいこと</vt:lpstr>
      <vt:lpstr>テストシナリオ</vt:lpstr>
      <vt:lpstr>Appendix</vt:lpstr>
      <vt:lpstr>1販社 構成イメージ / NW要件（Salesforce REST API/Bulk API ）　</vt:lpstr>
      <vt:lpstr>マイルストーン　1販社（TM東京 or 佐賀 / STG環境想定）　9/2 更新</vt:lpstr>
      <vt:lpstr>マイルストーン　1販社（TM東京 or 佐賀）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created xsi:type="dcterms:W3CDTF">2019-07-30T06:41:28Z</dcterms:created>
  <dcterms:modified xsi:type="dcterms:W3CDTF">2026-09-15T06:49:31Z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0x010100D23F1E4B07BBC341A8F6905F09A2526F</vt:lpwstr>
  </property>
</Properties>
</file>