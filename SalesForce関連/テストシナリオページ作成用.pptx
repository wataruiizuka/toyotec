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269" r:id="rId5"/>
  </p:sldIdLst>
  <p:sldSz cx="12192000" cy="6858000"/>
  <p:notesSz cx="6858000" cy="9144000"/>
  <p:embeddedFontLst>
    <p:embeddedFont>
      <p:font typeface="Arial Black" panose="020B0A04020102020204" pitchFamily="3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od/flpiOSOUzycST62NRKQSM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A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C2C3A-589A-CD12-C680-E47215580ADD}" v="769" dt="2026-09-15T07:37:30.996"/>
    <p1510:client id="{D8304BF9-6328-D146-9C61-630838C3754D}" v="684" dt="2026-09-15T05:45:19.085"/>
    <p1510:client id="{FD970B92-E6A0-EE71-3F6B-99E6AFF11BBA}" v="1" dt="2026-09-14T06:08:18.258"/>
  </p1510:revLst>
</p1510:revInfo>
</file>

<file path=ppt/tableStyles.xml><?xml version="1.0" encoding="utf-8"?>
<a:tblStyleLst xmlns:a="http://schemas.openxmlformats.org/drawingml/2006/main" def="{10BFCE54-A599-4904-9D1C-BB4B60250363}">
  <a:tblStyle styleId="{10BFCE54-A599-4904-9D1C-BB4B6025036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24" Type="http://customschemas.google.com/relationships/presentationmetadata" Target="metadata"/><Relationship Id="rId5" Type="http://schemas.openxmlformats.org/officeDocument/2006/relationships/slide" Target="slides/slide1.xml"/><Relationship Id="rId2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ial"/>
              <a:buNone/>
              <a:defRPr sz="72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 b="1">
                <a:solidFill>
                  <a:srgbClr val="3F3F3F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18" name="Google Shape;18;p11"/>
          <p:cNvSpPr/>
          <p:nvPr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0736" y="6201068"/>
            <a:ext cx="2350528" cy="375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1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425491" y="919261"/>
            <a:ext cx="11151029" cy="34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99555" algn="l">
              <a:spcBef>
                <a:spcPts val="853"/>
              </a:spcBef>
              <a:spcAft>
                <a:spcPts val="0"/>
              </a:spcAft>
              <a:buClr>
                <a:srgbClr val="3F3F3F"/>
              </a:buClr>
              <a:buSzPts val="4267"/>
              <a:buChar char="•"/>
              <a:defRPr b="1">
                <a:solidFill>
                  <a:srgbClr val="3F3F3F"/>
                </a:solidFill>
              </a:defRPr>
            </a:lvl1pPr>
            <a:lvl2pPr marL="914400" lvl="1" indent="-465646" algn="l">
              <a:spcBef>
                <a:spcPts val="747"/>
              </a:spcBef>
              <a:spcAft>
                <a:spcPts val="0"/>
              </a:spcAft>
              <a:buClr>
                <a:srgbClr val="3F3F3F"/>
              </a:buClr>
              <a:buSzPts val="3733"/>
              <a:buChar char="–"/>
              <a:defRPr b="1">
                <a:solidFill>
                  <a:srgbClr val="3F3F3F"/>
                </a:solidFill>
              </a:defRPr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b="1">
                <a:solidFill>
                  <a:srgbClr val="3F3F3F"/>
                </a:solidFill>
              </a:defRPr>
            </a:lvl3pPr>
            <a:lvl4pPr marL="1828800" lvl="3" indent="-397955" algn="l">
              <a:spcBef>
                <a:spcPts val="533"/>
              </a:spcBef>
              <a:spcAft>
                <a:spcPts val="0"/>
              </a:spcAft>
              <a:buClr>
                <a:srgbClr val="3F3F3F"/>
              </a:buClr>
              <a:buSzPts val="2667"/>
              <a:buChar char="–"/>
              <a:defRPr b="1">
                <a:solidFill>
                  <a:srgbClr val="3F3F3F"/>
                </a:solidFill>
              </a:defRPr>
            </a:lvl4pPr>
            <a:lvl5pPr marL="2286000" lvl="4" indent="-397955" algn="l">
              <a:spcBef>
                <a:spcPts val="533"/>
              </a:spcBef>
              <a:spcAft>
                <a:spcPts val="0"/>
              </a:spcAft>
              <a:buClr>
                <a:srgbClr val="3F3F3F"/>
              </a:buClr>
              <a:buSzPts val="2667"/>
              <a:buChar char="»"/>
              <a:defRPr b="1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/>
          <p:nvPr/>
        </p:nvSpPr>
        <p:spPr>
          <a:xfrm rot="10800000">
            <a:off x="0" y="668408"/>
            <a:ext cx="12192000" cy="45719"/>
          </a:xfrm>
          <a:prstGeom prst="rect">
            <a:avLst/>
          </a:prstGeom>
          <a:gradFill>
            <a:gsLst>
              <a:gs pos="0">
                <a:schemeClr val="lt1"/>
              </a:gs>
              <a:gs pos="86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12"/>
          <p:cNvPicPr preferRelativeResize="0"/>
          <p:nvPr/>
        </p:nvPicPr>
        <p:blipFill rotWithShape="1">
          <a:blip r:embed="rId2">
            <a:alphaModFix/>
          </a:blip>
          <a:srcRect t="17269" b="22490"/>
          <a:stretch/>
        </p:blipFill>
        <p:spPr>
          <a:xfrm>
            <a:off x="10908100" y="133678"/>
            <a:ext cx="1283900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26" name="Google Shape;26;p12"/>
          <p:cNvSpPr/>
          <p:nvPr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219877" y="-13393"/>
            <a:ext cx="10972800" cy="56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Arial"/>
              <a:buNone/>
              <a:defRPr sz="5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9555" algn="l" rtl="0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6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5A9C-96B6-E4BC-3675-29D25715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テストシナリオ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9562-40AA-2706-6CF9-B64E409F8C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32E3C0-CBF8-0944-4908-87BAE1448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047951"/>
              </p:ext>
            </p:extLst>
          </p:nvPr>
        </p:nvGraphicFramePr>
        <p:xfrm>
          <a:off x="895894" y="1620448"/>
          <a:ext cx="10404009" cy="4301962"/>
        </p:xfrm>
        <a:graphic>
          <a:graphicData uri="http://schemas.openxmlformats.org/drawingml/2006/table">
            <a:tbl>
              <a:tblPr firstRow="1" bandRow="1">
                <a:tableStyleId>{10BFCE54-A599-4904-9D1C-BB4B60250363}</a:tableStyleId>
              </a:tblPr>
              <a:tblGrid>
                <a:gridCol w="3468003">
                  <a:extLst>
                    <a:ext uri="{9D8B030D-6E8A-4147-A177-3AD203B41FA5}">
                      <a16:colId xmlns:a16="http://schemas.microsoft.com/office/drawing/2014/main" val="215838290"/>
                    </a:ext>
                  </a:extLst>
                </a:gridCol>
                <a:gridCol w="3468003">
                  <a:extLst>
                    <a:ext uri="{9D8B030D-6E8A-4147-A177-3AD203B41FA5}">
                      <a16:colId xmlns:a16="http://schemas.microsoft.com/office/drawing/2014/main" val="2439110303"/>
                    </a:ext>
                  </a:extLst>
                </a:gridCol>
                <a:gridCol w="3468003">
                  <a:extLst>
                    <a:ext uri="{9D8B030D-6E8A-4147-A177-3AD203B41FA5}">
                      <a16:colId xmlns:a16="http://schemas.microsoft.com/office/drawing/2014/main" val="2984653137"/>
                    </a:ext>
                  </a:extLst>
                </a:gridCol>
              </a:tblGrid>
              <a:tr h="640903">
                <a:tc>
                  <a:txBody>
                    <a:bodyPr/>
                    <a:lstStyle/>
                    <a:p>
                      <a:r>
                        <a:rPr lang="en-US" dirty="0"/>
                        <a:t>①</a:t>
                      </a:r>
                      <a:r>
                        <a:rPr lang="ja-JP" altLang="en-US"/>
                        <a:t>データ完全性　</a:t>
                      </a:r>
                      <a:r>
                        <a:rPr lang="ja-JP" altLang="en-US" sz="1050" i="1"/>
                        <a:t>漏れなく届く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②</a:t>
                      </a:r>
                      <a:r>
                        <a:rPr lang="ja-JP" altLang="en-US"/>
                        <a:t>データ整合性　</a:t>
                      </a:r>
                      <a:r>
                        <a:rPr lang="ja-JP" altLang="en-US" sz="1050" i="1"/>
                        <a:t>正しい内容で届く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③異常時確認　</a:t>
                      </a:r>
                      <a:r>
                        <a:rPr lang="ja-JP" altLang="en-US" sz="1050" i="1"/>
                        <a:t>問題を追跡できる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840123"/>
                  </a:ext>
                </a:extLst>
              </a:tr>
              <a:tr h="1510078"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確認項目：</a:t>
                      </a:r>
                      <a:endParaRPr 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データ件数・行数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指定期間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0件時の動作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マスタ最新状態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更新差分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変更イベントの欠損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確認項目：</a:t>
                      </a:r>
                      <a:endParaRPr 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テーブル・カラム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データ値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データ型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NULL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JSON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マッピング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確認項目：</a:t>
                      </a:r>
                      <a:endParaRPr 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データ件数の過不足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エラーログ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問題発生箇所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271342"/>
                  </a:ext>
                </a:extLst>
              </a:tr>
              <a:tr h="1510078"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確認方法：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SalesforceとCDPの件数・期間を比較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0件時に正常終了することを確認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確認方法：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SalesforceとCDPの項目・値を比較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NULLを含むデータの格納結果と正常終了を確認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JSONはキー・値で比較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正しいテーブル・カラムへ格納されていることを確認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確認方法：</a:t>
                      </a:r>
                      <a:endParaRPr 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件数差から欠損・重複等を確認</a:t>
                      </a:r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異常時のエラーログを確認</a:t>
                      </a:r>
                      <a:endParaRPr lang="ja-JP" altLang="en-US" sz="1100" dirty="0"/>
                    </a:p>
                    <a:p>
                      <a:pPr marL="171450" lvl="0" indent="-171450">
                        <a:buFont typeface="Calibri"/>
                        <a:buChar char="-"/>
                      </a:pPr>
                      <a:r>
                        <a:rPr lang="ja-JP" altLang="en-US" sz="1100"/>
                        <a:t>ログ・連携結果から問題箇所を切り分け</a:t>
                      </a:r>
                      <a:endParaRPr lang="ja-JP" alt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946085"/>
                  </a:ext>
                </a:extLst>
              </a:tr>
              <a:tr h="6409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/>
                        <a:t>※</a:t>
                      </a:r>
                      <a:r>
                        <a:rPr lang="ja-JP" altLang="en-US" sz="1100"/>
                        <a:t>更新差分の具体的な比較方法は、Salesforce側で取得可能な履歴に応じて決定</a:t>
                      </a:r>
                      <a:endParaRPr lang="en-US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※</a:t>
                      </a:r>
                      <a:r>
                        <a:rPr lang="ja-JP" altLang="en-US" sz="1100"/>
                        <a:t>必要なデータ型変換は後続レイヤーで対応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</a:t>
                      </a:r>
                      <a:r>
                        <a:rPr lang="ja-JP" altLang="en-US" sz="1100"/>
                        <a:t>注記なし</a:t>
                      </a:r>
                      <a:r>
                        <a:rPr lang="en-US" sz="1100" dirty="0"/>
                        <a:t>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59997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46783D7-F0D6-8B37-C7A9-6276AA44C3E9}"/>
              </a:ext>
            </a:extLst>
          </p:cNvPr>
          <p:cNvSpPr txBox="1">
            <a:spLocks/>
          </p:cNvSpPr>
          <p:nvPr/>
        </p:nvSpPr>
        <p:spPr>
          <a:xfrm>
            <a:off x="423677" y="753593"/>
            <a:ext cx="11491755" cy="46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1" i="0" u="none" strike="noStrike" cap="none" spc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 sz="2000"/>
              <a:t>SalesforceからCDPへのデータ連携について、データの完全性・整合性・異常時の確認可否を検証</a:t>
            </a:r>
          </a:p>
        </p:txBody>
      </p:sp>
    </p:spTree>
    <p:extLst>
      <p:ext uri="{BB962C8B-B14F-4D97-AF65-F5344CB8AC3E}">
        <p14:creationId xmlns:p14="http://schemas.microsoft.com/office/powerpoint/2010/main" val="118940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トヨテック標準テンプレ">
      <a:dk1>
        <a:srgbClr val="000000"/>
      </a:dk1>
      <a:lt1>
        <a:srgbClr val="FFFFFF"/>
      </a:lt1>
      <a:dk2>
        <a:srgbClr val="FF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ce5c7-7ac0-470a-8fb0-80b8dfe33f1c">
      <Terms xmlns="http://schemas.microsoft.com/office/infopath/2007/PartnerControls"/>
    </lcf76f155ced4ddcb4097134ff3c332f>
    <TaxCatchAll xmlns="00dc9add-bb5d-4974-938e-6de906df2254" xsi:nil="true"/>
    <CONTENTS xmlns="879ce5c7-7ac0-470a-8fb0-80b8dfe33f1c" xsi:nil="true"/>
    <_x8cc7__x6599__x8aac__x660e_ xmlns="879ce5c7-7ac0-470a-8fb0-80b8dfe33f1c" xsi:nil="true"/>
  </documentManagement>
</p:properties>
</file>

<file path=customXml/itemProps1.xml><?xml version="1.0" encoding="utf-8"?>
<ds:datastoreItem xmlns:ds="http://schemas.openxmlformats.org/officeDocument/2006/customXml" ds:itemID="{542A1013-12EA-47FA-93D0-13BBFCC941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2D8361-5581-4A9A-BA6C-BE71D90E4C8A}">
  <ds:schemaRefs>
    <ds:schemaRef ds:uri="00dc9add-bb5d-4974-938e-6de906df2254"/>
    <ds:schemaRef ds:uri="879ce5c7-7ac0-470a-8fb0-80b8dfe33f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7A7291-B246-483B-B0AA-007779A512CE}">
  <ds:schemaRefs>
    <ds:schemaRef ds:uri="00dc9add-bb5d-4974-938e-6de906df2254"/>
    <ds:schemaRef ds:uri="879ce5c7-7ac0-470a-8fb0-80b8dfe33f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​​テーマ</vt:lpstr>
      <vt:lpstr>テストシナリオ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104</cp:revision>
  <dcterms:created xsi:type="dcterms:W3CDTF">2019-07-30T06:41:28Z</dcterms:created>
  <dcterms:modified xsi:type="dcterms:W3CDTF">2026-09-15T07:38:00Z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0x010100D23F1E4B07BBC341A8F6905F09A2526F</vt:lpwstr>
  </property>
</Properties>
</file>