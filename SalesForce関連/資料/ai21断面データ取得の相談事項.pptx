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8"/>
  </p:notesMasterIdLst>
  <p:sldIdLst>
    <p:sldId id="256" r:id="rId5"/>
    <p:sldId id="263" r:id="rId6"/>
    <p:sldId id="264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75B7B4-530F-1476-55EC-49CCFB4584B3}" v="16" dt="2026-08-06T10:02:08.869"/>
    <p1510:client id="{342B8B8D-5122-4432-8D36-C7E04714BAD1}" v="10" dt="2026-08-06T07:43:10.412"/>
    <p1510:client id="{CBB30CBA-B163-AD7F-3AB2-E6750461DD4C}" v="4" dt="2026-08-06T10:05:14.876"/>
    <p1510:client id="{D46E6716-2389-41ED-830A-04495F7B6598}" v="9" dt="2026-08-06T08:15:09.4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9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1358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55455-0840-9B7F-902A-F16C3311B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F47BAF-3740-7070-2169-B7609971B1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3C0541-44E3-95A0-EAEF-E5FBFB7856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C20249-44A0-8B4E-8BEC-E267D5BFFB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284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698480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altLang="ja-JP" sz="3400" b="1" dirty="0">
                <a:solidFill>
                  <a:srgbClr val="FFFFFF"/>
                </a:solidFill>
                <a:latin typeface="Arial"/>
                <a:ea typeface="+mn-lt"/>
                <a:cs typeface="Arial"/>
              </a:rPr>
              <a:t>ai21 </a:t>
            </a:r>
            <a:r>
              <a:rPr lang="ja-JP" altLang="en-US" sz="3400" b="1" dirty="0">
                <a:solidFill>
                  <a:srgbClr val="FFFFFF"/>
                </a:solidFill>
                <a:latin typeface="Arial"/>
                <a:ea typeface="+mn-lt"/>
                <a:cs typeface="Arial"/>
              </a:rPr>
              <a:t>レプリカ断面データ取得の高速化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31520" y="3154680"/>
            <a:ext cx="1069848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ja-JP" sz="2000" dirty="0">
                <a:solidFill>
                  <a:srgbClr val="AFC2DE"/>
                </a:solidFill>
                <a:ea typeface="+mn-lt"/>
                <a:cs typeface="+mn-lt"/>
              </a:rPr>
              <a:t>本番切り替えに向けた</a:t>
            </a:r>
            <a:r>
              <a:rPr lang="ja-JP" altLang="en-US" sz="2000" dirty="0">
                <a:solidFill>
                  <a:srgbClr val="AFC2DE"/>
                </a:solidFill>
                <a:ea typeface="+mn-lt"/>
                <a:cs typeface="+mn-lt"/>
              </a:rPr>
              <a:t>課題の</a:t>
            </a:r>
            <a:r>
              <a:rPr lang="ja-JP" sz="2000" dirty="0">
                <a:solidFill>
                  <a:srgbClr val="AFC2DE"/>
                </a:solidFill>
                <a:ea typeface="+mn-lt"/>
                <a:cs typeface="+mn-lt"/>
              </a:rPr>
              <a:t>対策検討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3886200"/>
            <a:ext cx="2926080" cy="0"/>
          </a:xfrm>
          <a:prstGeom prst="line">
            <a:avLst/>
          </a:prstGeom>
          <a:noFill/>
          <a:ln w="38100">
            <a:solidFill>
              <a:srgbClr val="F5660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731520" y="5989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TOYOTEC </a:t>
            </a:r>
            <a:r>
              <a:rPr lang="en-US" sz="1200" dirty="0" err="1">
                <a:solidFill>
                  <a:srgbClr val="AFC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データ活用基盤プロジェクト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7C8C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作成:近藤</a:t>
            </a:r>
            <a:r>
              <a:rPr lang="en-US" sz="1100" dirty="0">
                <a:solidFill>
                  <a:srgbClr val="7C8C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／　2026/08/06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 err="1">
                <a:solidFill>
                  <a:srgbClr val="F5660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本番切替に向けた相談資料</a:t>
            </a:r>
            <a:r>
              <a:rPr lang="en-US" sz="1100" b="1" kern="0" spc="100" dirty="0">
                <a:solidFill>
                  <a:srgbClr val="F5660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　／　ai21 </a:t>
            </a:r>
            <a:r>
              <a:rPr lang="en-US" sz="1100" b="1" kern="0" spc="100" dirty="0" err="1">
                <a:solidFill>
                  <a:srgbClr val="F5660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レプリカ断面データ取得の高速化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ja-JP" sz="2400" b="1" dirty="0">
                <a:solidFill>
                  <a:srgbClr val="1F386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ai21 </a:t>
            </a:r>
            <a:r>
              <a:rPr lang="en-US" sz="2400" b="1" dirty="0" err="1">
                <a:solidFill>
                  <a:srgbClr val="1F386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レプリカ断面データ取得の高速化</a:t>
            </a:r>
            <a:r>
              <a:rPr lang="en-US" sz="2400" b="1" dirty="0">
                <a:solidFill>
                  <a:srgbClr val="1F386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　―　</a:t>
            </a:r>
            <a:r>
              <a:rPr lang="en-US" sz="2400" b="1" dirty="0" err="1">
                <a:solidFill>
                  <a:srgbClr val="1F386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TMC様との相談ポイント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34440"/>
            <a:ext cx="420624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1300" dirty="0" err="1">
                <a:solidFill>
                  <a:srgbClr val="AFC2DE"/>
                </a:solidFill>
                <a:latin typeface="Meiryo UI"/>
                <a:ea typeface="Meiryo UI"/>
                <a:cs typeface="Arial"/>
              </a:rPr>
              <a:t>現状</a:t>
            </a:r>
            <a:r>
              <a:rPr lang="en-US" sz="1300" dirty="0">
                <a:solidFill>
                  <a:srgbClr val="AFC2DE"/>
                </a:solidFill>
                <a:latin typeface="Meiryo UI"/>
                <a:ea typeface="Meiryo UI"/>
                <a:cs typeface="Arial"/>
              </a:rPr>
              <a:t>：</a:t>
            </a:r>
            <a:r>
              <a:rPr lang="ja-JP" altLang="en-US" sz="1100" b="1" dirty="0">
                <a:solidFill>
                  <a:srgbClr val="FFFFFF"/>
                </a:solidFill>
                <a:latin typeface="Meiryo UI"/>
                <a:ea typeface="Meiryo UI"/>
                <a:cs typeface="Arial"/>
              </a:rPr>
              <a:t>所要期間</a:t>
            </a:r>
            <a:r>
              <a:rPr lang="en-US" sz="2000" b="1" dirty="0">
                <a:solidFill>
                  <a:srgbClr val="FFFFFF"/>
                </a:solidFill>
                <a:latin typeface="Meiryo UI"/>
                <a:ea typeface="Meiryo UI"/>
                <a:cs typeface="Arial"/>
              </a:rPr>
              <a:t> 約１１週間</a:t>
            </a:r>
            <a:endParaRPr lang="en-US" sz="1300" dirty="0">
              <a:latin typeface="Meiryo UI" panose="020B0604030504040204" pitchFamily="50" charset="-128"/>
              <a:ea typeface="Meiryo UI" panose="020B0604030504040204" pitchFamily="50" charset="-128"/>
              <a:cs typeface="Arial"/>
            </a:endParaRPr>
          </a:p>
        </p:txBody>
      </p:sp>
      <p:sp>
        <p:nvSpPr>
          <p:cNvPr id="6" name="Text 4"/>
          <p:cNvSpPr/>
          <p:nvPr/>
        </p:nvSpPr>
        <p:spPr>
          <a:xfrm>
            <a:off x="5074920" y="123444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5660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→</a:t>
            </a:r>
            <a:endParaRPr lang="en-US" sz="2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Text 5"/>
          <p:cNvSpPr/>
          <p:nvPr/>
        </p:nvSpPr>
        <p:spPr>
          <a:xfrm>
            <a:off x="5715000" y="1234440"/>
            <a:ext cx="5806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FFD9B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目標：</a:t>
            </a:r>
            <a:r>
              <a:rPr lang="en-US" sz="20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約１.５〜２週間</a:t>
            </a:r>
            <a:r>
              <a:rPr lang="en-US" sz="1100">
                <a:solidFill>
                  <a:srgbClr val="AFC2D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（４並列・営業日毎日実行の試算）</a:t>
            </a:r>
            <a:endParaRPr lang="en-US" sz="13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2514599"/>
            <a:ext cx="3520440" cy="3857626"/>
          </a:xfrm>
          <a:prstGeom prst="roundRect">
            <a:avLst>
              <a:gd name="adj" fmla="val 2254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13232" y="2770632"/>
            <a:ext cx="457200" cy="457200"/>
          </a:xfrm>
          <a:prstGeom prst="ellipse">
            <a:avLst/>
          </a:prstGeom>
          <a:solidFill>
            <a:srgbClr val="F5660F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770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1</a:t>
            </a:r>
            <a:endParaRPr lang="en-US" sz="1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280160" y="27889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400" b="1">
                <a:solidFill>
                  <a:srgbClr val="F5660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相談</a:t>
            </a:r>
            <a:r>
              <a:rPr lang="en-US" sz="1400" b="1">
                <a:solidFill>
                  <a:srgbClr val="F5660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①</a:t>
            </a:r>
            <a:endParaRPr 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13232" y="3291840"/>
            <a:ext cx="30083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900"/>
              </a:lnSpc>
            </a:pPr>
            <a:r>
              <a:rPr lang="en-US" altLang="ja-JP" sz="1500" b="1" dirty="0">
                <a:solidFill>
                  <a:srgbClr val="1F386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ai21 </a:t>
            </a:r>
            <a:r>
              <a:rPr lang="en-US" sz="1500" b="1" dirty="0" err="1">
                <a:solidFill>
                  <a:srgbClr val="1F386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レプリカ抽出実行</a:t>
            </a:r>
            <a:r>
              <a:rPr lang="ja-JP" altLang="en-US" sz="1500" b="1" dirty="0">
                <a:solidFill>
                  <a:srgbClr val="1F386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の</a:t>
            </a:r>
            <a:r>
              <a:rPr lang="en-US" sz="1500" b="1" dirty="0" err="1">
                <a:solidFill>
                  <a:srgbClr val="1F386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時間帯</a:t>
            </a:r>
            <a:r>
              <a:rPr lang="ja-JP" altLang="en-US" sz="1500" b="1" dirty="0">
                <a:solidFill>
                  <a:srgbClr val="1F386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を</a:t>
            </a:r>
            <a:r>
              <a:rPr lang="en-US" sz="1500" b="1" dirty="0" err="1">
                <a:solidFill>
                  <a:srgbClr val="1F386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緩和</a:t>
            </a:r>
            <a:endParaRPr lang="en-US" sz="15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13232" y="3886200"/>
            <a:ext cx="300837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「</a:t>
            </a:r>
            <a:r>
              <a:rPr lang="en-US" sz="1100" dirty="0" err="1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非営業日のみ</a:t>
            </a:r>
            <a:r>
              <a:rPr lang="ja-JP" altLang="en-US" sz="1100" dirty="0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の</a:t>
            </a:r>
            <a:r>
              <a:rPr lang="en-US" altLang="ja-JP" sz="1100" dirty="0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8</a:t>
            </a:r>
            <a:r>
              <a:rPr lang="ja-JP" altLang="en-US" sz="1100" dirty="0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時間？</a:t>
            </a:r>
            <a:r>
              <a:rPr lang="en-US" sz="1100" dirty="0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」→</a:t>
            </a:r>
            <a:r>
              <a:rPr lang="en-US" altLang="ja-JP" sz="1100" dirty="0" err="1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スケジューラ登録</a:t>
            </a:r>
            <a:r>
              <a:rPr lang="ja-JP" altLang="en-US" sz="1100" dirty="0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など</a:t>
            </a:r>
            <a:r>
              <a:rPr lang="en-US" altLang="ja-JP" sz="1100" dirty="0" err="1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による</a:t>
            </a:r>
            <a:r>
              <a:rPr lang="en-US" sz="1100" dirty="0" err="1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「営業日・日中・夜間も実行可」へ緩和</a:t>
            </a:r>
            <a:endParaRPr lang="en-US" sz="1100" dirty="0">
              <a:solidFill>
                <a:srgbClr val="4A4A4A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-120"/>
            </a:endParaRPr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FontTx/>
              <a:buChar char="●"/>
            </a:pPr>
            <a:r>
              <a:rPr lang="en-US" altLang="ja-JP" sz="1100" dirty="0" err="1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抽出時のリソース実測データを提示し、本番への影響がないことを提示</a:t>
            </a:r>
            <a:endParaRPr lang="en-US" altLang="ja-JP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297680" y="2514599"/>
            <a:ext cx="3520440" cy="3857625"/>
          </a:xfrm>
          <a:prstGeom prst="roundRect">
            <a:avLst>
              <a:gd name="adj" fmla="val 2254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53712" y="2770632"/>
            <a:ext cx="457200" cy="457200"/>
          </a:xfrm>
          <a:prstGeom prst="ellipse">
            <a:avLst/>
          </a:prstGeom>
          <a:solidFill>
            <a:srgbClr val="F5660F"/>
          </a:solidFill>
          <a:ln/>
        </p:spPr>
      </p:sp>
      <p:sp>
        <p:nvSpPr>
          <p:cNvPr id="16" name="Text 14"/>
          <p:cNvSpPr/>
          <p:nvPr/>
        </p:nvSpPr>
        <p:spPr>
          <a:xfrm>
            <a:off x="4553712" y="2770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2</a:t>
            </a:r>
            <a:endParaRPr lang="en-US" sz="1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120640" y="27889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ja-JP" altLang="en-US" sz="1400" b="1">
                <a:solidFill>
                  <a:srgbClr val="F5660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相談</a:t>
            </a:r>
            <a:r>
              <a:rPr lang="en-US" sz="1400" b="1">
                <a:solidFill>
                  <a:srgbClr val="F5660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②</a:t>
            </a:r>
            <a:endParaRPr 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53712" y="3291840"/>
            <a:ext cx="30083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F386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並列化と1日あたり上限の引き上げ</a:t>
            </a:r>
            <a:endParaRPr lang="en-US" sz="15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53712" y="3886200"/>
            <a:ext cx="300837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現状：10販社／日 → </a:t>
            </a:r>
            <a:r>
              <a:rPr lang="en-US" sz="1100" dirty="0" err="1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目標</a:t>
            </a:r>
            <a:r>
              <a:rPr lang="en-US" sz="1100" dirty="0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：</a:t>
            </a:r>
            <a:r>
              <a:rPr lang="ja-JP" altLang="en-US" sz="1100" dirty="0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リソースを考慮するうえで、 </a:t>
            </a:r>
            <a:r>
              <a:rPr lang="en-US" sz="1100" dirty="0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並列実行で40販社／日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まず2並列のパイロットで実績を作り、段階的に拡大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220販社：約11週間 → 約1.5〜2週間へ短縮見込み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138160" y="2514600"/>
            <a:ext cx="3520440" cy="3857624"/>
          </a:xfrm>
          <a:prstGeom prst="roundRect">
            <a:avLst>
              <a:gd name="adj" fmla="val 2254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94192" y="2770632"/>
            <a:ext cx="457200" cy="457200"/>
          </a:xfrm>
          <a:prstGeom prst="ellipse">
            <a:avLst/>
          </a:prstGeom>
          <a:solidFill>
            <a:srgbClr val="F5660F"/>
          </a:solidFill>
          <a:ln/>
        </p:spPr>
      </p:sp>
      <p:sp>
        <p:nvSpPr>
          <p:cNvPr id="22" name="Text 20"/>
          <p:cNvSpPr/>
          <p:nvPr/>
        </p:nvSpPr>
        <p:spPr>
          <a:xfrm>
            <a:off x="8394192" y="2770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3</a:t>
            </a:r>
            <a:endParaRPr lang="en-US" sz="1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961120" y="27889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ja-JP" altLang="en-US" sz="1400" b="1" dirty="0">
                <a:solidFill>
                  <a:srgbClr val="F5660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相談</a:t>
            </a:r>
            <a:r>
              <a:rPr lang="en-US" sz="1400" b="1" dirty="0">
                <a:solidFill>
                  <a:srgbClr val="F5660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③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394192" y="3291840"/>
            <a:ext cx="30083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900"/>
              </a:lnSpc>
            </a:pPr>
            <a:r>
              <a:rPr lang="en-US" altLang="ja-JP" sz="1500" b="1" dirty="0">
                <a:solidFill>
                  <a:srgbClr val="1F386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ai21 </a:t>
            </a:r>
            <a:r>
              <a:rPr lang="ja-JP" altLang="en-US" sz="1500" b="1" dirty="0">
                <a:solidFill>
                  <a:srgbClr val="1F386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レプリカ環境へのアクセス</a:t>
            </a:r>
            <a:endParaRPr lang="en-US" sz="15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394192" y="3619500"/>
            <a:ext cx="3008376" cy="23698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ja-JP" altLang="ja-JP" sz="1100" dirty="0">
                <a:latin typeface="Meiryo UI" panose="020B0604030504040204" pitchFamily="50" charset="-128"/>
                <a:ea typeface="Meiryo UI" panose="020B0604030504040204" pitchFamily="50" charset="-128"/>
              </a:rPr>
              <a:t>CDP から ai21 レプリカ環境へのアクセスは難しいと伺っております。</a:t>
            </a:r>
            <a:endParaRPr lang="en-US" altLang="ja-JP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br>
              <a:rPr lang="ja-JP" altLang="ja-JP" sz="1100" dirty="0"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ja-JP" sz="1100" dirty="0">
                <a:latin typeface="Meiryo UI" panose="020B0604030504040204" pitchFamily="50" charset="-128"/>
                <a:ea typeface="Meiryo UI" panose="020B0604030504040204" pitchFamily="50" charset="-128"/>
              </a:rPr>
              <a:t>認識確認のため、以下についてご教示ください。</a:t>
            </a:r>
          </a:p>
          <a:p>
            <a:r>
              <a:rPr lang="ja-JP" altLang="ja-JP" sz="1100" dirty="0">
                <a:latin typeface="Meiryo UI" panose="020B0604030504040204" pitchFamily="50" charset="-128"/>
                <a:ea typeface="Meiryo UI" panose="020B0604030504040204" pitchFamily="50" charset="-128"/>
              </a:rPr>
              <a:t>1）CDP から ai21 レプリカへの JDBC 接続は難しい、という理解でよろしいでしょうか？</a:t>
            </a:r>
            <a:endParaRPr lang="en-US" altLang="ja-JP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ja-JP" altLang="ja-JP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ja-JP" sz="1100" dirty="0">
                <a:latin typeface="Meiryo UI" panose="020B0604030504040204" pitchFamily="50" charset="-128"/>
                <a:ea typeface="Meiryo UI" panose="020B0604030504040204" pitchFamily="50" charset="-128"/>
              </a:rPr>
              <a:t>2）CDP から ai21 レプリカ環境上の REST API（443 port) へ接続することも難しい、という理解でよろしいでしょうか？</a:t>
            </a:r>
            <a:endParaRPr lang="en-US" altLang="ja-JP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ja-JP" altLang="ja-JP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ja-JP" sz="1100" dirty="0">
                <a:latin typeface="Meiryo UI" panose="020B0604030504040204" pitchFamily="50" charset="-128"/>
                <a:ea typeface="Meiryo UI" panose="020B0604030504040204" pitchFamily="50" charset="-128"/>
              </a:rPr>
              <a:t>2-1）その場合、当方で用意した API を Oracle Cloud のテナント上で稼働させることは可能でしょうか？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CC041-E5BC-2C66-BA0B-9B44997EE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CF5E776-9BB7-4EA2-AF52-0448B02D448A}"/>
              </a:ext>
            </a:extLst>
          </p:cNvPr>
          <p:cNvSpPr/>
          <p:nvPr/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 err="1">
                <a:solidFill>
                  <a:srgbClr val="F5660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本番切替に向けた相談資料</a:t>
            </a:r>
            <a:r>
              <a:rPr lang="en-US" sz="1100" b="1" kern="0" spc="100" dirty="0">
                <a:solidFill>
                  <a:srgbClr val="F5660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　／　ai21 </a:t>
            </a:r>
            <a:r>
              <a:rPr lang="en-US" sz="1100" b="1" kern="0" spc="100" dirty="0" err="1">
                <a:solidFill>
                  <a:srgbClr val="F5660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レプリカ断面データ取得の高速化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964DB8-F8A4-8993-04D9-27C538487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342" y="662191"/>
            <a:ext cx="11102051" cy="3874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63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79ce5c7-7ac0-470a-8fb0-80b8dfe33f1c">
      <Terms xmlns="http://schemas.microsoft.com/office/infopath/2007/PartnerControls"/>
    </lcf76f155ced4ddcb4097134ff3c332f>
    <TaxCatchAll xmlns="00dc9add-bb5d-4974-938e-6de906df2254" xsi:nil="true"/>
    <CONTENTS xmlns="879ce5c7-7ac0-470a-8fb0-80b8dfe33f1c" xsi:nil="true"/>
    <_x8cc7__x6599__x8aac__x660e_ xmlns="879ce5c7-7ac0-470a-8fb0-80b8dfe33f1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D23F1E4B07BBC341A8F6905F09A2526F" ma:contentTypeVersion="17" ma:contentTypeDescription="新しいドキュメントを作成します。" ma:contentTypeScope="" ma:versionID="1437aaece15ac943c27d84c7bd287707">
  <xsd:schema xmlns:xsd="http://www.w3.org/2001/XMLSchema" xmlns:xs="http://www.w3.org/2001/XMLSchema" xmlns:p="http://schemas.microsoft.com/office/2006/metadata/properties" xmlns:ns2="879ce5c7-7ac0-470a-8fb0-80b8dfe33f1c" xmlns:ns3="00dc9add-bb5d-4974-938e-6de906df2254" targetNamespace="http://schemas.microsoft.com/office/2006/metadata/properties" ma:root="true" ma:fieldsID="a41d73b5ccc80413fe00e27c354e6c45" ns2:_="" ns3:_="">
    <xsd:import namespace="879ce5c7-7ac0-470a-8fb0-80b8dfe33f1c"/>
    <xsd:import namespace="00dc9add-bb5d-4974-938e-6de906df225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CONTENTS" minOccurs="0"/>
                <xsd:element ref="ns2:_x8cc7__x6599__x8aac__x660e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9ce5c7-7ac0-470a-8fb0-80b8dfe33f1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画像タグ" ma:readOnly="false" ma:fieldId="{5cf76f15-5ced-4ddc-b409-7134ff3c332f}" ma:taxonomyMulti="true" ma:sspId="def91d17-8bee-472f-b8e3-30905430c63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CONTENTS" ma:index="22" nillable="true" ma:displayName="CONTENTS" ma:format="Dropdown" ma:internalName="CONTENTS">
      <xsd:simpleType>
        <xsd:restriction base="dms:Text">
          <xsd:maxLength value="255"/>
        </xsd:restriction>
      </xsd:simpleType>
    </xsd:element>
    <xsd:element name="_x8cc7__x6599__x8aac__x660e_" ma:index="23" nillable="true" ma:displayName="資料説明" ma:format="Dropdown" ma:internalName="_x8cc7__x6599__x8aac__x660e_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dc9add-bb5d-4974-938e-6de906df225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f5f91764-4324-4dd1-9de8-4bb0ffe7790b}" ma:internalName="TaxCatchAll" ma:showField="CatchAllData" ma:web="00dc9add-bb5d-4974-938e-6de906df225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DD825ED-81B0-4C35-899F-47BDEFECB10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56B7090-6838-44A3-9237-C767D1C3F7D9}">
  <ds:schemaRefs>
    <ds:schemaRef ds:uri="0a8f712b-9db7-4852-95e9-93a858a983aa"/>
    <ds:schemaRef ds:uri="a5f43fea-595c-40cf-98d5-c8ada8a3edd3"/>
    <ds:schemaRef ds:uri="http://schemas.microsoft.com/office/2006/metadata/properties"/>
    <ds:schemaRef ds:uri="http://schemas.microsoft.com/office/infopath/2007/PartnerControls"/>
    <ds:schemaRef ds:uri="879ce5c7-7ac0-470a-8fb0-80b8dfe33f1c"/>
    <ds:schemaRef ds:uri="00dc9add-bb5d-4974-938e-6de906df2254"/>
  </ds:schemaRefs>
</ds:datastoreItem>
</file>

<file path=customXml/itemProps3.xml><?xml version="1.0" encoding="utf-8"?>
<ds:datastoreItem xmlns:ds="http://schemas.openxmlformats.org/officeDocument/2006/customXml" ds:itemID="{443F5B0A-1477-430B-B0F8-38A3EE8441F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79ce5c7-7ac0-470a-8fb0-80b8dfe33f1c"/>
    <ds:schemaRef ds:uri="00dc9add-bb5d-4974-938e-6de906df225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453</TotalTime>
  <Words>239</Words>
  <Application>Microsoft Office PowerPoint</Application>
  <PresentationFormat>Widescreen</PresentationFormat>
  <Paragraphs>34</Paragraphs>
  <Slides>3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近藤 龍</cp:lastModifiedBy>
  <cp:revision>17</cp:revision>
  <dcterms:created xsi:type="dcterms:W3CDTF">2026-07-23T07:25:57Z</dcterms:created>
  <dcterms:modified xsi:type="dcterms:W3CDTF">2026-08-06T23:44:45Z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0x010100D23F1E4B07BBC341A8F6905F09A2526F</vt:lpwstr>
  </property>
  <property fmtid="{D5CDD505-2E9C-101B-9397-08002B2CF9AE}" pid="3" name="MediaServiceImageTags">
    <vt:lpwstr/>
  </property>
</Properties>
</file>